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 id="2147483721" r:id="rId2"/>
    <p:sldMasterId id="2147483736" r:id="rId3"/>
    <p:sldMasterId id="2147483748" r:id="rId4"/>
    <p:sldMasterId id="2147483760" r:id="rId5"/>
  </p:sldMasterIdLst>
  <p:notesMasterIdLst>
    <p:notesMasterId r:id="rId92"/>
  </p:notesMasterIdLst>
  <p:sldIdLst>
    <p:sldId id="278" r:id="rId6"/>
    <p:sldId id="259" r:id="rId7"/>
    <p:sldId id="260" r:id="rId8"/>
    <p:sldId id="261" r:id="rId9"/>
    <p:sldId id="262" r:id="rId10"/>
    <p:sldId id="279" r:id="rId11"/>
    <p:sldId id="263" r:id="rId12"/>
    <p:sldId id="280" r:id="rId13"/>
    <p:sldId id="266" r:id="rId14"/>
    <p:sldId id="276" r:id="rId15"/>
    <p:sldId id="267" r:id="rId16"/>
    <p:sldId id="270" r:id="rId17"/>
    <p:sldId id="271" r:id="rId18"/>
    <p:sldId id="272" r:id="rId19"/>
    <p:sldId id="273" r:id="rId20"/>
    <p:sldId id="274" r:id="rId21"/>
    <p:sldId id="277" r:id="rId22"/>
    <p:sldId id="275" r:id="rId23"/>
    <p:sldId id="333" r:id="rId24"/>
    <p:sldId id="315" r:id="rId25"/>
    <p:sldId id="397" r:id="rId26"/>
    <p:sldId id="398" r:id="rId27"/>
    <p:sldId id="316" r:id="rId28"/>
    <p:sldId id="317" r:id="rId29"/>
    <p:sldId id="318" r:id="rId30"/>
    <p:sldId id="319" r:id="rId31"/>
    <p:sldId id="357" r:id="rId32"/>
    <p:sldId id="334" r:id="rId33"/>
    <p:sldId id="335" r:id="rId34"/>
    <p:sldId id="336" r:id="rId35"/>
    <p:sldId id="337" r:id="rId36"/>
    <p:sldId id="338" r:id="rId37"/>
    <p:sldId id="339" r:id="rId38"/>
    <p:sldId id="340" r:id="rId39"/>
    <p:sldId id="341" r:id="rId40"/>
    <p:sldId id="342" r:id="rId41"/>
    <p:sldId id="390" r:id="rId42"/>
    <p:sldId id="343" r:id="rId43"/>
    <p:sldId id="344" r:id="rId44"/>
    <p:sldId id="345" r:id="rId45"/>
    <p:sldId id="346" r:id="rId46"/>
    <p:sldId id="347" r:id="rId47"/>
    <p:sldId id="348" r:id="rId48"/>
    <p:sldId id="349" r:id="rId49"/>
    <p:sldId id="350" r:id="rId50"/>
    <p:sldId id="391" r:id="rId51"/>
    <p:sldId id="392" r:id="rId52"/>
    <p:sldId id="393" r:id="rId53"/>
    <p:sldId id="351" r:id="rId54"/>
    <p:sldId id="376" r:id="rId55"/>
    <p:sldId id="377" r:id="rId56"/>
    <p:sldId id="378" r:id="rId57"/>
    <p:sldId id="379" r:id="rId58"/>
    <p:sldId id="359" r:id="rId59"/>
    <p:sldId id="381" r:id="rId60"/>
    <p:sldId id="382" r:id="rId61"/>
    <p:sldId id="383" r:id="rId62"/>
    <p:sldId id="384" r:id="rId63"/>
    <p:sldId id="385" r:id="rId64"/>
    <p:sldId id="362" r:id="rId65"/>
    <p:sldId id="364" r:id="rId66"/>
    <p:sldId id="365" r:id="rId67"/>
    <p:sldId id="366" r:id="rId68"/>
    <p:sldId id="367" r:id="rId69"/>
    <p:sldId id="394" r:id="rId70"/>
    <p:sldId id="368" r:id="rId71"/>
    <p:sldId id="369" r:id="rId72"/>
    <p:sldId id="370" r:id="rId73"/>
    <p:sldId id="372" r:id="rId74"/>
    <p:sldId id="373" r:id="rId75"/>
    <p:sldId id="1751" r:id="rId76"/>
    <p:sldId id="265" r:id="rId77"/>
    <p:sldId id="1752" r:id="rId78"/>
    <p:sldId id="1753" r:id="rId79"/>
    <p:sldId id="1754" r:id="rId80"/>
    <p:sldId id="1755" r:id="rId81"/>
    <p:sldId id="281" r:id="rId82"/>
    <p:sldId id="1756" r:id="rId83"/>
    <p:sldId id="1757" r:id="rId84"/>
    <p:sldId id="1758" r:id="rId85"/>
    <p:sldId id="268" r:id="rId86"/>
    <p:sldId id="374" r:id="rId87"/>
    <p:sldId id="386" r:id="rId88"/>
    <p:sldId id="387" r:id="rId89"/>
    <p:sldId id="388" r:id="rId90"/>
    <p:sldId id="389" r:id="rId91"/>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687" autoAdjust="0"/>
  </p:normalViewPr>
  <p:slideViewPr>
    <p:cSldViewPr>
      <p:cViewPr varScale="1">
        <p:scale>
          <a:sx n="44" d="100"/>
          <a:sy n="44" d="100"/>
        </p:scale>
        <p:origin x="48" y="6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theme" Target="theme/theme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4"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image" Target="../media/image18.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 Id="rId4" Type="http://schemas.openxmlformats.org/officeDocument/2006/relationships/image" Target="../media/image24.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 Id="rId5" Type="http://schemas.openxmlformats.org/officeDocument/2006/relationships/image" Target="../media/image29.emf"/><Relationship Id="rId4" Type="http://schemas.openxmlformats.org/officeDocument/2006/relationships/image" Target="../media/image28.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 Id="rId4" Type="http://schemas.openxmlformats.org/officeDocument/2006/relationships/image" Target="../media/image33.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 Id="rId5" Type="http://schemas.openxmlformats.org/officeDocument/2006/relationships/image" Target="../media/image40.emf"/><Relationship Id="rId4" Type="http://schemas.openxmlformats.org/officeDocument/2006/relationships/image" Target="../media/image39.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 Id="rId5" Type="http://schemas.openxmlformats.org/officeDocument/2006/relationships/image" Target="../media/image45.emf"/><Relationship Id="rId4" Type="http://schemas.openxmlformats.org/officeDocument/2006/relationships/image" Target="../media/image44.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49.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image" Target="../media/image53.emf"/><Relationship Id="rId7" Type="http://schemas.openxmlformats.org/officeDocument/2006/relationships/image" Target="../media/image57.emf"/><Relationship Id="rId2" Type="http://schemas.openxmlformats.org/officeDocument/2006/relationships/image" Target="../media/image52.emf"/><Relationship Id="rId1" Type="http://schemas.openxmlformats.org/officeDocument/2006/relationships/image" Target="../media/image51.emf"/><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4.emf"/><Relationship Id="rId9" Type="http://schemas.openxmlformats.org/officeDocument/2006/relationships/image" Target="../media/image59.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60.emf"/><Relationship Id="rId5" Type="http://schemas.openxmlformats.org/officeDocument/2006/relationships/image" Target="../media/image64.emf"/><Relationship Id="rId4" Type="http://schemas.openxmlformats.org/officeDocument/2006/relationships/image" Target="../media/image63.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image" Target="../media/image65.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4" Type="http://schemas.openxmlformats.org/officeDocument/2006/relationships/image" Target="../media/image80.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image" Target="../media/image81.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image" Target="../media/image83.emf"/><Relationship Id="rId4" Type="http://schemas.openxmlformats.org/officeDocument/2006/relationships/image" Target="../media/image86.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emf"/><Relationship Id="rId1" Type="http://schemas.openxmlformats.org/officeDocument/2006/relationships/image" Target="../media/image87.emf"/><Relationship Id="rId6" Type="http://schemas.openxmlformats.org/officeDocument/2006/relationships/image" Target="../media/image92.emf"/><Relationship Id="rId5" Type="http://schemas.openxmlformats.org/officeDocument/2006/relationships/image" Target="../media/image91.emf"/><Relationship Id="rId4" Type="http://schemas.openxmlformats.org/officeDocument/2006/relationships/image" Target="../media/image9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96.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png"/></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 Id="rId4" Type="http://schemas.openxmlformats.org/officeDocument/2006/relationships/image" Target="../media/image12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wmf"/><Relationship Id="rId1" Type="http://schemas.openxmlformats.org/officeDocument/2006/relationships/image" Target="../media/image134.wmf"/><Relationship Id="rId4" Type="http://schemas.openxmlformats.org/officeDocument/2006/relationships/image" Target="../media/image13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wmf"/><Relationship Id="rId1" Type="http://schemas.openxmlformats.org/officeDocument/2006/relationships/image" Target="../media/image140.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42.png"/></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image" Target="../media/image151.wmf"/><Relationship Id="rId7" Type="http://schemas.openxmlformats.org/officeDocument/2006/relationships/image" Target="../media/image155.wmf"/><Relationship Id="rId2" Type="http://schemas.openxmlformats.org/officeDocument/2006/relationships/image" Target="../media/image150.wmf"/><Relationship Id="rId1" Type="http://schemas.openxmlformats.org/officeDocument/2006/relationships/image" Target="../media/image149.wmf"/><Relationship Id="rId6" Type="http://schemas.openxmlformats.org/officeDocument/2006/relationships/image" Target="../media/image154.wmf"/><Relationship Id="rId11" Type="http://schemas.openxmlformats.org/officeDocument/2006/relationships/image" Target="../media/image159.wmf"/><Relationship Id="rId5" Type="http://schemas.openxmlformats.org/officeDocument/2006/relationships/image" Target="../media/image153.wmf"/><Relationship Id="rId10" Type="http://schemas.openxmlformats.org/officeDocument/2006/relationships/image" Target="../media/image158.wmf"/><Relationship Id="rId4" Type="http://schemas.openxmlformats.org/officeDocument/2006/relationships/image" Target="../media/image152.wmf"/><Relationship Id="rId9" Type="http://schemas.openxmlformats.org/officeDocument/2006/relationships/image" Target="../media/image157.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 Id="rId4" Type="http://schemas.openxmlformats.org/officeDocument/2006/relationships/image" Target="../media/image164.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65.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173.wmf"/><Relationship Id="rId13" Type="http://schemas.openxmlformats.org/officeDocument/2006/relationships/image" Target="../media/image178.wmf"/><Relationship Id="rId3" Type="http://schemas.openxmlformats.org/officeDocument/2006/relationships/image" Target="../media/image168.wmf"/><Relationship Id="rId7" Type="http://schemas.openxmlformats.org/officeDocument/2006/relationships/image" Target="../media/image172.wmf"/><Relationship Id="rId12" Type="http://schemas.openxmlformats.org/officeDocument/2006/relationships/image" Target="../media/image177.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71.wmf"/><Relationship Id="rId11" Type="http://schemas.openxmlformats.org/officeDocument/2006/relationships/image" Target="../media/image176.wmf"/><Relationship Id="rId5" Type="http://schemas.openxmlformats.org/officeDocument/2006/relationships/image" Target="../media/image170.wmf"/><Relationship Id="rId15" Type="http://schemas.openxmlformats.org/officeDocument/2006/relationships/image" Target="../media/image180.wmf"/><Relationship Id="rId10" Type="http://schemas.openxmlformats.org/officeDocument/2006/relationships/image" Target="../media/image175.wmf"/><Relationship Id="rId4" Type="http://schemas.openxmlformats.org/officeDocument/2006/relationships/image" Target="../media/image169.wmf"/><Relationship Id="rId9" Type="http://schemas.openxmlformats.org/officeDocument/2006/relationships/image" Target="../media/image174.wmf"/><Relationship Id="rId14" Type="http://schemas.openxmlformats.org/officeDocument/2006/relationships/image" Target="../media/image179.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 Id="rId4" Type="http://schemas.openxmlformats.org/officeDocument/2006/relationships/image" Target="../media/image184.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image" Target="../media/image184.wmf"/><Relationship Id="rId1" Type="http://schemas.openxmlformats.org/officeDocument/2006/relationships/image" Target="../media/image183.wmf"/><Relationship Id="rId5" Type="http://schemas.openxmlformats.org/officeDocument/2006/relationships/image" Target="../media/image187.wmf"/><Relationship Id="rId4" Type="http://schemas.openxmlformats.org/officeDocument/2006/relationships/image" Target="../media/image186.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88.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89.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06.wmf"/><Relationship Id="rId1" Type="http://schemas.openxmlformats.org/officeDocument/2006/relationships/image" Target="../media/image20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32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charset="-122"/>
              </a:defRPr>
            </a:lvl1pPr>
          </a:lstStyle>
          <a:p>
            <a:pPr>
              <a:defRPr/>
            </a:pPr>
            <a:endParaRPr lang="en-US" altLang="zh-CN"/>
          </a:p>
        </p:txBody>
      </p:sp>
      <p:sp>
        <p:nvSpPr>
          <p:cNvPr id="1832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3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833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charset="-122"/>
              </a:defRPr>
            </a:lvl1pPr>
          </a:lstStyle>
          <a:p>
            <a:pPr>
              <a:defRPr/>
            </a:pPr>
            <a:endParaRPr lang="en-US" altLang="zh-CN"/>
          </a:p>
        </p:txBody>
      </p:sp>
      <p:sp>
        <p:nvSpPr>
          <p:cNvPr id="1833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917AB07C-803E-4FB6-B0DD-786C69072957}" type="slidenum">
              <a:rPr lang="en-US" altLang="zh-CN"/>
              <a:pPr>
                <a:defRPr/>
              </a:pPr>
              <a:t>‹#›</a:t>
            </a:fld>
            <a:endParaRPr lang="en-US" altLang="zh-CN"/>
          </a:p>
        </p:txBody>
      </p:sp>
    </p:spTree>
    <p:extLst>
      <p:ext uri="{BB962C8B-B14F-4D97-AF65-F5344CB8AC3E}">
        <p14:creationId xmlns:p14="http://schemas.microsoft.com/office/powerpoint/2010/main" val="31162965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xfrm>
            <a:off x="381000" y="685800"/>
            <a:ext cx="6096000" cy="3429000"/>
          </a:xfrm>
          <a:ln/>
        </p:spPr>
      </p:sp>
      <p:sp>
        <p:nvSpPr>
          <p:cNvPr id="286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宋体" panose="02010600030101010101" pitchFamily="2" charset="-122"/>
              </a:rPr>
              <a:t>X=2</a:t>
            </a:r>
            <a:r>
              <a:rPr lang="zh-CN" altLang="en-US">
                <a:ea typeface="宋体" panose="02010600030101010101" pitchFamily="2" charset="-122"/>
              </a:rPr>
              <a:t>欧姆</a:t>
            </a:r>
          </a:p>
        </p:txBody>
      </p:sp>
      <p:sp>
        <p:nvSpPr>
          <p:cNvPr id="286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E86DC94-16FA-4CE1-AD6D-75E1B4CF2756}" type="slidenum">
              <a:rPr lang="en-US" altLang="zh-CN" smtClean="0"/>
              <a:pPr>
                <a:spcBef>
                  <a:spcPct val="0"/>
                </a:spcBef>
              </a:pPr>
              <a:t>27</a:t>
            </a:fld>
            <a:endParaRPr lang="en-US" altLang="zh-CN"/>
          </a:p>
        </p:txBody>
      </p:sp>
    </p:spTree>
    <p:extLst>
      <p:ext uri="{BB962C8B-B14F-4D97-AF65-F5344CB8AC3E}">
        <p14:creationId xmlns:p14="http://schemas.microsoft.com/office/powerpoint/2010/main" val="2260438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F7CE5DB7-7A71-4FEA-99D0-B5A8EBED3472}" type="slidenum">
              <a:rPr lang="en-US" altLang="zh-CN" smtClean="0"/>
              <a:pPr>
                <a:spcBef>
                  <a:spcPct val="0"/>
                </a:spcBef>
              </a:pPr>
              <a:t>37</a:t>
            </a:fld>
            <a:endParaRPr lang="en-US" altLang="zh-CN"/>
          </a:p>
        </p:txBody>
      </p:sp>
      <p:sp>
        <p:nvSpPr>
          <p:cNvPr id="39939" name="Rectangle 2"/>
          <p:cNvSpPr>
            <a:spLocks noGrp="1" noRot="1" noChangeAspect="1" noChangeArrowheads="1" noTextEdit="1"/>
          </p:cNvSpPr>
          <p:nvPr>
            <p:ph type="sldImg"/>
          </p:nvPr>
        </p:nvSpPr>
        <p:spPr>
          <a:xfrm>
            <a:off x="381000" y="685800"/>
            <a:ext cx="6096000" cy="3429000"/>
          </a:xfrm>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anose="02010600030101010101" pitchFamily="2" charset="-122"/>
              </a:rPr>
              <a:t>目前商用锂电池原理如左上图，正极材料为</a:t>
            </a:r>
            <a:r>
              <a:rPr lang="en-US" altLang="zh-CN">
                <a:ea typeface="宋体" panose="02010600030101010101" pitchFamily="2" charset="-122"/>
              </a:rPr>
              <a:t>LiCO2,</a:t>
            </a:r>
            <a:r>
              <a:rPr lang="zh-CN" altLang="en-US">
                <a:ea typeface="宋体" panose="02010600030101010101" pitchFamily="2" charset="-122"/>
              </a:rPr>
              <a:t>负极材料为</a:t>
            </a:r>
            <a:r>
              <a:rPr lang="en-US" altLang="zh-CN">
                <a:ea typeface="宋体" panose="02010600030101010101" pitchFamily="2" charset="-122"/>
              </a:rPr>
              <a:t>C,</a:t>
            </a:r>
            <a:r>
              <a:rPr lang="zh-CN" altLang="en-US">
                <a:ea typeface="宋体" panose="02010600030101010101" pitchFamily="2" charset="-122"/>
              </a:rPr>
              <a:t>隔膜一般采用聚丙烯微孔膜，电解液一般为碳酸乙烯酯，碳酸二乙酯和六氟磷酸锂。其中电解液对空气和水分要求较高，而且有机物有毒，还易燃，容易发生爆炸，同时六氟磷酸锂价格昂贵。目前正在研究采用水基来取代有机电解液，右上图示水机锂电池工作原理，右下图是复旦大学最新研究的水机锂电池示意图，据</a:t>
            </a:r>
            <a:r>
              <a:rPr lang="en-US" altLang="zh-CN">
                <a:ea typeface="宋体" panose="02010600030101010101" pitchFamily="2" charset="-122"/>
              </a:rPr>
              <a:t>nature</a:t>
            </a:r>
            <a:r>
              <a:rPr lang="zh-CN" altLang="en-US">
                <a:ea typeface="宋体" panose="02010600030101010101" pitchFamily="2" charset="-122"/>
              </a:rPr>
              <a:t>子刊报道，其电池能量密度大于</a:t>
            </a:r>
            <a:r>
              <a:rPr lang="en-US" altLang="zh-CN">
                <a:ea typeface="宋体" panose="02010600030101010101" pitchFamily="2" charset="-122"/>
              </a:rPr>
              <a:t>220</a:t>
            </a:r>
            <a:r>
              <a:rPr lang="zh-CN" altLang="en-US">
                <a:ea typeface="宋体" panose="02010600030101010101" pitchFamily="2" charset="-122"/>
              </a:rPr>
              <a:t>瓦时</a:t>
            </a:r>
            <a:r>
              <a:rPr lang="en-US" altLang="zh-CN">
                <a:ea typeface="宋体" panose="02010600030101010101" pitchFamily="2" charset="-122"/>
              </a:rPr>
              <a:t>/</a:t>
            </a:r>
            <a:r>
              <a:rPr lang="zh-CN" altLang="en-US">
                <a:ea typeface="宋体" panose="02010600030101010101" pitchFamily="2" charset="-122"/>
              </a:rPr>
              <a:t>公斤，采用该体系水机电池的电动汽车，一次充电可以行使</a:t>
            </a:r>
            <a:r>
              <a:rPr lang="en-US" altLang="zh-CN">
                <a:ea typeface="宋体" panose="02010600030101010101" pitchFamily="2" charset="-122"/>
              </a:rPr>
              <a:t>400KM,</a:t>
            </a:r>
            <a:r>
              <a:rPr lang="zh-CN" altLang="en-US">
                <a:ea typeface="宋体" panose="02010600030101010101" pitchFamily="2" charset="-122"/>
              </a:rPr>
              <a:t>远大于目前市场上电动汽车行使距离</a:t>
            </a:r>
            <a:r>
              <a:rPr lang="en-US" altLang="zh-CN">
                <a:ea typeface="宋体" panose="02010600030101010101" pitchFamily="2" charset="-122"/>
              </a:rPr>
              <a:t>150-180KM</a:t>
            </a:r>
            <a:r>
              <a:rPr lang="zh-CN" altLang="en-US">
                <a:ea typeface="宋体" panose="02010600030101010101" pitchFamily="2" charset="-122"/>
              </a:rPr>
              <a:t>距离。不过水相锂电池目前的主要问题是水的电化学稳定窗口窄，易发生析氢析氧现象，寻找合适的电极材料等。</a:t>
            </a:r>
          </a:p>
        </p:txBody>
      </p:sp>
    </p:spTree>
    <p:extLst>
      <p:ext uri="{BB962C8B-B14F-4D97-AF65-F5344CB8AC3E}">
        <p14:creationId xmlns:p14="http://schemas.microsoft.com/office/powerpoint/2010/main" val="3345545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32253FC-B42A-40F5-9F1E-CF5E68D819C5}" type="slidenum">
              <a:rPr lang="en-US" altLang="zh-CN" smtClean="0"/>
              <a:pPr>
                <a:spcBef>
                  <a:spcPct val="0"/>
                </a:spcBef>
              </a:pPr>
              <a:t>44</a:t>
            </a:fld>
            <a:endParaRPr lang="en-US" altLang="zh-CN"/>
          </a:p>
        </p:txBody>
      </p:sp>
      <p:sp>
        <p:nvSpPr>
          <p:cNvPr id="48131" name="Rectangle 2"/>
          <p:cNvSpPr>
            <a:spLocks noGrp="1" noRot="1" noChangeAspect="1" noChangeArrowheads="1" noTextEdit="1"/>
          </p:cNvSpPr>
          <p:nvPr>
            <p:ph type="sldImg"/>
          </p:nvPr>
        </p:nvSpPr>
        <p:spPr>
          <a:xfrm>
            <a:off x="381000" y="685800"/>
            <a:ext cx="6096000" cy="3429000"/>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太阳能电池是通过光电效应或者光化学效应直接把光能转化成电能的装置。</a:t>
            </a:r>
            <a:br>
              <a:rPr lang="zh-CN" altLang="en-US">
                <a:ea typeface="宋体" panose="02010600030101010101" pitchFamily="2" charset="-122"/>
              </a:rPr>
            </a:br>
            <a:br>
              <a:rPr lang="zh-CN" altLang="en-US">
                <a:ea typeface="宋体" panose="02010600030101010101" pitchFamily="2" charset="-122"/>
              </a:rPr>
            </a:br>
            <a:r>
              <a:rPr lang="zh-CN" altLang="en-US">
                <a:ea typeface="宋体" panose="02010600030101010101" pitchFamily="2" charset="-122"/>
              </a:rPr>
              <a:t>以光电效应工作的薄膜式太阳能电池为主流，而以光化学效应工作的湿式太阳能电池则还处于萌芽阶段。太阳光照在半导体</a:t>
            </a:r>
            <a:r>
              <a:rPr lang="en-US" altLang="zh-CN">
                <a:ea typeface="宋体" panose="02010600030101010101" pitchFamily="2" charset="-122"/>
              </a:rPr>
              <a:t>p-n</a:t>
            </a:r>
            <a:r>
              <a:rPr lang="zh-CN" altLang="en-US">
                <a:ea typeface="宋体" panose="02010600030101010101" pitchFamily="2" charset="-122"/>
              </a:rPr>
              <a:t>结上，形成新的空穴</a:t>
            </a:r>
            <a:r>
              <a:rPr lang="en-US" altLang="zh-CN">
                <a:ea typeface="宋体" panose="02010600030101010101" pitchFamily="2" charset="-122"/>
              </a:rPr>
              <a:t>-</a:t>
            </a:r>
            <a:r>
              <a:rPr lang="zh-CN" altLang="en-US">
                <a:ea typeface="宋体" panose="02010600030101010101" pitchFamily="2" charset="-122"/>
              </a:rPr>
              <a:t>电子对，在</a:t>
            </a:r>
            <a:r>
              <a:rPr lang="en-US" altLang="zh-CN">
                <a:ea typeface="宋体" panose="02010600030101010101" pitchFamily="2" charset="-122"/>
              </a:rPr>
              <a:t>p-n</a:t>
            </a:r>
            <a:r>
              <a:rPr lang="zh-CN" altLang="en-US">
                <a:ea typeface="宋体" panose="02010600030101010101" pitchFamily="2" charset="-122"/>
              </a:rPr>
              <a:t>结电场的作用下，空穴由</a:t>
            </a:r>
            <a:r>
              <a:rPr lang="en-US" altLang="zh-CN">
                <a:ea typeface="宋体" panose="02010600030101010101" pitchFamily="2" charset="-122"/>
              </a:rPr>
              <a:t>n</a:t>
            </a:r>
            <a:r>
              <a:rPr lang="zh-CN" altLang="en-US">
                <a:ea typeface="宋体" panose="02010600030101010101" pitchFamily="2" charset="-122"/>
              </a:rPr>
              <a:t>区流向</a:t>
            </a:r>
            <a:r>
              <a:rPr lang="en-US" altLang="zh-CN">
                <a:ea typeface="宋体" panose="02010600030101010101" pitchFamily="2" charset="-122"/>
              </a:rPr>
              <a:t>p</a:t>
            </a:r>
            <a:r>
              <a:rPr lang="zh-CN" altLang="en-US">
                <a:ea typeface="宋体" panose="02010600030101010101" pitchFamily="2" charset="-122"/>
              </a:rPr>
              <a:t>区，电子由</a:t>
            </a:r>
            <a:r>
              <a:rPr lang="en-US" altLang="zh-CN">
                <a:ea typeface="宋体" panose="02010600030101010101" pitchFamily="2" charset="-122"/>
              </a:rPr>
              <a:t>p</a:t>
            </a:r>
            <a:r>
              <a:rPr lang="zh-CN" altLang="en-US">
                <a:ea typeface="宋体" panose="02010600030101010101" pitchFamily="2" charset="-122"/>
              </a:rPr>
              <a:t>区流向</a:t>
            </a:r>
            <a:r>
              <a:rPr lang="en-US" altLang="zh-CN">
                <a:ea typeface="宋体" panose="02010600030101010101" pitchFamily="2" charset="-122"/>
              </a:rPr>
              <a:t>n</a:t>
            </a:r>
            <a:r>
              <a:rPr lang="zh-CN" altLang="en-US">
                <a:ea typeface="宋体" panose="02010600030101010101" pitchFamily="2" charset="-122"/>
              </a:rPr>
              <a:t>区，接通电路后就形成电流。这就是光电效应太阳能电池的工作原 理。太阳能电池按结晶状态可分为结晶系薄膜式和非结晶系薄膜式</a:t>
            </a:r>
            <a:r>
              <a:rPr lang="en-US" altLang="zh-CN">
                <a:ea typeface="宋体" panose="02010600030101010101" pitchFamily="2" charset="-122"/>
              </a:rPr>
              <a:t>(</a:t>
            </a:r>
            <a:r>
              <a:rPr lang="zh-CN" altLang="en-US">
                <a:ea typeface="宋体" panose="02010600030101010101" pitchFamily="2" charset="-122"/>
              </a:rPr>
              <a:t>以下表示为</a:t>
            </a:r>
            <a:r>
              <a:rPr lang="en-US" altLang="zh-CN">
                <a:ea typeface="宋体" panose="02010600030101010101" pitchFamily="2" charset="-122"/>
              </a:rPr>
              <a:t>a-)</a:t>
            </a:r>
            <a:r>
              <a:rPr lang="zh-CN" altLang="en-US">
                <a:ea typeface="宋体" panose="02010600030101010101" pitchFamily="2" charset="-122"/>
              </a:rPr>
              <a:t>两大类，而前者又分为单结晶形和多结晶形。 </a:t>
            </a:r>
          </a:p>
        </p:txBody>
      </p:sp>
    </p:spTree>
    <p:extLst>
      <p:ext uri="{BB962C8B-B14F-4D97-AF65-F5344CB8AC3E}">
        <p14:creationId xmlns:p14="http://schemas.microsoft.com/office/powerpoint/2010/main" val="2917578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F722E-AD7F-4BFB-8B17-F3729664AD0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8997AA4-E001-45B6-BF4D-E21995E10E3B}" type="slidenum">
              <a:rPr lang="en-US" altLang="zh-CN"/>
              <a:pPr>
                <a:defRPr/>
              </a:pPr>
              <a:t>‹#›</a:t>
            </a:fld>
            <a:endParaRPr lang="en-US" altLang="zh-CN"/>
          </a:p>
        </p:txBody>
      </p:sp>
    </p:spTree>
    <p:extLst>
      <p:ext uri="{BB962C8B-B14F-4D97-AF65-F5344CB8AC3E}">
        <p14:creationId xmlns:p14="http://schemas.microsoft.com/office/powerpoint/2010/main" val="1329238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9B5646E-1D84-4570-B8B6-7891775D6297}" type="slidenum">
              <a:rPr lang="en-US" altLang="zh-CN"/>
              <a:pPr>
                <a:defRPr/>
              </a:pPr>
              <a:t>‹#›</a:t>
            </a:fld>
            <a:endParaRPr lang="en-US" altLang="zh-CN"/>
          </a:p>
        </p:txBody>
      </p:sp>
    </p:spTree>
    <p:extLst>
      <p:ext uri="{BB962C8B-B14F-4D97-AF65-F5344CB8AC3E}">
        <p14:creationId xmlns:p14="http://schemas.microsoft.com/office/powerpoint/2010/main" val="3521555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235B63E-A268-49A3-A742-4A66C6A02173}" type="slidenum">
              <a:rPr lang="en-US" altLang="zh-CN"/>
              <a:pPr>
                <a:defRPr/>
              </a:pPr>
              <a:t>‹#›</a:t>
            </a:fld>
            <a:endParaRPr lang="en-US" altLang="zh-CN"/>
          </a:p>
        </p:txBody>
      </p:sp>
    </p:spTree>
    <p:extLst>
      <p:ext uri="{BB962C8B-B14F-4D97-AF65-F5344CB8AC3E}">
        <p14:creationId xmlns:p14="http://schemas.microsoft.com/office/powerpoint/2010/main" val="371410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B98BF70-7195-492E-9223-D3DE7C81B666}" type="slidenum">
              <a:rPr lang="en-US" altLang="zh-CN"/>
              <a:pPr>
                <a:defRPr/>
              </a:pPr>
              <a:t>‹#›</a:t>
            </a:fld>
            <a:endParaRPr lang="en-US" altLang="zh-CN"/>
          </a:p>
        </p:txBody>
      </p:sp>
    </p:spTree>
    <p:extLst>
      <p:ext uri="{BB962C8B-B14F-4D97-AF65-F5344CB8AC3E}">
        <p14:creationId xmlns:p14="http://schemas.microsoft.com/office/powerpoint/2010/main" val="762374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C14382B-F29E-45DB-B720-A32687BF99A6}" type="slidenum">
              <a:rPr lang="en-US" altLang="zh-CN"/>
              <a:pPr>
                <a:defRPr/>
              </a:pPr>
              <a:t>‹#›</a:t>
            </a:fld>
            <a:endParaRPr lang="en-US" altLang="zh-CN"/>
          </a:p>
        </p:txBody>
      </p:sp>
    </p:spTree>
    <p:extLst>
      <p:ext uri="{BB962C8B-B14F-4D97-AF65-F5344CB8AC3E}">
        <p14:creationId xmlns:p14="http://schemas.microsoft.com/office/powerpoint/2010/main" val="1080735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9A943F2-8FFA-463A-AFFF-5891740ED4C1}" type="slidenum">
              <a:rPr lang="en-US" altLang="zh-CN"/>
              <a:pPr>
                <a:defRPr/>
              </a:pPr>
              <a:t>‹#›</a:t>
            </a:fld>
            <a:endParaRPr lang="en-US" altLang="zh-CN"/>
          </a:p>
        </p:txBody>
      </p:sp>
    </p:spTree>
    <p:extLst>
      <p:ext uri="{BB962C8B-B14F-4D97-AF65-F5344CB8AC3E}">
        <p14:creationId xmlns:p14="http://schemas.microsoft.com/office/powerpoint/2010/main" val="729494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8762274E-67D8-499C-B3CC-A76ECDDDE4FF}" type="slidenum">
              <a:rPr lang="en-US" altLang="zh-CN"/>
              <a:pPr>
                <a:defRPr/>
              </a:pPr>
              <a:t>‹#›</a:t>
            </a:fld>
            <a:endParaRPr lang="en-US" altLang="zh-CN"/>
          </a:p>
        </p:txBody>
      </p:sp>
    </p:spTree>
    <p:extLst>
      <p:ext uri="{BB962C8B-B14F-4D97-AF65-F5344CB8AC3E}">
        <p14:creationId xmlns:p14="http://schemas.microsoft.com/office/powerpoint/2010/main" val="2799202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2FC5F63-E044-421D-A080-D247B04DA4E3}" type="slidenum">
              <a:rPr lang="en-US" altLang="zh-CN"/>
              <a:pPr>
                <a:defRPr/>
              </a:pPr>
              <a:t>‹#›</a:t>
            </a:fld>
            <a:endParaRPr lang="en-US" altLang="zh-CN"/>
          </a:p>
        </p:txBody>
      </p:sp>
    </p:spTree>
    <p:extLst>
      <p:ext uri="{BB962C8B-B14F-4D97-AF65-F5344CB8AC3E}">
        <p14:creationId xmlns:p14="http://schemas.microsoft.com/office/powerpoint/2010/main" val="2047268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64ADB7A-855A-4023-B622-F4FEEDDCDF57}" type="slidenum">
              <a:rPr lang="en-US" altLang="zh-CN"/>
              <a:pPr>
                <a:defRPr/>
              </a:pPr>
              <a:t>‹#›</a:t>
            </a:fld>
            <a:endParaRPr lang="en-US" altLang="zh-CN"/>
          </a:p>
        </p:txBody>
      </p:sp>
    </p:spTree>
    <p:extLst>
      <p:ext uri="{BB962C8B-B14F-4D97-AF65-F5344CB8AC3E}">
        <p14:creationId xmlns:p14="http://schemas.microsoft.com/office/powerpoint/2010/main" val="1959729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505F78C-F796-43FD-A5A4-B814A3C7482D}" type="slidenum">
              <a:rPr lang="en-US" altLang="zh-CN"/>
              <a:pPr>
                <a:defRPr/>
              </a:pPr>
              <a:t>‹#›</a:t>
            </a:fld>
            <a:endParaRPr lang="en-US" altLang="zh-CN"/>
          </a:p>
        </p:txBody>
      </p:sp>
    </p:spTree>
    <p:extLst>
      <p:ext uri="{BB962C8B-B14F-4D97-AF65-F5344CB8AC3E}">
        <p14:creationId xmlns:p14="http://schemas.microsoft.com/office/powerpoint/2010/main" val="2301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D79D517-0889-49E2-85D2-A7C17DEAC162}" type="slidenum">
              <a:rPr lang="en-US" altLang="zh-CN"/>
              <a:pPr>
                <a:defRPr/>
              </a:pPr>
              <a:t>‹#›</a:t>
            </a:fld>
            <a:endParaRPr lang="en-US" altLang="zh-CN"/>
          </a:p>
        </p:txBody>
      </p:sp>
    </p:spTree>
    <p:extLst>
      <p:ext uri="{BB962C8B-B14F-4D97-AF65-F5344CB8AC3E}">
        <p14:creationId xmlns:p14="http://schemas.microsoft.com/office/powerpoint/2010/main" val="3144334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48B4748-4F44-4816-82C9-F44DD9AC00E7}" type="slidenum">
              <a:rPr lang="en-US" altLang="zh-CN"/>
              <a:pPr>
                <a:defRPr/>
              </a:pPr>
              <a:t>‹#›</a:t>
            </a:fld>
            <a:endParaRPr lang="en-US" altLang="zh-CN"/>
          </a:p>
        </p:txBody>
      </p:sp>
    </p:spTree>
    <p:extLst>
      <p:ext uri="{BB962C8B-B14F-4D97-AF65-F5344CB8AC3E}">
        <p14:creationId xmlns:p14="http://schemas.microsoft.com/office/powerpoint/2010/main" val="1170605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2B03748-9E44-43DB-9CAB-80DEE1C8212A}" type="slidenum">
              <a:rPr lang="en-US" altLang="zh-CN"/>
              <a:pPr>
                <a:defRPr/>
              </a:pPr>
              <a:t>‹#›</a:t>
            </a:fld>
            <a:endParaRPr lang="en-US" altLang="zh-CN"/>
          </a:p>
        </p:txBody>
      </p:sp>
    </p:spTree>
    <p:extLst>
      <p:ext uri="{BB962C8B-B14F-4D97-AF65-F5344CB8AC3E}">
        <p14:creationId xmlns:p14="http://schemas.microsoft.com/office/powerpoint/2010/main" val="3706819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r>
              <a:rPr lang="zh-CN" altLang="en-US"/>
              <a:t>单击此处编辑母版标题样式</a:t>
            </a:r>
          </a:p>
        </p:txBody>
      </p:sp>
      <p:sp>
        <p:nvSpPr>
          <p:cNvPr id="3" name="内容占位符 2"/>
          <p:cNvSpPr>
            <a:spLocks noGrp="1"/>
          </p:cNvSpPr>
          <p:nvPr>
            <p:ph sz="quarter" idx="1"/>
          </p:nvPr>
        </p:nvSpPr>
        <p:spPr>
          <a:xfrm>
            <a:off x="609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6E8F02D-A47B-4133-BCFB-B6BA79D73FBD}" type="slidenum">
              <a:rPr lang="en-US" altLang="zh-CN"/>
              <a:pPr>
                <a:defRPr/>
              </a:pPr>
              <a:t>‹#›</a:t>
            </a:fld>
            <a:endParaRPr lang="en-US" altLang="zh-CN"/>
          </a:p>
        </p:txBody>
      </p:sp>
    </p:spTree>
    <p:extLst>
      <p:ext uri="{BB962C8B-B14F-4D97-AF65-F5344CB8AC3E}">
        <p14:creationId xmlns:p14="http://schemas.microsoft.com/office/powerpoint/2010/main" val="41070570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799C7673-733F-4062-A31B-BB160A903F3B}" type="slidenum">
              <a:rPr lang="en-US" altLang="zh-CN"/>
              <a:pPr>
                <a:defRPr/>
              </a:pPr>
              <a:t>‹#›</a:t>
            </a:fld>
            <a:endParaRPr lang="en-US" altLang="zh-CN"/>
          </a:p>
        </p:txBody>
      </p:sp>
    </p:spTree>
    <p:extLst>
      <p:ext uri="{BB962C8B-B14F-4D97-AF65-F5344CB8AC3E}">
        <p14:creationId xmlns:p14="http://schemas.microsoft.com/office/powerpoint/2010/main" val="662706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tretch>
            <a:fillRect/>
          </a:stretch>
        </p:blipFill>
        <p:spPr>
          <a:xfrm>
            <a:off x="15650" y="0"/>
            <a:ext cx="12176349" cy="6857999"/>
          </a:xfrm>
          <a:prstGeom prst="rect">
            <a:avLst/>
          </a:prstGeom>
        </p:spPr>
      </p:pic>
      <p:sp>
        <p:nvSpPr>
          <p:cNvPr id="17" name="任意多边形: 形状 16"/>
          <p:cNvSpPr/>
          <p:nvPr userDrawn="1"/>
        </p:nvSpPr>
        <p:spPr>
          <a:xfrm>
            <a:off x="15650" y="-2"/>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p:cNvSpPr/>
          <p:nvPr userDrawn="1"/>
        </p:nvSpPr>
        <p:spPr>
          <a:xfrm>
            <a:off x="305032" y="254630"/>
            <a:ext cx="11613235" cy="6348733"/>
          </a:xfrm>
          <a:prstGeom prst="roundRect">
            <a:avLst>
              <a:gd name="adj" fmla="val 1328"/>
            </a:avLst>
          </a:prstGeom>
          <a:solidFill>
            <a:schemeClr val="bg1">
              <a:alpha val="84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p:cNvSpPr>
            <a:spLocks noGrp="1"/>
          </p:cNvSpPr>
          <p:nvPr>
            <p:ph type="subTitle" idx="1"/>
          </p:nvPr>
        </p:nvSpPr>
        <p:spPr>
          <a:xfrm>
            <a:off x="2002549" y="3234727"/>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22" name="文本占位符 21"/>
          <p:cNvSpPr>
            <a:spLocks noGrp="1"/>
          </p:cNvSpPr>
          <p:nvPr>
            <p:ph type="body" sz="quarter" idx="13" hasCustomPrompt="1"/>
          </p:nvPr>
        </p:nvSpPr>
        <p:spPr>
          <a:xfrm>
            <a:off x="3520598" y="4207533"/>
            <a:ext cx="5150803" cy="472252"/>
          </a:xfrm>
        </p:spPr>
        <p:txBody>
          <a:bodyPr anchor="ctr" anchorCtr="0">
            <a:normAutofit/>
          </a:bodyPr>
          <a:lstStyle>
            <a:lvl1pPr marL="0" indent="0" algn="ctr">
              <a:buNone/>
              <a:defRPr sz="2000"/>
            </a:lvl1pPr>
            <a:lvl2pPr marL="457200" indent="0">
              <a:buNone/>
              <a:defRPr/>
            </a:lvl2pPr>
          </a:lstStyle>
          <a:p>
            <a:pPr lvl="0"/>
            <a:r>
              <a:rPr lang="zh-CN" altLang="en-US" dirty="0"/>
              <a:t>编辑母版文本样式</a:t>
            </a:r>
          </a:p>
        </p:txBody>
      </p:sp>
      <p:sp>
        <p:nvSpPr>
          <p:cNvPr id="26" name="文本占位符 25"/>
          <p:cNvSpPr>
            <a:spLocks noGrp="1"/>
          </p:cNvSpPr>
          <p:nvPr>
            <p:ph type="body" sz="quarter" idx="15" hasCustomPrompt="1"/>
          </p:nvPr>
        </p:nvSpPr>
        <p:spPr>
          <a:xfrm>
            <a:off x="3971639" y="5893688"/>
            <a:ext cx="4248721" cy="342012"/>
          </a:xfrm>
        </p:spPr>
        <p:txBody>
          <a:bodyPr wrap="square">
            <a:noAutofit/>
          </a:bodyPr>
          <a:lstStyle>
            <a:lvl1pPr marL="0" indent="0" algn="ctr">
              <a:buNone/>
              <a:defRPr lang="zh-CN" altLang="en-US" sz="1600" kern="1200" dirty="0">
                <a:solidFill>
                  <a:schemeClr val="bg1">
                    <a:lumMod val="50000"/>
                  </a:schemeClr>
                </a:solidFill>
                <a:latin typeface="+mn-ea"/>
                <a:ea typeface="+mn-ea"/>
                <a:cs typeface="+mn-cs"/>
              </a:defRPr>
            </a:lvl1pPr>
            <a:lvl2pPr>
              <a:defRPr/>
            </a:lvl2pPr>
            <a:lvl3pPr>
              <a:defRPr/>
            </a:lvl3pPr>
            <a:lvl4pPr>
              <a:defRPr/>
            </a:lvl4pPr>
            <a:lvl5pPr>
              <a:defRPr/>
            </a:lvl5pPr>
          </a:lstStyle>
          <a:p>
            <a:pPr marL="228600" lvl="0" indent="-228600" algn="ctr" defTabSz="914400" rtl="0" eaLnBrk="1" latinLnBrk="0" hangingPunct="1">
              <a:lnSpc>
                <a:spcPct val="90000"/>
              </a:lnSpc>
              <a:spcBef>
                <a:spcPts val="1000"/>
              </a:spcBef>
            </a:pPr>
            <a:r>
              <a:rPr lang="zh-CN" altLang="en-US" dirty="0"/>
              <a:t>这里可以写你的学院或者专业名称</a:t>
            </a:r>
          </a:p>
        </p:txBody>
      </p:sp>
      <p:pic>
        <p:nvPicPr>
          <p:cNvPr id="6" name="图形 5"/>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3977" y="1225413"/>
            <a:ext cx="4476750" cy="857250"/>
          </a:xfrm>
          <a:prstGeom prst="rect">
            <a:avLst/>
          </a:prstGeom>
        </p:spPr>
      </p:pic>
    </p:spTree>
    <p:extLst>
      <p:ext uri="{BB962C8B-B14F-4D97-AF65-F5344CB8AC3E}">
        <p14:creationId xmlns:p14="http://schemas.microsoft.com/office/powerpoint/2010/main" val="18916844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122400"/>
            <a:ext cx="12191999" cy="5363021"/>
          </a:xfrm>
          <a:prstGeom prst="rect">
            <a:avLst/>
          </a:prstGeom>
        </p:spPr>
      </p:pic>
      <p:sp>
        <p:nvSpPr>
          <p:cNvPr id="7" name="矩形 6"/>
          <p:cNvSpPr/>
          <p:nvPr userDrawn="1"/>
        </p:nvSpPr>
        <p:spPr>
          <a:xfrm>
            <a:off x="0" y="1147919"/>
            <a:ext cx="12192000" cy="5365107"/>
          </a:xfrm>
          <a:prstGeom prst="rect">
            <a:avLst/>
          </a:pr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8" name="矩形 7"/>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501023" y="171621"/>
            <a:ext cx="1503036" cy="830997"/>
          </a:xfrm>
          <a:prstGeom prst="rect">
            <a:avLst/>
          </a:prstGeom>
          <a:noFill/>
        </p:spPr>
        <p:txBody>
          <a:bodyPr wrap="square" rtlCol="0">
            <a:spAutoFit/>
          </a:bodyPr>
          <a:lstStyle/>
          <a:p>
            <a:pPr algn="dist"/>
            <a:r>
              <a:rPr lang="zh-CN" altLang="en-US" sz="4800" b="1" dirty="0">
                <a:solidFill>
                  <a:schemeClr val="bg1"/>
                </a:solidFill>
                <a:latin typeface="+mj-ea"/>
                <a:ea typeface="+mj-ea"/>
              </a:rPr>
              <a:t>目录</a:t>
            </a:r>
          </a:p>
        </p:txBody>
      </p:sp>
      <p:sp>
        <p:nvSpPr>
          <p:cNvPr id="12" name="矩形 11"/>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17"/>
          <p:cNvSpPr>
            <a:spLocks noGrp="1"/>
          </p:cNvSpPr>
          <p:nvPr>
            <p:ph type="body" sz="quarter" idx="13" hasCustomPrompt="1"/>
          </p:nvPr>
        </p:nvSpPr>
        <p:spPr>
          <a:xfrm>
            <a:off x="2569759" y="2028114"/>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22" name="文本占位符 21"/>
          <p:cNvSpPr>
            <a:spLocks noGrp="1"/>
          </p:cNvSpPr>
          <p:nvPr>
            <p:ph type="body" sz="quarter" idx="14" hasCustomPrompt="1"/>
          </p:nvPr>
        </p:nvSpPr>
        <p:spPr>
          <a:xfrm>
            <a:off x="2569759" y="2519790"/>
            <a:ext cx="3250169"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编辑母版文本样式</a:t>
            </a:r>
          </a:p>
        </p:txBody>
      </p:sp>
      <p:sp>
        <p:nvSpPr>
          <p:cNvPr id="30" name="文本占位符 29"/>
          <p:cNvSpPr>
            <a:spLocks noGrp="1"/>
          </p:cNvSpPr>
          <p:nvPr>
            <p:ph type="body" sz="quarter" idx="15" hasCustomPrompt="1"/>
          </p:nvPr>
        </p:nvSpPr>
        <p:spPr>
          <a:xfrm>
            <a:off x="7152979" y="2028114"/>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31" name="文本占位符 30"/>
          <p:cNvSpPr>
            <a:spLocks noGrp="1"/>
          </p:cNvSpPr>
          <p:nvPr>
            <p:ph type="body" sz="quarter" idx="16" hasCustomPrompt="1"/>
          </p:nvPr>
        </p:nvSpPr>
        <p:spPr>
          <a:xfrm>
            <a:off x="7152979" y="2519790"/>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39" name="文本占位符 38"/>
          <p:cNvSpPr>
            <a:spLocks noGrp="1"/>
          </p:cNvSpPr>
          <p:nvPr>
            <p:ph type="body" sz="quarter" idx="17" hasCustomPrompt="1"/>
          </p:nvPr>
        </p:nvSpPr>
        <p:spPr>
          <a:xfrm>
            <a:off x="2569759" y="3329661"/>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0" name="文本占位符 39"/>
          <p:cNvSpPr>
            <a:spLocks noGrp="1"/>
          </p:cNvSpPr>
          <p:nvPr>
            <p:ph type="body" sz="quarter" idx="18" hasCustomPrompt="1"/>
          </p:nvPr>
        </p:nvSpPr>
        <p:spPr>
          <a:xfrm>
            <a:off x="2569759" y="3821337"/>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2" name="文本占位符 41"/>
          <p:cNvSpPr>
            <a:spLocks noGrp="1"/>
          </p:cNvSpPr>
          <p:nvPr>
            <p:ph type="body" sz="quarter" idx="19" hasCustomPrompt="1"/>
          </p:nvPr>
        </p:nvSpPr>
        <p:spPr>
          <a:xfrm>
            <a:off x="7152979" y="3329661"/>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3" name="文本占位符 42"/>
          <p:cNvSpPr>
            <a:spLocks noGrp="1"/>
          </p:cNvSpPr>
          <p:nvPr>
            <p:ph type="body" sz="quarter" idx="20" hasCustomPrompt="1"/>
          </p:nvPr>
        </p:nvSpPr>
        <p:spPr>
          <a:xfrm>
            <a:off x="7152979" y="3821337"/>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5" name="文本占位符 44"/>
          <p:cNvSpPr>
            <a:spLocks noGrp="1"/>
          </p:cNvSpPr>
          <p:nvPr>
            <p:ph type="body" sz="quarter" idx="21" hasCustomPrompt="1"/>
          </p:nvPr>
        </p:nvSpPr>
        <p:spPr>
          <a:xfrm>
            <a:off x="2569759" y="4712488"/>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6" name="文本占位符 45"/>
          <p:cNvSpPr>
            <a:spLocks noGrp="1"/>
          </p:cNvSpPr>
          <p:nvPr>
            <p:ph type="body" sz="quarter" idx="22" hasCustomPrompt="1"/>
          </p:nvPr>
        </p:nvSpPr>
        <p:spPr>
          <a:xfrm>
            <a:off x="2569759" y="5204164"/>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8" name="文本占位符 47"/>
          <p:cNvSpPr>
            <a:spLocks noGrp="1"/>
          </p:cNvSpPr>
          <p:nvPr>
            <p:ph type="body" sz="quarter" idx="23" hasCustomPrompt="1"/>
          </p:nvPr>
        </p:nvSpPr>
        <p:spPr>
          <a:xfrm>
            <a:off x="7152979" y="4712488"/>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9" name="文本占位符 48"/>
          <p:cNvSpPr>
            <a:spLocks noGrp="1"/>
          </p:cNvSpPr>
          <p:nvPr>
            <p:ph type="body" sz="quarter" idx="24" hasCustomPrompt="1"/>
          </p:nvPr>
        </p:nvSpPr>
        <p:spPr>
          <a:xfrm>
            <a:off x="7152979" y="5204164"/>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52" name="文本占位符 51"/>
          <p:cNvSpPr>
            <a:spLocks noGrp="1"/>
          </p:cNvSpPr>
          <p:nvPr>
            <p:ph type="body" sz="quarter" idx="25" hasCustomPrompt="1"/>
          </p:nvPr>
        </p:nvSpPr>
        <p:spPr>
          <a:xfrm>
            <a:off x="1708078"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2" name="文本占位符 31"/>
          <p:cNvSpPr>
            <a:spLocks noGrp="1"/>
          </p:cNvSpPr>
          <p:nvPr>
            <p:ph type="body" sz="quarter" idx="26" hasCustomPrompt="1"/>
          </p:nvPr>
        </p:nvSpPr>
        <p:spPr>
          <a:xfrm>
            <a:off x="6283367"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3" name="文本占位符 32"/>
          <p:cNvSpPr>
            <a:spLocks noGrp="1"/>
          </p:cNvSpPr>
          <p:nvPr>
            <p:ph type="body" sz="quarter" idx="27" hasCustomPrompt="1"/>
          </p:nvPr>
        </p:nvSpPr>
        <p:spPr>
          <a:xfrm>
            <a:off x="1708078" y="333218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4" name="文本占位符 33"/>
          <p:cNvSpPr>
            <a:spLocks noGrp="1"/>
          </p:cNvSpPr>
          <p:nvPr>
            <p:ph type="body" sz="quarter" idx="28" hasCustomPrompt="1"/>
          </p:nvPr>
        </p:nvSpPr>
        <p:spPr>
          <a:xfrm>
            <a:off x="6283367" y="332842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5" name="文本占位符 34"/>
          <p:cNvSpPr>
            <a:spLocks noGrp="1"/>
          </p:cNvSpPr>
          <p:nvPr>
            <p:ph type="body" sz="quarter" idx="29" hasCustomPrompt="1"/>
          </p:nvPr>
        </p:nvSpPr>
        <p:spPr>
          <a:xfrm>
            <a:off x="1708078"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6" name="文本占位符 35"/>
          <p:cNvSpPr>
            <a:spLocks noGrp="1"/>
          </p:cNvSpPr>
          <p:nvPr>
            <p:ph type="body" sz="quarter" idx="30" hasCustomPrompt="1"/>
          </p:nvPr>
        </p:nvSpPr>
        <p:spPr>
          <a:xfrm>
            <a:off x="6283367"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 name="文本框 2"/>
          <p:cNvSpPr txBox="1"/>
          <p:nvPr userDrawn="1"/>
        </p:nvSpPr>
        <p:spPr>
          <a:xfrm>
            <a:off x="118966" y="6496122"/>
            <a:ext cx="6097554" cy="369332"/>
          </a:xfrm>
          <a:prstGeom prst="rect">
            <a:avLst/>
          </a:prstGeom>
          <a:noFill/>
        </p:spPr>
        <p:txBody>
          <a:bodyPr wrap="square">
            <a:spAutoFit/>
          </a:bodyPr>
          <a:lstStyle/>
          <a:p>
            <a:r>
              <a:rPr lang="zh-CN" altLang="en-US" dirty="0">
                <a:solidFill>
                  <a:schemeClr val="bg1"/>
                </a:solidFill>
                <a:latin typeface="华文新魏" panose="02010800040101010101" pitchFamily="2" charset="-122"/>
                <a:ea typeface="华文新魏" panose="02010800040101010101" pitchFamily="2" charset="-122"/>
              </a:rPr>
              <a:t>红专并进，理实交融</a:t>
            </a:r>
          </a:p>
        </p:txBody>
      </p:sp>
      <p:sp>
        <p:nvSpPr>
          <p:cNvPr id="5" name="文本框 4"/>
          <p:cNvSpPr txBox="1"/>
          <p:nvPr userDrawn="1"/>
        </p:nvSpPr>
        <p:spPr>
          <a:xfrm>
            <a:off x="8117633" y="6522815"/>
            <a:ext cx="6097554" cy="307777"/>
          </a:xfrm>
          <a:prstGeom prst="rect">
            <a:avLst/>
          </a:prstGeom>
          <a:noFill/>
        </p:spPr>
        <p:txBody>
          <a:bodyPr wrap="square">
            <a:spAutoFit/>
          </a:bodyPr>
          <a:lstStyle/>
          <a:p>
            <a:r>
              <a:rPr lang="en-US" altLang="zh-CN" sz="1400" dirty="0">
                <a:solidFill>
                  <a:schemeClr val="bg1"/>
                </a:solidFill>
                <a:latin typeface="+mj-ea"/>
                <a:ea typeface="+mj-ea"/>
              </a:rPr>
              <a:t>University of Science and Technology of China</a:t>
            </a:r>
            <a:endParaRPr lang="zh-CN" altLang="en-US" sz="1400" dirty="0">
              <a:solidFill>
                <a:schemeClr val="bg1"/>
              </a:solidFill>
              <a:latin typeface="+mj-ea"/>
              <a:ea typeface="+mj-ea"/>
            </a:endParaRPr>
          </a:p>
        </p:txBody>
      </p:sp>
    </p:spTree>
    <p:extLst>
      <p:ext uri="{BB962C8B-B14F-4D97-AF65-F5344CB8AC3E}">
        <p14:creationId xmlns:p14="http://schemas.microsoft.com/office/powerpoint/2010/main" val="4051500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四项目录">
    <p:spTree>
      <p:nvGrpSpPr>
        <p:cNvPr id="1" name=""/>
        <p:cNvGrpSpPr/>
        <p:nvPr/>
      </p:nvGrpSpPr>
      <p:grpSpPr>
        <a:xfrm>
          <a:off x="0" y="0"/>
          <a:ext cx="0" cy="0"/>
          <a:chOff x="0" y="0"/>
          <a:chExt cx="0" cy="0"/>
        </a:xfrm>
      </p:grpSpPr>
      <p:sp>
        <p:nvSpPr>
          <p:cNvPr id="18" name="矩形 17"/>
          <p:cNvSpPr/>
          <p:nvPr userDrawn="1"/>
        </p:nvSpPr>
        <p:spPr>
          <a:xfrm>
            <a:off x="0" y="1130300"/>
            <a:ext cx="12192000" cy="5375272"/>
          </a:xfrm>
          <a:prstGeom prst="rect">
            <a:avLst/>
          </a:prstGeom>
          <a:gradFill>
            <a:gsLst>
              <a:gs pos="0">
                <a:schemeClr val="accent1">
                  <a:lumMod val="5000"/>
                  <a:lumOff val="95000"/>
                  <a:alpha val="93000"/>
                </a:schemeClr>
              </a:gs>
              <a:gs pos="50000">
                <a:srgbClr val="F6FAFF">
                  <a:alpha val="93000"/>
                </a:srgbClr>
              </a:gs>
              <a:gs pos="100000">
                <a:schemeClr val="bg1">
                  <a:alpha val="0"/>
                </a:scheme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1" name="矩形 20"/>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p:cNvPicPr>
            <a:picLocks noChangeAspect="1"/>
          </p:cNvPicPr>
          <p:nvPr userDrawn="1"/>
        </p:nvPicPr>
        <p:blipFill>
          <a:blip r:embed="rId3"/>
          <a:stretch>
            <a:fillRect/>
          </a:stretch>
        </p:blipFill>
        <p:spPr>
          <a:xfrm>
            <a:off x="8610600" y="6626002"/>
            <a:ext cx="2908300" cy="111568"/>
          </a:xfrm>
          <a:prstGeom prst="rect">
            <a:avLst/>
          </a:prstGeom>
        </p:spPr>
      </p:pic>
      <p:pic>
        <p:nvPicPr>
          <p:cNvPr id="56" name="图片 55"/>
          <p:cNvPicPr>
            <a:picLocks noChangeAspect="1"/>
          </p:cNvPicPr>
          <p:nvPr userDrawn="1"/>
        </p:nvPicPr>
        <p:blipFill>
          <a:blip r:embed="rId4"/>
          <a:stretch>
            <a:fillRect/>
          </a:stretch>
        </p:blipFill>
        <p:spPr>
          <a:xfrm>
            <a:off x="660401" y="611569"/>
            <a:ext cx="1747519" cy="417129"/>
          </a:xfrm>
          <a:prstGeom prst="rect">
            <a:avLst/>
          </a:prstGeom>
        </p:spPr>
      </p:pic>
      <p:sp>
        <p:nvSpPr>
          <p:cNvPr id="5" name="文本占位符 4"/>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
        <p:nvSpPr>
          <p:cNvPr id="3" name="文本占位符 2"/>
          <p:cNvSpPr>
            <a:spLocks noGrp="1"/>
          </p:cNvSpPr>
          <p:nvPr>
            <p:ph type="body" sz="quarter" idx="13" hasCustomPrompt="1"/>
          </p:nvPr>
        </p:nvSpPr>
        <p:spPr>
          <a:xfrm>
            <a:off x="1320160"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0" name="文本占位符 49"/>
          <p:cNvSpPr>
            <a:spLocks noGrp="1"/>
          </p:cNvSpPr>
          <p:nvPr>
            <p:ph type="body" sz="quarter" idx="14" hasCustomPrompt="1"/>
          </p:nvPr>
        </p:nvSpPr>
        <p:spPr>
          <a:xfrm>
            <a:off x="1320160" y="2622561"/>
            <a:ext cx="2376000" cy="361081"/>
          </a:xfrm>
        </p:spPr>
        <p:txBody>
          <a:bodyPr lIns="0" tIns="0" anchor="t" anchorCtr="0">
            <a:noAutofit/>
          </a:bodyPr>
          <a:lstStyle>
            <a:lvl1pPr marL="0" indent="0" algn="l">
              <a:buNone/>
              <a:defRPr sz="3000" b="1">
                <a:solidFill>
                  <a:schemeClr val="tx1">
                    <a:lumMod val="95000"/>
                    <a:lumOff val="5000"/>
                  </a:schemeClr>
                </a:solidFill>
                <a:latin typeface="+mj-ea"/>
                <a:ea typeface="+mj-ea"/>
              </a:defRPr>
            </a:lvl1pPr>
            <a:lvl2pPr marL="457200" indent="0">
              <a:buNone/>
              <a:defRPr/>
            </a:lvl2pPr>
          </a:lstStyle>
          <a:p>
            <a:pPr lvl="0"/>
            <a:r>
              <a:rPr lang="zh-CN" altLang="en-US" dirty="0"/>
              <a:t>编辑文本</a:t>
            </a:r>
          </a:p>
        </p:txBody>
      </p:sp>
      <p:sp>
        <p:nvSpPr>
          <p:cNvPr id="51" name="文本占位符 50"/>
          <p:cNvSpPr>
            <a:spLocks noGrp="1"/>
          </p:cNvSpPr>
          <p:nvPr>
            <p:ph type="body" sz="quarter" idx="15" hasCustomPrompt="1"/>
          </p:nvPr>
        </p:nvSpPr>
        <p:spPr>
          <a:xfrm>
            <a:off x="1320160"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58" name="文本占位符 57"/>
          <p:cNvSpPr>
            <a:spLocks noGrp="1"/>
          </p:cNvSpPr>
          <p:nvPr>
            <p:ph type="body" sz="quarter" idx="16" hasCustomPrompt="1"/>
          </p:nvPr>
        </p:nvSpPr>
        <p:spPr>
          <a:xfrm>
            <a:off x="4171321"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9" name="文本占位符 58"/>
          <p:cNvSpPr>
            <a:spLocks noGrp="1"/>
          </p:cNvSpPr>
          <p:nvPr>
            <p:ph type="body" sz="quarter" idx="17" hasCustomPrompt="1"/>
          </p:nvPr>
        </p:nvSpPr>
        <p:spPr>
          <a:xfrm>
            <a:off x="4171321" y="2622561"/>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0" name="文本占位符 59"/>
          <p:cNvSpPr>
            <a:spLocks noGrp="1"/>
          </p:cNvSpPr>
          <p:nvPr>
            <p:ph type="body" sz="quarter" idx="18" hasCustomPrompt="1"/>
          </p:nvPr>
        </p:nvSpPr>
        <p:spPr>
          <a:xfrm>
            <a:off x="4171321"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1" name="文本占位符 60"/>
          <p:cNvSpPr>
            <a:spLocks noGrp="1"/>
          </p:cNvSpPr>
          <p:nvPr>
            <p:ph type="body" sz="quarter" idx="19" hasCustomPrompt="1"/>
          </p:nvPr>
        </p:nvSpPr>
        <p:spPr>
          <a:xfrm>
            <a:off x="1320160"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2" name="文本占位符 61"/>
          <p:cNvSpPr>
            <a:spLocks noGrp="1"/>
          </p:cNvSpPr>
          <p:nvPr>
            <p:ph type="body" sz="quarter" idx="20" hasCustomPrompt="1"/>
          </p:nvPr>
        </p:nvSpPr>
        <p:spPr>
          <a:xfrm>
            <a:off x="1320160"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lvl="0"/>
            <a:r>
              <a:rPr lang="zh-CN" altLang="en-US" dirty="0"/>
              <a:t>编辑文本</a:t>
            </a:r>
          </a:p>
        </p:txBody>
      </p:sp>
      <p:sp>
        <p:nvSpPr>
          <p:cNvPr id="63" name="文本占位符 62"/>
          <p:cNvSpPr>
            <a:spLocks noGrp="1"/>
          </p:cNvSpPr>
          <p:nvPr>
            <p:ph type="body" sz="quarter" idx="21" hasCustomPrompt="1"/>
          </p:nvPr>
        </p:nvSpPr>
        <p:spPr>
          <a:xfrm>
            <a:off x="1320160"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4" name="文本占位符 63"/>
          <p:cNvSpPr>
            <a:spLocks noGrp="1"/>
          </p:cNvSpPr>
          <p:nvPr>
            <p:ph type="body" sz="quarter" idx="22" hasCustomPrompt="1"/>
          </p:nvPr>
        </p:nvSpPr>
        <p:spPr>
          <a:xfrm>
            <a:off x="4171321"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5" name="文本占位符 64"/>
          <p:cNvSpPr>
            <a:spLocks noGrp="1"/>
          </p:cNvSpPr>
          <p:nvPr>
            <p:ph type="body" sz="quarter" idx="23" hasCustomPrompt="1"/>
          </p:nvPr>
        </p:nvSpPr>
        <p:spPr>
          <a:xfrm>
            <a:off x="4171321"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6" name="文本占位符 65"/>
          <p:cNvSpPr>
            <a:spLocks noGrp="1"/>
          </p:cNvSpPr>
          <p:nvPr>
            <p:ph type="body" sz="quarter" idx="24" hasCustomPrompt="1"/>
          </p:nvPr>
        </p:nvSpPr>
        <p:spPr>
          <a:xfrm>
            <a:off x="4171321"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Tree>
    <p:extLst>
      <p:ext uri="{BB962C8B-B14F-4D97-AF65-F5344CB8AC3E}">
        <p14:creationId xmlns:p14="http://schemas.microsoft.com/office/powerpoint/2010/main" val="9678515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18" name="矩形 17"/>
          <p:cNvSpPr/>
          <p:nvPr userDrawn="1"/>
        </p:nvSpPr>
        <p:spPr>
          <a:xfrm>
            <a:off x="0" y="1130300"/>
            <a:ext cx="12192000" cy="5357038"/>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grpSp>
        <p:nvGrpSpPr>
          <p:cNvPr id="29" name="组合 28"/>
          <p:cNvGrpSpPr/>
          <p:nvPr userDrawn="1"/>
        </p:nvGrpSpPr>
        <p:grpSpPr>
          <a:xfrm>
            <a:off x="6190092" y="0"/>
            <a:ext cx="6882359" cy="6858000"/>
            <a:chOff x="4804858" y="3977648"/>
            <a:chExt cx="1793875" cy="1787526"/>
          </a:xfrm>
          <a:solidFill>
            <a:schemeClr val="bg1">
              <a:lumMod val="85000"/>
              <a:alpha val="70000"/>
            </a:schemeClr>
          </a:solidFill>
        </p:grpSpPr>
        <p:sp>
          <p:nvSpPr>
            <p:cNvPr id="30" name="矩形 29"/>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1" name="任意多边形: 形状 30"/>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任意多边形: 形状 31"/>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任意多边形: 形状 32"/>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任意多边形: 形状 33"/>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任意多边形: 形状 34"/>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任意多边形: 形状 35"/>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任意多边形: 形状 36"/>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任意多边形: 形状 37"/>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任意多边形: 形状 38"/>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任意多边形: 形状 39"/>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任意多边形: 形状 40"/>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任意多边形: 形状 41"/>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任意多边形: 形状 42"/>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任意多边形: 形状 43"/>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任意多边形: 形状 44"/>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任意多边形: 形状 45"/>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任意多边形: 形状 46"/>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任意多边形: 形状 47"/>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任意多边形: 形状 48"/>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矩形 20"/>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p:cNvPicPr>
            <a:picLocks noChangeAspect="1"/>
          </p:cNvPicPr>
          <p:nvPr userDrawn="1"/>
        </p:nvPicPr>
        <p:blipFill>
          <a:blip r:embed="rId3"/>
          <a:stretch>
            <a:fillRect/>
          </a:stretch>
        </p:blipFill>
        <p:spPr>
          <a:xfrm>
            <a:off x="8610600" y="6626002"/>
            <a:ext cx="2908300" cy="111568"/>
          </a:xfrm>
          <a:prstGeom prst="rect">
            <a:avLst/>
          </a:prstGeom>
        </p:spPr>
      </p:pic>
      <p:sp>
        <p:nvSpPr>
          <p:cNvPr id="53" name="文本占位符 52"/>
          <p:cNvSpPr>
            <a:spLocks noGrp="1"/>
          </p:cNvSpPr>
          <p:nvPr>
            <p:ph type="body" sz="quarter" idx="10" hasCustomPrompt="1"/>
          </p:nvPr>
        </p:nvSpPr>
        <p:spPr>
          <a:xfrm>
            <a:off x="1842552" y="2204791"/>
            <a:ext cx="2706708" cy="2336718"/>
          </a:xfrm>
        </p:spPr>
        <p:txBody>
          <a:bodyPr lIns="0" anchor="ctr" anchorCtr="0">
            <a:noAutofit/>
          </a:bodyPr>
          <a:lstStyle>
            <a:lvl1pPr marL="0" indent="0" algn="l">
              <a:buNone/>
              <a:defRPr sz="16800">
                <a:gradFill>
                  <a:gsLst>
                    <a:gs pos="0">
                      <a:schemeClr val="accent1">
                        <a:alpha val="90000"/>
                      </a:schemeClr>
                    </a:gs>
                    <a:gs pos="100000">
                      <a:schemeClr val="accent1">
                        <a:lumMod val="20000"/>
                        <a:lumOff val="80000"/>
                        <a:alpha val="0"/>
                      </a:schemeClr>
                    </a:gs>
                  </a:gsLst>
                  <a:lin ang="5400000" scaled="1"/>
                </a:gradFill>
                <a:latin typeface="Impact" panose="020B0806030902050204" pitchFamily="34" charset="0"/>
              </a:defRPr>
            </a:lvl1pPr>
            <a:lvl2pPr marL="457200" indent="0">
              <a:buNone/>
              <a:defRPr/>
            </a:lvl2pPr>
          </a:lstStyle>
          <a:p>
            <a:pPr lvl="0"/>
            <a:r>
              <a:rPr lang="en-US" altLang="zh-CN" dirty="0"/>
              <a:t>00</a:t>
            </a:r>
            <a:endParaRPr lang="zh-CN" altLang="en-US" dirty="0"/>
          </a:p>
        </p:txBody>
      </p:sp>
      <p:sp>
        <p:nvSpPr>
          <p:cNvPr id="27" name="标题 26"/>
          <p:cNvSpPr>
            <a:spLocks noGrp="1"/>
          </p:cNvSpPr>
          <p:nvPr>
            <p:ph type="title" hasCustomPrompt="1"/>
          </p:nvPr>
        </p:nvSpPr>
        <p:spPr>
          <a:xfrm>
            <a:off x="1842552" y="3689995"/>
            <a:ext cx="4012560" cy="552357"/>
          </a:xfrm>
        </p:spPr>
        <p:txBody>
          <a:bodyPr lIns="0">
            <a:noAutofit/>
          </a:bodyPr>
          <a:lstStyle>
            <a:lvl1pPr algn="l">
              <a:defRPr sz="5400" b="1">
                <a:solidFill>
                  <a:schemeClr val="accent1"/>
                </a:solidFill>
              </a:defRPr>
            </a:lvl1pPr>
          </a:lstStyle>
          <a:p>
            <a:r>
              <a:rPr lang="zh-CN" altLang="en-US" dirty="0"/>
              <a:t>章节题目</a:t>
            </a:r>
          </a:p>
        </p:txBody>
      </p:sp>
      <p:pic>
        <p:nvPicPr>
          <p:cNvPr id="56" name="图片 55"/>
          <p:cNvPicPr>
            <a:picLocks noChangeAspect="1"/>
          </p:cNvPicPr>
          <p:nvPr userDrawn="1"/>
        </p:nvPicPr>
        <p:blipFill>
          <a:blip r:embed="rId4"/>
          <a:stretch>
            <a:fillRect/>
          </a:stretch>
        </p:blipFill>
        <p:spPr>
          <a:xfrm>
            <a:off x="660401" y="611569"/>
            <a:ext cx="1747519" cy="417129"/>
          </a:xfrm>
          <a:prstGeom prst="rect">
            <a:avLst/>
          </a:prstGeom>
        </p:spPr>
      </p:pic>
      <p:sp>
        <p:nvSpPr>
          <p:cNvPr id="58" name="文本占位符 57"/>
          <p:cNvSpPr>
            <a:spLocks noGrp="1"/>
          </p:cNvSpPr>
          <p:nvPr>
            <p:ph type="body" sz="quarter" idx="11" hasCustomPrompt="1"/>
          </p:nvPr>
        </p:nvSpPr>
        <p:spPr>
          <a:xfrm>
            <a:off x="1842552" y="4305568"/>
            <a:ext cx="4012560" cy="471882"/>
          </a:xfrm>
        </p:spPr>
        <p:txBody>
          <a:bodyPr lIns="0">
            <a:noAutofit/>
          </a:bodyPr>
          <a:lstStyle>
            <a:lvl1pPr marL="0" indent="0" algn="l">
              <a:buNone/>
              <a:defRPr sz="2400">
                <a:solidFill>
                  <a:schemeClr val="bg1">
                    <a:lumMod val="50000"/>
                  </a:schemeClr>
                </a:solidFill>
              </a:defRPr>
            </a:lvl1pPr>
            <a:lvl2pPr marL="457200" indent="0">
              <a:buNone/>
              <a:defRPr/>
            </a:lvl2pPr>
          </a:lstStyle>
          <a:p>
            <a:pPr lvl="0"/>
            <a:r>
              <a:rPr lang="zh-CN" altLang="en-US" dirty="0"/>
              <a:t>插入章节描述或者英文</a:t>
            </a:r>
          </a:p>
        </p:txBody>
      </p:sp>
      <p:sp>
        <p:nvSpPr>
          <p:cNvPr id="5" name="文本占位符 4"/>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Tree>
    <p:extLst>
      <p:ext uri="{BB962C8B-B14F-4D97-AF65-F5344CB8AC3E}">
        <p14:creationId xmlns:p14="http://schemas.microsoft.com/office/powerpoint/2010/main" val="1675479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结尾幻灯片">
    <p:spTree>
      <p:nvGrpSpPr>
        <p:cNvPr id="1" name=""/>
        <p:cNvGrpSpPr/>
        <p:nvPr/>
      </p:nvGrpSpPr>
      <p:grpSpPr>
        <a:xfrm>
          <a:off x="0" y="0"/>
          <a:ext cx="0" cy="0"/>
          <a:chOff x="0" y="0"/>
          <a:chExt cx="0" cy="0"/>
        </a:xfrm>
      </p:grpSpPr>
      <p:sp>
        <p:nvSpPr>
          <p:cNvPr id="17" name="任意多边形: 形状 16"/>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p:cNvSpPr>
            <a:spLocks noGrp="1"/>
          </p:cNvSpPr>
          <p:nvPr>
            <p:ph type="subTitle" idx="1"/>
          </p:nvPr>
        </p:nvSpPr>
        <p:spPr>
          <a:xfrm>
            <a:off x="2002549" y="4013895"/>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5" name="图形 4"/>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52681" y="5016147"/>
            <a:ext cx="3768575" cy="721642"/>
          </a:xfrm>
          <a:prstGeom prst="rect">
            <a:avLst/>
          </a:prstGeom>
        </p:spPr>
      </p:pic>
    </p:spTree>
    <p:extLst>
      <p:ext uri="{BB962C8B-B14F-4D97-AF65-F5344CB8AC3E}">
        <p14:creationId xmlns:p14="http://schemas.microsoft.com/office/powerpoint/2010/main" val="36922561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tx1"/>
                </a:solidFill>
              </a:defRPr>
            </a:lvl1pPr>
          </a:lstStyle>
          <a:p>
            <a:r>
              <a:rPr lang="zh-CN" altLang="en-US" dirty="0"/>
              <a:t>单击此处编辑母版标题样式</a:t>
            </a:r>
          </a:p>
        </p:txBody>
      </p:sp>
      <p:sp>
        <p:nvSpPr>
          <p:cNvPr id="3" name="内容占位符 2"/>
          <p:cNvSpPr>
            <a:spLocks noGrp="1"/>
          </p:cNvSpPr>
          <p:nvPr>
            <p:ph idx="1" hasCustomPrompt="1"/>
          </p:nvPr>
        </p:nvSpPr>
        <p:spPr>
          <a:xfrm>
            <a:off x="660400" y="1165224"/>
            <a:ext cx="10858500" cy="473773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userDrawn="1"/>
        </p:nvSpPr>
        <p:spPr>
          <a:xfrm>
            <a:off x="0" y="6490772"/>
            <a:ext cx="2351314" cy="369332"/>
          </a:xfrm>
          <a:prstGeom prst="rect">
            <a:avLst/>
          </a:prstGeom>
          <a:noFill/>
        </p:spPr>
        <p:txBody>
          <a:bodyPr wrap="square">
            <a:spAutoFit/>
          </a:bodyPr>
          <a:lstStyle/>
          <a:p>
            <a:r>
              <a:rPr lang="zh-CN" altLang="en-US" dirty="0">
                <a:solidFill>
                  <a:schemeClr val="bg1"/>
                </a:solidFill>
                <a:latin typeface="华文新魏" panose="02010800040101010101" pitchFamily="2" charset="-122"/>
                <a:ea typeface="华文新魏" panose="02010800040101010101" pitchFamily="2" charset="-122"/>
              </a:rPr>
              <a:t>红专并进，理实交融</a:t>
            </a:r>
          </a:p>
        </p:txBody>
      </p:sp>
      <p:sp>
        <p:nvSpPr>
          <p:cNvPr id="5" name="文本框 4"/>
          <p:cNvSpPr txBox="1"/>
          <p:nvPr userDrawn="1"/>
        </p:nvSpPr>
        <p:spPr>
          <a:xfrm>
            <a:off x="8107681" y="6521549"/>
            <a:ext cx="6097554" cy="307777"/>
          </a:xfrm>
          <a:prstGeom prst="rect">
            <a:avLst/>
          </a:prstGeom>
          <a:noFill/>
        </p:spPr>
        <p:txBody>
          <a:bodyPr wrap="square">
            <a:spAutoFit/>
          </a:bodyPr>
          <a:lstStyle/>
          <a:p>
            <a:r>
              <a:rPr lang="en-US" altLang="zh-CN" sz="1400" dirty="0">
                <a:solidFill>
                  <a:schemeClr val="bg1"/>
                </a:solidFill>
                <a:latin typeface="+mj-ea"/>
                <a:ea typeface="+mj-ea"/>
              </a:rPr>
              <a:t>University of Science and Technology of China</a:t>
            </a:r>
            <a:endParaRPr lang="zh-CN" altLang="en-US" sz="1400" dirty="0">
              <a:solidFill>
                <a:schemeClr val="bg1"/>
              </a:solidFill>
              <a:latin typeface="+mj-ea"/>
              <a:ea typeface="+mj-ea"/>
            </a:endParaRPr>
          </a:p>
        </p:txBody>
      </p:sp>
      <p:pic>
        <p:nvPicPr>
          <p:cNvPr id="6" name="图形 5"/>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52448" y="52580"/>
            <a:ext cx="2725032" cy="521815"/>
          </a:xfrm>
          <a:prstGeom prst="rect">
            <a:avLst/>
          </a:prstGeom>
        </p:spPr>
      </p:pic>
    </p:spTree>
    <p:extLst>
      <p:ext uri="{BB962C8B-B14F-4D97-AF65-F5344CB8AC3E}">
        <p14:creationId xmlns:p14="http://schemas.microsoft.com/office/powerpoint/2010/main" val="3487841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8107681" y="6526972"/>
            <a:ext cx="4190066" cy="307777"/>
          </a:xfrm>
          <a:prstGeom prst="rect">
            <a:avLst/>
          </a:prstGeom>
          <a:noFill/>
        </p:spPr>
        <p:txBody>
          <a:bodyPr wrap="square">
            <a:spAutoFit/>
          </a:bodyPr>
          <a:lstStyle/>
          <a:p>
            <a:r>
              <a:rPr lang="en-US" altLang="zh-CN" sz="1400" dirty="0">
                <a:solidFill>
                  <a:schemeClr val="bg1"/>
                </a:solidFill>
                <a:latin typeface="+mj-ea"/>
                <a:ea typeface="+mj-ea"/>
              </a:rPr>
              <a:t>University of Science and Technology of China</a:t>
            </a:r>
            <a:endParaRPr lang="zh-CN" altLang="en-US" sz="1400" dirty="0">
              <a:solidFill>
                <a:schemeClr val="bg1"/>
              </a:solidFill>
              <a:latin typeface="+mj-ea"/>
              <a:ea typeface="+mj-ea"/>
            </a:endParaRPr>
          </a:p>
        </p:txBody>
      </p:sp>
      <p:pic>
        <p:nvPicPr>
          <p:cNvPr id="5" name="图形 4"/>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52448" y="52580"/>
            <a:ext cx="2725032" cy="521815"/>
          </a:xfrm>
          <a:prstGeom prst="rect">
            <a:avLst/>
          </a:prstGeom>
        </p:spPr>
      </p:pic>
      <p:sp>
        <p:nvSpPr>
          <p:cNvPr id="6" name="文本框 5"/>
          <p:cNvSpPr txBox="1"/>
          <p:nvPr userDrawn="1"/>
        </p:nvSpPr>
        <p:spPr>
          <a:xfrm>
            <a:off x="0" y="6490772"/>
            <a:ext cx="2351314" cy="369332"/>
          </a:xfrm>
          <a:prstGeom prst="rect">
            <a:avLst/>
          </a:prstGeom>
          <a:noFill/>
        </p:spPr>
        <p:txBody>
          <a:bodyPr wrap="square">
            <a:spAutoFit/>
          </a:bodyPr>
          <a:lstStyle/>
          <a:p>
            <a:r>
              <a:rPr lang="zh-CN" altLang="en-US" dirty="0">
                <a:solidFill>
                  <a:schemeClr val="bg1"/>
                </a:solidFill>
                <a:latin typeface="华文新魏" panose="02010800040101010101" pitchFamily="2" charset="-122"/>
                <a:ea typeface="华文新魏" panose="02010800040101010101" pitchFamily="2" charset="-122"/>
              </a:rPr>
              <a:t>红专并进，理实交融</a:t>
            </a:r>
          </a:p>
        </p:txBody>
      </p:sp>
    </p:spTree>
    <p:extLst>
      <p:ext uri="{BB962C8B-B14F-4D97-AF65-F5344CB8AC3E}">
        <p14:creationId xmlns:p14="http://schemas.microsoft.com/office/powerpoint/2010/main" val="16431588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特别说明版式">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lstStyle/>
          <a:p>
            <a:endParaRPr lang="zh-CN" altLang="en-US" dirty="0"/>
          </a:p>
        </p:txBody>
      </p:sp>
      <p:cxnSp>
        <p:nvCxnSpPr>
          <p:cNvPr id="16" name="直接连接符 15"/>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1243080" y="1702820"/>
            <a:ext cx="3038400" cy="2341146"/>
            <a:chOff x="1243693" y="1981257"/>
            <a:chExt cx="3038400" cy="2341146"/>
          </a:xfrm>
        </p:grpSpPr>
        <p:cxnSp>
          <p:nvCxnSpPr>
            <p:cNvPr id="14" name="直接连接符 13"/>
            <p:cNvCxnSpPr/>
            <p:nvPr/>
          </p:nvCxnSpPr>
          <p:spPr>
            <a:xfrm>
              <a:off x="237671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16039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模板作者</a:t>
              </a:r>
            </a:p>
          </p:txBody>
        </p:sp>
        <p:sp>
          <p:nvSpPr>
            <p:cNvPr id="17" name="文本框 16"/>
            <p:cNvSpPr txBox="1"/>
            <p:nvPr/>
          </p:nvSpPr>
          <p:spPr>
            <a:xfrm>
              <a:off x="1243693" y="2823851"/>
              <a:ext cx="3038400"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作者：王志浩</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中国石油大学</a:t>
              </a:r>
              <a:r>
                <a:rPr lang="en-US" altLang="zh-CN" dirty="0">
                  <a:solidFill>
                    <a:schemeClr val="tx1">
                      <a:lumMod val="85000"/>
                      <a:lumOff val="15000"/>
                    </a:schemeClr>
                  </a:solidFill>
                </a:rPr>
                <a:t>(</a:t>
              </a:r>
              <a:r>
                <a:rPr lang="zh-CN" altLang="en-US" dirty="0">
                  <a:solidFill>
                    <a:schemeClr val="tx1">
                      <a:lumMod val="85000"/>
                      <a:lumOff val="15000"/>
                    </a:schemeClr>
                  </a:solidFill>
                </a:rPr>
                <a:t>华东</a:t>
              </a:r>
              <a:r>
                <a:rPr lang="en-US" altLang="zh-CN" dirty="0">
                  <a:solidFill>
                    <a:schemeClr val="tx1">
                      <a:lumMod val="85000"/>
                      <a:lumOff val="15000"/>
                    </a:schemeClr>
                  </a:solidFill>
                </a:rPr>
                <a:t>) </a:t>
              </a:r>
            </a:p>
            <a:p>
              <a:pPr algn="ctr">
                <a:lnSpc>
                  <a:spcPct val="130000"/>
                </a:lnSpc>
              </a:pPr>
              <a:r>
                <a:rPr lang="zh-CN" altLang="en-US" dirty="0">
                  <a:solidFill>
                    <a:schemeClr val="tx1">
                      <a:lumMod val="85000"/>
                      <a:lumOff val="15000"/>
                    </a:schemeClr>
                  </a:solidFill>
                </a:rPr>
                <a:t>计算机科学与技术</a:t>
              </a:r>
              <a:r>
                <a:rPr lang="en-US" altLang="zh-CN" dirty="0">
                  <a:solidFill>
                    <a:schemeClr val="tx1">
                      <a:lumMod val="85000"/>
                      <a:lumOff val="15000"/>
                    </a:schemeClr>
                  </a:solidFill>
                </a:rPr>
                <a:t>(</a:t>
              </a:r>
              <a:r>
                <a:rPr lang="zh-CN" altLang="en-US" dirty="0">
                  <a:solidFill>
                    <a:schemeClr val="tx1">
                      <a:lumMod val="85000"/>
                      <a:lumOff val="15000"/>
                    </a:schemeClr>
                  </a:solidFill>
                </a:rPr>
                <a:t>实验</a:t>
              </a:r>
              <a:r>
                <a:rPr lang="en-US" altLang="zh-CN" dirty="0">
                  <a:solidFill>
                    <a:schemeClr val="tx1">
                      <a:lumMod val="85000"/>
                      <a:lumOff val="15000"/>
                    </a:schemeClr>
                  </a:solidFill>
                </a:rPr>
                <a:t>)</a:t>
              </a:r>
            </a:p>
            <a:p>
              <a:pPr algn="ctr">
                <a:lnSpc>
                  <a:spcPct val="130000"/>
                </a:lnSpc>
              </a:pPr>
              <a:r>
                <a:rPr lang="en-US" altLang="zh-CN" dirty="0">
                  <a:solidFill>
                    <a:schemeClr val="tx1">
                      <a:lumMod val="85000"/>
                      <a:lumOff val="15000"/>
                    </a:schemeClr>
                  </a:solidFill>
                </a:rPr>
                <a:t>20XX</a:t>
              </a:r>
              <a:r>
                <a:rPr lang="zh-CN" altLang="en-US" dirty="0">
                  <a:solidFill>
                    <a:schemeClr val="tx1">
                      <a:lumMod val="85000"/>
                      <a:lumOff val="15000"/>
                    </a:schemeClr>
                  </a:solidFill>
                </a:rPr>
                <a:t>级</a:t>
              </a:r>
            </a:p>
          </p:txBody>
        </p:sp>
      </p:grpSp>
      <p:cxnSp>
        <p:nvCxnSpPr>
          <p:cNvPr id="18" name="直接连接符 17"/>
          <p:cNvCxnSpPr/>
          <p:nvPr userDrawn="1"/>
        </p:nvCxnSpPr>
        <p:spPr>
          <a:xfrm>
            <a:off x="442914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userDrawn="1"/>
        </p:nvGrpSpPr>
        <p:grpSpPr>
          <a:xfrm>
            <a:off x="4576800" y="1702820"/>
            <a:ext cx="3038400" cy="1981047"/>
            <a:chOff x="4577413" y="1981257"/>
            <a:chExt cx="3038400" cy="1981047"/>
          </a:xfrm>
        </p:grpSpPr>
        <p:cxnSp>
          <p:nvCxnSpPr>
            <p:cNvPr id="20" name="直接连接符 19"/>
            <p:cNvCxnSpPr/>
            <p:nvPr/>
          </p:nvCxnSpPr>
          <p:spPr>
            <a:xfrm>
              <a:off x="571043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49411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特别感谢</a:t>
              </a:r>
            </a:p>
          </p:txBody>
        </p:sp>
        <p:sp>
          <p:nvSpPr>
            <p:cNvPr id="22" name="文本框 21"/>
            <p:cNvSpPr txBox="1"/>
            <p:nvPr/>
          </p:nvSpPr>
          <p:spPr>
            <a:xfrm>
              <a:off x="4577413" y="2823851"/>
              <a:ext cx="3038400" cy="1138453"/>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图片素材：</a:t>
              </a:r>
              <a:r>
                <a:rPr lang="en-US" altLang="zh-CN" dirty="0">
                  <a:solidFill>
                    <a:schemeClr val="tx1">
                      <a:lumMod val="85000"/>
                      <a:lumOff val="15000"/>
                    </a:schemeClr>
                  </a:solidFill>
                </a:rPr>
                <a:t>@</a:t>
              </a:r>
              <a:r>
                <a:rPr lang="zh-CN" altLang="en-US" dirty="0">
                  <a:solidFill>
                    <a:schemeClr val="tx1">
                      <a:lumMod val="85000"/>
                      <a:lumOff val="15000"/>
                    </a:schemeClr>
                  </a:solidFill>
                </a:rPr>
                <a:t>图说石大</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主办方：秋叶</a:t>
              </a:r>
              <a:r>
                <a:rPr lang="en-US" altLang="zh-CN" dirty="0">
                  <a:solidFill>
                    <a:schemeClr val="tx1">
                      <a:lumMod val="85000"/>
                      <a:lumOff val="15000"/>
                    </a:schemeClr>
                  </a:solidFill>
                </a:rPr>
                <a:t>PPT</a:t>
              </a:r>
            </a:p>
            <a:p>
              <a:pPr algn="ctr">
                <a:lnSpc>
                  <a:spcPct val="130000"/>
                </a:lnSpc>
              </a:pPr>
              <a:r>
                <a:rPr lang="zh-CN" altLang="en-US" dirty="0">
                  <a:solidFill>
                    <a:schemeClr val="tx1">
                      <a:lumMod val="85000"/>
                      <a:lumOff val="15000"/>
                    </a:schemeClr>
                  </a:solidFill>
                </a:rPr>
                <a:t>指导老师：老秦、伟崇</a:t>
              </a:r>
            </a:p>
          </p:txBody>
        </p:sp>
      </p:grpSp>
      <p:grpSp>
        <p:nvGrpSpPr>
          <p:cNvPr id="23" name="组合 22"/>
          <p:cNvGrpSpPr/>
          <p:nvPr userDrawn="1"/>
        </p:nvGrpSpPr>
        <p:grpSpPr>
          <a:xfrm>
            <a:off x="7910519" y="1702820"/>
            <a:ext cx="3037175" cy="2341146"/>
            <a:chOff x="7911132" y="1981257"/>
            <a:chExt cx="3037175" cy="2341146"/>
          </a:xfrm>
        </p:grpSpPr>
        <p:cxnSp>
          <p:nvCxnSpPr>
            <p:cNvPr id="24" name="直接连接符 23"/>
            <p:cNvCxnSpPr/>
            <p:nvPr/>
          </p:nvCxnSpPr>
          <p:spPr>
            <a:xfrm>
              <a:off x="9043540"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8827222"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版权说明</a:t>
              </a:r>
            </a:p>
          </p:txBody>
        </p:sp>
        <p:sp>
          <p:nvSpPr>
            <p:cNvPr id="26" name="文本框 25"/>
            <p:cNvSpPr txBox="1"/>
            <p:nvPr/>
          </p:nvSpPr>
          <p:spPr>
            <a:xfrm>
              <a:off x="7911132" y="2823851"/>
              <a:ext cx="3037175"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本套模板为</a:t>
              </a:r>
              <a:r>
                <a:rPr lang="zh-CN" altLang="en-US" b="1" dirty="0">
                  <a:solidFill>
                    <a:schemeClr val="tx1">
                      <a:lumMod val="85000"/>
                      <a:lumOff val="15000"/>
                    </a:schemeClr>
                  </a:solidFill>
                  <a:latin typeface="+mj-ea"/>
                  <a:ea typeface="+mj-ea"/>
                </a:rPr>
                <a:t>公益性质</a:t>
              </a:r>
              <a:endParaRPr lang="en-US" altLang="zh-CN" b="1" dirty="0">
                <a:solidFill>
                  <a:schemeClr val="tx1">
                    <a:lumMod val="85000"/>
                    <a:lumOff val="15000"/>
                  </a:schemeClr>
                </a:solidFill>
                <a:latin typeface="+mj-ea"/>
                <a:ea typeface="+mj-ea"/>
              </a:endParaRPr>
            </a:p>
            <a:p>
              <a:pPr algn="ctr">
                <a:lnSpc>
                  <a:spcPct val="130000"/>
                </a:lnSpc>
              </a:pPr>
              <a:r>
                <a:rPr lang="zh-CN" altLang="en-US" b="1" dirty="0">
                  <a:solidFill>
                    <a:schemeClr val="tx1">
                      <a:lumMod val="85000"/>
                      <a:lumOff val="15000"/>
                    </a:schemeClr>
                  </a:solidFill>
                  <a:latin typeface="+mj-ea"/>
                  <a:ea typeface="+mj-ea"/>
                </a:rPr>
                <a:t>免费</a:t>
              </a:r>
              <a:r>
                <a:rPr lang="zh-CN" altLang="en-US" dirty="0">
                  <a:solidFill>
                    <a:schemeClr val="tx1">
                      <a:lumMod val="85000"/>
                      <a:lumOff val="15000"/>
                    </a:schemeClr>
                  </a:solidFill>
                </a:rPr>
                <a:t>赠与学校师生使用</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盈利行为请勿相信</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商用请注意图片和字体版权</a:t>
              </a:r>
            </a:p>
          </p:txBody>
        </p:sp>
      </p:grpSp>
      <p:cxnSp>
        <p:nvCxnSpPr>
          <p:cNvPr id="27" name="直接连接符 26"/>
          <p:cNvCxnSpPr/>
          <p:nvPr userDrawn="1"/>
        </p:nvCxnSpPr>
        <p:spPr>
          <a:xfrm>
            <a:off x="776286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p:cNvGrpSpPr/>
          <p:nvPr userDrawn="1"/>
        </p:nvGrpSpPr>
        <p:grpSpPr>
          <a:xfrm>
            <a:off x="3179324" y="4339865"/>
            <a:ext cx="6852280" cy="1560741"/>
            <a:chOff x="3179937" y="4561006"/>
            <a:chExt cx="6852280" cy="1560741"/>
          </a:xfrm>
        </p:grpSpPr>
        <p:pic>
          <p:nvPicPr>
            <p:cNvPr id="29" name="图片 28"/>
            <p:cNvPicPr>
              <a:picLocks noChangeAspect="1"/>
            </p:cNvPicPr>
            <p:nvPr/>
          </p:nvPicPr>
          <p:blipFill rotWithShape="1">
            <a:blip r:embed="rId2" cstate="print">
              <a:extLst>
                <a:ext uri="{28A0092B-C50C-407E-A947-70E740481C1C}">
                  <a14:useLocalDpi xmlns:a14="http://schemas.microsoft.com/office/drawing/2010/main" val="0"/>
                </a:ext>
              </a:extLst>
            </a:blip>
            <a:srcRect b="18818"/>
            <a:stretch>
              <a:fillRect/>
            </a:stretch>
          </p:blipFill>
          <p:spPr>
            <a:xfrm>
              <a:off x="3179937" y="4561006"/>
              <a:ext cx="1402932" cy="1560741"/>
            </a:xfrm>
            <a:prstGeom prst="rect">
              <a:avLst/>
            </a:prstGeom>
          </p:spPr>
        </p:pic>
        <p:sp>
          <p:nvSpPr>
            <p:cNvPr id="30" name="文本框 29"/>
            <p:cNvSpPr txBox="1"/>
            <p:nvPr/>
          </p:nvSpPr>
          <p:spPr>
            <a:xfrm>
              <a:off x="4934551" y="4772150"/>
              <a:ext cx="5097666" cy="1138453"/>
            </a:xfrm>
            <a:prstGeom prst="rect">
              <a:avLst/>
            </a:prstGeom>
            <a:noFill/>
          </p:spPr>
          <p:txBody>
            <a:bodyPr wrap="square" rtlCol="0">
              <a:spAutoFit/>
            </a:bodyPr>
            <a:lstStyle/>
            <a:p>
              <a:pPr>
                <a:lnSpc>
                  <a:spcPct val="130000"/>
                </a:lnSpc>
              </a:pPr>
              <a:r>
                <a:rPr lang="zh-CN" altLang="en-US" dirty="0"/>
                <a:t>有什么想对作者说的吗</a:t>
              </a:r>
              <a:endParaRPr lang="en-US" altLang="zh-CN" dirty="0"/>
            </a:p>
            <a:p>
              <a:pPr>
                <a:lnSpc>
                  <a:spcPct val="130000"/>
                </a:lnSpc>
              </a:pPr>
              <a:r>
                <a:rPr lang="zh-CN" altLang="en-US" dirty="0"/>
                <a:t>对模板还有更好的建议或者使用方面的困惑吗</a:t>
              </a:r>
              <a:endParaRPr lang="en-US" altLang="zh-CN" dirty="0"/>
            </a:p>
            <a:p>
              <a:pPr>
                <a:lnSpc>
                  <a:spcPct val="130000"/>
                </a:lnSpc>
              </a:pPr>
              <a:r>
                <a:rPr lang="zh-CN" altLang="en-US" dirty="0"/>
                <a:t>欢迎加入模板公测</a:t>
              </a:r>
              <a:r>
                <a:rPr lang="en-US" altLang="zh-CN" dirty="0"/>
                <a:t>QQ</a:t>
              </a:r>
              <a:r>
                <a:rPr lang="zh-CN" altLang="en-US" dirty="0"/>
                <a:t>群</a:t>
              </a:r>
              <a:r>
                <a:rPr lang="en-US" altLang="zh-CN" dirty="0"/>
                <a:t>~(</a:t>
              </a:r>
              <a:r>
                <a:rPr lang="zh-CN" altLang="en-US" dirty="0"/>
                <a:t>群号：</a:t>
              </a:r>
              <a:r>
                <a:rPr lang="en-US" altLang="zh-CN" dirty="0"/>
                <a:t>521252309)</a:t>
              </a:r>
              <a:endParaRPr lang="zh-CN" altLang="en-US" dirty="0"/>
            </a:p>
          </p:txBody>
        </p:sp>
      </p:grpSp>
      <p:sp>
        <p:nvSpPr>
          <p:cNvPr id="3" name="文本框 2"/>
          <p:cNvSpPr txBox="1"/>
          <p:nvPr userDrawn="1"/>
        </p:nvSpPr>
        <p:spPr>
          <a:xfrm>
            <a:off x="8107681" y="6526972"/>
            <a:ext cx="4190066" cy="307777"/>
          </a:xfrm>
          <a:prstGeom prst="rect">
            <a:avLst/>
          </a:prstGeom>
          <a:noFill/>
        </p:spPr>
        <p:txBody>
          <a:bodyPr wrap="square">
            <a:spAutoFit/>
          </a:bodyPr>
          <a:lstStyle/>
          <a:p>
            <a:r>
              <a:rPr lang="en-US" altLang="zh-CN" sz="1400" dirty="0">
                <a:solidFill>
                  <a:schemeClr val="bg1"/>
                </a:solidFill>
                <a:latin typeface="+mj-ea"/>
                <a:ea typeface="+mj-ea"/>
              </a:rPr>
              <a:t>University of Science and Technology of China</a:t>
            </a:r>
            <a:endParaRPr lang="zh-CN" altLang="en-US" sz="1400" dirty="0">
              <a:solidFill>
                <a:schemeClr val="bg1"/>
              </a:solidFill>
              <a:latin typeface="+mj-ea"/>
              <a:ea typeface="+mj-ea"/>
            </a:endParaRPr>
          </a:p>
        </p:txBody>
      </p:sp>
      <p:pic>
        <p:nvPicPr>
          <p:cNvPr id="4" name="图形 3"/>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52448" y="52580"/>
            <a:ext cx="2725032" cy="521815"/>
          </a:xfrm>
          <a:prstGeom prst="rect">
            <a:avLst/>
          </a:prstGeom>
        </p:spPr>
      </p:pic>
      <p:sp>
        <p:nvSpPr>
          <p:cNvPr id="5" name="文本框 4"/>
          <p:cNvSpPr txBox="1"/>
          <p:nvPr userDrawn="1"/>
        </p:nvSpPr>
        <p:spPr>
          <a:xfrm>
            <a:off x="0" y="6490772"/>
            <a:ext cx="2351314" cy="369332"/>
          </a:xfrm>
          <a:prstGeom prst="rect">
            <a:avLst/>
          </a:prstGeom>
          <a:noFill/>
        </p:spPr>
        <p:txBody>
          <a:bodyPr wrap="square">
            <a:spAutoFit/>
          </a:bodyPr>
          <a:lstStyle/>
          <a:p>
            <a:r>
              <a:rPr lang="zh-CN" altLang="en-US" dirty="0">
                <a:solidFill>
                  <a:schemeClr val="bg1"/>
                </a:solidFill>
                <a:latin typeface="华文新魏" panose="02010800040101010101" pitchFamily="2" charset="-122"/>
                <a:ea typeface="华文新魏" panose="02010800040101010101" pitchFamily="2" charset="-122"/>
              </a:rPr>
              <a:t>红专并进，理实交融</a:t>
            </a:r>
          </a:p>
        </p:txBody>
      </p:sp>
    </p:spTree>
    <p:extLst>
      <p:ext uri="{BB962C8B-B14F-4D97-AF65-F5344CB8AC3E}">
        <p14:creationId xmlns:p14="http://schemas.microsoft.com/office/powerpoint/2010/main" val="40321212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93176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仅底部">
    <p:spTree>
      <p:nvGrpSpPr>
        <p:cNvPr id="1" name=""/>
        <p:cNvGrpSpPr/>
        <p:nvPr/>
      </p:nvGrpSpPr>
      <p:grpSpPr>
        <a:xfrm>
          <a:off x="0" y="0"/>
          <a:ext cx="0" cy="0"/>
          <a:chOff x="0" y="0"/>
          <a:chExt cx="0" cy="0"/>
        </a:xfrm>
      </p:grpSpPr>
      <p:sp>
        <p:nvSpPr>
          <p:cNvPr id="6" name="矩形 5"/>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8107681" y="6526972"/>
            <a:ext cx="4190066" cy="307777"/>
          </a:xfrm>
          <a:prstGeom prst="rect">
            <a:avLst/>
          </a:prstGeom>
          <a:noFill/>
        </p:spPr>
        <p:txBody>
          <a:bodyPr wrap="square">
            <a:spAutoFit/>
          </a:bodyPr>
          <a:lstStyle/>
          <a:p>
            <a:r>
              <a:rPr lang="en-US" altLang="zh-CN" sz="1400" dirty="0">
                <a:solidFill>
                  <a:schemeClr val="bg1"/>
                </a:solidFill>
                <a:latin typeface="+mj-ea"/>
                <a:ea typeface="+mj-ea"/>
              </a:rPr>
              <a:t>University of Science and Technology of China</a:t>
            </a:r>
            <a:endParaRPr lang="zh-CN" altLang="en-US" sz="1400" dirty="0">
              <a:solidFill>
                <a:schemeClr val="bg1"/>
              </a:solidFill>
              <a:latin typeface="+mj-ea"/>
              <a:ea typeface="+mj-ea"/>
            </a:endParaRPr>
          </a:p>
        </p:txBody>
      </p:sp>
      <p:pic>
        <p:nvPicPr>
          <p:cNvPr id="3" name="图形 2"/>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52448" y="52580"/>
            <a:ext cx="2725032" cy="521815"/>
          </a:xfrm>
          <a:prstGeom prst="rect">
            <a:avLst/>
          </a:prstGeom>
        </p:spPr>
      </p:pic>
      <p:sp>
        <p:nvSpPr>
          <p:cNvPr id="4" name="文本框 3"/>
          <p:cNvSpPr txBox="1"/>
          <p:nvPr userDrawn="1"/>
        </p:nvSpPr>
        <p:spPr>
          <a:xfrm>
            <a:off x="0" y="6490772"/>
            <a:ext cx="2351314" cy="369332"/>
          </a:xfrm>
          <a:prstGeom prst="rect">
            <a:avLst/>
          </a:prstGeom>
          <a:noFill/>
        </p:spPr>
        <p:txBody>
          <a:bodyPr wrap="square">
            <a:spAutoFit/>
          </a:bodyPr>
          <a:lstStyle/>
          <a:p>
            <a:r>
              <a:rPr lang="zh-CN" altLang="en-US" dirty="0">
                <a:solidFill>
                  <a:schemeClr val="bg1"/>
                </a:solidFill>
                <a:latin typeface="华文新魏" panose="02010800040101010101" pitchFamily="2" charset="-122"/>
                <a:ea typeface="华文新魏" panose="02010800040101010101" pitchFamily="2" charset="-122"/>
              </a:rPr>
              <a:t>红专并进，理实交融</a:t>
            </a:r>
          </a:p>
        </p:txBody>
      </p:sp>
      <p:cxnSp>
        <p:nvCxnSpPr>
          <p:cNvPr id="8" name="直接连接符 7"/>
          <p:cNvCxnSpPr/>
          <p:nvPr userDrawn="1"/>
        </p:nvCxnSpPr>
        <p:spPr>
          <a:xfrm>
            <a:off x="666750" y="761040"/>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25194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一张图片">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userDrawn="1"/>
        </p:nvCxnSpPr>
        <p:spPr>
          <a:xfrm>
            <a:off x="666750" y="761040"/>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p:cNvSpPr>
            <a:spLocks noGrp="1"/>
          </p:cNvSpPr>
          <p:nvPr>
            <p:ph type="pic" sz="quarter" idx="10"/>
          </p:nvPr>
        </p:nvSpPr>
        <p:spPr>
          <a:xfrm>
            <a:off x="660400" y="1444625"/>
            <a:ext cx="10871200" cy="3059113"/>
          </a:xfrm>
        </p:spPr>
        <p:txBody>
          <a:bodyPr/>
          <a:lstStyle/>
          <a:p>
            <a:endParaRPr lang="zh-CN" altLang="en-US"/>
          </a:p>
        </p:txBody>
      </p:sp>
      <p:sp>
        <p:nvSpPr>
          <p:cNvPr id="3" name="文本框 2"/>
          <p:cNvSpPr txBox="1"/>
          <p:nvPr userDrawn="1"/>
        </p:nvSpPr>
        <p:spPr>
          <a:xfrm>
            <a:off x="8107681" y="6526972"/>
            <a:ext cx="4190066" cy="307777"/>
          </a:xfrm>
          <a:prstGeom prst="rect">
            <a:avLst/>
          </a:prstGeom>
          <a:noFill/>
        </p:spPr>
        <p:txBody>
          <a:bodyPr wrap="square">
            <a:spAutoFit/>
          </a:bodyPr>
          <a:lstStyle/>
          <a:p>
            <a:r>
              <a:rPr lang="en-US" altLang="zh-CN" sz="1400" dirty="0">
                <a:solidFill>
                  <a:schemeClr val="bg1"/>
                </a:solidFill>
                <a:latin typeface="+mj-ea"/>
                <a:ea typeface="+mj-ea"/>
              </a:rPr>
              <a:t>University of Science and Technology of China</a:t>
            </a:r>
            <a:endParaRPr lang="zh-CN" altLang="en-US" sz="1400" dirty="0">
              <a:solidFill>
                <a:schemeClr val="bg1"/>
              </a:solidFill>
              <a:latin typeface="+mj-ea"/>
              <a:ea typeface="+mj-ea"/>
            </a:endParaRPr>
          </a:p>
        </p:txBody>
      </p:sp>
      <p:pic>
        <p:nvPicPr>
          <p:cNvPr id="5" name="图形 4"/>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52448" y="52580"/>
            <a:ext cx="2725032" cy="521815"/>
          </a:xfrm>
          <a:prstGeom prst="rect">
            <a:avLst/>
          </a:prstGeom>
        </p:spPr>
      </p:pic>
      <p:sp>
        <p:nvSpPr>
          <p:cNvPr id="6" name="文本框 5"/>
          <p:cNvSpPr txBox="1"/>
          <p:nvPr userDrawn="1"/>
        </p:nvSpPr>
        <p:spPr>
          <a:xfrm>
            <a:off x="0" y="6490772"/>
            <a:ext cx="2351314" cy="369332"/>
          </a:xfrm>
          <a:prstGeom prst="rect">
            <a:avLst/>
          </a:prstGeom>
          <a:noFill/>
        </p:spPr>
        <p:txBody>
          <a:bodyPr wrap="square">
            <a:spAutoFit/>
          </a:bodyPr>
          <a:lstStyle/>
          <a:p>
            <a:r>
              <a:rPr lang="zh-CN" altLang="en-US" dirty="0">
                <a:solidFill>
                  <a:schemeClr val="bg1"/>
                </a:solidFill>
                <a:latin typeface="华文新魏" panose="02010800040101010101" pitchFamily="2" charset="-122"/>
                <a:ea typeface="华文新魏" panose="02010800040101010101" pitchFamily="2" charset="-122"/>
              </a:rPr>
              <a:t>红专并进，理实交融</a:t>
            </a:r>
          </a:p>
        </p:txBody>
      </p:sp>
    </p:spTree>
    <p:extLst>
      <p:ext uri="{BB962C8B-B14F-4D97-AF65-F5344CB8AC3E}">
        <p14:creationId xmlns:p14="http://schemas.microsoft.com/office/powerpoint/2010/main" val="27918016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单张图片说明">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userDrawn="1"/>
        </p:nvCxnSpPr>
        <p:spPr>
          <a:xfrm>
            <a:off x="676385" y="677914"/>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图片占位符 13"/>
          <p:cNvSpPr>
            <a:spLocks noGrp="1"/>
          </p:cNvSpPr>
          <p:nvPr>
            <p:ph type="pic" sz="quarter" idx="10"/>
          </p:nvPr>
        </p:nvSpPr>
        <p:spPr>
          <a:xfrm>
            <a:off x="4456140" y="1789140"/>
            <a:ext cx="3279720" cy="3279720"/>
          </a:xfrm>
          <a:custGeom>
            <a:avLst/>
            <a:gdLst>
              <a:gd name="connsiteX0" fmla="*/ 1849434 w 3698868"/>
              <a:gd name="connsiteY0" fmla="*/ 0 h 3698868"/>
              <a:gd name="connsiteX1" fmla="*/ 3698868 w 3698868"/>
              <a:gd name="connsiteY1" fmla="*/ 1849434 h 3698868"/>
              <a:gd name="connsiteX2" fmla="*/ 1849434 w 3698868"/>
              <a:gd name="connsiteY2" fmla="*/ 3698868 h 3698868"/>
              <a:gd name="connsiteX3" fmla="*/ 0 w 3698868"/>
              <a:gd name="connsiteY3" fmla="*/ 1849434 h 3698868"/>
              <a:gd name="connsiteX4" fmla="*/ 1849434 w 3698868"/>
              <a:gd name="connsiteY4" fmla="*/ 0 h 369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8868" h="3698868">
                <a:moveTo>
                  <a:pt x="1849434" y="0"/>
                </a:moveTo>
                <a:cubicBezTo>
                  <a:pt x="2870848" y="0"/>
                  <a:pt x="3698868" y="828020"/>
                  <a:pt x="3698868" y="1849434"/>
                </a:cubicBezTo>
                <a:cubicBezTo>
                  <a:pt x="3698868" y="2870848"/>
                  <a:pt x="2870848" y="3698868"/>
                  <a:pt x="1849434" y="3698868"/>
                </a:cubicBezTo>
                <a:cubicBezTo>
                  <a:pt x="828020" y="3698868"/>
                  <a:pt x="0" y="2870848"/>
                  <a:pt x="0" y="1849434"/>
                </a:cubicBezTo>
                <a:cubicBezTo>
                  <a:pt x="0" y="828020"/>
                  <a:pt x="828020" y="0"/>
                  <a:pt x="1849434" y="0"/>
                </a:cubicBezTo>
                <a:close/>
              </a:path>
            </a:pathLst>
          </a:custGeom>
          <a:ln w="19050">
            <a:solidFill>
              <a:schemeClr val="accent1"/>
            </a:solidFill>
          </a:ln>
          <a:effectLst>
            <a:glow rad="254000">
              <a:schemeClr val="tx1">
                <a:lumMod val="95000"/>
                <a:lumOff val="5000"/>
                <a:alpha val="15000"/>
              </a:schemeClr>
            </a:glow>
          </a:effectLst>
        </p:spPr>
        <p:txBody>
          <a:bodyPr wrap="square">
            <a:noAutofit/>
          </a:bodyPr>
          <a:lstStyle/>
          <a:p>
            <a:endParaRPr lang="zh-CN" altLang="en-US"/>
          </a:p>
        </p:txBody>
      </p:sp>
      <p:sp>
        <p:nvSpPr>
          <p:cNvPr id="3" name="文本框 2"/>
          <p:cNvSpPr txBox="1"/>
          <p:nvPr userDrawn="1"/>
        </p:nvSpPr>
        <p:spPr>
          <a:xfrm>
            <a:off x="8107681" y="6526972"/>
            <a:ext cx="4190066" cy="307777"/>
          </a:xfrm>
          <a:prstGeom prst="rect">
            <a:avLst/>
          </a:prstGeom>
          <a:noFill/>
        </p:spPr>
        <p:txBody>
          <a:bodyPr wrap="square">
            <a:spAutoFit/>
          </a:bodyPr>
          <a:lstStyle/>
          <a:p>
            <a:r>
              <a:rPr lang="en-US" altLang="zh-CN" sz="1400" dirty="0">
                <a:solidFill>
                  <a:schemeClr val="bg1"/>
                </a:solidFill>
                <a:latin typeface="+mj-ea"/>
                <a:ea typeface="+mj-ea"/>
              </a:rPr>
              <a:t>University of Science and Technology of China</a:t>
            </a:r>
            <a:endParaRPr lang="zh-CN" altLang="en-US" sz="1400" dirty="0">
              <a:solidFill>
                <a:schemeClr val="bg1"/>
              </a:solidFill>
              <a:latin typeface="+mj-ea"/>
              <a:ea typeface="+mj-ea"/>
            </a:endParaRPr>
          </a:p>
        </p:txBody>
      </p:sp>
      <p:pic>
        <p:nvPicPr>
          <p:cNvPr id="4" name="图形 3"/>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52448" y="52580"/>
            <a:ext cx="2725032" cy="521815"/>
          </a:xfrm>
          <a:prstGeom prst="rect">
            <a:avLst/>
          </a:prstGeom>
        </p:spPr>
      </p:pic>
      <p:sp>
        <p:nvSpPr>
          <p:cNvPr id="5" name="文本框 4"/>
          <p:cNvSpPr txBox="1"/>
          <p:nvPr userDrawn="1"/>
        </p:nvSpPr>
        <p:spPr>
          <a:xfrm>
            <a:off x="0" y="6490772"/>
            <a:ext cx="2351314" cy="369332"/>
          </a:xfrm>
          <a:prstGeom prst="rect">
            <a:avLst/>
          </a:prstGeom>
          <a:noFill/>
        </p:spPr>
        <p:txBody>
          <a:bodyPr wrap="square">
            <a:spAutoFit/>
          </a:bodyPr>
          <a:lstStyle/>
          <a:p>
            <a:r>
              <a:rPr lang="zh-CN" altLang="en-US" dirty="0">
                <a:solidFill>
                  <a:schemeClr val="bg1"/>
                </a:solidFill>
                <a:latin typeface="华文新魏" panose="02010800040101010101" pitchFamily="2" charset="-122"/>
                <a:ea typeface="华文新魏" panose="02010800040101010101" pitchFamily="2" charset="-122"/>
              </a:rPr>
              <a:t>红专并进，理实交融</a:t>
            </a:r>
          </a:p>
        </p:txBody>
      </p:sp>
    </p:spTree>
    <p:extLst>
      <p:ext uri="{BB962C8B-B14F-4D97-AF65-F5344CB8AC3E}">
        <p14:creationId xmlns:p14="http://schemas.microsoft.com/office/powerpoint/2010/main" val="18242397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三张图片说明">
    <p:spTree>
      <p:nvGrpSpPr>
        <p:cNvPr id="1" name=""/>
        <p:cNvGrpSpPr/>
        <p:nvPr/>
      </p:nvGrpSpPr>
      <p:grpSpPr>
        <a:xfrm>
          <a:off x="0" y="0"/>
          <a:ext cx="0" cy="0"/>
          <a:chOff x="0" y="0"/>
          <a:chExt cx="0" cy="0"/>
        </a:xfrm>
      </p:grpSpPr>
      <p:sp>
        <p:nvSpPr>
          <p:cNvPr id="11" name="矩形 10"/>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userDrawn="1"/>
        </p:nvCxnSpPr>
        <p:spPr>
          <a:xfrm>
            <a:off x="673100" y="677914"/>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p:cNvSpPr>
            <a:spLocks noGrp="1"/>
          </p:cNvSpPr>
          <p:nvPr>
            <p:ph type="pic" sz="quarter" idx="10"/>
          </p:nvPr>
        </p:nvSpPr>
        <p:spPr>
          <a:xfrm>
            <a:off x="673100" y="1729550"/>
            <a:ext cx="3262292" cy="1699450"/>
          </a:xfrm>
        </p:spPr>
        <p:txBody>
          <a:bodyPr/>
          <a:lstStyle/>
          <a:p>
            <a:endParaRPr lang="zh-CN" altLang="en-US"/>
          </a:p>
        </p:txBody>
      </p:sp>
      <p:sp>
        <p:nvSpPr>
          <p:cNvPr id="14" name="图片占位符 13"/>
          <p:cNvSpPr>
            <a:spLocks noGrp="1"/>
          </p:cNvSpPr>
          <p:nvPr>
            <p:ph type="pic" sz="quarter" idx="11"/>
          </p:nvPr>
        </p:nvSpPr>
        <p:spPr>
          <a:xfrm>
            <a:off x="4464854" y="1729550"/>
            <a:ext cx="3262292" cy="1699450"/>
          </a:xfrm>
        </p:spPr>
        <p:txBody>
          <a:bodyPr/>
          <a:lstStyle/>
          <a:p>
            <a:endParaRPr lang="zh-CN" altLang="en-US"/>
          </a:p>
        </p:txBody>
      </p:sp>
      <p:sp>
        <p:nvSpPr>
          <p:cNvPr id="15" name="图片占位符 14"/>
          <p:cNvSpPr>
            <a:spLocks noGrp="1"/>
          </p:cNvSpPr>
          <p:nvPr>
            <p:ph type="pic" sz="quarter" idx="12"/>
          </p:nvPr>
        </p:nvSpPr>
        <p:spPr>
          <a:xfrm>
            <a:off x="8256608" y="1729550"/>
            <a:ext cx="3262292" cy="1699450"/>
          </a:xfrm>
        </p:spPr>
        <p:txBody>
          <a:bodyPr/>
          <a:lstStyle/>
          <a:p>
            <a:endParaRPr lang="zh-CN" altLang="en-US"/>
          </a:p>
        </p:txBody>
      </p:sp>
      <p:sp>
        <p:nvSpPr>
          <p:cNvPr id="3" name="文本框 2"/>
          <p:cNvSpPr txBox="1"/>
          <p:nvPr userDrawn="1"/>
        </p:nvSpPr>
        <p:spPr>
          <a:xfrm>
            <a:off x="8107681" y="6526972"/>
            <a:ext cx="4190066" cy="307777"/>
          </a:xfrm>
          <a:prstGeom prst="rect">
            <a:avLst/>
          </a:prstGeom>
          <a:noFill/>
        </p:spPr>
        <p:txBody>
          <a:bodyPr wrap="square">
            <a:spAutoFit/>
          </a:bodyPr>
          <a:lstStyle/>
          <a:p>
            <a:r>
              <a:rPr lang="en-US" altLang="zh-CN" sz="1400" dirty="0">
                <a:solidFill>
                  <a:schemeClr val="bg1"/>
                </a:solidFill>
                <a:latin typeface="+mj-ea"/>
                <a:ea typeface="+mj-ea"/>
              </a:rPr>
              <a:t>University of Science and Technology of China</a:t>
            </a:r>
            <a:endParaRPr lang="zh-CN" altLang="en-US" sz="1400" dirty="0">
              <a:solidFill>
                <a:schemeClr val="bg1"/>
              </a:solidFill>
              <a:latin typeface="+mj-ea"/>
              <a:ea typeface="+mj-ea"/>
            </a:endParaRPr>
          </a:p>
        </p:txBody>
      </p:sp>
      <p:pic>
        <p:nvPicPr>
          <p:cNvPr id="5" name="图形 4"/>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52448" y="52580"/>
            <a:ext cx="2725032" cy="521815"/>
          </a:xfrm>
          <a:prstGeom prst="rect">
            <a:avLst/>
          </a:prstGeom>
        </p:spPr>
      </p:pic>
      <p:sp>
        <p:nvSpPr>
          <p:cNvPr id="6" name="文本框 5"/>
          <p:cNvSpPr txBox="1"/>
          <p:nvPr userDrawn="1"/>
        </p:nvSpPr>
        <p:spPr>
          <a:xfrm>
            <a:off x="0" y="6490772"/>
            <a:ext cx="2351314" cy="369332"/>
          </a:xfrm>
          <a:prstGeom prst="rect">
            <a:avLst/>
          </a:prstGeom>
          <a:noFill/>
        </p:spPr>
        <p:txBody>
          <a:bodyPr wrap="square">
            <a:spAutoFit/>
          </a:bodyPr>
          <a:lstStyle/>
          <a:p>
            <a:r>
              <a:rPr lang="zh-CN" altLang="en-US" dirty="0">
                <a:solidFill>
                  <a:schemeClr val="bg1"/>
                </a:solidFill>
                <a:latin typeface="华文新魏" panose="02010800040101010101" pitchFamily="2" charset="-122"/>
                <a:ea typeface="华文新魏" panose="02010800040101010101" pitchFamily="2" charset="-122"/>
              </a:rPr>
              <a:t>红专并进，理实交融</a:t>
            </a:r>
          </a:p>
        </p:txBody>
      </p:sp>
    </p:spTree>
    <p:extLst>
      <p:ext uri="{BB962C8B-B14F-4D97-AF65-F5344CB8AC3E}">
        <p14:creationId xmlns:p14="http://schemas.microsoft.com/office/powerpoint/2010/main" val="16424405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6722093"/>
      </p:ext>
    </p:extLst>
  </p:cSld>
  <p:clrMapOvr>
    <a:masterClrMapping/>
  </p:clrMapOvr>
  <p:transition spd="slow">
    <p:push dir="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98ACB9-07D2-8B95-C325-295535A1956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CECCB88-40C6-1D5B-2C08-B35A75528D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37D2D3-F316-DFEF-7DBA-DABCD923E6AA}"/>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65F61E31-A15F-9503-AE92-127CD2919F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50C757-BD01-3855-3FD9-E3D007290E0A}"/>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1693845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C9B40B-7551-9540-AEB2-E7C3BDCE4ED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98AEE95-FCAA-19A4-722E-5A6DC0C49E8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73F0BC-AEE2-82DE-FB5D-B6F0457129C0}"/>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2DB23776-0DEF-9713-C991-34BB9C0B1D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1DC58B-05EB-8785-AEAD-342449E5B92B}"/>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34656965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3CB17B-F6A5-D0E2-4391-30230C18074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43E518E-F1EB-4DF5-9D39-1D0E266BC7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055288F-F65A-3A1E-EAB5-201DF3573C2E}"/>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0073E7BC-FC00-105A-A9FF-00E4AFA8EB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03B065-0879-CD34-486E-0BD3992806F7}"/>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23737458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D1F55-51D6-4D8D-2751-EED602E7488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BFCF574-2A43-D90B-3411-77EEBDD6605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D351540-078F-972B-7C24-827F4E6EEA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C5FD4FA-0970-A0FF-554D-6BC19AF9A241}"/>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79CEE8D7-BA7D-5EB0-871D-375EC0BFDC8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E46CBA-3985-577A-AB0B-2CFAB625D5B0}"/>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270297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9752F6-CC6B-56D2-682F-EDB06C71550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49A3D19-2866-AB8B-16DC-5A3701CADF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7BF2E-3186-C6EE-FF49-1D77B040C0B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B2A5A2A-6EFC-6FE7-A4C8-7D96E85AA8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C5EA0A9-FCC8-C66A-5596-39EE57124C7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75CA259-8DC9-FFC2-89CA-94AACE69CFA6}"/>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8" name="页脚占位符 7">
            <a:extLst>
              <a:ext uri="{FF2B5EF4-FFF2-40B4-BE49-F238E27FC236}">
                <a16:creationId xmlns:a16="http://schemas.microsoft.com/office/drawing/2014/main" id="{9FACF9B0-6C48-EA8B-875D-58BA241EBCF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25651C3-E29D-7B59-40C7-7A3F877D668A}"/>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39777232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9F89AE-51CF-985D-A607-1D71A279506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CB57683-4D2C-A0D2-58F8-B222EB31FB77}"/>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4" name="页脚占位符 3">
            <a:extLst>
              <a:ext uri="{FF2B5EF4-FFF2-40B4-BE49-F238E27FC236}">
                <a16:creationId xmlns:a16="http://schemas.microsoft.com/office/drawing/2014/main" id="{DE69C43E-C264-0829-BFB6-BA91FB6168F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515EC69-4065-BC01-0B4E-FD4FEC16ABFA}"/>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18477035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132DB93-D265-5498-700F-72FB4B21734C}"/>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3" name="页脚占位符 2">
            <a:extLst>
              <a:ext uri="{FF2B5EF4-FFF2-40B4-BE49-F238E27FC236}">
                <a16:creationId xmlns:a16="http://schemas.microsoft.com/office/drawing/2014/main" id="{DC7B1444-5554-D52A-0097-FD155759411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FF41300-714A-11AA-78E1-BD634F09BFCA}"/>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4874536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9E4D12-FB90-F50B-C804-84D91F0A55D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E7371CD-841F-BF38-0ADD-40930A5B56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4A8FD49-9510-A866-594E-A88BCD22A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B283A62-AF23-7DC3-CCB4-E6BA1043268C}"/>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EC68D5C6-80B4-BB38-DC9D-FD3487BF3A5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02FF8B4-F94E-5F84-921F-778BB6CEFD31}"/>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8258033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0AFBAE-E8AF-6A2F-620F-20B8AA09937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E9BCE52-F600-689F-AA63-A5DC61D06F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CC72B1D-E6FA-BBD3-FF4F-3482F97D0C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BFE86AD-09DF-FE41-2CD2-D6568C2D4BBA}"/>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6F4BB41E-4EAA-4220-1D9F-CBE8D7E6A0B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B80DBE3-EFF5-45D3-15D2-064ABE67C923}"/>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751934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19509E-0CB9-029C-B8EE-6E229B8E8F7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1EE839-361B-26F7-BBE7-9C6CB42C5FD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A58E4A-3144-6F5A-D8D1-F0E6121C5CF7}"/>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F8FE5E56-2448-E341-6D2A-62C143BB58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5A7B75-4AAD-F8ED-3D58-97DA9828BACA}"/>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34836204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AD5EC2B-FC0D-267B-03C5-75EA581CB05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6F4D0CA-DDA8-69D0-ADCE-676CE4AE172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C964986-387C-60E9-7850-88D4B689A119}"/>
              </a:ext>
            </a:extLst>
          </p:cNvPr>
          <p:cNvSpPr>
            <a:spLocks noGrp="1"/>
          </p:cNvSpPr>
          <p:nvPr>
            <p:ph type="dt" sz="half" idx="10"/>
          </p:nvPr>
        </p:nvSpPr>
        <p:spPr/>
        <p:txBody>
          <a:bodyPr/>
          <a:lstStyle/>
          <a:p>
            <a:fld id="{891FE653-D574-4782-B7CE-836DE6F4734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576BDD3F-2AA7-0564-6E38-2747F95515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01BF65-2A39-554A-5FD9-2B213F1885E5}"/>
              </a:ext>
            </a:extLst>
          </p:cNvPr>
          <p:cNvSpPr>
            <a:spLocks noGrp="1"/>
          </p:cNvSpPr>
          <p:nvPr>
            <p:ph type="sldNum" sz="quarter" idx="12"/>
          </p:nvPr>
        </p:nvSpPr>
        <p:spPr/>
        <p:txBody>
          <a:body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23001752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7953B8-D602-40C3-A78E-2E1F82AE69E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6A737B4-8794-45A0-B883-04C9346D98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a:extLst>
              <a:ext uri="{FF2B5EF4-FFF2-40B4-BE49-F238E27FC236}">
                <a16:creationId xmlns:a16="http://schemas.microsoft.com/office/drawing/2014/main" id="{5833DBE9-8BCF-4BD9-A4DF-27A11572F6ED}"/>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DCD7F6B7-941C-4688-AB70-3A76E1D594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78E36E-3D59-4112-91C1-2F4F4BD17D5B}"/>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grpSp>
        <p:nvGrpSpPr>
          <p:cNvPr id="7" name="组合 6">
            <a:extLst>
              <a:ext uri="{FF2B5EF4-FFF2-40B4-BE49-F238E27FC236}">
                <a16:creationId xmlns:a16="http://schemas.microsoft.com/office/drawing/2014/main" id="{ACB065DE-FAB6-40E7-9179-07F4BCBD85EE}"/>
              </a:ext>
            </a:extLst>
          </p:cNvPr>
          <p:cNvGrpSpPr/>
          <p:nvPr userDrawn="1"/>
        </p:nvGrpSpPr>
        <p:grpSpPr>
          <a:xfrm>
            <a:off x="503583" y="383828"/>
            <a:ext cx="11688417" cy="461665"/>
            <a:chOff x="427383" y="763200"/>
            <a:chExt cx="11688417" cy="461665"/>
          </a:xfrm>
        </p:grpSpPr>
        <p:sp>
          <p:nvSpPr>
            <p:cNvPr id="8" name="矩形 7">
              <a:extLst>
                <a:ext uri="{FF2B5EF4-FFF2-40B4-BE49-F238E27FC236}">
                  <a16:creationId xmlns:a16="http://schemas.microsoft.com/office/drawing/2014/main" id="{692E5E46-EC76-43F3-A346-A40DE593F17F}"/>
                </a:ext>
              </a:extLst>
            </p:cNvPr>
            <p:cNvSpPr/>
            <p:nvPr/>
          </p:nvSpPr>
          <p:spPr>
            <a:xfrm>
              <a:off x="10249235" y="763200"/>
              <a:ext cx="1866565" cy="461665"/>
            </a:xfrm>
            <a:prstGeom prst="rect">
              <a:avLst/>
            </a:prstGeom>
            <a:noFill/>
            <a:ln>
              <a:noFill/>
            </a:ln>
          </p:spPr>
          <p:txBody>
            <a:bodyPr wrap="square" lIns="91440" tIns="45720" rIns="91440" bIns="45720">
              <a:spAutoFit/>
            </a:bodyPr>
            <a:lstStyle/>
            <a:p>
              <a:pPr algn="ctr"/>
              <a:r>
                <a:rPr lang="en-US" altLang="zh-CN" sz="2400" b="1" cap="none" spc="0" dirty="0">
                  <a:ln w="9525">
                    <a:solidFill>
                      <a:schemeClr val="bg1"/>
                    </a:solidFill>
                    <a:prstDash val="solid"/>
                  </a:ln>
                  <a:solidFill>
                    <a:srgbClr val="0070C0"/>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USTC</a:t>
              </a:r>
              <a:endParaRPr lang="zh-CN" altLang="en-US" sz="2400" b="1" cap="none" spc="0" dirty="0">
                <a:ln w="9525">
                  <a:solidFill>
                    <a:schemeClr val="bg1"/>
                  </a:solidFill>
                  <a:prstDash val="solid"/>
                </a:ln>
                <a:solidFill>
                  <a:srgbClr val="0070C0"/>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99BB65A-F9B0-4890-8F5D-F4C0810E387E}"/>
                </a:ext>
              </a:extLst>
            </p:cNvPr>
            <p:cNvSpPr/>
            <p:nvPr/>
          </p:nvSpPr>
          <p:spPr>
            <a:xfrm>
              <a:off x="427383" y="1103243"/>
              <a:ext cx="11191460" cy="740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spTree>
    <p:extLst>
      <p:ext uri="{BB962C8B-B14F-4D97-AF65-F5344CB8AC3E}">
        <p14:creationId xmlns:p14="http://schemas.microsoft.com/office/powerpoint/2010/main" val="18292171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161AA9-1746-4087-81F1-7CA4CB374E5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A816A09-7A09-453B-BD31-CF5D681D445E}"/>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D2B6FC4-6FF3-4ADE-BCC9-A4AE9BAAC5D1}"/>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5EC4A8D5-4736-4E44-AE04-A01163B253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7E771B3-499B-44CC-A374-6DE0A72A1F86}"/>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sp>
        <p:nvSpPr>
          <p:cNvPr id="9" name="矩形 8"/>
          <p:cNvSpPr/>
          <p:nvPr userDrawn="1"/>
        </p:nvSpPr>
        <p:spPr>
          <a:xfrm>
            <a:off x="0" y="821095"/>
            <a:ext cx="12192000" cy="3647698"/>
          </a:xfrm>
          <a:prstGeom prst="rect">
            <a:avLst/>
          </a:prstGeom>
          <a:solidFill>
            <a:schemeClr val="bg1">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118206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234269" y="5038725"/>
            <a:ext cx="1847850" cy="1819275"/>
          </a:xfrm>
          <a:prstGeom prst="rect">
            <a:avLst/>
          </a:prstGeom>
        </p:spPr>
      </p:pic>
      <p:sp>
        <p:nvSpPr>
          <p:cNvPr id="2" name="标题 1">
            <a:extLst>
              <a:ext uri="{FF2B5EF4-FFF2-40B4-BE49-F238E27FC236}">
                <a16:creationId xmlns:a16="http://schemas.microsoft.com/office/drawing/2014/main" id="{9D5967B5-32D8-4A20-AC34-957CA93E783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7059B90-6019-46CA-8B5C-F6E4234645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8DDA5BBA-4825-4A54-B80E-C52215C0744D}"/>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0D2E143B-C3F5-4566-846C-ACE6DE660E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AA83BF-0752-488C-89F1-C75DF7570FEB}"/>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grpSp>
        <p:nvGrpSpPr>
          <p:cNvPr id="9" name="组合 8">
            <a:extLst>
              <a:ext uri="{FF2B5EF4-FFF2-40B4-BE49-F238E27FC236}">
                <a16:creationId xmlns:a16="http://schemas.microsoft.com/office/drawing/2014/main" id="{28AC2197-88C2-4DEB-97FF-E801BF7816DA}"/>
              </a:ext>
            </a:extLst>
          </p:cNvPr>
          <p:cNvGrpSpPr/>
          <p:nvPr userDrawn="1"/>
        </p:nvGrpSpPr>
        <p:grpSpPr>
          <a:xfrm>
            <a:off x="503583" y="445148"/>
            <a:ext cx="11688417" cy="461665"/>
            <a:chOff x="427383" y="763200"/>
            <a:chExt cx="11688417" cy="461665"/>
          </a:xfrm>
        </p:grpSpPr>
        <p:sp>
          <p:nvSpPr>
            <p:cNvPr id="10" name="矩形 9">
              <a:extLst>
                <a:ext uri="{FF2B5EF4-FFF2-40B4-BE49-F238E27FC236}">
                  <a16:creationId xmlns:a16="http://schemas.microsoft.com/office/drawing/2014/main" id="{71D99247-FA57-4FA1-9609-FF7B78070A48}"/>
                </a:ext>
              </a:extLst>
            </p:cNvPr>
            <p:cNvSpPr/>
            <p:nvPr/>
          </p:nvSpPr>
          <p:spPr>
            <a:xfrm>
              <a:off x="10249235" y="763200"/>
              <a:ext cx="1866565" cy="461665"/>
            </a:xfrm>
            <a:prstGeom prst="rect">
              <a:avLst/>
            </a:prstGeom>
            <a:noFill/>
            <a:ln>
              <a:noFill/>
            </a:ln>
          </p:spPr>
          <p:txBody>
            <a:bodyPr wrap="square" lIns="91440" tIns="45720" rIns="91440" bIns="45720">
              <a:spAutoFit/>
            </a:bodyPr>
            <a:lstStyle/>
            <a:p>
              <a:pPr algn="ctr"/>
              <a:r>
                <a:rPr lang="en-US" altLang="zh-CN" sz="2400" b="1" cap="none" spc="0" dirty="0">
                  <a:ln w="9525">
                    <a:solidFill>
                      <a:schemeClr val="bg1"/>
                    </a:solidFill>
                    <a:prstDash val="solid"/>
                  </a:ln>
                  <a:solidFill>
                    <a:srgbClr val="0070C0"/>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USTC</a:t>
              </a:r>
              <a:endParaRPr lang="zh-CN" altLang="en-US" sz="2400" b="1" cap="none" spc="0" dirty="0">
                <a:ln w="9525">
                  <a:solidFill>
                    <a:schemeClr val="bg1"/>
                  </a:solidFill>
                  <a:prstDash val="solid"/>
                </a:ln>
                <a:solidFill>
                  <a:srgbClr val="0070C0"/>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8ADB932D-6D3E-4778-AAA0-DAB13E45704A}"/>
                </a:ext>
              </a:extLst>
            </p:cNvPr>
            <p:cNvSpPr/>
            <p:nvPr/>
          </p:nvSpPr>
          <p:spPr>
            <a:xfrm>
              <a:off x="427383" y="1103243"/>
              <a:ext cx="11191460" cy="740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spTree>
    <p:extLst>
      <p:ext uri="{BB962C8B-B14F-4D97-AF65-F5344CB8AC3E}">
        <p14:creationId xmlns:p14="http://schemas.microsoft.com/office/powerpoint/2010/main" val="3674869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F5F178-8847-416C-A6B9-81BFC5D1AA2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39736D2-B76B-4D3F-B534-B0DC9A1133E0}"/>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0538B8DB-6132-4CA8-9091-6A5BE70B9F7F}"/>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0C77F874-4E8B-4588-B03C-EAEC33352482}"/>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E643C5AB-324D-45E4-A150-56E467C171A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8A87AFE-F369-4AC6-86A8-5CD9C0B53923}"/>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spTree>
    <p:extLst>
      <p:ext uri="{BB962C8B-B14F-4D97-AF65-F5344CB8AC3E}">
        <p14:creationId xmlns:p14="http://schemas.microsoft.com/office/powerpoint/2010/main" val="30784428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A481A-1D71-45C0-B920-75F08658333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F3043A9-0B92-4F9F-A376-8D2E576BC4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E5B82350-65FB-4577-A790-67BAB4E56DAD}"/>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ECA9A000-57FB-4888-A807-7388387784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BA310837-C841-483A-9917-A3343AB59C01}"/>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FD4724E5-3480-47DA-B228-58015765F870}"/>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8" name="页脚占位符 7">
            <a:extLst>
              <a:ext uri="{FF2B5EF4-FFF2-40B4-BE49-F238E27FC236}">
                <a16:creationId xmlns:a16="http://schemas.microsoft.com/office/drawing/2014/main" id="{559F03BD-6891-439E-948F-01539785784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D9C3211-48AA-4721-89B2-5857F9C84598}"/>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spTree>
    <p:extLst>
      <p:ext uri="{BB962C8B-B14F-4D97-AF65-F5344CB8AC3E}">
        <p14:creationId xmlns:p14="http://schemas.microsoft.com/office/powerpoint/2010/main" val="1658651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B66F9C-0BD4-471C-A9EE-8B7315DBEB6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1E6724F-B94B-4EAB-B0AE-77AB224AE652}"/>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4" name="页脚占位符 3">
            <a:extLst>
              <a:ext uri="{FF2B5EF4-FFF2-40B4-BE49-F238E27FC236}">
                <a16:creationId xmlns:a16="http://schemas.microsoft.com/office/drawing/2014/main" id="{52462CC2-50FA-460D-9225-66039691E27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AAE1F5F-6F2D-4C54-A715-DF963558AD03}"/>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grpSp>
        <p:nvGrpSpPr>
          <p:cNvPr id="6" name="组合 5">
            <a:extLst>
              <a:ext uri="{FF2B5EF4-FFF2-40B4-BE49-F238E27FC236}">
                <a16:creationId xmlns:a16="http://schemas.microsoft.com/office/drawing/2014/main" id="{E56401B8-EB1B-4448-897F-C39E1DFEE96A}"/>
              </a:ext>
            </a:extLst>
          </p:cNvPr>
          <p:cNvGrpSpPr/>
          <p:nvPr userDrawn="1"/>
        </p:nvGrpSpPr>
        <p:grpSpPr>
          <a:xfrm>
            <a:off x="503583" y="365125"/>
            <a:ext cx="11688417" cy="461665"/>
            <a:chOff x="427383" y="763200"/>
            <a:chExt cx="11688417" cy="461665"/>
          </a:xfrm>
        </p:grpSpPr>
        <p:sp>
          <p:nvSpPr>
            <p:cNvPr id="7" name="矩形 6">
              <a:extLst>
                <a:ext uri="{FF2B5EF4-FFF2-40B4-BE49-F238E27FC236}">
                  <a16:creationId xmlns:a16="http://schemas.microsoft.com/office/drawing/2014/main" id="{DFC3F847-500E-4B69-8538-E03EE47CE77D}"/>
                </a:ext>
              </a:extLst>
            </p:cNvPr>
            <p:cNvSpPr/>
            <p:nvPr/>
          </p:nvSpPr>
          <p:spPr>
            <a:xfrm>
              <a:off x="10249235" y="763200"/>
              <a:ext cx="1866565" cy="461665"/>
            </a:xfrm>
            <a:prstGeom prst="rect">
              <a:avLst/>
            </a:prstGeom>
            <a:noFill/>
            <a:ln>
              <a:noFill/>
            </a:ln>
          </p:spPr>
          <p:txBody>
            <a:bodyPr wrap="square" lIns="91440" tIns="45720" rIns="91440" bIns="45720">
              <a:spAutoFit/>
            </a:bodyPr>
            <a:lstStyle/>
            <a:p>
              <a:pPr algn="ctr"/>
              <a:r>
                <a:rPr lang="en-US" altLang="zh-CN" sz="2400" b="1" cap="none" spc="0" dirty="0">
                  <a:ln w="9525">
                    <a:solidFill>
                      <a:schemeClr val="bg1"/>
                    </a:solidFill>
                    <a:prstDash val="solid"/>
                  </a:ln>
                  <a:solidFill>
                    <a:srgbClr val="0070C0"/>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USTC</a:t>
              </a:r>
              <a:endParaRPr lang="zh-CN" altLang="en-US" sz="2400" b="1" cap="none" spc="0" dirty="0">
                <a:ln w="9525">
                  <a:solidFill>
                    <a:schemeClr val="bg1"/>
                  </a:solidFill>
                  <a:prstDash val="solid"/>
                </a:ln>
                <a:solidFill>
                  <a:srgbClr val="0070C0"/>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2B660DB5-D96D-4343-8A29-D9F8F7B55057}"/>
                </a:ext>
              </a:extLst>
            </p:cNvPr>
            <p:cNvSpPr/>
            <p:nvPr/>
          </p:nvSpPr>
          <p:spPr>
            <a:xfrm>
              <a:off x="427383" y="1103243"/>
              <a:ext cx="11191460" cy="740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spTree>
    <p:extLst>
      <p:ext uri="{BB962C8B-B14F-4D97-AF65-F5344CB8AC3E}">
        <p14:creationId xmlns:p14="http://schemas.microsoft.com/office/powerpoint/2010/main" val="32764861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CA2CE5-F604-4DC0-8B11-9EF9591EBD80}"/>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3" name="页脚占位符 2">
            <a:extLst>
              <a:ext uri="{FF2B5EF4-FFF2-40B4-BE49-F238E27FC236}">
                <a16:creationId xmlns:a16="http://schemas.microsoft.com/office/drawing/2014/main" id="{55A63D4F-B3F4-4F48-B420-1B4CB7C636F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3B30D1-BB42-42C9-9271-5DEC3130535A}"/>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grpSp>
        <p:nvGrpSpPr>
          <p:cNvPr id="8" name="组合 7">
            <a:extLst>
              <a:ext uri="{FF2B5EF4-FFF2-40B4-BE49-F238E27FC236}">
                <a16:creationId xmlns:a16="http://schemas.microsoft.com/office/drawing/2014/main" id="{CAB180B7-B22C-462A-B3C8-0D94604B9FEF}"/>
              </a:ext>
            </a:extLst>
          </p:cNvPr>
          <p:cNvGrpSpPr/>
          <p:nvPr userDrawn="1"/>
        </p:nvGrpSpPr>
        <p:grpSpPr>
          <a:xfrm>
            <a:off x="503583" y="365125"/>
            <a:ext cx="11688417" cy="461665"/>
            <a:chOff x="427383" y="763200"/>
            <a:chExt cx="11688417" cy="461665"/>
          </a:xfrm>
        </p:grpSpPr>
        <p:sp>
          <p:nvSpPr>
            <p:cNvPr id="9" name="矩形 8">
              <a:extLst>
                <a:ext uri="{FF2B5EF4-FFF2-40B4-BE49-F238E27FC236}">
                  <a16:creationId xmlns:a16="http://schemas.microsoft.com/office/drawing/2014/main" id="{01051833-5CB3-486C-818C-1CF0BAC3DF96}"/>
                </a:ext>
              </a:extLst>
            </p:cNvPr>
            <p:cNvSpPr/>
            <p:nvPr/>
          </p:nvSpPr>
          <p:spPr>
            <a:xfrm>
              <a:off x="10249235" y="763200"/>
              <a:ext cx="1866565" cy="461665"/>
            </a:xfrm>
            <a:prstGeom prst="rect">
              <a:avLst/>
            </a:prstGeom>
            <a:noFill/>
            <a:ln>
              <a:noFill/>
            </a:ln>
          </p:spPr>
          <p:txBody>
            <a:bodyPr wrap="square" lIns="91440" tIns="45720" rIns="91440" bIns="45720">
              <a:spAutoFit/>
            </a:bodyPr>
            <a:lstStyle/>
            <a:p>
              <a:pPr algn="ctr"/>
              <a:r>
                <a:rPr lang="en-US" altLang="zh-CN" sz="2400" b="1" cap="none" spc="0" dirty="0">
                  <a:ln w="9525">
                    <a:solidFill>
                      <a:schemeClr val="bg1"/>
                    </a:solidFill>
                    <a:prstDash val="solid"/>
                  </a:ln>
                  <a:solidFill>
                    <a:srgbClr val="0070C0"/>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USTC</a:t>
              </a:r>
              <a:endParaRPr lang="zh-CN" altLang="en-US" sz="2400" b="1" cap="none" spc="0" dirty="0">
                <a:ln w="9525">
                  <a:solidFill>
                    <a:schemeClr val="bg1"/>
                  </a:solidFill>
                  <a:prstDash val="solid"/>
                </a:ln>
                <a:solidFill>
                  <a:srgbClr val="0070C0"/>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EB29DE21-2F5B-4AFC-A7E7-CAFA1B05E1C1}"/>
                </a:ext>
              </a:extLst>
            </p:cNvPr>
            <p:cNvSpPr/>
            <p:nvPr/>
          </p:nvSpPr>
          <p:spPr>
            <a:xfrm>
              <a:off x="427383" y="1103243"/>
              <a:ext cx="11191460" cy="740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grpSp>
    </p:spTree>
    <p:extLst>
      <p:ext uri="{BB962C8B-B14F-4D97-AF65-F5344CB8AC3E}">
        <p14:creationId xmlns:p14="http://schemas.microsoft.com/office/powerpoint/2010/main" val="24175001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74A30-C2C2-442F-B0BD-C68D2FBC7C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79F6B07-0C6C-494F-832D-345229DB78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C1504E9-68DE-4758-860A-8849237A7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92859EB-10A2-43FC-BD68-55DDF0ACC669}"/>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5EF5D309-382D-4220-800D-FB45FA6C2D5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C0A849-65E7-45A8-906A-F49D29A956BE}"/>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spTree>
    <p:extLst>
      <p:ext uri="{BB962C8B-B14F-4D97-AF65-F5344CB8AC3E}">
        <p14:creationId xmlns:p14="http://schemas.microsoft.com/office/powerpoint/2010/main" val="7535529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32BBC-B71E-4F1E-9509-1F62D9F1E3A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C215212-9C91-4CD5-BC7E-33E6BEDD1B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5F4A8ACC-E9C9-4295-B3BA-E9237C2156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1508FCF-741C-4CCD-9018-C2AE79579895}"/>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9988F2A9-6688-42A0-955E-249D88DCA7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8B4E313-6B50-4779-92A4-CC03889C35F9}"/>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spTree>
    <p:extLst>
      <p:ext uri="{BB962C8B-B14F-4D97-AF65-F5344CB8AC3E}">
        <p14:creationId xmlns:p14="http://schemas.microsoft.com/office/powerpoint/2010/main" val="33223389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C066E-8FDC-425C-AF34-5008EC772EA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F6562FA-0280-4ACC-94DF-6A76E182A1A5}"/>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F5B3A61-4717-40F8-9164-042C17731B42}"/>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5785F292-782B-48D7-ACEF-77404F0743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965F1B-9933-44A1-869A-F845274C73B2}"/>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spTree>
    <p:extLst>
      <p:ext uri="{BB962C8B-B14F-4D97-AF65-F5344CB8AC3E}">
        <p14:creationId xmlns:p14="http://schemas.microsoft.com/office/powerpoint/2010/main" val="15206796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6BA0B64-78C3-4355-996F-D3A10617E61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B1F586C-2110-42F5-93C4-4ED7A557830B}"/>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9737441-AC0F-4FB4-825D-671FF271C699}"/>
              </a:ext>
            </a:extLst>
          </p:cNvPr>
          <p:cNvSpPr>
            <a:spLocks noGrp="1"/>
          </p:cNvSpPr>
          <p:nvPr>
            <p:ph type="dt" sz="half" idx="10"/>
          </p:nvPr>
        </p:nvSpPr>
        <p:spPr/>
        <p:txBody>
          <a:bodyPr/>
          <a:lstStyle/>
          <a:p>
            <a:fld id="{CC83072C-E68E-4804-BF1F-E1A76F416273}"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D130329D-38CF-4886-ADE4-F13FA01BC1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517B28-B686-4C63-A2FA-69A693DABB77}"/>
              </a:ext>
            </a:extLst>
          </p:cNvPr>
          <p:cNvSpPr>
            <a:spLocks noGrp="1"/>
          </p:cNvSpPr>
          <p:nvPr>
            <p:ph type="sldNum" sz="quarter" idx="12"/>
          </p:nvPr>
        </p:nvSpPr>
        <p:spPr/>
        <p:txBody>
          <a:bodyPr/>
          <a:lstStyle/>
          <a:p>
            <a:fld id="{8C25094D-B596-488F-B18C-855DE6045311}" type="slidenum">
              <a:rPr lang="zh-CN" altLang="en-US" smtClean="0"/>
              <a:t>‹#›</a:t>
            </a:fld>
            <a:endParaRPr lang="zh-CN" altLang="en-US"/>
          </a:p>
        </p:txBody>
      </p:sp>
    </p:spTree>
    <p:extLst>
      <p:ext uri="{BB962C8B-B14F-4D97-AF65-F5344CB8AC3E}">
        <p14:creationId xmlns:p14="http://schemas.microsoft.com/office/powerpoint/2010/main" val="38820904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ECD47A-9789-4726-8ED1-D493773A0F5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9959F3C-345C-4850-954C-0BC240A064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FAD2C31-7AC8-44EC-B044-FBF3A98FC8E3}"/>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E862EEE1-7659-479A-88E3-009E5E2042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51107C-2E60-4DB1-86E5-D33CCD4D4C22}"/>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28135309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BF025-4851-4C52-BC10-0B89B4429FE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F6AF9F0-AAE7-4C69-99BC-095669DA1E8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4859079-E2F2-4833-9C6E-5BC8A8F90D46}"/>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A3500D39-D5E6-49A4-9ED5-B1D8A75693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61BB081-5CCE-4603-B078-2744070FF0E9}"/>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33728930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0F0D25-9D69-436C-AB19-71B922B9B3E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6536802-662D-4481-99A5-ABA7D7DC05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01CFC6CF-4C00-47A7-B388-667B3321153B}"/>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A551807D-EADE-4364-8F24-644A5E0F96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42D16A-071A-42B0-9E5E-71CE2E2E6C2F}"/>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3816730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E7860F-7E78-49D6-BF39-C4F1ED83E8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1106B7E-439A-4F36-AEDD-97269A4D46EA}"/>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B08BA72-12BA-424A-AB44-17C1254F1510}"/>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B3EABC51-4784-4D6F-BC82-5490FAD1D438}"/>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58677E64-C952-4CAC-9636-B87FBBC1DD2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ABAE343-0707-4762-AABF-1781E07DAA33}"/>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10287388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89CD58-C6C0-4916-9DCA-19D7A89AE56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A5A9F2E-4E22-4BB8-BA7D-EC067FA9C9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798EBC55-A843-43B9-BCB3-53917DD53BF5}"/>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F092CC2-44F8-446D-AE33-F40D487FD0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69F3CEF-9605-4C94-A422-700CB8A03263}"/>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2FF5CBEB-2587-4FC2-8CB0-03F7604CD38A}"/>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8" name="页脚占位符 7">
            <a:extLst>
              <a:ext uri="{FF2B5EF4-FFF2-40B4-BE49-F238E27FC236}">
                <a16:creationId xmlns:a16="http://schemas.microsoft.com/office/drawing/2014/main" id="{E15A163B-77F9-4253-8F1B-2B1D53DEBA9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C95931C-BF52-442F-8737-26437B35F186}"/>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10649611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E996DC-01CE-471C-A992-05667DA71D7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5FBE6E4-3D42-4AA4-95D4-018C2AE5DBA7}"/>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4" name="页脚占位符 3">
            <a:extLst>
              <a:ext uri="{FF2B5EF4-FFF2-40B4-BE49-F238E27FC236}">
                <a16:creationId xmlns:a16="http://schemas.microsoft.com/office/drawing/2014/main" id="{C8FAF33A-F287-4554-9720-AC19AB77601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ED33945-7CA8-456E-8FD0-6934C11266BE}"/>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275077595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DCC3943-BEE4-4C2E-9220-B2E28D243E1F}"/>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3" name="页脚占位符 2">
            <a:extLst>
              <a:ext uri="{FF2B5EF4-FFF2-40B4-BE49-F238E27FC236}">
                <a16:creationId xmlns:a16="http://schemas.microsoft.com/office/drawing/2014/main" id="{0D6CA489-9F84-4A32-9C68-E07AD77A94B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DAEDB9E-8039-43A4-A946-78282715A265}"/>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210172634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888A89-49D5-493C-A30C-ECCAF144A58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4E46F7-1925-41C3-9836-035FF69212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94D33A02-BD36-45BC-B7D9-BFA33BBF32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8757EC2-17BF-4B8D-9BE9-73D3C9B3ECFF}"/>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9A7EFC02-56E8-483D-8D9D-78AA59914DD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22D6E33-C5B2-41A1-BCA8-E5017112A27F}"/>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17548261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C56FD-058E-4629-8F6B-F2B61F0991D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BC7F04B-05B0-48B6-A98F-958656F9F6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1890803-6F8A-428F-BB4B-BD3F5BCCF1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5E6334E-B86C-43C0-AA67-D194A22A4F56}"/>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9E26F54B-9752-42D9-9AEA-50F8DAB9186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DC57279-07C9-42F1-AC80-D1E47047CFC8}"/>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338846389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B09C2-3B68-47D2-995B-423737D82EA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4787DD1-51E5-4AE0-8956-3863F22FD791}"/>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C5BD98F-766E-4764-B52F-F18D8F0D2017}"/>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22D122AC-6B55-44F3-AACA-F0269C285C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D57FDF6-A4D0-4F83-9B4B-E7C44637663C}"/>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34981641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9916320-32EF-4122-B571-1E5A31B57CB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293E700-FB85-44FA-A217-3AB0338E88C8}"/>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38D9032-12A1-410A-81BD-DC577598B8F2}"/>
              </a:ext>
            </a:extLst>
          </p:cNvPr>
          <p:cNvSpPr>
            <a:spLocks noGrp="1"/>
          </p:cNvSpPr>
          <p:nvPr>
            <p:ph type="dt" sz="half" idx="10"/>
          </p:nvPr>
        </p:nvSpPr>
        <p:spPr/>
        <p:txBody>
          <a:bodyPr/>
          <a:lstStyle/>
          <a:p>
            <a:fld id="{AB58DB6B-517D-433D-B6E3-86E2953D5B8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130D23C6-33E1-4B60-8260-1A64B726365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7D28C5-97FB-4759-8CB6-21F02655B045}"/>
              </a:ext>
            </a:extLst>
          </p:cNvPr>
          <p:cNvSpPr>
            <a:spLocks noGrp="1"/>
          </p:cNvSpPr>
          <p:nvPr>
            <p:ph type="sldNum" sz="quarter" idx="12"/>
          </p:nvPr>
        </p:nvSpPr>
        <p:spPr/>
        <p:txBody>
          <a:body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569623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1.jpe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image" Target="../media/image9.png"/><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878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a:defRPr/>
            </a:pPr>
            <a:endParaRPr lang="en-US" altLang="zh-CN"/>
          </a:p>
        </p:txBody>
      </p:sp>
      <p:sp>
        <p:nvSpPr>
          <p:cNvPr id="11878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endParaRPr lang="en-US" altLang="zh-CN"/>
          </a:p>
        </p:txBody>
      </p:sp>
      <p:sp>
        <p:nvSpPr>
          <p:cNvPr id="11879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3F676273-3369-41EF-9E20-43CFE432827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t="-9000" b="-9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sp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sp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716902" y="6356350"/>
            <a:ext cx="2743200" cy="365125"/>
          </a:xfrm>
          <a:prstGeom prst="rect">
            <a:avLst/>
          </a:prstGeom>
        </p:spPr>
        <p:txBody>
          <a:bodyPr vert="horz" lIns="91440" tIns="45720" rIns="91440" bIns="45720" rtlCol="0" anchor="ctr">
            <a:spAutoFit/>
          </a:bodyPr>
          <a:lstStyle>
            <a:lvl1pPr algn="l">
              <a:defRPr sz="1200">
                <a:solidFill>
                  <a:schemeClr val="tx1">
                    <a:tint val="75000"/>
                  </a:schemeClr>
                </a:solidFill>
              </a:defRPr>
            </a:lvl1pPr>
          </a:lstStyle>
          <a:p>
            <a:fld id="{BB87D1D0-11BC-4610-B275-571C8521F02E}" type="datetimeFigureOut">
              <a:rPr lang="zh-CN" altLang="en-US" smtClean="0"/>
              <a:t>2026/4/20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sp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spAutoFit/>
          </a:bodyPr>
          <a:lstStyle>
            <a:lvl1pPr algn="r">
              <a:defRPr sz="1200">
                <a:solidFill>
                  <a:schemeClr val="tx1">
                    <a:tint val="75000"/>
                  </a:schemeClr>
                </a:solidFill>
              </a:defRPr>
            </a:lvl1pPr>
          </a:lstStyle>
          <a:p>
            <a:fld id="{FD67563A-2BCF-4CDB-AAE4-8FFF0BA89BF6}" type="slidenum">
              <a:rPr lang="zh-CN" altLang="en-US" smtClean="0"/>
              <a:t>‹#›</a:t>
            </a:fld>
            <a:endParaRPr lang="zh-CN" altLang="en-US"/>
          </a:p>
        </p:txBody>
      </p:sp>
    </p:spTree>
    <p:extLst>
      <p:ext uri="{BB962C8B-B14F-4D97-AF65-F5344CB8AC3E}">
        <p14:creationId xmlns:p14="http://schemas.microsoft.com/office/powerpoint/2010/main" val="3947406362"/>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6BA3EB2-51F7-9C1A-48A8-0BEC03EDA4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184EAEF-7209-C578-E26E-A491ABAB5C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8E8979C-DA2A-9535-8F6C-89A0AD2644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1FE653-D574-4782-B7CE-836DE6F4734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62F9AA5D-8760-09C1-5D28-25A47F1567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5C90DFD9-EFEF-88A4-A3D3-A65B9FB24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F5F548-E769-4C92-BDE8-42C950EE2D1E}" type="slidenum">
              <a:rPr lang="zh-CN" altLang="en-US" smtClean="0"/>
              <a:t>‹#›</a:t>
            </a:fld>
            <a:endParaRPr lang="zh-CN" altLang="en-US"/>
          </a:p>
        </p:txBody>
      </p:sp>
    </p:spTree>
    <p:extLst>
      <p:ext uri="{BB962C8B-B14F-4D97-AF65-F5344CB8AC3E}">
        <p14:creationId xmlns:p14="http://schemas.microsoft.com/office/powerpoint/2010/main" val="25333653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3"/>
          <a:stretch>
            <a:fillRect/>
          </a:stretch>
        </p:blipFill>
        <p:spPr>
          <a:xfrm>
            <a:off x="10262549" y="5038725"/>
            <a:ext cx="1847850" cy="1819275"/>
          </a:xfrm>
          <a:prstGeom prst="rect">
            <a:avLst/>
          </a:prstGeom>
        </p:spPr>
      </p:pic>
      <p:sp>
        <p:nvSpPr>
          <p:cNvPr id="2" name="标题占位符 1">
            <a:extLst>
              <a:ext uri="{FF2B5EF4-FFF2-40B4-BE49-F238E27FC236}">
                <a16:creationId xmlns:a16="http://schemas.microsoft.com/office/drawing/2014/main" id="{27D1A67F-06EC-4C58-8F9B-CFD6C852C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81C918D-30D6-437B-8D98-38E51F5580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0BBCDC-F3FC-4DA9-8A0E-C8BDE413C5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83072C-E68E-4804-BF1F-E1A76F416273}"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9D3D90A7-233D-48F4-9820-77011D18EA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93F1CB2-BE8E-45E8-9B47-272312AB76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5094D-B596-488F-B18C-855DE6045311}" type="slidenum">
              <a:rPr lang="zh-CN" altLang="en-US" smtClean="0"/>
              <a:t>‹#›</a:t>
            </a:fld>
            <a:endParaRPr lang="zh-CN" altLang="en-US"/>
          </a:p>
        </p:txBody>
      </p:sp>
    </p:spTree>
    <p:extLst>
      <p:ext uri="{BB962C8B-B14F-4D97-AF65-F5344CB8AC3E}">
        <p14:creationId xmlns:p14="http://schemas.microsoft.com/office/powerpoint/2010/main" val="2665438962"/>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1D13EAF-5B50-493C-B08F-CD09E891C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44AA541-95EE-49BE-8C87-E1DA695E1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E0411E2-2FFF-4D3E-87F9-FCE1DF6928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58DB6B-517D-433D-B6E3-86E2953D5B86}"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8EA319C0-87A8-4277-9F6D-0B83F7462F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34EA053-7051-46B0-BA89-6F8A2EF6D2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05390E-79FB-4ED2-804B-5C082AB1C64C}" type="slidenum">
              <a:rPr lang="zh-CN" altLang="en-US" smtClean="0"/>
              <a:t>‹#›</a:t>
            </a:fld>
            <a:endParaRPr lang="zh-CN" altLang="en-US"/>
          </a:p>
        </p:txBody>
      </p:sp>
    </p:spTree>
    <p:extLst>
      <p:ext uri="{BB962C8B-B14F-4D97-AF65-F5344CB8AC3E}">
        <p14:creationId xmlns:p14="http://schemas.microsoft.com/office/powerpoint/2010/main" val="1972266103"/>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3.emf"/><Relationship Id="rId5" Type="http://schemas.openxmlformats.org/officeDocument/2006/relationships/oleObject" Target="../embeddings/oleObject4.bin"/><Relationship Id="rId4" Type="http://schemas.openxmlformats.org/officeDocument/2006/relationships/image" Target="../media/image12.emf"/></Relationships>
</file>

<file path=ppt/slides/_rels/slide5.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5.emf"/><Relationship Id="rId5" Type="http://schemas.openxmlformats.org/officeDocument/2006/relationships/oleObject" Target="../embeddings/oleObject6.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9.emf"/><Relationship Id="rId5" Type="http://schemas.openxmlformats.org/officeDocument/2006/relationships/oleObject" Target="../embeddings/oleObject10.bin"/><Relationship Id="rId4" Type="http://schemas.openxmlformats.org/officeDocument/2006/relationships/image" Target="../media/image18.emf"/></Relationships>
</file>

<file path=ppt/slides/_rels/slide7.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2.emf"/><Relationship Id="rId5" Type="http://schemas.openxmlformats.org/officeDocument/2006/relationships/oleObject" Target="../embeddings/oleObject13.bin"/><Relationship Id="rId10" Type="http://schemas.openxmlformats.org/officeDocument/2006/relationships/image" Target="../media/image24.emf"/><Relationship Id="rId4" Type="http://schemas.openxmlformats.org/officeDocument/2006/relationships/image" Target="../media/image21.emf"/><Relationship Id="rId9" Type="http://schemas.openxmlformats.org/officeDocument/2006/relationships/oleObject" Target="../embeddings/oleObject15.bin"/></Relationships>
</file>

<file path=ppt/slides/_rels/slide8.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9.e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6.emf"/><Relationship Id="rId11" Type="http://schemas.openxmlformats.org/officeDocument/2006/relationships/oleObject" Target="../embeddings/oleObject20.bin"/><Relationship Id="rId5" Type="http://schemas.openxmlformats.org/officeDocument/2006/relationships/oleObject" Target="../embeddings/oleObject17.bin"/><Relationship Id="rId10" Type="http://schemas.openxmlformats.org/officeDocument/2006/relationships/image" Target="../media/image28.emf"/><Relationship Id="rId4" Type="http://schemas.openxmlformats.org/officeDocument/2006/relationships/image" Target="../media/image25.emf"/><Relationship Id="rId9" Type="http://schemas.openxmlformats.org/officeDocument/2006/relationships/oleObject" Target="../embeddings/oleObject19.bin"/></Relationships>
</file>

<file path=ppt/slides/_rels/slide9.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1.emf"/><Relationship Id="rId5" Type="http://schemas.openxmlformats.org/officeDocument/2006/relationships/oleObject" Target="../embeddings/oleObject22.bin"/><Relationship Id="rId10" Type="http://schemas.openxmlformats.org/officeDocument/2006/relationships/image" Target="../media/image33.emf"/><Relationship Id="rId4" Type="http://schemas.openxmlformats.org/officeDocument/2006/relationships/image" Target="../media/image30.emf"/><Relationship Id="rId9" Type="http://schemas.openxmlformats.org/officeDocument/2006/relationships/oleObject" Target="../embeddings/oleObject24.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5.emf"/><Relationship Id="rId5" Type="http://schemas.openxmlformats.org/officeDocument/2006/relationships/oleObject" Target="../embeddings/oleObject26.bin"/><Relationship Id="rId4" Type="http://schemas.openxmlformats.org/officeDocument/2006/relationships/image" Target="../media/image34.emf"/></Relationships>
</file>

<file path=ppt/slides/_rels/slide11.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40.e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7.e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39.emf"/><Relationship Id="rId4" Type="http://schemas.openxmlformats.org/officeDocument/2006/relationships/image" Target="../media/image36.emf"/><Relationship Id="rId9" Type="http://schemas.openxmlformats.org/officeDocument/2006/relationships/oleObject" Target="../embeddings/oleObject30.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45.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2.emf"/><Relationship Id="rId11" Type="http://schemas.openxmlformats.org/officeDocument/2006/relationships/oleObject" Target="../embeddings/oleObject36.bin"/><Relationship Id="rId5" Type="http://schemas.openxmlformats.org/officeDocument/2006/relationships/oleObject" Target="../embeddings/oleObject33.bin"/><Relationship Id="rId10" Type="http://schemas.openxmlformats.org/officeDocument/2006/relationships/image" Target="../media/image44.emf"/><Relationship Id="rId4" Type="http://schemas.openxmlformats.org/officeDocument/2006/relationships/image" Target="../media/image41.emf"/><Relationship Id="rId9" Type="http://schemas.openxmlformats.org/officeDocument/2006/relationships/oleObject" Target="../embeddings/oleObject35.bin"/></Relationships>
</file>

<file path=ppt/slides/_rels/slide15.x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7.emf"/><Relationship Id="rId5" Type="http://schemas.openxmlformats.org/officeDocument/2006/relationships/oleObject" Target="../embeddings/oleObject38.bin"/><Relationship Id="rId4" Type="http://schemas.openxmlformats.org/officeDocument/2006/relationships/image" Target="../media/image46.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50.emf"/><Relationship Id="rId5" Type="http://schemas.openxmlformats.org/officeDocument/2006/relationships/oleObject" Target="../embeddings/oleObject41.bin"/><Relationship Id="rId4" Type="http://schemas.openxmlformats.org/officeDocument/2006/relationships/image" Target="../media/image49.emf"/></Relationships>
</file>

<file path=ppt/slides/_rels/slide17.xml.rels><?xml version="1.0" encoding="UTF-8" standalone="yes"?>
<Relationships xmlns="http://schemas.openxmlformats.org/package/2006/relationships"><Relationship Id="rId8" Type="http://schemas.openxmlformats.org/officeDocument/2006/relationships/image" Target="../media/image53.emf"/><Relationship Id="rId13" Type="http://schemas.openxmlformats.org/officeDocument/2006/relationships/oleObject" Target="../embeddings/oleObject47.bin"/><Relationship Id="rId18" Type="http://schemas.openxmlformats.org/officeDocument/2006/relationships/image" Target="../media/image58.emf"/><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55.emf"/><Relationship Id="rId17" Type="http://schemas.openxmlformats.org/officeDocument/2006/relationships/oleObject" Target="../embeddings/oleObject49.bin"/><Relationship Id="rId2" Type="http://schemas.openxmlformats.org/officeDocument/2006/relationships/slideLayout" Target="../slideLayouts/slideLayout7.xml"/><Relationship Id="rId16" Type="http://schemas.openxmlformats.org/officeDocument/2006/relationships/image" Target="../media/image57.emf"/><Relationship Id="rId20" Type="http://schemas.openxmlformats.org/officeDocument/2006/relationships/image" Target="../media/image59.emf"/><Relationship Id="rId1" Type="http://schemas.openxmlformats.org/officeDocument/2006/relationships/vmlDrawing" Target="../drawings/vmlDrawing14.vml"/><Relationship Id="rId6" Type="http://schemas.openxmlformats.org/officeDocument/2006/relationships/image" Target="../media/image52.emf"/><Relationship Id="rId11" Type="http://schemas.openxmlformats.org/officeDocument/2006/relationships/oleObject" Target="../embeddings/oleObject46.bin"/><Relationship Id="rId5" Type="http://schemas.openxmlformats.org/officeDocument/2006/relationships/oleObject" Target="../embeddings/oleObject43.bin"/><Relationship Id="rId15" Type="http://schemas.openxmlformats.org/officeDocument/2006/relationships/oleObject" Target="../embeddings/oleObject48.bin"/><Relationship Id="rId10" Type="http://schemas.openxmlformats.org/officeDocument/2006/relationships/image" Target="../media/image54.emf"/><Relationship Id="rId19" Type="http://schemas.openxmlformats.org/officeDocument/2006/relationships/oleObject" Target="../embeddings/oleObject50.bin"/><Relationship Id="rId4" Type="http://schemas.openxmlformats.org/officeDocument/2006/relationships/image" Target="../media/image51.emf"/><Relationship Id="rId9" Type="http://schemas.openxmlformats.org/officeDocument/2006/relationships/oleObject" Target="../embeddings/oleObject45.bin"/><Relationship Id="rId14" Type="http://schemas.openxmlformats.org/officeDocument/2006/relationships/image" Target="../media/image56.emf"/></Relationships>
</file>

<file path=ppt/slides/_rels/slide18.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64.e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1.e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63.emf"/><Relationship Id="rId4" Type="http://schemas.openxmlformats.org/officeDocument/2006/relationships/image" Target="../media/image60.emf"/><Relationship Id="rId9" Type="http://schemas.openxmlformats.org/officeDocument/2006/relationships/oleObject" Target="../embeddings/oleObject54.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66.emf"/><Relationship Id="rId5" Type="http://schemas.openxmlformats.org/officeDocument/2006/relationships/oleObject" Target="../embeddings/oleObject57.bin"/><Relationship Id="rId4" Type="http://schemas.openxmlformats.org/officeDocument/2006/relationships/image" Target="../media/image65.emf"/></Relationships>
</file>

<file path=ppt/slides/_rels/slide20.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12.xml"/><Relationship Id="rId1" Type="http://schemas.openxmlformats.org/officeDocument/2006/relationships/vmlDrawing" Target="../drawings/vmlDrawing17.vml"/><Relationship Id="rId6" Type="http://schemas.openxmlformats.org/officeDocument/2006/relationships/image" Target="../media/image68.wmf"/><Relationship Id="rId5" Type="http://schemas.openxmlformats.org/officeDocument/2006/relationships/oleObject" Target="../embeddings/oleObject59.bin"/><Relationship Id="rId4" Type="http://schemas.openxmlformats.org/officeDocument/2006/relationships/image" Target="../media/image67.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61.bin"/><Relationship Id="rId7" Type="http://schemas.openxmlformats.org/officeDocument/2006/relationships/oleObject" Target="../embeddings/oleObject63.bin"/><Relationship Id="rId2" Type="http://schemas.openxmlformats.org/officeDocument/2006/relationships/slideLayout" Target="../slideLayouts/slideLayout13.xml"/><Relationship Id="rId1" Type="http://schemas.openxmlformats.org/officeDocument/2006/relationships/vmlDrawing" Target="../drawings/vmlDrawing18.vml"/><Relationship Id="rId6" Type="http://schemas.openxmlformats.org/officeDocument/2006/relationships/image" Target="../media/image71.wmf"/><Relationship Id="rId5" Type="http://schemas.openxmlformats.org/officeDocument/2006/relationships/oleObject" Target="../embeddings/oleObject62.bin"/><Relationship Id="rId4" Type="http://schemas.openxmlformats.org/officeDocument/2006/relationships/image" Target="../media/image70.wmf"/></Relationships>
</file>

<file path=ppt/slides/_rels/slide24.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slideLayout" Target="../slideLayouts/slideLayout13.xml"/><Relationship Id="rId1" Type="http://schemas.openxmlformats.org/officeDocument/2006/relationships/vmlDrawing" Target="../drawings/vmlDrawing19.vml"/><Relationship Id="rId6" Type="http://schemas.openxmlformats.org/officeDocument/2006/relationships/image" Target="../media/image74.wmf"/><Relationship Id="rId5" Type="http://schemas.openxmlformats.org/officeDocument/2006/relationships/oleObject" Target="../embeddings/oleObject65.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67.bin"/></Relationships>
</file>

<file path=ppt/slides/_rels/slide25.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13.xml"/><Relationship Id="rId1" Type="http://schemas.openxmlformats.org/officeDocument/2006/relationships/vmlDrawing" Target="../drawings/vmlDrawing20.vml"/><Relationship Id="rId6" Type="http://schemas.openxmlformats.org/officeDocument/2006/relationships/image" Target="../media/image78.wmf"/><Relationship Id="rId5" Type="http://schemas.openxmlformats.org/officeDocument/2006/relationships/oleObject" Target="../embeddings/oleObject69.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7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82.emf"/><Relationship Id="rId5" Type="http://schemas.openxmlformats.org/officeDocument/2006/relationships/oleObject" Target="../embeddings/oleObject73.bin"/><Relationship Id="rId4" Type="http://schemas.openxmlformats.org/officeDocument/2006/relationships/image" Target="../media/image81.emf"/></Relationships>
</file>

<file path=ppt/slides/_rels/slide29.xml.rels><?xml version="1.0" encoding="UTF-8" standalone="yes"?>
<Relationships xmlns="http://schemas.openxmlformats.org/package/2006/relationships"><Relationship Id="rId8" Type="http://schemas.openxmlformats.org/officeDocument/2006/relationships/image" Target="../media/image85.e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84.emf"/><Relationship Id="rId5" Type="http://schemas.openxmlformats.org/officeDocument/2006/relationships/oleObject" Target="../embeddings/oleObject75.bin"/><Relationship Id="rId10" Type="http://schemas.openxmlformats.org/officeDocument/2006/relationships/image" Target="../media/image86.emf"/><Relationship Id="rId4" Type="http://schemas.openxmlformats.org/officeDocument/2006/relationships/image" Target="../media/image83.emf"/><Relationship Id="rId9" Type="http://schemas.openxmlformats.org/officeDocument/2006/relationships/oleObject" Target="../embeddings/oleObject77.bin"/></Relationships>
</file>

<file path=ppt/slides/_rels/slide30.xml.rels><?xml version="1.0" encoding="UTF-8" standalone="yes"?>
<Relationships xmlns="http://schemas.openxmlformats.org/package/2006/relationships"><Relationship Id="rId8" Type="http://schemas.openxmlformats.org/officeDocument/2006/relationships/image" Target="../media/image89.emf"/><Relationship Id="rId13" Type="http://schemas.openxmlformats.org/officeDocument/2006/relationships/oleObject" Target="../embeddings/oleObject83.bin"/><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91.e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88.emf"/><Relationship Id="rId11" Type="http://schemas.openxmlformats.org/officeDocument/2006/relationships/oleObject" Target="../embeddings/oleObject82.bin"/><Relationship Id="rId5" Type="http://schemas.openxmlformats.org/officeDocument/2006/relationships/oleObject" Target="../embeddings/oleObject79.bin"/><Relationship Id="rId15" Type="http://schemas.openxmlformats.org/officeDocument/2006/relationships/image" Target="../media/image93.png"/><Relationship Id="rId10" Type="http://schemas.openxmlformats.org/officeDocument/2006/relationships/image" Target="../media/image90.emf"/><Relationship Id="rId4" Type="http://schemas.openxmlformats.org/officeDocument/2006/relationships/image" Target="../media/image87.emf"/><Relationship Id="rId9" Type="http://schemas.openxmlformats.org/officeDocument/2006/relationships/oleObject" Target="../embeddings/oleObject81.bin"/><Relationship Id="rId14" Type="http://schemas.openxmlformats.org/officeDocument/2006/relationships/image" Target="../media/image92.emf"/></Relationships>
</file>

<file path=ppt/slides/_rels/slide3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6.xml"/><Relationship Id="rId1" Type="http://schemas.openxmlformats.org/officeDocument/2006/relationships/vmlDrawing" Target="../drawings/vmlDrawing24.vml"/><Relationship Id="rId5" Type="http://schemas.openxmlformats.org/officeDocument/2006/relationships/hyperlink" Target="http://wenwen.soso.com/z/Search.e?sp=S%E7%9B%90%E6%A1%A5&amp;ch=w.search.yjjlink&amp;cid=w.search.yjjlink" TargetMode="External"/><Relationship Id="rId4" Type="http://schemas.openxmlformats.org/officeDocument/2006/relationships/image" Target="../media/image96.png"/></Relationships>
</file>

<file path=ppt/slides/_rels/slide33.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02.jpeg"/><Relationship Id="rId4" Type="http://schemas.openxmlformats.org/officeDocument/2006/relationships/image" Target="../media/image10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103.wmf"/><Relationship Id="rId4" Type="http://schemas.openxmlformats.org/officeDocument/2006/relationships/oleObject" Target="../embeddings/oleObject85.bin"/></Relationships>
</file>

<file path=ppt/slides/_rels/slide40.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13.xml"/><Relationship Id="rId1" Type="http://schemas.openxmlformats.org/officeDocument/2006/relationships/vmlDrawing" Target="../drawings/vmlDrawing26.vml"/><Relationship Id="rId4" Type="http://schemas.openxmlformats.org/officeDocument/2006/relationships/image" Target="../media/image107.wmf"/></Relationships>
</file>

<file path=ppt/slides/_rels/slide4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9.jpeg"/><Relationship Id="rId7" Type="http://schemas.openxmlformats.org/officeDocument/2006/relationships/image" Target="../media/image1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1.jpeg"/><Relationship Id="rId5" Type="http://schemas.openxmlformats.org/officeDocument/2006/relationships/image" Target="../media/image110.jpeg"/><Relationship Id="rId4" Type="http://schemas.openxmlformats.org/officeDocument/2006/relationships/image" Target="http://www.coolsolar.com/gasweb/images/sciworld-1.jpg"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image" Target="../media/image113.png"/><Relationship Id="rId1" Type="http://schemas.openxmlformats.org/officeDocument/2006/relationships/slideLayout" Target="../slideLayouts/slideLayout2.xml"/><Relationship Id="rId4" Type="http://schemas.openxmlformats.org/officeDocument/2006/relationships/image" Target="../media/image115.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87.bin"/><Relationship Id="rId7"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18.wmf"/><Relationship Id="rId5" Type="http://schemas.openxmlformats.org/officeDocument/2006/relationships/oleObject" Target="../embeddings/oleObject88.bin"/><Relationship Id="rId4" Type="http://schemas.openxmlformats.org/officeDocument/2006/relationships/image" Target="../media/image117.png"/></Relationships>
</file>

<file path=ppt/slides/_rels/slide49.x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121.wmf"/><Relationship Id="rId5" Type="http://schemas.openxmlformats.org/officeDocument/2006/relationships/oleObject" Target="../embeddings/oleObject91.bin"/><Relationship Id="rId10" Type="http://schemas.openxmlformats.org/officeDocument/2006/relationships/image" Target="../media/image123.wmf"/><Relationship Id="rId4" Type="http://schemas.openxmlformats.org/officeDocument/2006/relationships/image" Target="../media/image120.wmf"/><Relationship Id="rId9" Type="http://schemas.openxmlformats.org/officeDocument/2006/relationships/oleObject" Target="../embeddings/oleObject93.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124.wmf"/></Relationships>
</file>

<file path=ppt/slides/_rels/slide51.xml.rels><?xml version="1.0" encoding="UTF-8" standalone="yes"?>
<Relationships xmlns="http://schemas.openxmlformats.org/package/2006/relationships"><Relationship Id="rId8" Type="http://schemas.openxmlformats.org/officeDocument/2006/relationships/image" Target="../media/image126.wmf"/><Relationship Id="rId3" Type="http://schemas.openxmlformats.org/officeDocument/2006/relationships/image" Target="../media/image127.png"/><Relationship Id="rId7" Type="http://schemas.openxmlformats.org/officeDocument/2006/relationships/oleObject" Target="../embeddings/oleObject96.bin"/><Relationship Id="rId2" Type="http://schemas.openxmlformats.org/officeDocument/2006/relationships/slideLayout" Target="../slideLayouts/slideLayout4.xml"/><Relationship Id="rId1" Type="http://schemas.openxmlformats.org/officeDocument/2006/relationships/vmlDrawing" Target="../drawings/vmlDrawing30.vml"/><Relationship Id="rId6" Type="http://schemas.openxmlformats.org/officeDocument/2006/relationships/image" Target="../media/image125.wmf"/><Relationship Id="rId5" Type="http://schemas.openxmlformats.org/officeDocument/2006/relationships/oleObject" Target="../embeddings/oleObject95.bin"/><Relationship Id="rId4" Type="http://schemas.openxmlformats.org/officeDocument/2006/relationships/image" Target="../media/image128.png"/></Relationships>
</file>

<file path=ppt/slides/_rels/slide5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7.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99.bin"/><Relationship Id="rId3" Type="http://schemas.openxmlformats.org/officeDocument/2006/relationships/oleObject" Target="../embeddings/oleObject97.bin"/><Relationship Id="rId7" Type="http://schemas.openxmlformats.org/officeDocument/2006/relationships/image" Target="../media/image138.png"/><Relationship Id="rId12" Type="http://schemas.openxmlformats.org/officeDocument/2006/relationships/image" Target="../media/image139.png"/><Relationship Id="rId2" Type="http://schemas.openxmlformats.org/officeDocument/2006/relationships/slideLayout" Target="../slideLayouts/slideLayout12.xml"/><Relationship Id="rId1" Type="http://schemas.openxmlformats.org/officeDocument/2006/relationships/vmlDrawing" Target="../drawings/vmlDrawing31.vml"/><Relationship Id="rId6" Type="http://schemas.openxmlformats.org/officeDocument/2006/relationships/image" Target="../media/image135.wmf"/><Relationship Id="rId11" Type="http://schemas.openxmlformats.org/officeDocument/2006/relationships/image" Target="../media/image137.wmf"/><Relationship Id="rId5" Type="http://schemas.openxmlformats.org/officeDocument/2006/relationships/oleObject" Target="../embeddings/oleObject98.bin"/><Relationship Id="rId10" Type="http://schemas.openxmlformats.org/officeDocument/2006/relationships/oleObject" Target="../embeddings/oleObject100.bin"/><Relationship Id="rId4" Type="http://schemas.openxmlformats.org/officeDocument/2006/relationships/image" Target="../media/image134.wmf"/><Relationship Id="rId9" Type="http://schemas.openxmlformats.org/officeDocument/2006/relationships/image" Target="../media/image136.png"/></Relationships>
</file>

<file path=ppt/slides/_rels/slide57.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oleObject" Target="../embeddings/oleObject101.bin"/><Relationship Id="rId7" Type="http://schemas.openxmlformats.org/officeDocument/2006/relationships/oleObject" Target="../embeddings/oleObject103.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141.wmf"/><Relationship Id="rId5" Type="http://schemas.openxmlformats.org/officeDocument/2006/relationships/oleObject" Target="../embeddings/oleObject102.bin"/><Relationship Id="rId4" Type="http://schemas.openxmlformats.org/officeDocument/2006/relationships/image" Target="../media/image140.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14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148.png"/><Relationship Id="rId2" Type="http://schemas.openxmlformats.org/officeDocument/2006/relationships/image" Target="../media/image143.png"/><Relationship Id="rId1" Type="http://schemas.openxmlformats.org/officeDocument/2006/relationships/slideLayout" Target="../slideLayouts/slideLayout15.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61.xml.rels><?xml version="1.0" encoding="UTF-8" standalone="yes"?>
<Relationships xmlns="http://schemas.openxmlformats.org/package/2006/relationships"><Relationship Id="rId8" Type="http://schemas.openxmlformats.org/officeDocument/2006/relationships/image" Target="../media/image151.wmf"/><Relationship Id="rId13" Type="http://schemas.openxmlformats.org/officeDocument/2006/relationships/oleObject" Target="../embeddings/oleObject110.bin"/><Relationship Id="rId18" Type="http://schemas.openxmlformats.org/officeDocument/2006/relationships/image" Target="../media/image156.wmf"/><Relationship Id="rId3" Type="http://schemas.openxmlformats.org/officeDocument/2006/relationships/oleObject" Target="../embeddings/oleObject105.bin"/><Relationship Id="rId21" Type="http://schemas.openxmlformats.org/officeDocument/2006/relationships/oleObject" Target="../embeddings/oleObject114.bin"/><Relationship Id="rId7" Type="http://schemas.openxmlformats.org/officeDocument/2006/relationships/oleObject" Target="../embeddings/oleObject107.bin"/><Relationship Id="rId12" Type="http://schemas.openxmlformats.org/officeDocument/2006/relationships/image" Target="../media/image153.wmf"/><Relationship Id="rId17" Type="http://schemas.openxmlformats.org/officeDocument/2006/relationships/oleObject" Target="../embeddings/oleObject112.bin"/><Relationship Id="rId2" Type="http://schemas.openxmlformats.org/officeDocument/2006/relationships/slideLayout" Target="../slideLayouts/slideLayout7.xml"/><Relationship Id="rId16" Type="http://schemas.openxmlformats.org/officeDocument/2006/relationships/image" Target="../media/image155.wmf"/><Relationship Id="rId20" Type="http://schemas.openxmlformats.org/officeDocument/2006/relationships/image" Target="../media/image157.wmf"/><Relationship Id="rId1" Type="http://schemas.openxmlformats.org/officeDocument/2006/relationships/vmlDrawing" Target="../drawings/vmlDrawing34.vml"/><Relationship Id="rId6" Type="http://schemas.openxmlformats.org/officeDocument/2006/relationships/image" Target="../media/image150.wmf"/><Relationship Id="rId11" Type="http://schemas.openxmlformats.org/officeDocument/2006/relationships/oleObject" Target="../embeddings/oleObject109.bin"/><Relationship Id="rId24" Type="http://schemas.openxmlformats.org/officeDocument/2006/relationships/image" Target="../media/image159.wmf"/><Relationship Id="rId5" Type="http://schemas.openxmlformats.org/officeDocument/2006/relationships/oleObject" Target="../embeddings/oleObject106.bin"/><Relationship Id="rId15" Type="http://schemas.openxmlformats.org/officeDocument/2006/relationships/oleObject" Target="../embeddings/oleObject111.bin"/><Relationship Id="rId23" Type="http://schemas.openxmlformats.org/officeDocument/2006/relationships/oleObject" Target="../embeddings/oleObject115.bin"/><Relationship Id="rId10" Type="http://schemas.openxmlformats.org/officeDocument/2006/relationships/image" Target="../media/image152.wmf"/><Relationship Id="rId19" Type="http://schemas.openxmlformats.org/officeDocument/2006/relationships/oleObject" Target="../embeddings/oleObject113.bin"/><Relationship Id="rId4" Type="http://schemas.openxmlformats.org/officeDocument/2006/relationships/image" Target="../media/image149.wmf"/><Relationship Id="rId9" Type="http://schemas.openxmlformats.org/officeDocument/2006/relationships/oleObject" Target="../embeddings/oleObject108.bin"/><Relationship Id="rId14" Type="http://schemas.openxmlformats.org/officeDocument/2006/relationships/image" Target="../media/image154.wmf"/><Relationship Id="rId22" Type="http://schemas.openxmlformats.org/officeDocument/2006/relationships/image" Target="../media/image158.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7.xml"/><Relationship Id="rId1" Type="http://schemas.openxmlformats.org/officeDocument/2006/relationships/vmlDrawing" Target="../drawings/vmlDrawing35.vml"/><Relationship Id="rId4" Type="http://schemas.openxmlformats.org/officeDocument/2006/relationships/image" Target="../media/image160.wmf"/></Relationships>
</file>

<file path=ppt/slides/_rels/slide63.xml.rels><?xml version="1.0" encoding="UTF-8" standalone="yes"?>
<Relationships xmlns="http://schemas.openxmlformats.org/package/2006/relationships"><Relationship Id="rId8" Type="http://schemas.openxmlformats.org/officeDocument/2006/relationships/image" Target="../media/image163.wmf"/><Relationship Id="rId3" Type="http://schemas.openxmlformats.org/officeDocument/2006/relationships/oleObject" Target="../embeddings/oleObject117.bin"/><Relationship Id="rId7" Type="http://schemas.openxmlformats.org/officeDocument/2006/relationships/oleObject" Target="../embeddings/oleObject119.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62.wmf"/><Relationship Id="rId5" Type="http://schemas.openxmlformats.org/officeDocument/2006/relationships/oleObject" Target="../embeddings/oleObject118.bin"/><Relationship Id="rId10" Type="http://schemas.openxmlformats.org/officeDocument/2006/relationships/image" Target="../media/image164.wmf"/><Relationship Id="rId4" Type="http://schemas.openxmlformats.org/officeDocument/2006/relationships/image" Target="../media/image161.wmf"/><Relationship Id="rId9" Type="http://schemas.openxmlformats.org/officeDocument/2006/relationships/oleObject" Target="../embeddings/oleObject120.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21.bin"/><Relationship Id="rId2" Type="http://schemas.openxmlformats.org/officeDocument/2006/relationships/slideLayout" Target="../slideLayouts/slideLayout7.xml"/><Relationship Id="rId1" Type="http://schemas.openxmlformats.org/officeDocument/2006/relationships/vmlDrawing" Target="../drawings/vmlDrawing37.vml"/><Relationship Id="rId4" Type="http://schemas.openxmlformats.org/officeDocument/2006/relationships/image" Target="../media/image165.wmf"/></Relationships>
</file>

<file path=ppt/slides/_rels/slide65.x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oleObject" Target="../embeddings/oleObject127.bin"/><Relationship Id="rId18" Type="http://schemas.openxmlformats.org/officeDocument/2006/relationships/image" Target="../media/image173.wmf"/><Relationship Id="rId26" Type="http://schemas.openxmlformats.org/officeDocument/2006/relationships/image" Target="../media/image177.wmf"/><Relationship Id="rId3" Type="http://schemas.openxmlformats.org/officeDocument/2006/relationships/oleObject" Target="../embeddings/oleObject122.bin"/><Relationship Id="rId21" Type="http://schemas.openxmlformats.org/officeDocument/2006/relationships/oleObject" Target="../embeddings/oleObject131.bin"/><Relationship Id="rId7" Type="http://schemas.openxmlformats.org/officeDocument/2006/relationships/oleObject" Target="../embeddings/oleObject124.bin"/><Relationship Id="rId12" Type="http://schemas.openxmlformats.org/officeDocument/2006/relationships/image" Target="../media/image170.wmf"/><Relationship Id="rId17" Type="http://schemas.openxmlformats.org/officeDocument/2006/relationships/oleObject" Target="../embeddings/oleObject129.bin"/><Relationship Id="rId25" Type="http://schemas.openxmlformats.org/officeDocument/2006/relationships/oleObject" Target="../embeddings/oleObject133.bin"/><Relationship Id="rId2" Type="http://schemas.openxmlformats.org/officeDocument/2006/relationships/slideLayout" Target="../slideLayouts/slideLayout13.xml"/><Relationship Id="rId16" Type="http://schemas.openxmlformats.org/officeDocument/2006/relationships/image" Target="../media/image172.wmf"/><Relationship Id="rId20" Type="http://schemas.openxmlformats.org/officeDocument/2006/relationships/image" Target="../media/image174.wmf"/><Relationship Id="rId29" Type="http://schemas.openxmlformats.org/officeDocument/2006/relationships/oleObject" Target="../embeddings/oleObject135.bin"/><Relationship Id="rId1" Type="http://schemas.openxmlformats.org/officeDocument/2006/relationships/vmlDrawing" Target="../drawings/vmlDrawing38.vml"/><Relationship Id="rId6" Type="http://schemas.openxmlformats.org/officeDocument/2006/relationships/image" Target="../media/image167.wmf"/><Relationship Id="rId11" Type="http://schemas.openxmlformats.org/officeDocument/2006/relationships/oleObject" Target="../embeddings/oleObject126.bin"/><Relationship Id="rId24" Type="http://schemas.openxmlformats.org/officeDocument/2006/relationships/image" Target="../media/image176.wmf"/><Relationship Id="rId32" Type="http://schemas.openxmlformats.org/officeDocument/2006/relationships/image" Target="../media/image180.wmf"/><Relationship Id="rId5" Type="http://schemas.openxmlformats.org/officeDocument/2006/relationships/oleObject" Target="../embeddings/oleObject123.bin"/><Relationship Id="rId15" Type="http://schemas.openxmlformats.org/officeDocument/2006/relationships/oleObject" Target="../embeddings/oleObject128.bin"/><Relationship Id="rId23" Type="http://schemas.openxmlformats.org/officeDocument/2006/relationships/oleObject" Target="../embeddings/oleObject132.bin"/><Relationship Id="rId28" Type="http://schemas.openxmlformats.org/officeDocument/2006/relationships/image" Target="../media/image178.wmf"/><Relationship Id="rId10" Type="http://schemas.openxmlformats.org/officeDocument/2006/relationships/image" Target="../media/image169.wmf"/><Relationship Id="rId19" Type="http://schemas.openxmlformats.org/officeDocument/2006/relationships/oleObject" Target="../embeddings/oleObject130.bin"/><Relationship Id="rId31" Type="http://schemas.openxmlformats.org/officeDocument/2006/relationships/oleObject" Target="../embeddings/oleObject136.bin"/><Relationship Id="rId4" Type="http://schemas.openxmlformats.org/officeDocument/2006/relationships/image" Target="../media/image166.wmf"/><Relationship Id="rId9" Type="http://schemas.openxmlformats.org/officeDocument/2006/relationships/oleObject" Target="../embeddings/oleObject125.bin"/><Relationship Id="rId14" Type="http://schemas.openxmlformats.org/officeDocument/2006/relationships/image" Target="../media/image171.wmf"/><Relationship Id="rId22" Type="http://schemas.openxmlformats.org/officeDocument/2006/relationships/image" Target="../media/image175.wmf"/><Relationship Id="rId27" Type="http://schemas.openxmlformats.org/officeDocument/2006/relationships/oleObject" Target="../embeddings/oleObject134.bin"/><Relationship Id="rId30" Type="http://schemas.openxmlformats.org/officeDocument/2006/relationships/image" Target="../media/image179.wmf"/></Relationships>
</file>

<file path=ppt/slides/_rels/slide66.xml.rels><?xml version="1.0" encoding="UTF-8" standalone="yes"?>
<Relationships xmlns="http://schemas.openxmlformats.org/package/2006/relationships"><Relationship Id="rId8" Type="http://schemas.openxmlformats.org/officeDocument/2006/relationships/image" Target="../media/image183.wmf"/><Relationship Id="rId3" Type="http://schemas.openxmlformats.org/officeDocument/2006/relationships/oleObject" Target="../embeddings/oleObject137.bin"/><Relationship Id="rId7" Type="http://schemas.openxmlformats.org/officeDocument/2006/relationships/oleObject" Target="../embeddings/oleObject139.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182.wmf"/><Relationship Id="rId5" Type="http://schemas.openxmlformats.org/officeDocument/2006/relationships/oleObject" Target="../embeddings/oleObject138.bin"/><Relationship Id="rId10" Type="http://schemas.openxmlformats.org/officeDocument/2006/relationships/image" Target="../media/image184.wmf"/><Relationship Id="rId4" Type="http://schemas.openxmlformats.org/officeDocument/2006/relationships/image" Target="../media/image181.wmf"/><Relationship Id="rId9" Type="http://schemas.openxmlformats.org/officeDocument/2006/relationships/oleObject" Target="../embeddings/oleObject140.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8" Type="http://schemas.openxmlformats.org/officeDocument/2006/relationships/image" Target="../media/image185.wmf"/><Relationship Id="rId3" Type="http://schemas.openxmlformats.org/officeDocument/2006/relationships/oleObject" Target="../embeddings/oleObject141.bin"/><Relationship Id="rId7" Type="http://schemas.openxmlformats.org/officeDocument/2006/relationships/oleObject" Target="../embeddings/oleObject143.bin"/><Relationship Id="rId12" Type="http://schemas.openxmlformats.org/officeDocument/2006/relationships/image" Target="../media/image187.wmf"/><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184.wmf"/><Relationship Id="rId11" Type="http://schemas.openxmlformats.org/officeDocument/2006/relationships/oleObject" Target="../embeddings/oleObject145.bin"/><Relationship Id="rId5" Type="http://schemas.openxmlformats.org/officeDocument/2006/relationships/oleObject" Target="../embeddings/oleObject142.bin"/><Relationship Id="rId10" Type="http://schemas.openxmlformats.org/officeDocument/2006/relationships/image" Target="../media/image186.wmf"/><Relationship Id="rId4" Type="http://schemas.openxmlformats.org/officeDocument/2006/relationships/image" Target="../media/image183.wmf"/><Relationship Id="rId9" Type="http://schemas.openxmlformats.org/officeDocument/2006/relationships/oleObject" Target="../embeddings/oleObject144.bin"/></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slideLayout" Target="../slideLayouts/slideLayout7.xml"/><Relationship Id="rId1" Type="http://schemas.openxmlformats.org/officeDocument/2006/relationships/vmlDrawing" Target="../drawings/vmlDrawing41.vml"/><Relationship Id="rId4" Type="http://schemas.openxmlformats.org/officeDocument/2006/relationships/image" Target="../media/image188.wmf"/></Relationships>
</file>

<file path=ppt/slides/_rels/slide71.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3" Type="http://schemas.openxmlformats.org/officeDocument/2006/relationships/notesSlide" Target="../notesSlides/notesSlide4.xml"/><Relationship Id="rId7" Type="http://schemas.openxmlformats.org/officeDocument/2006/relationships/image" Target="../media/image191.png"/><Relationship Id="rId12" Type="http://schemas.openxmlformats.org/officeDocument/2006/relationships/image" Target="../media/image193.png"/><Relationship Id="rId2" Type="http://schemas.openxmlformats.org/officeDocument/2006/relationships/slideLayout" Target="../slideLayouts/slideLayout27.xml"/><Relationship Id="rId1" Type="http://schemas.openxmlformats.org/officeDocument/2006/relationships/vmlDrawing" Target="../drawings/vmlDrawing42.vml"/><Relationship Id="rId6" Type="http://schemas.openxmlformats.org/officeDocument/2006/relationships/image" Target="../media/image189.wmf"/><Relationship Id="rId11" Type="http://schemas.openxmlformats.org/officeDocument/2006/relationships/image" Target="../media/image192.png"/><Relationship Id="rId5" Type="http://schemas.openxmlformats.org/officeDocument/2006/relationships/oleObject" Target="../embeddings/oleObject147.bin"/><Relationship Id="rId10" Type="http://schemas.openxmlformats.org/officeDocument/2006/relationships/image" Target="../media/image80.png"/><Relationship Id="rId4" Type="http://schemas.openxmlformats.org/officeDocument/2006/relationships/image" Target="../media/image190.png"/><Relationship Id="rId9" Type="http://schemas.openxmlformats.org/officeDocument/2006/relationships/image" Target="../media/image79.png"/><Relationship Id="rId14" Type="http://schemas.openxmlformats.org/officeDocument/2006/relationships/image" Target="../media/image84.png"/></Relationships>
</file>

<file path=ppt/slides/_rels/slide72.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20.png"/><Relationship Id="rId1" Type="http://schemas.openxmlformats.org/officeDocument/2006/relationships/slideLayout" Target="../slideLayouts/slideLayout36.xml"/><Relationship Id="rId5" Type="http://schemas.openxmlformats.org/officeDocument/2006/relationships/image" Target="../media/image195.tmp"/><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6.png"/><Relationship Id="rId1" Type="http://schemas.openxmlformats.org/officeDocument/2006/relationships/slideLayout" Target="../slideLayouts/slideLayout36.xml"/><Relationship Id="rId4" Type="http://schemas.openxmlformats.org/officeDocument/2006/relationships/image" Target="../media/image195.tmp"/></Relationships>
</file>

<file path=ppt/slides/_rels/slide74.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47.xml"/></Relationships>
</file>

<file path=ppt/slides/_rels/slide75.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98.png"/><Relationship Id="rId1" Type="http://schemas.openxmlformats.org/officeDocument/2006/relationships/slideLayout" Target="../slideLayouts/slideLayout47.xml"/><Relationship Id="rId5" Type="http://schemas.openxmlformats.org/officeDocument/2006/relationships/image" Target="../media/image200.png"/><Relationship Id="rId4" Type="http://schemas.openxmlformats.org/officeDocument/2006/relationships/image" Target="../media/image80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7.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47.xml"/><Relationship Id="rId6" Type="http://schemas.openxmlformats.org/officeDocument/2006/relationships/image" Target="../media/image204.png"/><Relationship Id="rId5" Type="http://schemas.openxmlformats.org/officeDocument/2006/relationships/image" Target="../media/image203.png"/><Relationship Id="rId4" Type="http://schemas.openxmlformats.org/officeDocument/2006/relationships/image" Target="../media/image12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Layout" Target="../slideLayouts/slideLayout14.xml"/><Relationship Id="rId1" Type="http://schemas.openxmlformats.org/officeDocument/2006/relationships/vmlDrawing" Target="../drawings/vmlDrawing43.vml"/><Relationship Id="rId6" Type="http://schemas.openxmlformats.org/officeDocument/2006/relationships/image" Target="../media/image206.wmf"/><Relationship Id="rId5" Type="http://schemas.openxmlformats.org/officeDocument/2006/relationships/oleObject" Target="../embeddings/oleObject149.bin"/><Relationship Id="rId4" Type="http://schemas.openxmlformats.org/officeDocument/2006/relationships/image" Target="../media/image205.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08.jpeg"/><Relationship Id="rId2" Type="http://schemas.openxmlformats.org/officeDocument/2006/relationships/image" Target="../media/image207.jpeg"/><Relationship Id="rId1" Type="http://schemas.openxmlformats.org/officeDocument/2006/relationships/slideLayout" Target="../slideLayouts/slideLayout2.xml"/><Relationship Id="rId5" Type="http://schemas.openxmlformats.org/officeDocument/2006/relationships/image" Target="../media/image210.jpeg"/><Relationship Id="rId4" Type="http://schemas.openxmlformats.org/officeDocument/2006/relationships/image" Target="../media/image209.png"/></Relationships>
</file>

<file path=ppt/slides/_rels/slide86.xml.rels><?xml version="1.0" encoding="UTF-8" standalone="yes"?>
<Relationships xmlns="http://schemas.openxmlformats.org/package/2006/relationships"><Relationship Id="rId3" Type="http://schemas.openxmlformats.org/officeDocument/2006/relationships/image" Target="../media/image212.jpeg"/><Relationship Id="rId2" Type="http://schemas.openxmlformats.org/officeDocument/2006/relationships/image" Target="../media/image211.jpeg"/><Relationship Id="rId1" Type="http://schemas.openxmlformats.org/officeDocument/2006/relationships/slideLayout" Target="../slideLayouts/slideLayout2.xml"/><Relationship Id="rId5" Type="http://schemas.openxmlformats.org/officeDocument/2006/relationships/image" Target="../media/image214.png"/><Relationship Id="rId4" Type="http://schemas.openxmlformats.org/officeDocument/2006/relationships/image" Target="../media/image213.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2225675" y="0"/>
            <a:ext cx="7239000" cy="6096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4000" dirty="0">
                <a:solidFill>
                  <a:srgbClr val="FF0000"/>
                </a:solidFill>
                <a:effectLst>
                  <a:outerShdw blurRad="38100" dist="38100" dir="2700000" algn="tl">
                    <a:srgbClr val="C0C0C0"/>
                  </a:outerShdw>
                </a:effectLst>
                <a:latin typeface="黑体" pitchFamily="2" charset="-122"/>
                <a:ea typeface="黑体" pitchFamily="2" charset="-122"/>
              </a:rPr>
              <a:t>　稳恒电流</a:t>
            </a:r>
          </a:p>
        </p:txBody>
      </p:sp>
      <p:sp>
        <p:nvSpPr>
          <p:cNvPr id="46083" name="Text Box 3"/>
          <p:cNvSpPr txBox="1">
            <a:spLocks noChangeArrowheads="1"/>
          </p:cNvSpPr>
          <p:nvPr/>
        </p:nvSpPr>
        <p:spPr bwMode="auto">
          <a:xfrm>
            <a:off x="664684" y="3449523"/>
            <a:ext cx="30716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dirty="0">
                <a:solidFill>
                  <a:srgbClr val="0000FF"/>
                </a:solidFill>
                <a:latin typeface="宋体" panose="02010600030101010101" pitchFamily="2" charset="-122"/>
              </a:rPr>
              <a:t>1 </a:t>
            </a:r>
            <a:r>
              <a:rPr kumimoji="1" lang="zh-CN" altLang="en-US" sz="2800" b="1" dirty="0">
                <a:solidFill>
                  <a:srgbClr val="0000FF"/>
                </a:solidFill>
                <a:latin typeface="宋体" panose="02010600030101010101" pitchFamily="2" charset="-122"/>
              </a:rPr>
              <a:t>电流和电流密度</a:t>
            </a:r>
          </a:p>
        </p:txBody>
      </p:sp>
      <p:sp>
        <p:nvSpPr>
          <p:cNvPr id="46084" name="Rectangle 4"/>
          <p:cNvSpPr>
            <a:spLocks noChangeArrowheads="1"/>
          </p:cNvSpPr>
          <p:nvPr/>
        </p:nvSpPr>
        <p:spPr bwMode="auto">
          <a:xfrm>
            <a:off x="682146" y="4000385"/>
            <a:ext cx="19896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FF"/>
                </a:solidFill>
                <a:latin typeface="宋体" panose="02010600030101010101" pitchFamily="2" charset="-122"/>
              </a:rPr>
              <a:t>2 </a:t>
            </a:r>
            <a:r>
              <a:rPr kumimoji="1" lang="zh-CN" altLang="en-US" sz="2800" b="1">
                <a:solidFill>
                  <a:srgbClr val="0000FF"/>
                </a:solidFill>
                <a:latin typeface="宋体" panose="02010600030101010101" pitchFamily="2" charset="-122"/>
              </a:rPr>
              <a:t>稳恒电流</a:t>
            </a:r>
          </a:p>
        </p:txBody>
      </p:sp>
      <p:sp>
        <p:nvSpPr>
          <p:cNvPr id="46085" name="Rectangle 5"/>
          <p:cNvSpPr>
            <a:spLocks noChangeArrowheads="1"/>
          </p:cNvSpPr>
          <p:nvPr/>
        </p:nvSpPr>
        <p:spPr bwMode="auto">
          <a:xfrm>
            <a:off x="650395" y="4578235"/>
            <a:ext cx="55964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FF"/>
                </a:solidFill>
                <a:latin typeface="宋体" panose="02010600030101010101" pitchFamily="2" charset="-122"/>
              </a:rPr>
              <a:t>3 </a:t>
            </a:r>
            <a:r>
              <a:rPr kumimoji="1" lang="zh-CN" altLang="en-US" sz="2800" b="1">
                <a:solidFill>
                  <a:srgbClr val="0000FF"/>
                </a:solidFill>
                <a:latin typeface="宋体" panose="02010600030101010101" pitchFamily="2" charset="-122"/>
              </a:rPr>
              <a:t>欧姆定律和焦耳定律的微分形式</a:t>
            </a:r>
          </a:p>
        </p:txBody>
      </p:sp>
      <p:sp>
        <p:nvSpPr>
          <p:cNvPr id="46086" name="Rectangle 6"/>
          <p:cNvSpPr>
            <a:spLocks noChangeArrowheads="1"/>
          </p:cNvSpPr>
          <p:nvPr/>
        </p:nvSpPr>
        <p:spPr bwMode="auto">
          <a:xfrm>
            <a:off x="755171" y="5654561"/>
            <a:ext cx="1628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FF"/>
                </a:solidFill>
                <a:latin typeface="宋体" panose="02010600030101010101" pitchFamily="2" charset="-122"/>
              </a:rPr>
              <a:t>5 </a:t>
            </a:r>
            <a:r>
              <a:rPr kumimoji="1" lang="zh-CN" altLang="en-US" sz="2800" b="1">
                <a:solidFill>
                  <a:srgbClr val="0000FF"/>
                </a:solidFill>
                <a:latin typeface="宋体" panose="02010600030101010101" pitchFamily="2" charset="-122"/>
              </a:rPr>
              <a:t>电动势</a:t>
            </a:r>
          </a:p>
        </p:txBody>
      </p:sp>
      <p:sp>
        <p:nvSpPr>
          <p:cNvPr id="46087" name="Rectangle 7"/>
          <p:cNvSpPr>
            <a:spLocks noChangeArrowheads="1"/>
          </p:cNvSpPr>
          <p:nvPr/>
        </p:nvSpPr>
        <p:spPr bwMode="auto">
          <a:xfrm>
            <a:off x="709133" y="5114811"/>
            <a:ext cx="4514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FF"/>
                </a:solidFill>
                <a:latin typeface="宋体" panose="02010600030101010101" pitchFamily="2" charset="-122"/>
              </a:rPr>
              <a:t>4 </a:t>
            </a:r>
            <a:r>
              <a:rPr kumimoji="1" lang="zh-CN" altLang="en-US" sz="2800" b="1">
                <a:solidFill>
                  <a:srgbClr val="0000FF"/>
                </a:solidFill>
                <a:latin typeface="宋体" panose="02010600030101010101" pitchFamily="2" charset="-122"/>
              </a:rPr>
              <a:t>金属导体的经典电子理论</a:t>
            </a:r>
          </a:p>
        </p:txBody>
      </p:sp>
      <p:sp>
        <p:nvSpPr>
          <p:cNvPr id="8" name="Rectangle 3"/>
          <p:cNvSpPr txBox="1">
            <a:spLocks noChangeArrowheads="1"/>
          </p:cNvSpPr>
          <p:nvPr/>
        </p:nvSpPr>
        <p:spPr>
          <a:xfrm>
            <a:off x="470375" y="323735"/>
            <a:ext cx="11251250" cy="2835275"/>
          </a:xfrm>
          <a:prstGeom prst="rect">
            <a:avLst/>
          </a:prstGeom>
        </p:spPr>
        <p:txBody>
          <a:bodyPr/>
          <a:lstStyle/>
          <a:p>
            <a:pPr marL="342900" indent="-342900" eaLnBrk="1" hangingPunct="1">
              <a:spcBef>
                <a:spcPct val="20000"/>
              </a:spcBef>
              <a:buFontTx/>
              <a:buChar char="•"/>
              <a:defRPr/>
            </a:pPr>
            <a:r>
              <a:rPr lang="zh-CN" altLang="en-US" sz="2400" kern="0" dirty="0">
                <a:solidFill>
                  <a:srgbClr val="660033"/>
                </a:solidFill>
                <a:latin typeface="+mn-lt"/>
                <a:ea typeface="华文中宋" pitchFamily="2" charset="-122"/>
              </a:rPr>
              <a:t>电磁学</a:t>
            </a:r>
          </a:p>
          <a:p>
            <a:pPr marL="742950" lvl="1" indent="-285750" eaLnBrk="1" hangingPunct="1">
              <a:spcBef>
                <a:spcPct val="20000"/>
              </a:spcBef>
              <a:buFontTx/>
              <a:buChar char="–"/>
              <a:defRPr/>
            </a:pPr>
            <a:r>
              <a:rPr lang="zh-CN" altLang="en-US" sz="2400" kern="0" dirty="0">
                <a:solidFill>
                  <a:srgbClr val="660033"/>
                </a:solidFill>
                <a:latin typeface="+mn-lt"/>
                <a:ea typeface="华文中宋" pitchFamily="2" charset="-122"/>
              </a:rPr>
              <a:t>场：</a:t>
            </a:r>
          </a:p>
          <a:p>
            <a:pPr marL="1143000" lvl="2" indent="-228600" eaLnBrk="1" hangingPunct="1">
              <a:spcBef>
                <a:spcPct val="20000"/>
              </a:spcBef>
              <a:buFontTx/>
              <a:buChar char="•"/>
              <a:defRPr/>
            </a:pPr>
            <a:r>
              <a:rPr lang="zh-CN" altLang="en-US" sz="2400" kern="0" dirty="0">
                <a:solidFill>
                  <a:srgbClr val="660033"/>
                </a:solidFill>
                <a:latin typeface="+mn-lt"/>
                <a:ea typeface="华文中宋" pitchFamily="2" charset="-122"/>
              </a:rPr>
              <a:t>对象：电场、磁场</a:t>
            </a:r>
          </a:p>
          <a:p>
            <a:pPr marL="1143000" lvl="2" indent="-228600" eaLnBrk="1" hangingPunct="1">
              <a:spcBef>
                <a:spcPct val="20000"/>
              </a:spcBef>
              <a:buFontTx/>
              <a:buChar char="•"/>
              <a:defRPr/>
            </a:pPr>
            <a:r>
              <a:rPr lang="zh-CN" altLang="en-US" sz="2400" kern="0" dirty="0">
                <a:solidFill>
                  <a:srgbClr val="660033"/>
                </a:solidFill>
                <a:latin typeface="+mn-lt"/>
                <a:ea typeface="华文中宋" pitchFamily="2" charset="-122"/>
              </a:rPr>
              <a:t>研究场的通量、环流</a:t>
            </a:r>
          </a:p>
          <a:p>
            <a:pPr marL="742950" lvl="1" indent="-285750" eaLnBrk="1" hangingPunct="1">
              <a:spcBef>
                <a:spcPct val="20000"/>
              </a:spcBef>
              <a:buFontTx/>
              <a:buChar char="–"/>
              <a:defRPr/>
            </a:pPr>
            <a:r>
              <a:rPr lang="zh-CN" altLang="en-US" sz="2400" kern="0" dirty="0">
                <a:solidFill>
                  <a:srgbClr val="660033"/>
                </a:solidFill>
                <a:latin typeface="+mn-lt"/>
                <a:ea typeface="华文中宋" pitchFamily="2" charset="-122"/>
              </a:rPr>
              <a:t>路：</a:t>
            </a:r>
          </a:p>
          <a:p>
            <a:pPr marL="1143000" lvl="2" indent="-228600" eaLnBrk="1" hangingPunct="1">
              <a:spcBef>
                <a:spcPct val="20000"/>
              </a:spcBef>
              <a:buFontTx/>
              <a:buChar char="•"/>
              <a:defRPr/>
            </a:pPr>
            <a:r>
              <a:rPr lang="zh-CN" altLang="en-US" sz="2400" kern="0" dirty="0">
                <a:solidFill>
                  <a:srgbClr val="660033"/>
                </a:solidFill>
                <a:latin typeface="+mn-lt"/>
                <a:ea typeface="华文中宋" pitchFamily="2" charset="-122"/>
              </a:rPr>
              <a:t>由元件和电源构成</a:t>
            </a:r>
          </a:p>
          <a:p>
            <a:pPr marL="1143000" lvl="2" indent="-228600" eaLnBrk="1" hangingPunct="1">
              <a:spcBef>
                <a:spcPct val="20000"/>
              </a:spcBef>
              <a:buFontTx/>
              <a:buChar char="•"/>
              <a:defRPr/>
            </a:pPr>
            <a:r>
              <a:rPr lang="zh-CN" altLang="en-US" sz="2400" kern="0" dirty="0">
                <a:solidFill>
                  <a:srgbClr val="660033"/>
                </a:solidFill>
                <a:latin typeface="+mn-lt"/>
                <a:ea typeface="华文中宋" pitchFamily="2" charset="-122"/>
              </a:rPr>
              <a:t>研究电荷在场的作用下的迁移传导规律</a:t>
            </a:r>
            <a:r>
              <a:rPr lang="en-US" altLang="zh-CN" sz="2400" kern="0" dirty="0">
                <a:solidFill>
                  <a:srgbClr val="660033"/>
                </a:solidFill>
                <a:latin typeface="Times New Roman"/>
                <a:ea typeface="华文中宋" pitchFamily="2" charset="-122"/>
              </a:rPr>
              <a:t>——</a:t>
            </a:r>
            <a:r>
              <a:rPr lang="zh-CN" altLang="en-US" sz="2400" kern="0" dirty="0">
                <a:solidFill>
                  <a:srgbClr val="660033"/>
                </a:solidFill>
                <a:latin typeface="+mn-lt"/>
                <a:ea typeface="华文中宋" pitchFamily="2" charset="-122"/>
              </a:rPr>
              <a:t>场的规律在电路中的具体实现</a:t>
            </a:r>
          </a:p>
        </p:txBody>
      </p:sp>
      <p:sp>
        <p:nvSpPr>
          <p:cNvPr id="46089" name="Rectangle 6"/>
          <p:cNvSpPr>
            <a:spLocks noChangeArrowheads="1"/>
          </p:cNvSpPr>
          <p:nvPr/>
        </p:nvSpPr>
        <p:spPr bwMode="auto">
          <a:xfrm>
            <a:off x="709133" y="6219711"/>
            <a:ext cx="1268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FF"/>
                </a:solidFill>
                <a:latin typeface="宋体" panose="02010600030101010101" pitchFamily="2" charset="-122"/>
              </a:rPr>
              <a:t>6 </a:t>
            </a:r>
            <a:r>
              <a:rPr kumimoji="1" lang="zh-CN" altLang="en-US" sz="2800" b="1">
                <a:solidFill>
                  <a:srgbClr val="0000FF"/>
                </a:solidFill>
                <a:latin typeface="宋体" panose="02010600030101010101" pitchFamily="2" charset="-122"/>
              </a:rPr>
              <a:t>电路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linds(horizontal)">
                                      <p:cBhvr>
                                        <p:cTn id="12" dur="500"/>
                                        <p:tgtEl>
                                          <p:spTgt spid="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linds(horizontal)">
                                      <p:cBhvr>
                                        <p:cTn id="17" dur="500"/>
                                        <p:tgtEl>
                                          <p:spTgt spid="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linds(horizontal)">
                                      <p:cBhvr>
                                        <p:cTn id="22" dur="500"/>
                                        <p:tgtEl>
                                          <p:spTgt spid="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blinds(horizontal)">
                                      <p:cBhvr>
                                        <p:cTn id="27" dur="500"/>
                                        <p:tgtEl>
                                          <p:spTgt spid="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blinds(horizontal)">
                                      <p:cBhvr>
                                        <p:cTn id="32" dur="500"/>
                                        <p:tgtEl>
                                          <p:spTgt spid="8">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blinds(horizontal)">
                                      <p:cBhvr>
                                        <p:cTn id="37" dur="500"/>
                                        <p:tgtEl>
                                          <p:spTgt spid="8">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6083"/>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4608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608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608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4608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60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P spid="46084" grpId="0"/>
      <p:bldP spid="46085" grpId="0"/>
      <p:bldP spid="46086" grpId="0"/>
      <p:bldP spid="46087" grpId="0"/>
      <p:bldP spid="8" grpId="0" build="p" bldLvl="5" autoUpdateAnimBg="0"/>
      <p:bldP spid="46089"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973660" y="227013"/>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en-US" altLang="zh-CN" sz="3600" dirty="0">
                <a:solidFill>
                  <a:srgbClr val="FF0000"/>
                </a:solidFill>
                <a:effectLst>
                  <a:outerShdw blurRad="38100" dist="38100" dir="2700000" algn="tl">
                    <a:srgbClr val="C0C0C0"/>
                  </a:outerShdw>
                </a:effectLst>
                <a:latin typeface="黑体" pitchFamily="2" charset="-122"/>
                <a:ea typeface="黑体" pitchFamily="2" charset="-122"/>
              </a:rPr>
              <a:t>1  </a:t>
            </a:r>
            <a:r>
              <a:rPr kumimoji="1" lang="zh-CN" altLang="en-US" sz="3600" dirty="0">
                <a:solidFill>
                  <a:srgbClr val="FF0000"/>
                </a:solidFill>
                <a:effectLst>
                  <a:outerShdw blurRad="38100" dist="38100" dir="2700000" algn="tl">
                    <a:srgbClr val="C0C0C0"/>
                  </a:outerShdw>
                </a:effectLst>
                <a:latin typeface="黑体" pitchFamily="2" charset="-122"/>
                <a:ea typeface="黑体" pitchFamily="2" charset="-122"/>
              </a:rPr>
              <a:t>电流和电流密度</a:t>
            </a:r>
          </a:p>
        </p:txBody>
      </p:sp>
      <p:sp>
        <p:nvSpPr>
          <p:cNvPr id="4099" name="Text Box 3"/>
          <p:cNvSpPr txBox="1">
            <a:spLocks noChangeArrowheads="1"/>
          </p:cNvSpPr>
          <p:nvPr/>
        </p:nvSpPr>
        <p:spPr bwMode="auto">
          <a:xfrm>
            <a:off x="730712" y="1042195"/>
            <a:ext cx="2632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一、电流强度</a:t>
            </a:r>
          </a:p>
        </p:txBody>
      </p:sp>
      <p:sp>
        <p:nvSpPr>
          <p:cNvPr id="4100" name="Text Box 4"/>
          <p:cNvSpPr txBox="1">
            <a:spLocks noChangeArrowheads="1"/>
          </p:cNvSpPr>
          <p:nvPr/>
        </p:nvSpPr>
        <p:spPr bwMode="auto">
          <a:xfrm>
            <a:off x="970425" y="1738949"/>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a:t>
            </a:r>
            <a:r>
              <a:rPr kumimoji="1" lang="zh-CN" altLang="en-US" sz="2800">
                <a:solidFill>
                  <a:srgbClr val="0000FF"/>
                </a:solidFill>
                <a:latin typeface="Times New Roman" panose="02020603050405020304" pitchFamily="18" charset="0"/>
              </a:rPr>
              <a:t>电流</a:t>
            </a:r>
          </a:p>
        </p:txBody>
      </p:sp>
      <p:sp>
        <p:nvSpPr>
          <p:cNvPr id="4101" name="Text Box 5"/>
          <p:cNvSpPr txBox="1">
            <a:spLocks noChangeArrowheads="1"/>
          </p:cNvSpPr>
          <p:nvPr/>
        </p:nvSpPr>
        <p:spPr bwMode="auto">
          <a:xfrm>
            <a:off x="1319675" y="2119949"/>
            <a:ext cx="2317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电流形成条件</a:t>
            </a:r>
          </a:p>
        </p:txBody>
      </p:sp>
      <p:sp>
        <p:nvSpPr>
          <p:cNvPr id="4102" name="Text Box 6"/>
          <p:cNvSpPr txBox="1">
            <a:spLocks noChangeArrowheads="1"/>
          </p:cNvSpPr>
          <p:nvPr/>
        </p:nvSpPr>
        <p:spPr bwMode="auto">
          <a:xfrm>
            <a:off x="1340313" y="2653348"/>
            <a:ext cx="76819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a:t>
            </a:r>
            <a:r>
              <a:rPr kumimoji="1" lang="zh-CN" altLang="en-US" sz="2800">
                <a:solidFill>
                  <a:srgbClr val="0000FF"/>
                </a:solidFill>
                <a:latin typeface="Times New Roman" panose="02020603050405020304" pitchFamily="18" charset="0"/>
              </a:rPr>
              <a:t>导体内可以自由运动的电荷；</a:t>
            </a:r>
          </a:p>
          <a:p>
            <a:pPr eaLnBrk="1" hangingPunct="1">
              <a:spcBef>
                <a:spcPct val="0"/>
              </a:spcBef>
              <a:buFontTx/>
              <a:buNone/>
            </a:pPr>
            <a:r>
              <a:rPr kumimoji="1" lang="en-US" altLang="zh-CN" sz="2800">
                <a:solidFill>
                  <a:srgbClr val="0000FF"/>
                </a:solidFill>
                <a:latin typeface="Times New Roman" panose="02020603050405020304" pitchFamily="18" charset="0"/>
              </a:rPr>
              <a:t>2) </a:t>
            </a:r>
            <a:r>
              <a:rPr kumimoji="1" lang="zh-CN" altLang="en-US" sz="2800">
                <a:solidFill>
                  <a:srgbClr val="0000FF"/>
                </a:solidFill>
                <a:latin typeface="Times New Roman" panose="02020603050405020304" pitchFamily="18" charset="0"/>
              </a:rPr>
              <a:t>推动电荷作定向流动的电场或某种非静电力。</a:t>
            </a:r>
          </a:p>
        </p:txBody>
      </p:sp>
      <p:sp>
        <p:nvSpPr>
          <p:cNvPr id="4103" name="Text Box 7"/>
          <p:cNvSpPr txBox="1">
            <a:spLocks noChangeArrowheads="1"/>
          </p:cNvSpPr>
          <p:nvPr/>
        </p:nvSpPr>
        <p:spPr bwMode="auto">
          <a:xfrm>
            <a:off x="1065675" y="3567749"/>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2. </a:t>
            </a:r>
            <a:r>
              <a:rPr kumimoji="1" lang="zh-CN" altLang="en-US" sz="2800">
                <a:solidFill>
                  <a:srgbClr val="0000FF"/>
                </a:solidFill>
                <a:latin typeface="Times New Roman" panose="02020603050405020304" pitchFamily="18" charset="0"/>
              </a:rPr>
              <a:t>电流强度</a:t>
            </a:r>
          </a:p>
        </p:txBody>
      </p:sp>
      <p:sp>
        <p:nvSpPr>
          <p:cNvPr id="4104" name="Text Box 8"/>
          <p:cNvSpPr txBox="1">
            <a:spLocks noChangeArrowheads="1"/>
          </p:cNvSpPr>
          <p:nvPr/>
        </p:nvSpPr>
        <p:spPr bwMode="auto">
          <a:xfrm>
            <a:off x="1370475" y="4132899"/>
            <a:ext cx="7296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大小：单位时间通过导体某一横截面的电量。</a:t>
            </a:r>
          </a:p>
        </p:txBody>
      </p:sp>
      <p:sp>
        <p:nvSpPr>
          <p:cNvPr id="4105" name="Text Box 9"/>
          <p:cNvSpPr txBox="1">
            <a:spLocks noChangeArrowheads="1"/>
          </p:cNvSpPr>
          <p:nvPr/>
        </p:nvSpPr>
        <p:spPr bwMode="auto">
          <a:xfrm>
            <a:off x="1319675" y="5663975"/>
            <a:ext cx="1048616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方向：正电荷运动的方向，沿电场方向，从高电势流向低电势。</a:t>
            </a:r>
          </a:p>
          <a:p>
            <a:pPr eaLnBrk="1" hangingPunct="1">
              <a:spcBef>
                <a:spcPct val="0"/>
              </a:spcBef>
              <a:buFontTx/>
              <a:buNone/>
            </a:pPr>
            <a:r>
              <a:rPr kumimoji="1" lang="zh-CN" altLang="en-US" sz="2800" dirty="0">
                <a:solidFill>
                  <a:srgbClr val="0000FF"/>
                </a:solidFill>
                <a:latin typeface="Times New Roman" panose="02020603050405020304" pitchFamily="18" charset="0"/>
              </a:rPr>
              <a:t>单位：安培 </a:t>
            </a:r>
            <a:r>
              <a:rPr kumimoji="1" lang="en-US" altLang="zh-CN" sz="2800" dirty="0">
                <a:solidFill>
                  <a:srgbClr val="0000FF"/>
                </a:solidFill>
                <a:latin typeface="Times New Roman" panose="02020603050405020304" pitchFamily="18" charset="0"/>
              </a:rPr>
              <a:t>A</a:t>
            </a:r>
          </a:p>
        </p:txBody>
      </p:sp>
      <p:graphicFrame>
        <p:nvGraphicFramePr>
          <p:cNvPr id="4106" name="Object 10"/>
          <p:cNvGraphicFramePr>
            <a:graphicFrameLocks noChangeAspect="1"/>
          </p:cNvGraphicFramePr>
          <p:nvPr>
            <p:extLst>
              <p:ext uri="{D42A27DB-BD31-4B8C-83A1-F6EECF244321}">
                <p14:modId xmlns:p14="http://schemas.microsoft.com/office/powerpoint/2010/main" val="2977214350"/>
              </p:ext>
            </p:extLst>
          </p:nvPr>
        </p:nvGraphicFramePr>
        <p:xfrm>
          <a:off x="3075450" y="4618673"/>
          <a:ext cx="2400300" cy="896938"/>
        </p:xfrm>
        <a:graphic>
          <a:graphicData uri="http://schemas.openxmlformats.org/presentationml/2006/ole">
            <mc:AlternateContent xmlns:mc="http://schemas.openxmlformats.org/markup-compatibility/2006">
              <mc:Choice xmlns:v="urn:schemas-microsoft-com:vml" Requires="v">
                <p:oleObj spid="_x0000_s4129" name="公式" r:id="rId3" imgW="1009510" imgH="342900" progId="Equation.3">
                  <p:embed/>
                </p:oleObj>
              </mc:Choice>
              <mc:Fallback>
                <p:oleObj name="公式" r:id="rId3" imgW="1009510" imgH="3429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5450" y="4618673"/>
                        <a:ext cx="2400300"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425370" y="200819"/>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二、电流密度</a:t>
            </a:r>
          </a:p>
        </p:txBody>
      </p:sp>
      <p:sp>
        <p:nvSpPr>
          <p:cNvPr id="5123" name="Text Box 3"/>
          <p:cNvSpPr txBox="1">
            <a:spLocks noChangeArrowheads="1"/>
          </p:cNvSpPr>
          <p:nvPr/>
        </p:nvSpPr>
        <p:spPr bwMode="auto">
          <a:xfrm>
            <a:off x="1077928" y="808831"/>
            <a:ext cx="196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dirty="0">
                <a:solidFill>
                  <a:srgbClr val="0000FF"/>
                </a:solidFill>
                <a:latin typeface="Times New Roman" panose="02020603050405020304" pitchFamily="18" charset="0"/>
              </a:rPr>
              <a:t>1. </a:t>
            </a:r>
            <a:r>
              <a:rPr kumimoji="1" lang="zh-CN" altLang="en-US" sz="2800" dirty="0">
                <a:solidFill>
                  <a:srgbClr val="0000FF"/>
                </a:solidFill>
                <a:latin typeface="Times New Roman" panose="02020603050405020304" pitchFamily="18" charset="0"/>
              </a:rPr>
              <a:t>电流密度</a:t>
            </a:r>
          </a:p>
        </p:txBody>
      </p:sp>
      <p:sp>
        <p:nvSpPr>
          <p:cNvPr id="5124" name="Text Box 4"/>
          <p:cNvSpPr txBox="1">
            <a:spLocks noChangeArrowheads="1"/>
          </p:cNvSpPr>
          <p:nvPr/>
        </p:nvSpPr>
        <p:spPr bwMode="auto">
          <a:xfrm>
            <a:off x="967780" y="1459708"/>
            <a:ext cx="1070884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电流密度矢量：描写空间各点电流大小和方向的物理量。</a:t>
            </a:r>
          </a:p>
          <a:p>
            <a:pPr eaLnBrk="1" hangingPunct="1">
              <a:spcBef>
                <a:spcPct val="0"/>
              </a:spcBef>
              <a:buFontTx/>
              <a:buNone/>
            </a:pPr>
            <a:r>
              <a:rPr kumimoji="1" lang="zh-CN" altLang="en-US" sz="2800" dirty="0">
                <a:solidFill>
                  <a:srgbClr val="0000FF"/>
                </a:solidFill>
                <a:latin typeface="Times New Roman" panose="02020603050405020304" pitchFamily="18" charset="0"/>
              </a:rPr>
              <a:t>某点的电流密度方向：该点正电荷定向运动的方向。</a:t>
            </a:r>
          </a:p>
          <a:p>
            <a:pPr eaLnBrk="1" hangingPunct="1">
              <a:spcBef>
                <a:spcPct val="0"/>
              </a:spcBef>
              <a:buFontTx/>
              <a:buNone/>
            </a:pPr>
            <a:r>
              <a:rPr kumimoji="1" lang="zh-CN" altLang="en-US" sz="2800" dirty="0">
                <a:solidFill>
                  <a:srgbClr val="0000FF"/>
                </a:solidFill>
                <a:latin typeface="Times New Roman" panose="02020603050405020304" pitchFamily="18" charset="0"/>
              </a:rPr>
              <a:t>大小：通过垂直于该点正电荷运动方向的单位面积上的电流强度。</a:t>
            </a:r>
          </a:p>
        </p:txBody>
      </p:sp>
      <p:graphicFrame>
        <p:nvGraphicFramePr>
          <p:cNvPr id="5125" name="Object 1024"/>
          <p:cNvGraphicFramePr>
            <a:graphicFrameLocks noChangeAspect="1"/>
          </p:cNvGraphicFramePr>
          <p:nvPr>
            <p:extLst>
              <p:ext uri="{D42A27DB-BD31-4B8C-83A1-F6EECF244321}">
                <p14:modId xmlns:p14="http://schemas.microsoft.com/office/powerpoint/2010/main" val="3111924288"/>
              </p:ext>
            </p:extLst>
          </p:nvPr>
        </p:nvGraphicFramePr>
        <p:xfrm>
          <a:off x="4086769" y="3265721"/>
          <a:ext cx="1082675" cy="879475"/>
        </p:xfrm>
        <a:graphic>
          <a:graphicData uri="http://schemas.openxmlformats.org/presentationml/2006/ole">
            <mc:AlternateContent xmlns:mc="http://schemas.openxmlformats.org/markup-compatibility/2006">
              <mc:Choice xmlns:v="urn:schemas-microsoft-com:vml" Requires="v">
                <p:oleObj spid="_x0000_s5186" name="公式" r:id="rId3" imgW="485641" imgH="380864" progId="Equation.3">
                  <p:embed/>
                </p:oleObj>
              </mc:Choice>
              <mc:Fallback>
                <p:oleObj name="公式" r:id="rId3" imgW="485641" imgH="380864"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6769" y="3265721"/>
                        <a:ext cx="1082675"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6" name="Text Box 6"/>
          <p:cNvSpPr txBox="1">
            <a:spLocks noChangeArrowheads="1"/>
          </p:cNvSpPr>
          <p:nvPr/>
        </p:nvSpPr>
        <p:spPr bwMode="auto">
          <a:xfrm>
            <a:off x="967780" y="4286017"/>
            <a:ext cx="75374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电流场：导体内每一点都有自己的</a:t>
            </a:r>
            <a:r>
              <a:rPr kumimoji="1" lang="en-US" altLang="zh-CN" sz="2800" i="1" dirty="0">
                <a:solidFill>
                  <a:srgbClr val="0000FF"/>
                </a:solidFill>
                <a:latin typeface="Times New Roman" panose="02020603050405020304" pitchFamily="18" charset="0"/>
              </a:rPr>
              <a:t>j</a:t>
            </a:r>
            <a:r>
              <a:rPr kumimoji="1" lang="en-US" altLang="zh-CN" sz="2800" dirty="0">
                <a:solidFill>
                  <a:srgbClr val="0000FF"/>
                </a:solidFill>
                <a:latin typeface="Times New Roman" panose="02020603050405020304" pitchFamily="18" charset="0"/>
              </a:rPr>
              <a:t> </a:t>
            </a:r>
            <a:r>
              <a:rPr kumimoji="1" lang="zh-CN" altLang="en-US" sz="2800" dirty="0">
                <a:solidFill>
                  <a:srgbClr val="0000FF"/>
                </a:solidFill>
                <a:latin typeface="Times New Roman" panose="02020603050405020304" pitchFamily="18" charset="0"/>
              </a:rPr>
              <a:t>，</a:t>
            </a:r>
            <a:r>
              <a:rPr kumimoji="1" lang="en-US" altLang="zh-CN" sz="2800" i="1" dirty="0">
                <a:solidFill>
                  <a:srgbClr val="0000FF"/>
                </a:solidFill>
                <a:latin typeface="Times New Roman" panose="02020603050405020304" pitchFamily="18" charset="0"/>
              </a:rPr>
              <a:t>j</a:t>
            </a:r>
            <a:r>
              <a:rPr kumimoji="1" lang="en-US" altLang="zh-CN" sz="2800" dirty="0">
                <a:solidFill>
                  <a:srgbClr val="0000FF"/>
                </a:solidFill>
                <a:latin typeface="Times New Roman" panose="02020603050405020304" pitchFamily="18" charset="0"/>
              </a:rPr>
              <a:t>=</a:t>
            </a:r>
            <a:r>
              <a:rPr kumimoji="1" lang="en-US" altLang="zh-CN" sz="2800" i="1" dirty="0">
                <a:solidFill>
                  <a:srgbClr val="0000FF"/>
                </a:solidFill>
                <a:latin typeface="Times New Roman" panose="02020603050405020304" pitchFamily="18" charset="0"/>
              </a:rPr>
              <a:t>j</a:t>
            </a:r>
            <a:r>
              <a:rPr kumimoji="1" lang="en-US" altLang="zh-CN" sz="2800" dirty="0">
                <a:solidFill>
                  <a:srgbClr val="0000FF"/>
                </a:solidFill>
                <a:latin typeface="Times New Roman" panose="02020603050405020304" pitchFamily="18" charset="0"/>
              </a:rPr>
              <a:t>(</a:t>
            </a:r>
            <a:r>
              <a:rPr kumimoji="1" lang="en-US" altLang="zh-CN" sz="2800" i="1" dirty="0">
                <a:solidFill>
                  <a:srgbClr val="0000FF"/>
                </a:solidFill>
                <a:latin typeface="Times New Roman" panose="02020603050405020304" pitchFamily="18" charset="0"/>
              </a:rPr>
              <a:t>x</a:t>
            </a:r>
            <a:r>
              <a:rPr kumimoji="1" lang="en-US" altLang="zh-CN" sz="2800" dirty="0">
                <a:solidFill>
                  <a:srgbClr val="0000FF"/>
                </a:solidFill>
                <a:latin typeface="Times New Roman" panose="02020603050405020304" pitchFamily="18" charset="0"/>
              </a:rPr>
              <a:t>, </a:t>
            </a:r>
            <a:r>
              <a:rPr kumimoji="1" lang="en-US" altLang="zh-CN" sz="2800" i="1" dirty="0">
                <a:solidFill>
                  <a:srgbClr val="0000FF"/>
                </a:solidFill>
                <a:latin typeface="Times New Roman" panose="02020603050405020304" pitchFamily="18" charset="0"/>
              </a:rPr>
              <a:t>y</a:t>
            </a:r>
            <a:r>
              <a:rPr kumimoji="1" lang="en-US" altLang="zh-CN" sz="2800" dirty="0">
                <a:solidFill>
                  <a:srgbClr val="0000FF"/>
                </a:solidFill>
                <a:latin typeface="Times New Roman" panose="02020603050405020304" pitchFamily="18" charset="0"/>
              </a:rPr>
              <a:t>, </a:t>
            </a:r>
            <a:r>
              <a:rPr kumimoji="1" lang="en-US" altLang="zh-CN" sz="2800" i="1" dirty="0">
                <a:solidFill>
                  <a:srgbClr val="0000FF"/>
                </a:solidFill>
                <a:latin typeface="Times New Roman" panose="02020603050405020304" pitchFamily="18" charset="0"/>
              </a:rPr>
              <a:t>z</a:t>
            </a:r>
            <a:r>
              <a:rPr kumimoji="1" lang="en-US" altLang="zh-CN" sz="2800" dirty="0">
                <a:solidFill>
                  <a:srgbClr val="0000FF"/>
                </a:solidFill>
                <a:latin typeface="Times New Roman" panose="02020603050405020304" pitchFamily="18" charset="0"/>
              </a:rPr>
              <a:t>)</a:t>
            </a:r>
          </a:p>
        </p:txBody>
      </p:sp>
      <p:grpSp>
        <p:nvGrpSpPr>
          <p:cNvPr id="5127" name="Group 50"/>
          <p:cNvGrpSpPr>
            <a:grpSpLocks/>
          </p:cNvGrpSpPr>
          <p:nvPr/>
        </p:nvGrpSpPr>
        <p:grpSpPr bwMode="auto">
          <a:xfrm>
            <a:off x="8774656" y="3942733"/>
            <a:ext cx="2449563" cy="2186566"/>
            <a:chOff x="4272" y="2142"/>
            <a:chExt cx="1296" cy="1026"/>
          </a:xfrm>
        </p:grpSpPr>
        <p:sp>
          <p:nvSpPr>
            <p:cNvPr id="5129" name="Line 14"/>
            <p:cNvSpPr>
              <a:spLocks noChangeShapeType="1"/>
            </p:cNvSpPr>
            <p:nvPr/>
          </p:nvSpPr>
          <p:spPr bwMode="auto">
            <a:xfrm>
              <a:off x="4272" y="2156"/>
              <a:ext cx="24" cy="66"/>
            </a:xfrm>
            <a:prstGeom prst="line">
              <a:avLst/>
            </a:prstGeom>
            <a:noFill/>
            <a:ln w="50800">
              <a:solidFill>
                <a:srgbClr val="FFFF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30" name="Line 15"/>
            <p:cNvSpPr>
              <a:spLocks noChangeShapeType="1"/>
            </p:cNvSpPr>
            <p:nvPr/>
          </p:nvSpPr>
          <p:spPr bwMode="auto">
            <a:xfrm flipH="1">
              <a:off x="4328" y="2147"/>
              <a:ext cx="16" cy="75"/>
            </a:xfrm>
            <a:prstGeom prst="line">
              <a:avLst/>
            </a:prstGeom>
            <a:noFill/>
            <a:ln w="50800">
              <a:solidFill>
                <a:srgbClr val="FFFF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31" name="Line 16"/>
            <p:cNvSpPr>
              <a:spLocks noChangeShapeType="1"/>
            </p:cNvSpPr>
            <p:nvPr/>
          </p:nvSpPr>
          <p:spPr bwMode="auto">
            <a:xfrm flipV="1">
              <a:off x="4880" y="2568"/>
              <a:ext cx="200" cy="48"/>
            </a:xfrm>
            <a:prstGeom prst="line">
              <a:avLst/>
            </a:prstGeom>
            <a:noFill/>
            <a:ln w="127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32" name="Arc 17"/>
            <p:cNvSpPr>
              <a:spLocks/>
            </p:cNvSpPr>
            <p:nvPr/>
          </p:nvSpPr>
          <p:spPr bwMode="auto">
            <a:xfrm>
              <a:off x="4280" y="2231"/>
              <a:ext cx="1288" cy="48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3" name="Arc 18"/>
            <p:cNvSpPr>
              <a:spLocks/>
            </p:cNvSpPr>
            <p:nvPr/>
          </p:nvSpPr>
          <p:spPr bwMode="auto">
            <a:xfrm>
              <a:off x="4280" y="2544"/>
              <a:ext cx="1256" cy="4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4" name="Arc 19"/>
            <p:cNvSpPr>
              <a:spLocks/>
            </p:cNvSpPr>
            <p:nvPr/>
          </p:nvSpPr>
          <p:spPr bwMode="auto">
            <a:xfrm>
              <a:off x="4280" y="2779"/>
              <a:ext cx="1160" cy="33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5" name="Arc 20"/>
            <p:cNvSpPr>
              <a:spLocks/>
            </p:cNvSpPr>
            <p:nvPr/>
          </p:nvSpPr>
          <p:spPr bwMode="auto">
            <a:xfrm flipH="1" flipV="1">
              <a:off x="4840" y="2437"/>
              <a:ext cx="312" cy="33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6" name="Arc 21"/>
            <p:cNvSpPr>
              <a:spLocks/>
            </p:cNvSpPr>
            <p:nvPr/>
          </p:nvSpPr>
          <p:spPr bwMode="auto">
            <a:xfrm>
              <a:off x="4856" y="2437"/>
              <a:ext cx="296" cy="31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37" name="Line 22"/>
            <p:cNvSpPr>
              <a:spLocks noChangeShapeType="1"/>
            </p:cNvSpPr>
            <p:nvPr/>
          </p:nvSpPr>
          <p:spPr bwMode="auto">
            <a:xfrm flipV="1">
              <a:off x="4848" y="2466"/>
              <a:ext cx="128" cy="28"/>
            </a:xfrm>
            <a:prstGeom prst="line">
              <a:avLst/>
            </a:prstGeom>
            <a:noFill/>
            <a:ln w="127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38" name="Line 23"/>
            <p:cNvSpPr>
              <a:spLocks noChangeShapeType="1"/>
            </p:cNvSpPr>
            <p:nvPr/>
          </p:nvSpPr>
          <p:spPr bwMode="auto">
            <a:xfrm flipV="1">
              <a:off x="4864" y="2522"/>
              <a:ext cx="152" cy="37"/>
            </a:xfrm>
            <a:prstGeom prst="line">
              <a:avLst/>
            </a:prstGeom>
            <a:noFill/>
            <a:ln w="127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39" name="Line 24"/>
            <p:cNvSpPr>
              <a:spLocks noChangeShapeType="1"/>
            </p:cNvSpPr>
            <p:nvPr/>
          </p:nvSpPr>
          <p:spPr bwMode="auto">
            <a:xfrm flipV="1">
              <a:off x="4944" y="2625"/>
              <a:ext cx="160" cy="36"/>
            </a:xfrm>
            <a:prstGeom prst="line">
              <a:avLst/>
            </a:prstGeom>
            <a:noFill/>
            <a:ln w="127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0" name="Line 25"/>
            <p:cNvSpPr>
              <a:spLocks noChangeShapeType="1"/>
            </p:cNvSpPr>
            <p:nvPr/>
          </p:nvSpPr>
          <p:spPr bwMode="auto">
            <a:xfrm flipV="1">
              <a:off x="4992" y="2671"/>
              <a:ext cx="136" cy="38"/>
            </a:xfrm>
            <a:prstGeom prst="line">
              <a:avLst/>
            </a:prstGeom>
            <a:noFill/>
            <a:ln w="127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1" name="Line 26"/>
            <p:cNvSpPr>
              <a:spLocks noChangeShapeType="1"/>
            </p:cNvSpPr>
            <p:nvPr/>
          </p:nvSpPr>
          <p:spPr bwMode="auto">
            <a:xfrm flipV="1">
              <a:off x="5064" y="2727"/>
              <a:ext cx="80" cy="29"/>
            </a:xfrm>
            <a:prstGeom prst="line">
              <a:avLst/>
            </a:prstGeom>
            <a:noFill/>
            <a:ln w="127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2" name="Line 27"/>
            <p:cNvSpPr>
              <a:spLocks noChangeShapeType="1"/>
            </p:cNvSpPr>
            <p:nvPr/>
          </p:nvSpPr>
          <p:spPr bwMode="auto">
            <a:xfrm flipV="1">
              <a:off x="4912" y="2583"/>
              <a:ext cx="40" cy="11"/>
            </a:xfrm>
            <a:prstGeom prst="line">
              <a:avLst/>
            </a:prstGeom>
            <a:noFill/>
            <a:ln w="50800">
              <a:solidFill>
                <a:srgbClr val="FFFF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3" name="Line 28"/>
            <p:cNvSpPr>
              <a:spLocks noChangeShapeType="1"/>
            </p:cNvSpPr>
            <p:nvPr/>
          </p:nvSpPr>
          <p:spPr bwMode="auto">
            <a:xfrm flipH="1">
              <a:off x="5560" y="2596"/>
              <a:ext cx="8" cy="95"/>
            </a:xfrm>
            <a:prstGeom prst="line">
              <a:avLst/>
            </a:prstGeom>
            <a:noFill/>
            <a:ln w="25400">
              <a:solidFill>
                <a:srgbClr val="0000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4" name="Line 29"/>
            <p:cNvSpPr>
              <a:spLocks noChangeShapeType="1"/>
            </p:cNvSpPr>
            <p:nvPr/>
          </p:nvSpPr>
          <p:spPr bwMode="auto">
            <a:xfrm>
              <a:off x="5488" y="2633"/>
              <a:ext cx="64" cy="58"/>
            </a:xfrm>
            <a:prstGeom prst="line">
              <a:avLst/>
            </a:prstGeom>
            <a:noFill/>
            <a:ln w="25400">
              <a:solidFill>
                <a:srgbClr val="0000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5" name="Line 30"/>
            <p:cNvSpPr>
              <a:spLocks noChangeShapeType="1"/>
            </p:cNvSpPr>
            <p:nvPr/>
          </p:nvSpPr>
          <p:spPr bwMode="auto">
            <a:xfrm>
              <a:off x="5528" y="2828"/>
              <a:ext cx="0" cy="76"/>
            </a:xfrm>
            <a:prstGeom prst="line">
              <a:avLst/>
            </a:prstGeom>
            <a:noFill/>
            <a:ln w="25400">
              <a:solidFill>
                <a:srgbClr val="0000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6" name="Line 31"/>
            <p:cNvSpPr>
              <a:spLocks noChangeShapeType="1"/>
            </p:cNvSpPr>
            <p:nvPr/>
          </p:nvSpPr>
          <p:spPr bwMode="auto">
            <a:xfrm>
              <a:off x="5464" y="2867"/>
              <a:ext cx="64" cy="38"/>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7" name="Line 32"/>
            <p:cNvSpPr>
              <a:spLocks noChangeShapeType="1"/>
            </p:cNvSpPr>
            <p:nvPr/>
          </p:nvSpPr>
          <p:spPr bwMode="auto">
            <a:xfrm flipH="1">
              <a:off x="5431" y="3008"/>
              <a:ext cx="9" cy="84"/>
            </a:xfrm>
            <a:prstGeom prst="line">
              <a:avLst/>
            </a:prstGeom>
            <a:noFill/>
            <a:ln w="25400">
              <a:solidFill>
                <a:srgbClr val="0000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8" name="Line 33"/>
            <p:cNvSpPr>
              <a:spLocks noChangeShapeType="1"/>
            </p:cNvSpPr>
            <p:nvPr/>
          </p:nvSpPr>
          <p:spPr bwMode="auto">
            <a:xfrm>
              <a:off x="5367" y="3064"/>
              <a:ext cx="73" cy="38"/>
            </a:xfrm>
            <a:prstGeom prst="line">
              <a:avLst/>
            </a:prstGeom>
            <a:noFill/>
            <a:ln w="25400">
              <a:solidFill>
                <a:srgbClr val="0000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5149" name="Line 34"/>
            <p:cNvSpPr>
              <a:spLocks noChangeShapeType="1"/>
            </p:cNvSpPr>
            <p:nvPr/>
          </p:nvSpPr>
          <p:spPr bwMode="auto">
            <a:xfrm flipV="1">
              <a:off x="4984" y="2305"/>
              <a:ext cx="248" cy="282"/>
            </a:xfrm>
            <a:prstGeom prst="line">
              <a:avLst/>
            </a:prstGeom>
            <a:noFill/>
            <a:ln w="25400">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5150" name="Oval 35"/>
            <p:cNvSpPr>
              <a:spLocks noChangeArrowheads="1"/>
            </p:cNvSpPr>
            <p:nvPr/>
          </p:nvSpPr>
          <p:spPr bwMode="auto">
            <a:xfrm>
              <a:off x="4656" y="2426"/>
              <a:ext cx="136" cy="314"/>
            </a:xfrm>
            <a:prstGeom prst="ellipse">
              <a:avLst/>
            </a:prstGeom>
            <a:solidFill>
              <a:srgbClr val="FFFF00"/>
            </a:solidFill>
            <a:ln w="25400">
              <a:solidFill>
                <a:srgbClr val="FF00FF"/>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151" name="Arc 36"/>
            <p:cNvSpPr>
              <a:spLocks/>
            </p:cNvSpPr>
            <p:nvPr/>
          </p:nvSpPr>
          <p:spPr bwMode="auto">
            <a:xfrm>
              <a:off x="5096" y="2505"/>
              <a:ext cx="72" cy="13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8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52" name="Rectangle 37"/>
            <p:cNvSpPr>
              <a:spLocks noChangeArrowheads="1"/>
            </p:cNvSpPr>
            <p:nvPr/>
          </p:nvSpPr>
          <p:spPr bwMode="auto">
            <a:xfrm>
              <a:off x="5152" y="2387"/>
              <a:ext cx="18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i="1">
                  <a:solidFill>
                    <a:srgbClr val="0000FF"/>
                  </a:solidFill>
                  <a:latin typeface="Times New Roman" panose="02020603050405020304" pitchFamily="18" charset="0"/>
                  <a:sym typeface="Symbol" panose="05050102010706020507" pitchFamily="18" charset="2"/>
                </a:rPr>
                <a:t></a:t>
              </a:r>
              <a:endParaRPr kumimoji="1" lang="en-US" altLang="zh-CN" sz="1000">
                <a:solidFill>
                  <a:srgbClr val="0000FF"/>
                </a:solidFill>
                <a:latin typeface="Times New Roman" panose="02020603050405020304" pitchFamily="18" charset="0"/>
              </a:endParaRPr>
            </a:p>
          </p:txBody>
        </p:sp>
        <p:sp>
          <p:nvSpPr>
            <p:cNvPr id="5153" name="Rectangle 38"/>
            <p:cNvSpPr>
              <a:spLocks noChangeArrowheads="1"/>
            </p:cNvSpPr>
            <p:nvPr/>
          </p:nvSpPr>
          <p:spPr bwMode="auto">
            <a:xfrm>
              <a:off x="5152" y="2659"/>
              <a:ext cx="18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S</a:t>
              </a:r>
              <a:endParaRPr kumimoji="1" lang="en-US" altLang="zh-CN" sz="1000">
                <a:solidFill>
                  <a:srgbClr val="0000FF"/>
                </a:solidFill>
                <a:latin typeface="Times New Roman" panose="02020603050405020304" pitchFamily="18" charset="0"/>
              </a:endParaRPr>
            </a:p>
          </p:txBody>
        </p:sp>
        <p:sp>
          <p:nvSpPr>
            <p:cNvPr id="5154" name="Rectangle 39"/>
            <p:cNvSpPr>
              <a:spLocks noChangeArrowheads="1"/>
            </p:cNvSpPr>
            <p:nvPr/>
          </p:nvSpPr>
          <p:spPr bwMode="auto">
            <a:xfrm>
              <a:off x="4432" y="2483"/>
              <a:ext cx="25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S</a:t>
              </a:r>
              <a:r>
                <a:rPr kumimoji="1" lang="en-US" altLang="zh-CN" sz="1800" b="1" baseline="-25000">
                  <a:solidFill>
                    <a:srgbClr val="0000FF"/>
                  </a:solidFill>
                  <a:latin typeface="Times New Roman" panose="02020603050405020304" pitchFamily="18" charset="0"/>
                  <a:sym typeface="Symbol" panose="05050102010706020507" pitchFamily="18" charset="2"/>
                </a:rPr>
                <a:t></a:t>
              </a:r>
              <a:endParaRPr kumimoji="1" lang="en-US" altLang="zh-CN" sz="1000">
                <a:solidFill>
                  <a:srgbClr val="0000FF"/>
                </a:solidFill>
                <a:latin typeface="Times New Roman" panose="02020603050405020304" pitchFamily="18" charset="0"/>
              </a:endParaRPr>
            </a:p>
          </p:txBody>
        </p:sp>
        <p:sp>
          <p:nvSpPr>
            <p:cNvPr id="5155" name="Rectangle 40"/>
            <p:cNvSpPr>
              <a:spLocks noChangeArrowheads="1"/>
            </p:cNvSpPr>
            <p:nvPr/>
          </p:nvSpPr>
          <p:spPr bwMode="auto">
            <a:xfrm>
              <a:off x="5271" y="2142"/>
              <a:ext cx="216"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i="1" dirty="0">
                  <a:solidFill>
                    <a:srgbClr val="0000FF"/>
                  </a:solidFill>
                  <a:latin typeface="Times New Roman" panose="02020603050405020304" pitchFamily="18" charset="0"/>
                </a:rPr>
                <a:t>n</a:t>
              </a:r>
              <a:endParaRPr kumimoji="1" lang="en-US" altLang="zh-CN" sz="1000" dirty="0">
                <a:solidFill>
                  <a:srgbClr val="0000FF"/>
                </a:solidFill>
                <a:latin typeface="Times New Roman" panose="02020603050405020304" pitchFamily="18" charset="0"/>
              </a:endParaRPr>
            </a:p>
          </p:txBody>
        </p:sp>
        <p:sp>
          <p:nvSpPr>
            <p:cNvPr id="5156" name="Line 41"/>
            <p:cNvSpPr>
              <a:spLocks noChangeShapeType="1"/>
            </p:cNvSpPr>
            <p:nvPr/>
          </p:nvSpPr>
          <p:spPr bwMode="auto">
            <a:xfrm>
              <a:off x="5264" y="2174"/>
              <a:ext cx="103" cy="1"/>
            </a:xfrm>
            <a:prstGeom prst="line">
              <a:avLst/>
            </a:prstGeom>
            <a:noFill/>
            <a:ln w="9525">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157" name="Rectangle 42"/>
            <p:cNvSpPr>
              <a:spLocks noChangeArrowheads="1"/>
            </p:cNvSpPr>
            <p:nvPr/>
          </p:nvSpPr>
          <p:spPr bwMode="auto">
            <a:xfrm>
              <a:off x="4504" y="2887"/>
              <a:ext cx="50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1600" b="1">
                  <a:solidFill>
                    <a:srgbClr val="0000FF"/>
                  </a:solidFill>
                  <a:latin typeface="Times New Roman" panose="02020603050405020304" pitchFamily="18" charset="0"/>
                </a:rPr>
                <a:t>电流线</a:t>
              </a:r>
              <a:endParaRPr kumimoji="1" lang="zh-CN" altLang="en-US" sz="1000">
                <a:solidFill>
                  <a:srgbClr val="0000FF"/>
                </a:solidFill>
                <a:latin typeface="Times New Roman" panose="02020603050405020304" pitchFamily="18" charset="0"/>
              </a:endParaRPr>
            </a:p>
          </p:txBody>
        </p:sp>
        <p:sp>
          <p:nvSpPr>
            <p:cNvPr id="5158" name="Line 43"/>
            <p:cNvSpPr>
              <a:spLocks noChangeShapeType="1"/>
            </p:cNvSpPr>
            <p:nvPr/>
          </p:nvSpPr>
          <p:spPr bwMode="auto">
            <a:xfrm flipV="1">
              <a:off x="4896" y="2583"/>
              <a:ext cx="96" cy="29"/>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159" name="Line 44"/>
            <p:cNvSpPr>
              <a:spLocks noChangeShapeType="1"/>
            </p:cNvSpPr>
            <p:nvPr/>
          </p:nvSpPr>
          <p:spPr bwMode="auto">
            <a:xfrm>
              <a:off x="4736" y="2573"/>
              <a:ext cx="72" cy="1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160" name="Line 45"/>
            <p:cNvSpPr>
              <a:spLocks noChangeShapeType="1"/>
            </p:cNvSpPr>
            <p:nvPr/>
          </p:nvSpPr>
          <p:spPr bwMode="auto">
            <a:xfrm>
              <a:off x="4736" y="2426"/>
              <a:ext cx="96" cy="0"/>
            </a:xfrm>
            <a:prstGeom prst="line">
              <a:avLst/>
            </a:prstGeom>
            <a:noFill/>
            <a:ln w="6350">
              <a:solidFill>
                <a:srgbClr val="000000"/>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161" name="Line 46"/>
            <p:cNvSpPr>
              <a:spLocks noChangeShapeType="1"/>
            </p:cNvSpPr>
            <p:nvPr/>
          </p:nvSpPr>
          <p:spPr bwMode="auto">
            <a:xfrm>
              <a:off x="4728" y="2740"/>
              <a:ext cx="408" cy="49"/>
            </a:xfrm>
            <a:prstGeom prst="line">
              <a:avLst/>
            </a:prstGeom>
            <a:noFill/>
            <a:ln w="635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162" name="Line 47"/>
            <p:cNvSpPr>
              <a:spLocks noChangeShapeType="1"/>
            </p:cNvSpPr>
            <p:nvPr/>
          </p:nvSpPr>
          <p:spPr bwMode="auto">
            <a:xfrm flipH="1">
              <a:off x="5144" y="2710"/>
              <a:ext cx="0" cy="7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3" name="Line 48"/>
            <p:cNvSpPr>
              <a:spLocks noChangeShapeType="1"/>
            </p:cNvSpPr>
            <p:nvPr/>
          </p:nvSpPr>
          <p:spPr bwMode="auto">
            <a:xfrm flipV="1">
              <a:off x="4848" y="2434"/>
              <a:ext cx="24" cy="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28" name="Text Box 51"/>
          <p:cNvSpPr txBox="1">
            <a:spLocks noChangeArrowheads="1"/>
          </p:cNvSpPr>
          <p:nvPr/>
        </p:nvSpPr>
        <p:spPr bwMode="auto">
          <a:xfrm>
            <a:off x="1070254" y="5789613"/>
            <a:ext cx="5791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单位：安培</a:t>
            </a:r>
            <a:r>
              <a:rPr kumimoji="1" lang="en-US" altLang="zh-CN" sz="2800">
                <a:solidFill>
                  <a:srgbClr val="0000FF"/>
                </a:solidFill>
                <a:latin typeface="Times New Roman" panose="02020603050405020304" pitchFamily="18" charset="0"/>
              </a:rPr>
              <a:t>/</a:t>
            </a:r>
            <a:r>
              <a:rPr kumimoji="1" lang="zh-CN" altLang="en-US" sz="2800">
                <a:solidFill>
                  <a:srgbClr val="0000FF"/>
                </a:solidFill>
                <a:latin typeface="Times New Roman" panose="02020603050405020304" pitchFamily="18" charset="0"/>
              </a:rPr>
              <a:t>米</a:t>
            </a:r>
            <a:r>
              <a:rPr kumimoji="1" lang="en-US" altLang="zh-CN" sz="2800" baseline="30000">
                <a:solidFill>
                  <a:srgbClr val="0000FF"/>
                </a:solidFill>
                <a:latin typeface="Times New Roman" panose="02020603050405020304" pitchFamily="18" charset="0"/>
              </a:rPr>
              <a:t>2</a:t>
            </a:r>
            <a:r>
              <a:rPr kumimoji="1" lang="zh-CN" altLang="en-US" sz="2800">
                <a:solidFill>
                  <a:srgbClr val="0000FF"/>
                </a:solidFill>
                <a:latin typeface="Times New Roman" panose="02020603050405020304" pitchFamily="18" charset="0"/>
              </a:rPr>
              <a:t>，</a:t>
            </a:r>
            <a:r>
              <a:rPr kumimoji="1" lang="en-US" altLang="zh-CN" sz="2800">
                <a:solidFill>
                  <a:srgbClr val="0000FF"/>
                </a:solidFill>
                <a:latin typeface="Times New Roman" panose="02020603050405020304" pitchFamily="18" charset="0"/>
              </a:rPr>
              <a:t>A/m</a:t>
            </a:r>
            <a:r>
              <a:rPr kumimoji="1" lang="en-US" altLang="zh-CN" sz="2800" baseline="30000">
                <a:solidFill>
                  <a:srgbClr val="0000FF"/>
                </a:solidFill>
                <a:latin typeface="Times New Roman" panose="02020603050405020304" pitchFamily="18" charset="0"/>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903040" y="722700"/>
            <a:ext cx="4806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2. </a:t>
            </a:r>
            <a:r>
              <a:rPr kumimoji="1" lang="zh-CN" altLang="en-US" sz="2800">
                <a:solidFill>
                  <a:srgbClr val="0000FF"/>
                </a:solidFill>
                <a:latin typeface="Times New Roman" panose="02020603050405020304" pitchFamily="18" charset="0"/>
              </a:rPr>
              <a:t>电流密度和电流强度的关系</a:t>
            </a:r>
          </a:p>
        </p:txBody>
      </p:sp>
      <p:sp>
        <p:nvSpPr>
          <p:cNvPr id="6147" name="Text Box 3"/>
          <p:cNvSpPr txBox="1">
            <a:spLocks noChangeArrowheads="1"/>
          </p:cNvSpPr>
          <p:nvPr/>
        </p:nvSpPr>
        <p:spPr bwMode="auto">
          <a:xfrm>
            <a:off x="1055440" y="1437075"/>
            <a:ext cx="4235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a:t>
            </a:r>
            <a:r>
              <a:rPr kumimoji="1" lang="zh-CN" altLang="en-US" sz="2800">
                <a:solidFill>
                  <a:srgbClr val="0000FF"/>
                </a:solidFill>
                <a:latin typeface="Times New Roman" panose="02020603050405020304" pitchFamily="18" charset="0"/>
              </a:rPr>
              <a:t>通过面元</a:t>
            </a:r>
            <a:r>
              <a:rPr kumimoji="1" lang="en-US" altLang="zh-CN" sz="2800">
                <a:solidFill>
                  <a:srgbClr val="0000FF"/>
                </a:solidFill>
                <a:latin typeface="Times New Roman" panose="02020603050405020304" pitchFamily="18" charset="0"/>
              </a:rPr>
              <a:t>dS </a:t>
            </a:r>
            <a:r>
              <a:rPr kumimoji="1" lang="zh-CN" altLang="zh-CN" sz="2800">
                <a:solidFill>
                  <a:srgbClr val="0000FF"/>
                </a:solidFill>
                <a:latin typeface="Times New Roman" panose="02020603050405020304" pitchFamily="18" charset="0"/>
              </a:rPr>
              <a:t>的电流强度</a:t>
            </a:r>
            <a:endParaRPr kumimoji="1" lang="zh-CN" altLang="en-US" sz="2800">
              <a:solidFill>
                <a:srgbClr val="0000FF"/>
              </a:solidFill>
              <a:latin typeface="Times New Roman" panose="02020603050405020304" pitchFamily="18" charset="0"/>
            </a:endParaRPr>
          </a:p>
        </p:txBody>
      </p:sp>
      <p:graphicFrame>
        <p:nvGraphicFramePr>
          <p:cNvPr id="6148" name="Object 1024"/>
          <p:cNvGraphicFramePr>
            <a:graphicFrameLocks noChangeAspect="1"/>
          </p:cNvGraphicFramePr>
          <p:nvPr>
            <p:extLst>
              <p:ext uri="{D42A27DB-BD31-4B8C-83A1-F6EECF244321}">
                <p14:modId xmlns:p14="http://schemas.microsoft.com/office/powerpoint/2010/main" val="4007973154"/>
              </p:ext>
            </p:extLst>
          </p:nvPr>
        </p:nvGraphicFramePr>
        <p:xfrm>
          <a:off x="1893641" y="2122875"/>
          <a:ext cx="3749675" cy="488950"/>
        </p:xfrm>
        <a:graphic>
          <a:graphicData uri="http://schemas.openxmlformats.org/presentationml/2006/ole">
            <mc:AlternateContent xmlns:mc="http://schemas.openxmlformats.org/markup-compatibility/2006">
              <mc:Choice xmlns:v="urn:schemas-microsoft-com:vml" Requires="v">
                <p:oleObj spid="_x0000_s6196" name="公式" r:id="rId3" imgW="1790573" imgH="190432" progId="Equation.3">
                  <p:embed/>
                </p:oleObj>
              </mc:Choice>
              <mc:Fallback>
                <p:oleObj name="公式" r:id="rId3" imgW="1790573" imgH="190432"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641" y="2122875"/>
                        <a:ext cx="374967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Text Box 5"/>
          <p:cNvSpPr txBox="1">
            <a:spLocks noChangeArrowheads="1"/>
          </p:cNvSpPr>
          <p:nvPr/>
        </p:nvSpPr>
        <p:spPr bwMode="auto">
          <a:xfrm>
            <a:off x="1055440" y="4104075"/>
            <a:ext cx="7296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电流强度是通过某一面积的电流密度的通量。</a:t>
            </a:r>
          </a:p>
        </p:txBody>
      </p:sp>
      <p:sp>
        <p:nvSpPr>
          <p:cNvPr id="6150" name="Text Box 6"/>
          <p:cNvSpPr txBox="1">
            <a:spLocks noChangeArrowheads="1"/>
          </p:cNvSpPr>
          <p:nvPr/>
        </p:nvSpPr>
        <p:spPr bwMode="auto">
          <a:xfrm>
            <a:off x="1055441" y="2656275"/>
            <a:ext cx="61706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2) </a:t>
            </a:r>
            <a:r>
              <a:rPr kumimoji="1" lang="zh-CN" altLang="en-US" sz="2800">
                <a:solidFill>
                  <a:srgbClr val="0000FF"/>
                </a:solidFill>
                <a:latin typeface="Times New Roman" panose="02020603050405020304" pitchFamily="18" charset="0"/>
              </a:rPr>
              <a:t>通过电流场中任一面积</a:t>
            </a:r>
            <a:r>
              <a:rPr kumimoji="1" lang="en-US" altLang="zh-CN" sz="2800" i="1">
                <a:solidFill>
                  <a:srgbClr val="0000FF"/>
                </a:solidFill>
                <a:latin typeface="Times New Roman" panose="02020603050405020304" pitchFamily="18" charset="0"/>
              </a:rPr>
              <a:t>S</a:t>
            </a:r>
            <a:r>
              <a:rPr kumimoji="1" lang="en-US" altLang="zh-CN" sz="2800">
                <a:solidFill>
                  <a:srgbClr val="0000FF"/>
                </a:solidFill>
                <a:latin typeface="Times New Roman" panose="02020603050405020304" pitchFamily="18" charset="0"/>
              </a:rPr>
              <a:t> </a:t>
            </a:r>
            <a:r>
              <a:rPr kumimoji="1" lang="zh-CN" altLang="zh-CN" sz="2800">
                <a:solidFill>
                  <a:srgbClr val="0000FF"/>
                </a:solidFill>
                <a:latin typeface="Times New Roman" panose="02020603050405020304" pitchFamily="18" charset="0"/>
              </a:rPr>
              <a:t>的电流强度</a:t>
            </a:r>
            <a:endParaRPr kumimoji="1" lang="zh-CN" altLang="en-US" sz="2800">
              <a:solidFill>
                <a:srgbClr val="0000FF"/>
              </a:solidFill>
              <a:latin typeface="Times New Roman" panose="02020603050405020304" pitchFamily="18" charset="0"/>
            </a:endParaRPr>
          </a:p>
        </p:txBody>
      </p:sp>
      <p:graphicFrame>
        <p:nvGraphicFramePr>
          <p:cNvPr id="6151" name="Object 1025"/>
          <p:cNvGraphicFramePr>
            <a:graphicFrameLocks noChangeAspect="1"/>
          </p:cNvGraphicFramePr>
          <p:nvPr>
            <p:extLst>
              <p:ext uri="{D42A27DB-BD31-4B8C-83A1-F6EECF244321}">
                <p14:modId xmlns:p14="http://schemas.microsoft.com/office/powerpoint/2010/main" val="98410577"/>
              </p:ext>
            </p:extLst>
          </p:nvPr>
        </p:nvGraphicFramePr>
        <p:xfrm>
          <a:off x="1969841" y="3342076"/>
          <a:ext cx="1471613" cy="592137"/>
        </p:xfrm>
        <a:graphic>
          <a:graphicData uri="http://schemas.openxmlformats.org/presentationml/2006/ole">
            <mc:AlternateContent xmlns:mc="http://schemas.openxmlformats.org/markup-compatibility/2006">
              <mc:Choice xmlns:v="urn:schemas-microsoft-com:vml" Requires="v">
                <p:oleObj spid="_x0000_s6197" name="公式" r:id="rId5" imgW="676167" imgH="247684" progId="Equation.3">
                  <p:embed/>
                </p:oleObj>
              </mc:Choice>
              <mc:Fallback>
                <p:oleObj name="公式" r:id="rId5" imgW="676167" imgH="247684"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9841" y="3342076"/>
                        <a:ext cx="1471613" cy="59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650876" y="517578"/>
            <a:ext cx="42640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三、电流的连续性方程</a:t>
            </a:r>
          </a:p>
        </p:txBody>
      </p:sp>
      <p:graphicFrame>
        <p:nvGraphicFramePr>
          <p:cNvPr id="7171" name="Object 1024"/>
          <p:cNvGraphicFramePr>
            <a:graphicFrameLocks noChangeAspect="1"/>
          </p:cNvGraphicFramePr>
          <p:nvPr>
            <p:extLst>
              <p:ext uri="{D42A27DB-BD31-4B8C-83A1-F6EECF244321}">
                <p14:modId xmlns:p14="http://schemas.microsoft.com/office/powerpoint/2010/main" val="2759709932"/>
              </p:ext>
            </p:extLst>
          </p:nvPr>
        </p:nvGraphicFramePr>
        <p:xfrm>
          <a:off x="1625601" y="3473503"/>
          <a:ext cx="1230313" cy="496887"/>
        </p:xfrm>
        <a:graphic>
          <a:graphicData uri="http://schemas.openxmlformats.org/presentationml/2006/ole">
            <mc:AlternateContent xmlns:mc="http://schemas.openxmlformats.org/markup-compatibility/2006">
              <mc:Choice xmlns:v="urn:schemas-microsoft-com:vml" Requires="v">
                <p:oleObj spid="_x0000_s7272" name="公式" r:id="rId3" imgW="676167" imgH="247684" progId="Equation.3">
                  <p:embed/>
                </p:oleObj>
              </mc:Choice>
              <mc:Fallback>
                <p:oleObj name="公式" r:id="rId3" imgW="676167" imgH="247684"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5601" y="3473503"/>
                        <a:ext cx="1230313"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2" name="Text Box 4"/>
          <p:cNvSpPr txBox="1">
            <a:spLocks noChangeArrowheads="1"/>
          </p:cNvSpPr>
          <p:nvPr/>
        </p:nvSpPr>
        <p:spPr bwMode="auto">
          <a:xfrm>
            <a:off x="629789" y="1442396"/>
            <a:ext cx="1044385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电荷的运动可形成电流，也可引起空间电荷分布的变化。</a:t>
            </a:r>
          </a:p>
          <a:p>
            <a:pPr eaLnBrk="1" hangingPunct="1">
              <a:spcBef>
                <a:spcPct val="0"/>
              </a:spcBef>
              <a:buFontTx/>
              <a:buNone/>
            </a:pPr>
            <a:r>
              <a:rPr kumimoji="1" lang="zh-CN" altLang="en-US" sz="2800" dirty="0">
                <a:solidFill>
                  <a:srgbClr val="0000FF"/>
                </a:solidFill>
                <a:latin typeface="Times New Roman" panose="02020603050405020304" pitchFamily="18" charset="0"/>
              </a:rPr>
              <a:t>由电荷守恒定律，单位时间内由</a:t>
            </a:r>
            <a:r>
              <a:rPr kumimoji="1" lang="en-US" altLang="zh-CN" sz="2800" dirty="0">
                <a:solidFill>
                  <a:srgbClr val="0000FF"/>
                </a:solidFill>
                <a:latin typeface="Times New Roman" panose="02020603050405020304" pitchFamily="18" charset="0"/>
              </a:rPr>
              <a:t>S </a:t>
            </a:r>
            <a:r>
              <a:rPr kumimoji="1" lang="zh-CN" altLang="zh-CN" sz="2800" dirty="0">
                <a:solidFill>
                  <a:srgbClr val="0000FF"/>
                </a:solidFill>
                <a:latin typeface="Times New Roman" panose="02020603050405020304" pitchFamily="18" charset="0"/>
              </a:rPr>
              <a:t>流出的净电</a:t>
            </a:r>
            <a:r>
              <a:rPr kumimoji="1" lang="zh-CN" altLang="en-US" sz="2800" dirty="0">
                <a:solidFill>
                  <a:srgbClr val="0000FF"/>
                </a:solidFill>
                <a:latin typeface="Times New Roman" panose="02020603050405020304" pitchFamily="18" charset="0"/>
              </a:rPr>
              <a:t>量</a:t>
            </a:r>
            <a:r>
              <a:rPr kumimoji="1" lang="zh-CN" altLang="zh-CN" sz="2800" dirty="0">
                <a:solidFill>
                  <a:srgbClr val="0000FF"/>
                </a:solidFill>
                <a:latin typeface="Times New Roman" panose="02020603050405020304" pitchFamily="18" charset="0"/>
              </a:rPr>
              <a:t>应等于</a:t>
            </a:r>
            <a:r>
              <a:rPr kumimoji="1" lang="en-US" altLang="zh-CN" sz="2800" dirty="0">
                <a:solidFill>
                  <a:srgbClr val="0000FF"/>
                </a:solidFill>
                <a:latin typeface="Times New Roman" panose="02020603050405020304" pitchFamily="18" charset="0"/>
              </a:rPr>
              <a:t>S </a:t>
            </a:r>
            <a:r>
              <a:rPr kumimoji="1" lang="zh-CN" altLang="zh-CN" sz="2800" dirty="0">
                <a:solidFill>
                  <a:srgbClr val="0000FF"/>
                </a:solidFill>
                <a:latin typeface="Times New Roman" panose="02020603050405020304" pitchFamily="18" charset="0"/>
              </a:rPr>
              <a:t>内的电量的减少。</a:t>
            </a:r>
            <a:endParaRPr kumimoji="1" lang="zh-CN" altLang="en-US" sz="2800" dirty="0">
              <a:solidFill>
                <a:srgbClr val="0000FF"/>
              </a:solidFill>
              <a:latin typeface="Times New Roman" panose="02020603050405020304" pitchFamily="18" charset="0"/>
            </a:endParaRPr>
          </a:p>
        </p:txBody>
      </p:sp>
      <p:sp>
        <p:nvSpPr>
          <p:cNvPr id="7173" name="Text Box 6"/>
          <p:cNvSpPr txBox="1">
            <a:spLocks noChangeArrowheads="1"/>
          </p:cNvSpPr>
          <p:nvPr/>
        </p:nvSpPr>
        <p:spPr bwMode="auto">
          <a:xfrm>
            <a:off x="1028700" y="3383015"/>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若</a:t>
            </a:r>
          </a:p>
        </p:txBody>
      </p:sp>
      <p:sp>
        <p:nvSpPr>
          <p:cNvPr id="7174" name="Text Box 7"/>
          <p:cNvSpPr txBox="1">
            <a:spLocks noChangeArrowheads="1"/>
          </p:cNvSpPr>
          <p:nvPr/>
        </p:nvSpPr>
        <p:spPr bwMode="auto">
          <a:xfrm>
            <a:off x="3238500" y="3383015"/>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（流入正电荷</a:t>
            </a:r>
            <a:r>
              <a:rPr kumimoji="1" lang="en-US" altLang="zh-CN" sz="2800">
                <a:solidFill>
                  <a:srgbClr val="0000FF"/>
                </a:solidFill>
                <a:latin typeface="Times New Roman" panose="02020603050405020304" pitchFamily="18" charset="0"/>
              </a:rPr>
              <a:t>&gt;</a:t>
            </a:r>
            <a:r>
              <a:rPr kumimoji="1" lang="zh-CN" altLang="en-US" sz="2800">
                <a:solidFill>
                  <a:srgbClr val="0000FF"/>
                </a:solidFill>
                <a:latin typeface="Times New Roman" panose="02020603050405020304" pitchFamily="18" charset="0"/>
              </a:rPr>
              <a:t>流出正电荷）</a:t>
            </a:r>
          </a:p>
        </p:txBody>
      </p:sp>
      <p:sp>
        <p:nvSpPr>
          <p:cNvPr id="7175" name="Text Box 8"/>
          <p:cNvSpPr txBox="1">
            <a:spLocks noChangeArrowheads="1"/>
          </p:cNvSpPr>
          <p:nvPr/>
        </p:nvSpPr>
        <p:spPr bwMode="auto">
          <a:xfrm>
            <a:off x="3543300" y="4006902"/>
            <a:ext cx="5105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面内正电荷增加</a:t>
            </a:r>
          </a:p>
        </p:txBody>
      </p:sp>
      <p:sp>
        <p:nvSpPr>
          <p:cNvPr id="7176" name="Text Box 9"/>
          <p:cNvSpPr txBox="1">
            <a:spLocks noChangeArrowheads="1"/>
          </p:cNvSpPr>
          <p:nvPr/>
        </p:nvSpPr>
        <p:spPr bwMode="auto">
          <a:xfrm>
            <a:off x="3314700" y="4602215"/>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（流出正电荷</a:t>
            </a:r>
            <a:r>
              <a:rPr kumimoji="1" lang="en-US" altLang="zh-CN" sz="2800">
                <a:solidFill>
                  <a:srgbClr val="0000FF"/>
                </a:solidFill>
                <a:latin typeface="Times New Roman" panose="02020603050405020304" pitchFamily="18" charset="0"/>
              </a:rPr>
              <a:t>&gt;</a:t>
            </a:r>
            <a:r>
              <a:rPr kumimoji="1" lang="zh-CN" altLang="en-US" sz="2800">
                <a:solidFill>
                  <a:srgbClr val="0000FF"/>
                </a:solidFill>
                <a:latin typeface="Times New Roman" panose="02020603050405020304" pitchFamily="18" charset="0"/>
              </a:rPr>
              <a:t>流入正电荷）</a:t>
            </a:r>
          </a:p>
        </p:txBody>
      </p:sp>
      <p:sp>
        <p:nvSpPr>
          <p:cNvPr id="7177" name="Text Box 10"/>
          <p:cNvSpPr txBox="1">
            <a:spLocks noChangeArrowheads="1"/>
          </p:cNvSpPr>
          <p:nvPr/>
        </p:nvSpPr>
        <p:spPr bwMode="auto">
          <a:xfrm>
            <a:off x="3543300" y="5364215"/>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面内正电荷减少</a:t>
            </a:r>
          </a:p>
        </p:txBody>
      </p:sp>
      <p:sp>
        <p:nvSpPr>
          <p:cNvPr id="7178" name="Text Box 11"/>
          <p:cNvSpPr txBox="1">
            <a:spLocks noChangeArrowheads="1"/>
          </p:cNvSpPr>
          <p:nvPr/>
        </p:nvSpPr>
        <p:spPr bwMode="auto">
          <a:xfrm>
            <a:off x="1028700" y="3992615"/>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则</a:t>
            </a:r>
          </a:p>
        </p:txBody>
      </p:sp>
      <p:graphicFrame>
        <p:nvGraphicFramePr>
          <p:cNvPr id="7179" name="Object 1025"/>
          <p:cNvGraphicFramePr>
            <a:graphicFrameLocks noChangeAspect="1"/>
          </p:cNvGraphicFramePr>
          <p:nvPr>
            <p:extLst>
              <p:ext uri="{D42A27DB-BD31-4B8C-83A1-F6EECF244321}">
                <p14:modId xmlns:p14="http://schemas.microsoft.com/office/powerpoint/2010/main" val="1084707558"/>
              </p:ext>
            </p:extLst>
          </p:nvPr>
        </p:nvGraphicFramePr>
        <p:xfrm>
          <a:off x="1714501" y="4678414"/>
          <a:ext cx="1230313" cy="496888"/>
        </p:xfrm>
        <a:graphic>
          <a:graphicData uri="http://schemas.openxmlformats.org/presentationml/2006/ole">
            <mc:AlternateContent xmlns:mc="http://schemas.openxmlformats.org/markup-compatibility/2006">
              <mc:Choice xmlns:v="urn:schemas-microsoft-com:vml" Requires="v">
                <p:oleObj spid="_x0000_s7273" name="公式" r:id="rId5" imgW="676167" imgH="247684" progId="Equation.3">
                  <p:embed/>
                </p:oleObj>
              </mc:Choice>
              <mc:Fallback>
                <p:oleObj name="公式" r:id="rId5" imgW="676167" imgH="247684"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4501" y="4678414"/>
                        <a:ext cx="1230313"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0" name="Object 1026"/>
          <p:cNvGraphicFramePr>
            <a:graphicFrameLocks noChangeAspect="1"/>
          </p:cNvGraphicFramePr>
          <p:nvPr>
            <p:extLst>
              <p:ext uri="{D42A27DB-BD31-4B8C-83A1-F6EECF244321}">
                <p14:modId xmlns:p14="http://schemas.microsoft.com/office/powerpoint/2010/main" val="2932415546"/>
              </p:ext>
            </p:extLst>
          </p:nvPr>
        </p:nvGraphicFramePr>
        <p:xfrm>
          <a:off x="1714501" y="5283252"/>
          <a:ext cx="1446213" cy="690562"/>
        </p:xfrm>
        <a:graphic>
          <a:graphicData uri="http://schemas.openxmlformats.org/presentationml/2006/ole">
            <mc:AlternateContent xmlns:mc="http://schemas.openxmlformats.org/markup-compatibility/2006">
              <mc:Choice xmlns:v="urn:schemas-microsoft-com:vml" Requires="v">
                <p:oleObj spid="_x0000_s7274" name="公式" r:id="rId7" imgW="800024" imgH="361882" progId="Equation.3">
                  <p:embed/>
                </p:oleObj>
              </mc:Choice>
              <mc:Fallback>
                <p:oleObj name="公式" r:id="rId7" imgW="800024" imgH="361882"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4501" y="5283252"/>
                        <a:ext cx="1446213" cy="69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1" name="Object 1027"/>
          <p:cNvGraphicFramePr>
            <a:graphicFrameLocks noChangeAspect="1"/>
          </p:cNvGraphicFramePr>
          <p:nvPr>
            <p:extLst>
              <p:ext uri="{D42A27DB-BD31-4B8C-83A1-F6EECF244321}">
                <p14:modId xmlns:p14="http://schemas.microsoft.com/office/powerpoint/2010/main" val="3263244440"/>
              </p:ext>
            </p:extLst>
          </p:nvPr>
        </p:nvGraphicFramePr>
        <p:xfrm>
          <a:off x="1638301" y="3916415"/>
          <a:ext cx="1446213" cy="690563"/>
        </p:xfrm>
        <a:graphic>
          <a:graphicData uri="http://schemas.openxmlformats.org/presentationml/2006/ole">
            <mc:AlternateContent xmlns:mc="http://schemas.openxmlformats.org/markup-compatibility/2006">
              <mc:Choice xmlns:v="urn:schemas-microsoft-com:vml" Requires="v">
                <p:oleObj spid="_x0000_s7275" name="公式" r:id="rId9" imgW="800024" imgH="361882" progId="Equation.3">
                  <p:embed/>
                </p:oleObj>
              </mc:Choice>
              <mc:Fallback>
                <p:oleObj name="公式" r:id="rId9" imgW="800024" imgH="361882"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8301" y="3916415"/>
                        <a:ext cx="1446213"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2" name="Text Box 17"/>
          <p:cNvSpPr txBox="1">
            <a:spLocks noChangeArrowheads="1"/>
          </p:cNvSpPr>
          <p:nvPr/>
        </p:nvSpPr>
        <p:spPr bwMode="auto">
          <a:xfrm>
            <a:off x="1028700" y="4616502"/>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若</a:t>
            </a:r>
          </a:p>
        </p:txBody>
      </p:sp>
      <p:sp>
        <p:nvSpPr>
          <p:cNvPr id="7183" name="Text Box 18"/>
          <p:cNvSpPr txBox="1">
            <a:spLocks noChangeArrowheads="1"/>
          </p:cNvSpPr>
          <p:nvPr/>
        </p:nvSpPr>
        <p:spPr bwMode="auto">
          <a:xfrm>
            <a:off x="1028700" y="5302302"/>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25370" y="356058"/>
            <a:ext cx="34804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电流的连续性方程</a:t>
            </a:r>
          </a:p>
        </p:txBody>
      </p:sp>
      <p:sp>
        <p:nvSpPr>
          <p:cNvPr id="8195" name="Text Box 5"/>
          <p:cNvSpPr txBox="1">
            <a:spLocks noChangeArrowheads="1"/>
          </p:cNvSpPr>
          <p:nvPr/>
        </p:nvSpPr>
        <p:spPr bwMode="auto">
          <a:xfrm>
            <a:off x="3244850" y="2909888"/>
            <a:ext cx="285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负号表示减少</a:t>
            </a:r>
          </a:p>
        </p:txBody>
      </p:sp>
      <p:sp>
        <p:nvSpPr>
          <p:cNvPr id="8196" name="Text Box 7"/>
          <p:cNvSpPr txBox="1">
            <a:spLocks noChangeArrowheads="1"/>
          </p:cNvSpPr>
          <p:nvPr/>
        </p:nvSpPr>
        <p:spPr bwMode="auto">
          <a:xfrm>
            <a:off x="5991226" y="5384801"/>
            <a:ext cx="2333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（微分形式）</a:t>
            </a:r>
          </a:p>
        </p:txBody>
      </p:sp>
      <p:graphicFrame>
        <p:nvGraphicFramePr>
          <p:cNvPr id="8197" name="Object 17"/>
          <p:cNvGraphicFramePr>
            <a:graphicFrameLocks noChangeAspect="1"/>
          </p:cNvGraphicFramePr>
          <p:nvPr>
            <p:extLst>
              <p:ext uri="{D42A27DB-BD31-4B8C-83A1-F6EECF244321}">
                <p14:modId xmlns:p14="http://schemas.microsoft.com/office/powerpoint/2010/main" val="2347098756"/>
              </p:ext>
            </p:extLst>
          </p:nvPr>
        </p:nvGraphicFramePr>
        <p:xfrm>
          <a:off x="2290763" y="1423988"/>
          <a:ext cx="2709862" cy="1217612"/>
        </p:xfrm>
        <a:graphic>
          <a:graphicData uri="http://schemas.openxmlformats.org/presentationml/2006/ole">
            <mc:AlternateContent xmlns:mc="http://schemas.openxmlformats.org/markup-compatibility/2006">
              <mc:Choice xmlns:v="urn:schemas-microsoft-com:vml" Requires="v">
                <p:oleObj spid="_x0000_s8269" name="Equation" r:id="rId3" imgW="942841" imgH="400152" progId="Equation.DSMT4">
                  <p:embed/>
                </p:oleObj>
              </mc:Choice>
              <mc:Fallback>
                <p:oleObj name="Equation" r:id="rId3" imgW="942841" imgH="400152"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0763" y="1423988"/>
                        <a:ext cx="2709862" cy="1217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Line 18"/>
          <p:cNvSpPr>
            <a:spLocks noChangeShapeType="1"/>
          </p:cNvSpPr>
          <p:nvPr/>
        </p:nvSpPr>
        <p:spPr bwMode="auto">
          <a:xfrm flipH="1">
            <a:off x="4100514" y="2098676"/>
            <a:ext cx="225425" cy="900113"/>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8199" name="Text Box 19"/>
          <p:cNvSpPr txBox="1">
            <a:spLocks noChangeArrowheads="1"/>
          </p:cNvSpPr>
          <p:nvPr/>
        </p:nvSpPr>
        <p:spPr bwMode="auto">
          <a:xfrm>
            <a:off x="6261100" y="1828801"/>
            <a:ext cx="2070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积分形式</a:t>
            </a:r>
          </a:p>
        </p:txBody>
      </p:sp>
      <p:graphicFrame>
        <p:nvGraphicFramePr>
          <p:cNvPr id="8200" name="Object 20"/>
          <p:cNvGraphicFramePr>
            <a:graphicFrameLocks noChangeAspect="1"/>
          </p:cNvGraphicFramePr>
          <p:nvPr>
            <p:extLst>
              <p:ext uri="{D42A27DB-BD31-4B8C-83A1-F6EECF244321}">
                <p14:modId xmlns:p14="http://schemas.microsoft.com/office/powerpoint/2010/main" val="3822139166"/>
              </p:ext>
            </p:extLst>
          </p:nvPr>
        </p:nvGraphicFramePr>
        <p:xfrm>
          <a:off x="1204914" y="3494088"/>
          <a:ext cx="3597275" cy="2012950"/>
        </p:xfrm>
        <a:graphic>
          <a:graphicData uri="http://schemas.openxmlformats.org/presentationml/2006/ole">
            <mc:AlternateContent xmlns:mc="http://schemas.openxmlformats.org/markup-compatibility/2006">
              <mc:Choice xmlns:v="urn:schemas-microsoft-com:vml" Requires="v">
                <p:oleObj spid="_x0000_s8270" name="Equation" r:id="rId5" imgW="1447749" imgH="790507" progId="Equation.DSMT4">
                  <p:embed/>
                </p:oleObj>
              </mc:Choice>
              <mc:Fallback>
                <p:oleObj name="Equation" r:id="rId5" imgW="1447749" imgH="790507" progId="Equation.DSMT4">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4914" y="3494088"/>
                        <a:ext cx="3597275" cy="201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1" name="Object 21"/>
          <p:cNvGraphicFramePr>
            <a:graphicFrameLocks noChangeAspect="1"/>
          </p:cNvGraphicFramePr>
          <p:nvPr>
            <p:extLst>
              <p:ext uri="{D42A27DB-BD31-4B8C-83A1-F6EECF244321}">
                <p14:modId xmlns:p14="http://schemas.microsoft.com/office/powerpoint/2010/main" val="2897022541"/>
              </p:ext>
            </p:extLst>
          </p:nvPr>
        </p:nvGraphicFramePr>
        <p:xfrm>
          <a:off x="5945188" y="4079876"/>
          <a:ext cx="2133600" cy="976313"/>
        </p:xfrm>
        <a:graphic>
          <a:graphicData uri="http://schemas.openxmlformats.org/presentationml/2006/ole">
            <mc:AlternateContent xmlns:mc="http://schemas.openxmlformats.org/markup-compatibility/2006">
              <mc:Choice xmlns:v="urn:schemas-microsoft-com:vml" Requires="v">
                <p:oleObj spid="_x0000_s8271" name="Equation" r:id="rId7" imgW="838251" imgH="361882" progId="Equation.DSMT4">
                  <p:embed/>
                </p:oleObj>
              </mc:Choice>
              <mc:Fallback>
                <p:oleObj name="Equation" r:id="rId7" imgW="838251" imgH="361882" progId="Equation.DSMT4">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5188" y="4079876"/>
                        <a:ext cx="2133600"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2" name="Line 22"/>
          <p:cNvSpPr>
            <a:spLocks noChangeShapeType="1"/>
          </p:cNvSpPr>
          <p:nvPr/>
        </p:nvSpPr>
        <p:spPr bwMode="auto">
          <a:xfrm>
            <a:off x="4144964" y="4575175"/>
            <a:ext cx="1576387" cy="0"/>
          </a:xfrm>
          <a:prstGeom prst="line">
            <a:avLst/>
          </a:prstGeom>
          <a:noFill/>
          <a:ln w="5715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55340" y="257604"/>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en-US" altLang="zh-CN" sz="3600" dirty="0">
                <a:solidFill>
                  <a:srgbClr val="FF0000"/>
                </a:solidFill>
                <a:effectLst>
                  <a:outerShdw blurRad="38100" dist="38100" dir="2700000" algn="tl">
                    <a:srgbClr val="C0C0C0"/>
                  </a:outerShdw>
                </a:effectLst>
                <a:latin typeface="黑体" pitchFamily="2" charset="-122"/>
                <a:ea typeface="黑体" pitchFamily="2" charset="-122"/>
              </a:rPr>
              <a:t>2  </a:t>
            </a:r>
            <a:r>
              <a:rPr kumimoji="1" lang="zh-CN" altLang="en-US" sz="3600" dirty="0">
                <a:solidFill>
                  <a:srgbClr val="FF0000"/>
                </a:solidFill>
                <a:effectLst>
                  <a:outerShdw blurRad="38100" dist="38100" dir="2700000" algn="tl">
                    <a:srgbClr val="C0C0C0"/>
                  </a:outerShdw>
                </a:effectLst>
                <a:latin typeface="黑体" pitchFamily="2" charset="-122"/>
                <a:ea typeface="黑体" pitchFamily="2" charset="-122"/>
              </a:rPr>
              <a:t>稳恒电流</a:t>
            </a:r>
          </a:p>
        </p:txBody>
      </p:sp>
      <p:sp>
        <p:nvSpPr>
          <p:cNvPr id="9219" name="Text Box 3"/>
          <p:cNvSpPr txBox="1">
            <a:spLocks noChangeArrowheads="1"/>
          </p:cNvSpPr>
          <p:nvPr/>
        </p:nvSpPr>
        <p:spPr bwMode="auto">
          <a:xfrm>
            <a:off x="934391" y="1261716"/>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一、稳恒电流</a:t>
            </a:r>
          </a:p>
        </p:txBody>
      </p:sp>
      <p:sp>
        <p:nvSpPr>
          <p:cNvPr id="9220" name="Text Box 4"/>
          <p:cNvSpPr txBox="1">
            <a:spLocks noChangeArrowheads="1"/>
          </p:cNvSpPr>
          <p:nvPr/>
        </p:nvSpPr>
        <p:spPr bwMode="auto">
          <a:xfrm>
            <a:off x="1009003" y="2374552"/>
            <a:ext cx="26336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二、稳恒条件</a:t>
            </a:r>
          </a:p>
        </p:txBody>
      </p:sp>
      <p:graphicFrame>
        <p:nvGraphicFramePr>
          <p:cNvPr id="9221" name="Object 1024"/>
          <p:cNvGraphicFramePr>
            <a:graphicFrameLocks noChangeAspect="1"/>
          </p:cNvGraphicFramePr>
          <p:nvPr>
            <p:extLst>
              <p:ext uri="{D42A27DB-BD31-4B8C-83A1-F6EECF244321}">
                <p14:modId xmlns:p14="http://schemas.microsoft.com/office/powerpoint/2010/main" val="3405931779"/>
              </p:ext>
            </p:extLst>
          </p:nvPr>
        </p:nvGraphicFramePr>
        <p:xfrm>
          <a:off x="7224065" y="4431952"/>
          <a:ext cx="990600" cy="738188"/>
        </p:xfrm>
        <a:graphic>
          <a:graphicData uri="http://schemas.openxmlformats.org/presentationml/2006/ole">
            <mc:AlternateContent xmlns:mc="http://schemas.openxmlformats.org/markup-compatibility/2006">
              <mc:Choice xmlns:v="urn:schemas-microsoft-com:vml" Requires="v">
                <p:oleObj spid="_x0000_s9319" name="公式" r:id="rId3" imgW="495427" imgH="361882" progId="Equation.3">
                  <p:embed/>
                </p:oleObj>
              </mc:Choice>
              <mc:Fallback>
                <p:oleObj name="公式" r:id="rId3" imgW="495427" imgH="361882"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4065" y="4431952"/>
                        <a:ext cx="990600" cy="73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2" name="Rectangle 6"/>
          <p:cNvSpPr>
            <a:spLocks noChangeArrowheads="1"/>
          </p:cNvSpPr>
          <p:nvPr/>
        </p:nvSpPr>
        <p:spPr bwMode="auto">
          <a:xfrm>
            <a:off x="1432865" y="5041553"/>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稳恒条件：</a:t>
            </a:r>
          </a:p>
        </p:txBody>
      </p:sp>
      <p:sp>
        <p:nvSpPr>
          <p:cNvPr id="9223" name="Rectangle 7"/>
          <p:cNvSpPr>
            <a:spLocks noChangeArrowheads="1"/>
          </p:cNvSpPr>
          <p:nvPr/>
        </p:nvSpPr>
        <p:spPr bwMode="auto">
          <a:xfrm>
            <a:off x="899465" y="2907953"/>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a:t>
            </a:r>
            <a:r>
              <a:rPr kumimoji="1" lang="zh-CN" altLang="en-US" sz="2800">
                <a:solidFill>
                  <a:srgbClr val="0000FF"/>
                </a:solidFill>
                <a:latin typeface="Times New Roman" panose="02020603050405020304" pitchFamily="18" charset="0"/>
              </a:rPr>
              <a:t>稳恒条件</a:t>
            </a:r>
          </a:p>
        </p:txBody>
      </p:sp>
      <p:sp>
        <p:nvSpPr>
          <p:cNvPr id="9224" name="Rectangle 8"/>
          <p:cNvSpPr>
            <a:spLocks noChangeArrowheads="1"/>
          </p:cNvSpPr>
          <p:nvPr/>
        </p:nvSpPr>
        <p:spPr bwMode="auto">
          <a:xfrm>
            <a:off x="1204265" y="4508153"/>
            <a:ext cx="5805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zh-CN" sz="2800">
                <a:solidFill>
                  <a:srgbClr val="0000FF"/>
                </a:solidFill>
                <a:latin typeface="Times New Roman" panose="02020603050405020304" pitchFamily="18" charset="0"/>
              </a:rPr>
              <a:t>则在电流场内作一任意闭合</a:t>
            </a:r>
            <a:r>
              <a:rPr kumimoji="1" lang="en-US" altLang="zh-CN" sz="2800">
                <a:solidFill>
                  <a:srgbClr val="0000FF"/>
                </a:solidFill>
                <a:latin typeface="Times New Roman" panose="02020603050405020304" pitchFamily="18" charset="0"/>
              </a:rPr>
              <a:t>S </a:t>
            </a:r>
            <a:r>
              <a:rPr kumimoji="1" lang="zh-CN" altLang="zh-CN" sz="2800">
                <a:solidFill>
                  <a:srgbClr val="0000FF"/>
                </a:solidFill>
                <a:latin typeface="Times New Roman" panose="02020603050405020304" pitchFamily="18" charset="0"/>
              </a:rPr>
              <a:t>面，有</a:t>
            </a:r>
            <a:endParaRPr kumimoji="1" lang="zh-CN" altLang="en-US" sz="2800">
              <a:solidFill>
                <a:srgbClr val="0000FF"/>
              </a:solidFill>
              <a:latin typeface="Times New Roman" panose="02020603050405020304" pitchFamily="18" charset="0"/>
            </a:endParaRPr>
          </a:p>
        </p:txBody>
      </p:sp>
      <p:sp>
        <p:nvSpPr>
          <p:cNvPr id="9225" name="Rectangle 10"/>
          <p:cNvSpPr>
            <a:spLocks noChangeArrowheads="1"/>
          </p:cNvSpPr>
          <p:nvPr/>
        </p:nvSpPr>
        <p:spPr bwMode="auto">
          <a:xfrm>
            <a:off x="1204265" y="3547715"/>
            <a:ext cx="106073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若电流场内    不随时间</a:t>
            </a:r>
            <a:r>
              <a:rPr kumimoji="1" lang="en-US" altLang="zh-CN" sz="2800" dirty="0">
                <a:solidFill>
                  <a:srgbClr val="0000FF"/>
                </a:solidFill>
                <a:latin typeface="Times New Roman" panose="02020603050405020304" pitchFamily="18" charset="0"/>
              </a:rPr>
              <a:t>t </a:t>
            </a:r>
            <a:r>
              <a:rPr kumimoji="1" lang="zh-CN" altLang="zh-CN" sz="2800" dirty="0">
                <a:solidFill>
                  <a:srgbClr val="0000FF"/>
                </a:solidFill>
                <a:latin typeface="Times New Roman" panose="02020603050405020304" pitchFamily="18" charset="0"/>
              </a:rPr>
              <a:t>变</a:t>
            </a:r>
            <a:r>
              <a:rPr kumimoji="1" lang="zh-CN" altLang="zh-CN" sz="2800" dirty="0">
                <a:solidFill>
                  <a:srgbClr val="0000FF"/>
                </a:solidFill>
                <a:latin typeface="Times New Roman" panose="02020603050405020304" pitchFamily="18" charset="0"/>
                <a:sym typeface="Symbol" panose="05050102010706020507" pitchFamily="18" charset="2"/>
              </a:rPr>
              <a:t> 要求空间电荷分布不随时间</a:t>
            </a:r>
            <a:r>
              <a:rPr kumimoji="1" lang="en-US" altLang="zh-CN" sz="2800" dirty="0">
                <a:solidFill>
                  <a:srgbClr val="0000FF"/>
                </a:solidFill>
                <a:latin typeface="Times New Roman" panose="02020603050405020304" pitchFamily="18" charset="0"/>
                <a:sym typeface="Symbol" panose="05050102010706020507" pitchFamily="18" charset="2"/>
              </a:rPr>
              <a:t>t </a:t>
            </a:r>
            <a:r>
              <a:rPr kumimoji="1" lang="zh-CN" altLang="zh-CN" sz="2800" dirty="0">
                <a:solidFill>
                  <a:srgbClr val="0000FF"/>
                </a:solidFill>
                <a:latin typeface="Times New Roman" panose="02020603050405020304" pitchFamily="18" charset="0"/>
                <a:sym typeface="Symbol" panose="05050102010706020507" pitchFamily="18" charset="2"/>
              </a:rPr>
              <a:t>变</a:t>
            </a:r>
            <a:endParaRPr kumimoji="1" lang="zh-CN" altLang="en-US" sz="2800" dirty="0">
              <a:solidFill>
                <a:srgbClr val="0000FF"/>
              </a:solidFill>
              <a:latin typeface="Times New Roman" panose="02020603050405020304" pitchFamily="18" charset="0"/>
            </a:endParaRPr>
          </a:p>
        </p:txBody>
      </p:sp>
      <p:graphicFrame>
        <p:nvGraphicFramePr>
          <p:cNvPr id="9226" name="Object 1025"/>
          <p:cNvGraphicFramePr>
            <a:graphicFrameLocks noChangeAspect="1"/>
          </p:cNvGraphicFramePr>
          <p:nvPr>
            <p:extLst>
              <p:ext uri="{D42A27DB-BD31-4B8C-83A1-F6EECF244321}">
                <p14:modId xmlns:p14="http://schemas.microsoft.com/office/powerpoint/2010/main" val="2636523369"/>
              </p:ext>
            </p:extLst>
          </p:nvPr>
        </p:nvGraphicFramePr>
        <p:xfrm>
          <a:off x="3185466" y="3517552"/>
          <a:ext cx="155575" cy="520700"/>
        </p:xfrm>
        <a:graphic>
          <a:graphicData uri="http://schemas.openxmlformats.org/presentationml/2006/ole">
            <mc:AlternateContent xmlns:mc="http://schemas.openxmlformats.org/markup-compatibility/2006">
              <mc:Choice xmlns:v="urn:schemas-microsoft-com:vml" Requires="v">
                <p:oleObj spid="_x0000_s9320" name="公式" r:id="rId5" imgW="95110" imgH="180941" progId="Equation.3">
                  <p:embed/>
                </p:oleObj>
              </mc:Choice>
              <mc:Fallback>
                <p:oleObj name="公式" r:id="rId5" imgW="95110" imgH="180941"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5466" y="3517552"/>
                        <a:ext cx="155575"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7" name="Text Box 13"/>
          <p:cNvSpPr txBox="1">
            <a:spLocks noChangeArrowheads="1"/>
          </p:cNvSpPr>
          <p:nvPr/>
        </p:nvSpPr>
        <p:spPr bwMode="auto">
          <a:xfrm>
            <a:off x="969315" y="1806228"/>
            <a:ext cx="8540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电流场中每一点的     的大小和方向均不随时间改变。 </a:t>
            </a:r>
          </a:p>
        </p:txBody>
      </p:sp>
      <p:graphicFrame>
        <p:nvGraphicFramePr>
          <p:cNvPr id="9228" name="Object 1026"/>
          <p:cNvGraphicFramePr>
            <a:graphicFrameLocks noChangeAspect="1"/>
          </p:cNvGraphicFramePr>
          <p:nvPr>
            <p:extLst>
              <p:ext uri="{D42A27DB-BD31-4B8C-83A1-F6EECF244321}">
                <p14:modId xmlns:p14="http://schemas.microsoft.com/office/powerpoint/2010/main" val="1286896382"/>
              </p:ext>
            </p:extLst>
          </p:nvPr>
        </p:nvGraphicFramePr>
        <p:xfrm>
          <a:off x="3947465" y="1841152"/>
          <a:ext cx="317500" cy="520700"/>
        </p:xfrm>
        <a:graphic>
          <a:graphicData uri="http://schemas.openxmlformats.org/presentationml/2006/ole">
            <mc:AlternateContent xmlns:mc="http://schemas.openxmlformats.org/markup-compatibility/2006">
              <mc:Choice xmlns:v="urn:schemas-microsoft-com:vml" Requires="v">
                <p:oleObj spid="_x0000_s9321" name="公式" r:id="rId7" imgW="95110" imgH="180941" progId="Equation.3">
                  <p:embed/>
                </p:oleObj>
              </mc:Choice>
              <mc:Fallback>
                <p:oleObj name="公式" r:id="rId7" imgW="95110" imgH="180941"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7465" y="1841152"/>
                        <a:ext cx="3175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9" name="Object 1027"/>
          <p:cNvGraphicFramePr>
            <a:graphicFrameLocks noChangeAspect="1"/>
          </p:cNvGraphicFramePr>
          <p:nvPr>
            <p:extLst>
              <p:ext uri="{D42A27DB-BD31-4B8C-83A1-F6EECF244321}">
                <p14:modId xmlns:p14="http://schemas.microsoft.com/office/powerpoint/2010/main" val="2207560126"/>
              </p:ext>
            </p:extLst>
          </p:nvPr>
        </p:nvGraphicFramePr>
        <p:xfrm>
          <a:off x="3414066" y="5041553"/>
          <a:ext cx="1312863" cy="530225"/>
        </p:xfrm>
        <a:graphic>
          <a:graphicData uri="http://schemas.openxmlformats.org/presentationml/2006/ole">
            <mc:AlternateContent xmlns:mc="http://schemas.openxmlformats.org/markup-compatibility/2006">
              <mc:Choice xmlns:v="urn:schemas-microsoft-com:vml" Requires="v">
                <p:oleObj spid="_x0000_s9322" name="公式" r:id="rId9" imgW="676167" imgH="247684" progId="Equation.3">
                  <p:embed/>
                </p:oleObj>
              </mc:Choice>
              <mc:Fallback>
                <p:oleObj name="公式" r:id="rId9" imgW="676167" imgH="247684"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14066" y="5041553"/>
                        <a:ext cx="1312863"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0" name="Rectangle 16"/>
          <p:cNvSpPr>
            <a:spLocks noChangeArrowheads="1"/>
          </p:cNvSpPr>
          <p:nvPr/>
        </p:nvSpPr>
        <p:spPr bwMode="auto">
          <a:xfrm>
            <a:off x="1280465" y="5589240"/>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稳恒电流的闭合性：</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Text Box 4"/>
          <p:cNvSpPr txBox="1">
            <a:spLocks noChangeArrowheads="1"/>
          </p:cNvSpPr>
          <p:nvPr/>
        </p:nvSpPr>
        <p:spPr bwMode="auto">
          <a:xfrm>
            <a:off x="5060951" y="503238"/>
            <a:ext cx="2333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（微分形式）</a:t>
            </a:r>
          </a:p>
        </p:txBody>
      </p:sp>
      <p:graphicFrame>
        <p:nvGraphicFramePr>
          <p:cNvPr id="10243" name="Object 5"/>
          <p:cNvGraphicFramePr>
            <a:graphicFrameLocks noChangeAspect="1"/>
          </p:cNvGraphicFramePr>
          <p:nvPr>
            <p:extLst>
              <p:ext uri="{D42A27DB-BD31-4B8C-83A1-F6EECF244321}">
                <p14:modId xmlns:p14="http://schemas.microsoft.com/office/powerpoint/2010/main" val="3845710161"/>
              </p:ext>
            </p:extLst>
          </p:nvPr>
        </p:nvGraphicFramePr>
        <p:xfrm>
          <a:off x="2395538" y="1314451"/>
          <a:ext cx="2709862" cy="1217613"/>
        </p:xfrm>
        <a:graphic>
          <a:graphicData uri="http://schemas.openxmlformats.org/presentationml/2006/ole">
            <mc:AlternateContent xmlns:mc="http://schemas.openxmlformats.org/markup-compatibility/2006">
              <mc:Choice xmlns:v="urn:schemas-microsoft-com:vml" Requires="v">
                <p:oleObj spid="_x0000_s10363" name="Equation" r:id="rId3" imgW="942841" imgH="400152" progId="Equation.DSMT4">
                  <p:embed/>
                </p:oleObj>
              </mc:Choice>
              <mc:Fallback>
                <p:oleObj name="Equation" r:id="rId3" imgW="942841" imgH="400152"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5538" y="1314451"/>
                        <a:ext cx="2709862" cy="1217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4" name="Text Box 7"/>
          <p:cNvSpPr txBox="1">
            <a:spLocks noChangeArrowheads="1"/>
          </p:cNvSpPr>
          <p:nvPr/>
        </p:nvSpPr>
        <p:spPr bwMode="auto">
          <a:xfrm>
            <a:off x="5465763" y="1719263"/>
            <a:ext cx="2070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积分形式</a:t>
            </a:r>
          </a:p>
        </p:txBody>
      </p:sp>
      <p:graphicFrame>
        <p:nvGraphicFramePr>
          <p:cNvPr id="10245" name="Object 9"/>
          <p:cNvGraphicFramePr>
            <a:graphicFrameLocks noChangeAspect="1"/>
          </p:cNvGraphicFramePr>
          <p:nvPr>
            <p:extLst>
              <p:ext uri="{D42A27DB-BD31-4B8C-83A1-F6EECF244321}">
                <p14:modId xmlns:p14="http://schemas.microsoft.com/office/powerpoint/2010/main" val="2688379426"/>
              </p:ext>
            </p:extLst>
          </p:nvPr>
        </p:nvGraphicFramePr>
        <p:xfrm>
          <a:off x="2720975" y="323851"/>
          <a:ext cx="2133600" cy="976313"/>
        </p:xfrm>
        <a:graphic>
          <a:graphicData uri="http://schemas.openxmlformats.org/presentationml/2006/ole">
            <mc:AlternateContent xmlns:mc="http://schemas.openxmlformats.org/markup-compatibility/2006">
              <mc:Choice xmlns:v="urn:schemas-microsoft-com:vml" Requires="v">
                <p:oleObj spid="_x0000_s10364" name="Equation" r:id="rId5" imgW="838251" imgH="361882" progId="Equation.DSMT4">
                  <p:embed/>
                </p:oleObj>
              </mc:Choice>
              <mc:Fallback>
                <p:oleObj name="Equation" r:id="rId5" imgW="838251" imgH="361882"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0975" y="323851"/>
                        <a:ext cx="2133600"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Line 10"/>
          <p:cNvSpPr>
            <a:spLocks noChangeShapeType="1"/>
          </p:cNvSpPr>
          <p:nvPr/>
        </p:nvSpPr>
        <p:spPr bwMode="auto">
          <a:xfrm>
            <a:off x="3800475" y="3429000"/>
            <a:ext cx="1576388" cy="0"/>
          </a:xfrm>
          <a:prstGeom prst="line">
            <a:avLst/>
          </a:prstGeom>
          <a:noFill/>
          <a:ln w="5715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247" name="Object 11"/>
          <p:cNvGraphicFramePr>
            <a:graphicFrameLocks noChangeAspect="1"/>
          </p:cNvGraphicFramePr>
          <p:nvPr>
            <p:extLst>
              <p:ext uri="{D42A27DB-BD31-4B8C-83A1-F6EECF244321}">
                <p14:modId xmlns:p14="http://schemas.microsoft.com/office/powerpoint/2010/main" val="3469861648"/>
              </p:ext>
            </p:extLst>
          </p:nvPr>
        </p:nvGraphicFramePr>
        <p:xfrm>
          <a:off x="2405064" y="2933701"/>
          <a:ext cx="1127125" cy="976313"/>
        </p:xfrm>
        <a:graphic>
          <a:graphicData uri="http://schemas.openxmlformats.org/presentationml/2006/ole">
            <mc:AlternateContent xmlns:mc="http://schemas.openxmlformats.org/markup-compatibility/2006">
              <mc:Choice xmlns:v="urn:schemas-microsoft-com:vml" Requires="v">
                <p:oleObj spid="_x0000_s10365" name="Equation" r:id="rId7" imgW="418973" imgH="361882" progId="Equation.DSMT4">
                  <p:embed/>
                </p:oleObj>
              </mc:Choice>
              <mc:Fallback>
                <p:oleObj name="Equation" r:id="rId7" imgW="418973" imgH="361882"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5064" y="2933701"/>
                        <a:ext cx="1127125"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8" name="Object 12"/>
          <p:cNvGraphicFramePr>
            <a:graphicFrameLocks noChangeAspect="1"/>
          </p:cNvGraphicFramePr>
          <p:nvPr>
            <p:extLst>
              <p:ext uri="{D42A27DB-BD31-4B8C-83A1-F6EECF244321}">
                <p14:modId xmlns:p14="http://schemas.microsoft.com/office/powerpoint/2010/main" val="114705268"/>
              </p:ext>
            </p:extLst>
          </p:nvPr>
        </p:nvGraphicFramePr>
        <p:xfrm>
          <a:off x="5995989" y="3148014"/>
          <a:ext cx="1341437" cy="547687"/>
        </p:xfrm>
        <a:graphic>
          <a:graphicData uri="http://schemas.openxmlformats.org/presentationml/2006/ole">
            <mc:AlternateContent xmlns:mc="http://schemas.openxmlformats.org/markup-compatibility/2006">
              <mc:Choice xmlns:v="urn:schemas-microsoft-com:vml" Requires="v">
                <p:oleObj spid="_x0000_s10366" name="Equation" r:id="rId9" imgW="514388" imgH="180941" progId="Equation.DSMT4">
                  <p:embed/>
                </p:oleObj>
              </mc:Choice>
              <mc:Fallback>
                <p:oleObj name="Equation" r:id="rId9" imgW="514388" imgH="180941"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95989" y="3148014"/>
                        <a:ext cx="1341437" cy="54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9" name="Object 13"/>
          <p:cNvGraphicFramePr>
            <a:graphicFrameLocks noChangeAspect="1"/>
          </p:cNvGraphicFramePr>
          <p:nvPr>
            <p:extLst>
              <p:ext uri="{D42A27DB-BD31-4B8C-83A1-F6EECF244321}">
                <p14:modId xmlns:p14="http://schemas.microsoft.com/office/powerpoint/2010/main" val="2047971749"/>
              </p:ext>
            </p:extLst>
          </p:nvPr>
        </p:nvGraphicFramePr>
        <p:xfrm>
          <a:off x="5826126" y="4284664"/>
          <a:ext cx="2189163" cy="1044575"/>
        </p:xfrm>
        <a:graphic>
          <a:graphicData uri="http://schemas.openxmlformats.org/presentationml/2006/ole">
            <mc:AlternateContent xmlns:mc="http://schemas.openxmlformats.org/markup-compatibility/2006">
              <mc:Choice xmlns:v="urn:schemas-microsoft-com:vml" Requires="v">
                <p:oleObj spid="_x0000_s10367" name="Equation" r:id="rId11" imgW="752622" imgH="333409" progId="Equation.DSMT4">
                  <p:embed/>
                </p:oleObj>
              </mc:Choice>
              <mc:Fallback>
                <p:oleObj name="Equation" r:id="rId11" imgW="752622" imgH="333409"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6126" y="4284664"/>
                        <a:ext cx="2189163"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0" name="Text Box 14"/>
          <p:cNvSpPr txBox="1">
            <a:spLocks noChangeArrowheads="1"/>
          </p:cNvSpPr>
          <p:nvPr/>
        </p:nvSpPr>
        <p:spPr bwMode="auto">
          <a:xfrm>
            <a:off x="7986713" y="3833813"/>
            <a:ext cx="2070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稳恒条件</a:t>
            </a:r>
          </a:p>
        </p:txBody>
      </p:sp>
      <p:sp>
        <p:nvSpPr>
          <p:cNvPr id="10251" name="Text Box 15"/>
          <p:cNvSpPr txBox="1">
            <a:spLocks noChangeArrowheads="1"/>
          </p:cNvSpPr>
          <p:nvPr/>
        </p:nvSpPr>
        <p:spPr bwMode="auto">
          <a:xfrm>
            <a:off x="2225676" y="5273676"/>
            <a:ext cx="4994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稳恒电流线是连续的闭合曲线</a:t>
            </a:r>
          </a:p>
        </p:txBody>
      </p:sp>
      <p:sp>
        <p:nvSpPr>
          <p:cNvPr id="10252" name="Text Box 16"/>
          <p:cNvSpPr txBox="1">
            <a:spLocks noChangeArrowheads="1"/>
          </p:cNvSpPr>
          <p:nvPr/>
        </p:nvSpPr>
        <p:spPr bwMode="auto">
          <a:xfrm>
            <a:off x="2405064" y="5994401"/>
            <a:ext cx="180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电流线管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537128" y="380349"/>
            <a:ext cx="10981220" cy="571500"/>
          </a:xfrm>
          <a:prstGeom prst="rect">
            <a:avLst/>
          </a:prstGeom>
          <a:noFill/>
          <a:ln w="9525">
            <a:noFill/>
            <a:miter lim="800000"/>
            <a:headEnd/>
            <a:tailEnd/>
          </a:ln>
          <a:effectLst/>
        </p:spPr>
        <p:txBody>
          <a:bodyPr lIns="92075" tIns="46038" rIns="92075" bIns="46038" anchor="ctr"/>
          <a:lstStyle/>
          <a:p>
            <a:pPr eaLnBrk="1" hangingPunct="1">
              <a:defRPr/>
            </a:pPr>
            <a:r>
              <a:rPr kumimoji="1" lang="en-US" altLang="zh-CN" sz="3600" dirty="0">
                <a:solidFill>
                  <a:srgbClr val="FF0000"/>
                </a:solidFill>
                <a:effectLst>
                  <a:outerShdw blurRad="38100" dist="38100" dir="2700000" algn="tl">
                    <a:srgbClr val="C0C0C0"/>
                  </a:outerShdw>
                </a:effectLst>
                <a:latin typeface="黑体" pitchFamily="2" charset="-122"/>
                <a:ea typeface="黑体" pitchFamily="2" charset="-122"/>
              </a:rPr>
              <a:t>3  </a:t>
            </a:r>
            <a:r>
              <a:rPr kumimoji="1" lang="zh-CN" altLang="en-US" sz="3600" dirty="0">
                <a:solidFill>
                  <a:srgbClr val="FF0000"/>
                </a:solidFill>
                <a:effectLst>
                  <a:outerShdw blurRad="38100" dist="38100" dir="2700000" algn="tl">
                    <a:srgbClr val="C0C0C0"/>
                  </a:outerShdw>
                </a:effectLst>
                <a:latin typeface="黑体" pitchFamily="2" charset="-122"/>
                <a:ea typeface="黑体" pitchFamily="2" charset="-122"/>
              </a:rPr>
              <a:t>欧姆定律和焦耳定律的微分形式</a:t>
            </a:r>
          </a:p>
        </p:txBody>
      </p:sp>
      <p:sp>
        <p:nvSpPr>
          <p:cNvPr id="11267" name="Text Box 3"/>
          <p:cNvSpPr txBox="1">
            <a:spLocks noChangeArrowheads="1"/>
          </p:cNvSpPr>
          <p:nvPr/>
        </p:nvSpPr>
        <p:spPr bwMode="auto">
          <a:xfrm>
            <a:off x="606671" y="1171302"/>
            <a:ext cx="46720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一、欧姆定律的微分形式</a:t>
            </a:r>
          </a:p>
        </p:txBody>
      </p:sp>
      <p:sp>
        <p:nvSpPr>
          <p:cNvPr id="11268" name="Text Box 4"/>
          <p:cNvSpPr txBox="1">
            <a:spLocks noChangeArrowheads="1"/>
          </p:cNvSpPr>
          <p:nvPr/>
        </p:nvSpPr>
        <p:spPr bwMode="auto">
          <a:xfrm>
            <a:off x="1511300" y="1863452"/>
            <a:ext cx="989529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在导体的电流场中设想取出一小圆柱体（长</a:t>
            </a:r>
            <a:r>
              <a:rPr kumimoji="1" lang="en-US" altLang="zh-CN" sz="2800" dirty="0">
                <a:solidFill>
                  <a:srgbClr val="0000FF"/>
                </a:solidFill>
                <a:latin typeface="Times New Roman" panose="02020603050405020304" pitchFamily="18" charset="0"/>
              </a:rPr>
              <a:t>d</a:t>
            </a:r>
            <a:r>
              <a:rPr kumimoji="1" lang="en-US" altLang="zh-CN" sz="2800" i="1" dirty="0">
                <a:solidFill>
                  <a:srgbClr val="0000FF"/>
                </a:solidFill>
                <a:latin typeface="Times New Roman" panose="02020603050405020304" pitchFamily="18" charset="0"/>
              </a:rPr>
              <a:t>l</a:t>
            </a:r>
            <a:r>
              <a:rPr kumimoji="1" lang="en-US" altLang="zh-CN" sz="2800" dirty="0">
                <a:solidFill>
                  <a:srgbClr val="0000FF"/>
                </a:solidFill>
                <a:latin typeface="Times New Roman" panose="02020603050405020304" pitchFamily="18" charset="0"/>
              </a:rPr>
              <a:t> </a:t>
            </a:r>
            <a:r>
              <a:rPr kumimoji="1" lang="zh-CN" altLang="en-US" sz="2800" dirty="0">
                <a:solidFill>
                  <a:srgbClr val="0000FF"/>
                </a:solidFill>
                <a:latin typeface="Times New Roman" panose="02020603050405020304" pitchFamily="18" charset="0"/>
              </a:rPr>
              <a:t>，</a:t>
            </a:r>
            <a:r>
              <a:rPr kumimoji="1" lang="zh-CN" altLang="zh-CN" sz="2800" dirty="0">
                <a:solidFill>
                  <a:srgbClr val="0000FF"/>
                </a:solidFill>
                <a:latin typeface="Times New Roman" panose="02020603050405020304" pitchFamily="18" charset="0"/>
              </a:rPr>
              <a:t>横截面</a:t>
            </a:r>
            <a:r>
              <a:rPr kumimoji="1" lang="en-US" altLang="zh-CN" sz="2800" dirty="0" err="1">
                <a:solidFill>
                  <a:srgbClr val="0000FF"/>
                </a:solidFill>
                <a:latin typeface="Times New Roman" panose="02020603050405020304" pitchFamily="18" charset="0"/>
              </a:rPr>
              <a:t>d</a:t>
            </a:r>
            <a:r>
              <a:rPr kumimoji="1" lang="en-US" altLang="zh-CN" sz="2800" i="1" dirty="0" err="1">
                <a:solidFill>
                  <a:srgbClr val="0000FF"/>
                </a:solidFill>
                <a:latin typeface="Times New Roman" panose="02020603050405020304" pitchFamily="18" charset="0"/>
              </a:rPr>
              <a:t>S</a:t>
            </a:r>
            <a:r>
              <a:rPr kumimoji="1" lang="zh-CN" altLang="en-US" sz="2800" dirty="0">
                <a:solidFill>
                  <a:srgbClr val="0000FF"/>
                </a:solidFill>
                <a:latin typeface="Times New Roman" panose="02020603050405020304" pitchFamily="18" charset="0"/>
              </a:rPr>
              <a:t>） </a:t>
            </a:r>
          </a:p>
        </p:txBody>
      </p:sp>
      <p:sp>
        <p:nvSpPr>
          <p:cNvPr id="11269" name="Rectangle 5"/>
          <p:cNvSpPr>
            <a:spLocks noChangeArrowheads="1"/>
          </p:cNvSpPr>
          <p:nvPr/>
        </p:nvSpPr>
        <p:spPr bwMode="auto">
          <a:xfrm>
            <a:off x="1623218" y="2630489"/>
            <a:ext cx="59928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dirty="0" err="1">
                <a:solidFill>
                  <a:srgbClr val="0000FF"/>
                </a:solidFill>
                <a:latin typeface="Times New Roman" panose="02020603050405020304" pitchFamily="18" charset="0"/>
              </a:rPr>
              <a:t>d</a:t>
            </a:r>
            <a:r>
              <a:rPr kumimoji="1" lang="en-US" altLang="zh-CN" sz="2800" i="1" dirty="0" err="1">
                <a:solidFill>
                  <a:srgbClr val="0000FF"/>
                </a:solidFill>
                <a:latin typeface="Times New Roman" panose="02020603050405020304" pitchFamily="18" charset="0"/>
              </a:rPr>
              <a:t>U</a:t>
            </a:r>
            <a:r>
              <a:rPr kumimoji="1" lang="en-US" altLang="zh-CN" sz="2800" dirty="0">
                <a:solidFill>
                  <a:srgbClr val="0000FF"/>
                </a:solidFill>
                <a:latin typeface="Times New Roman" panose="02020603050405020304" pitchFamily="18" charset="0"/>
              </a:rPr>
              <a:t> </a:t>
            </a:r>
            <a:r>
              <a:rPr kumimoji="1" lang="en-US" altLang="zh-CN" sz="2800" dirty="0">
                <a:solidFill>
                  <a:srgbClr val="0000FF"/>
                </a:solidFill>
                <a:latin typeface="Times New Roman" panose="02020603050405020304" pitchFamily="18" charset="0"/>
                <a:sym typeface="Symbol" panose="05050102010706020507" pitchFamily="18" charset="2"/>
              </a:rPr>
              <a:t> </a:t>
            </a:r>
            <a:r>
              <a:rPr kumimoji="1" lang="zh-CN" altLang="zh-CN" sz="2800" dirty="0">
                <a:solidFill>
                  <a:srgbClr val="0000FF"/>
                </a:solidFill>
                <a:latin typeface="Times New Roman" panose="02020603050405020304" pitchFamily="18" charset="0"/>
                <a:sym typeface="Symbol" panose="05050102010706020507" pitchFamily="18" charset="2"/>
              </a:rPr>
              <a:t>小柱体两端的电压；</a:t>
            </a:r>
          </a:p>
          <a:p>
            <a:pPr eaLnBrk="1" hangingPunct="1">
              <a:spcBef>
                <a:spcPct val="0"/>
              </a:spcBef>
              <a:buFontTx/>
              <a:buNone/>
            </a:pPr>
            <a:r>
              <a:rPr kumimoji="1" lang="en-US" altLang="zh-CN" sz="2800" dirty="0" err="1">
                <a:solidFill>
                  <a:srgbClr val="0000FF"/>
                </a:solidFill>
                <a:latin typeface="Times New Roman" panose="02020603050405020304" pitchFamily="18" charset="0"/>
              </a:rPr>
              <a:t>d</a:t>
            </a:r>
            <a:r>
              <a:rPr kumimoji="1" lang="en-US" altLang="zh-CN" sz="2800" i="1" dirty="0" err="1">
                <a:solidFill>
                  <a:srgbClr val="0000FF"/>
                </a:solidFill>
                <a:latin typeface="Times New Roman" panose="02020603050405020304" pitchFamily="18" charset="0"/>
              </a:rPr>
              <a:t>I</a:t>
            </a:r>
            <a:r>
              <a:rPr kumimoji="1" lang="en-US" altLang="zh-CN" sz="2800" dirty="0">
                <a:solidFill>
                  <a:srgbClr val="0000FF"/>
                </a:solidFill>
                <a:latin typeface="Times New Roman" panose="02020603050405020304" pitchFamily="18" charset="0"/>
              </a:rPr>
              <a:t> </a:t>
            </a:r>
            <a:r>
              <a:rPr kumimoji="1" lang="en-US" altLang="zh-CN" sz="2800" dirty="0">
                <a:solidFill>
                  <a:srgbClr val="0000FF"/>
                </a:solidFill>
                <a:latin typeface="Times New Roman" panose="02020603050405020304" pitchFamily="18" charset="0"/>
                <a:sym typeface="Symbol" panose="05050102010706020507" pitchFamily="18" charset="2"/>
              </a:rPr>
              <a:t> </a:t>
            </a:r>
            <a:r>
              <a:rPr kumimoji="1" lang="zh-CN" altLang="zh-CN" sz="2800" dirty="0">
                <a:solidFill>
                  <a:srgbClr val="0000FF"/>
                </a:solidFill>
                <a:latin typeface="Times New Roman" panose="02020603050405020304" pitchFamily="18" charset="0"/>
                <a:sym typeface="Symbol" panose="05050102010706020507" pitchFamily="18" charset="2"/>
              </a:rPr>
              <a:t>小柱体中的电流强度由欧姆定律</a:t>
            </a:r>
            <a:endParaRPr kumimoji="1" lang="zh-CN" altLang="en-US" sz="2800" dirty="0">
              <a:solidFill>
                <a:srgbClr val="0000FF"/>
              </a:solidFill>
              <a:latin typeface="Times New Roman" panose="02020603050405020304" pitchFamily="18" charset="0"/>
              <a:sym typeface="Symbol" panose="05050102010706020507" pitchFamily="18" charset="2"/>
            </a:endParaRPr>
          </a:p>
        </p:txBody>
      </p:sp>
      <p:graphicFrame>
        <p:nvGraphicFramePr>
          <p:cNvPr id="11270" name="Object 7"/>
          <p:cNvGraphicFramePr>
            <a:graphicFrameLocks noChangeAspect="1"/>
          </p:cNvGraphicFramePr>
          <p:nvPr>
            <p:extLst>
              <p:ext uri="{D42A27DB-BD31-4B8C-83A1-F6EECF244321}">
                <p14:modId xmlns:p14="http://schemas.microsoft.com/office/powerpoint/2010/main" val="2402682404"/>
              </p:ext>
            </p:extLst>
          </p:nvPr>
        </p:nvGraphicFramePr>
        <p:xfrm>
          <a:off x="2736850" y="4292602"/>
          <a:ext cx="1314450" cy="320675"/>
        </p:xfrm>
        <a:graphic>
          <a:graphicData uri="http://schemas.openxmlformats.org/presentationml/2006/ole">
            <mc:AlternateContent xmlns:mc="http://schemas.openxmlformats.org/markup-compatibility/2006">
              <mc:Choice xmlns:v="urn:schemas-microsoft-com:vml" Requires="v">
                <p:oleObj spid="_x0000_s11374" name="公式" r:id="rId3" imgW="676167" imgH="133486" progId="Equation.3">
                  <p:embed/>
                </p:oleObj>
              </mc:Choice>
              <mc:Fallback>
                <p:oleObj name="公式" r:id="rId3" imgW="676167" imgH="133486"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6850" y="4292602"/>
                        <a:ext cx="131445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1" name="Object 8"/>
          <p:cNvGraphicFramePr>
            <a:graphicFrameLocks noChangeAspect="1"/>
          </p:cNvGraphicFramePr>
          <p:nvPr>
            <p:extLst>
              <p:ext uri="{D42A27DB-BD31-4B8C-83A1-F6EECF244321}">
                <p14:modId xmlns:p14="http://schemas.microsoft.com/office/powerpoint/2010/main" val="1364972180"/>
              </p:ext>
            </p:extLst>
          </p:nvPr>
        </p:nvGraphicFramePr>
        <p:xfrm>
          <a:off x="2420938" y="4702176"/>
          <a:ext cx="2381250" cy="368300"/>
        </p:xfrm>
        <a:graphic>
          <a:graphicData uri="http://schemas.openxmlformats.org/presentationml/2006/ole">
            <mc:AlternateContent xmlns:mc="http://schemas.openxmlformats.org/markup-compatibility/2006">
              <mc:Choice xmlns:v="urn:schemas-microsoft-com:vml" Requires="v">
                <p:oleObj spid="_x0000_s11375" name="公式" r:id="rId5" imgW="1257224" imgH="152468" progId="Equation.3">
                  <p:embed/>
                </p:oleObj>
              </mc:Choice>
              <mc:Fallback>
                <p:oleObj name="公式" r:id="rId5" imgW="1257224" imgH="152468"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0938" y="4702176"/>
                        <a:ext cx="23812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9"/>
          <p:cNvGraphicFramePr>
            <a:graphicFrameLocks noChangeAspect="1"/>
          </p:cNvGraphicFramePr>
          <p:nvPr>
            <p:extLst>
              <p:ext uri="{D42A27DB-BD31-4B8C-83A1-F6EECF244321}">
                <p14:modId xmlns:p14="http://schemas.microsoft.com/office/powerpoint/2010/main" val="1232963874"/>
              </p:ext>
            </p:extLst>
          </p:nvPr>
        </p:nvGraphicFramePr>
        <p:xfrm>
          <a:off x="2997200" y="5070476"/>
          <a:ext cx="1339850" cy="368300"/>
        </p:xfrm>
        <a:graphic>
          <a:graphicData uri="http://schemas.openxmlformats.org/presentationml/2006/ole">
            <mc:AlternateContent xmlns:mc="http://schemas.openxmlformats.org/markup-compatibility/2006">
              <mc:Choice xmlns:v="urn:schemas-microsoft-com:vml" Requires="v">
                <p:oleObj spid="_x0000_s11376" name="公式" r:id="rId7" imgW="685953" imgH="152468" progId="Equation.3">
                  <p:embed/>
                </p:oleObj>
              </mc:Choice>
              <mc:Fallback>
                <p:oleObj name="公式" r:id="rId7" imgW="685953" imgH="152468"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97200" y="5070476"/>
                        <a:ext cx="13398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 name="Object 10"/>
          <p:cNvGraphicFramePr>
            <a:graphicFrameLocks noChangeAspect="1"/>
          </p:cNvGraphicFramePr>
          <p:nvPr>
            <p:extLst>
              <p:ext uri="{D42A27DB-BD31-4B8C-83A1-F6EECF244321}">
                <p14:modId xmlns:p14="http://schemas.microsoft.com/office/powerpoint/2010/main" val="551518503"/>
              </p:ext>
            </p:extLst>
          </p:nvPr>
        </p:nvGraphicFramePr>
        <p:xfrm>
          <a:off x="2965450" y="5527676"/>
          <a:ext cx="831850" cy="368300"/>
        </p:xfrm>
        <a:graphic>
          <a:graphicData uri="http://schemas.openxmlformats.org/presentationml/2006/ole">
            <mc:AlternateContent xmlns:mc="http://schemas.openxmlformats.org/markup-compatibility/2006">
              <mc:Choice xmlns:v="urn:schemas-microsoft-com:vml" Requires="v">
                <p:oleObj spid="_x0000_s11377" name="公式" r:id="rId9" imgW="409492" imgH="152468" progId="Equation.3">
                  <p:embed/>
                </p:oleObj>
              </mc:Choice>
              <mc:Fallback>
                <p:oleObj name="公式" r:id="rId9" imgW="409492" imgH="152468"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65450" y="5527676"/>
                        <a:ext cx="8318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274" name="Group 43"/>
          <p:cNvGrpSpPr>
            <a:grpSpLocks/>
          </p:cNvGrpSpPr>
          <p:nvPr/>
        </p:nvGrpSpPr>
        <p:grpSpPr bwMode="auto">
          <a:xfrm>
            <a:off x="6500696" y="4471329"/>
            <a:ext cx="2730500" cy="1039813"/>
            <a:chOff x="3752" y="1392"/>
            <a:chExt cx="1720" cy="655"/>
          </a:xfrm>
        </p:grpSpPr>
        <p:sp>
          <p:nvSpPr>
            <p:cNvPr id="11275" name="Rectangle 17"/>
            <p:cNvSpPr>
              <a:spLocks noChangeArrowheads="1"/>
            </p:cNvSpPr>
            <p:nvPr/>
          </p:nvSpPr>
          <p:spPr bwMode="auto">
            <a:xfrm>
              <a:off x="3752" y="1616"/>
              <a:ext cx="248"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S</a:t>
              </a:r>
              <a:endParaRPr kumimoji="1" lang="en-US" altLang="zh-CN" sz="1800" b="1">
                <a:solidFill>
                  <a:srgbClr val="0000FF"/>
                </a:solidFill>
                <a:latin typeface="Times New Roman" panose="02020603050405020304" pitchFamily="18" charset="0"/>
              </a:endParaRPr>
            </a:p>
          </p:txBody>
        </p:sp>
        <p:sp>
          <p:nvSpPr>
            <p:cNvPr id="11276" name="Rectangle 18"/>
            <p:cNvSpPr>
              <a:spLocks noChangeArrowheads="1"/>
            </p:cNvSpPr>
            <p:nvPr/>
          </p:nvSpPr>
          <p:spPr bwMode="auto">
            <a:xfrm>
              <a:off x="4424" y="1839"/>
              <a:ext cx="37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l</a:t>
              </a:r>
              <a:endParaRPr kumimoji="1" lang="en-US" altLang="zh-CN" sz="1000" b="1" i="1">
                <a:solidFill>
                  <a:srgbClr val="0000FF"/>
                </a:solidFill>
                <a:latin typeface="Times New Roman" panose="02020603050405020304" pitchFamily="18" charset="0"/>
              </a:endParaRPr>
            </a:p>
          </p:txBody>
        </p:sp>
        <p:sp>
          <p:nvSpPr>
            <p:cNvPr id="11277" name="Rectangle 19"/>
            <p:cNvSpPr>
              <a:spLocks noChangeArrowheads="1"/>
            </p:cNvSpPr>
            <p:nvPr/>
          </p:nvSpPr>
          <p:spPr bwMode="auto">
            <a:xfrm>
              <a:off x="4712" y="1631"/>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 </a:t>
              </a:r>
              <a:r>
                <a:rPr kumimoji="1" lang="en-US" altLang="zh-CN" sz="1800" b="1" i="1">
                  <a:solidFill>
                    <a:srgbClr val="0000FF"/>
                  </a:solidFill>
                  <a:latin typeface="Times New Roman" panose="02020603050405020304" pitchFamily="18" charset="0"/>
                </a:rPr>
                <a:t>j</a:t>
              </a:r>
              <a:endParaRPr kumimoji="1" lang="en-US" altLang="zh-CN" sz="1000">
                <a:solidFill>
                  <a:srgbClr val="0000FF"/>
                </a:solidFill>
                <a:latin typeface="Times New Roman" panose="02020603050405020304" pitchFamily="18" charset="0"/>
              </a:endParaRPr>
            </a:p>
          </p:txBody>
        </p:sp>
        <p:sp>
          <p:nvSpPr>
            <p:cNvPr id="11278" name="Oval 20"/>
            <p:cNvSpPr>
              <a:spLocks noChangeArrowheads="1"/>
            </p:cNvSpPr>
            <p:nvPr/>
          </p:nvSpPr>
          <p:spPr bwMode="auto">
            <a:xfrm>
              <a:off x="4072" y="1608"/>
              <a:ext cx="88" cy="256"/>
            </a:xfrm>
            <a:prstGeom prst="ellipse">
              <a:avLst/>
            </a:prstGeom>
            <a:solidFill>
              <a:srgbClr val="00FFFF"/>
            </a:solidFill>
            <a:ln w="25400">
              <a:solidFill>
                <a:srgbClr val="FF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279" name="Oval 21"/>
            <p:cNvSpPr>
              <a:spLocks noChangeArrowheads="1"/>
            </p:cNvSpPr>
            <p:nvPr/>
          </p:nvSpPr>
          <p:spPr bwMode="auto">
            <a:xfrm>
              <a:off x="4959" y="1609"/>
              <a:ext cx="97" cy="256"/>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280" name="Line 22"/>
            <p:cNvSpPr>
              <a:spLocks noChangeShapeType="1"/>
            </p:cNvSpPr>
            <p:nvPr/>
          </p:nvSpPr>
          <p:spPr bwMode="auto">
            <a:xfrm>
              <a:off x="4288" y="1736"/>
              <a:ext cx="448" cy="0"/>
            </a:xfrm>
            <a:prstGeom prst="line">
              <a:avLst/>
            </a:prstGeom>
            <a:noFill/>
            <a:ln w="25400">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1281" name="Line 23"/>
            <p:cNvSpPr>
              <a:spLocks noChangeShapeType="1"/>
            </p:cNvSpPr>
            <p:nvPr/>
          </p:nvSpPr>
          <p:spPr bwMode="auto">
            <a:xfrm>
              <a:off x="4784" y="1672"/>
              <a:ext cx="112" cy="0"/>
            </a:xfrm>
            <a:prstGeom prst="line">
              <a:avLst/>
            </a:prstGeom>
            <a:noFill/>
            <a:ln w="9525">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1282" name="Line 24"/>
            <p:cNvSpPr>
              <a:spLocks noChangeShapeType="1"/>
            </p:cNvSpPr>
            <p:nvPr/>
          </p:nvSpPr>
          <p:spPr bwMode="auto">
            <a:xfrm>
              <a:off x="5128" y="1736"/>
              <a:ext cx="344" cy="0"/>
            </a:xfrm>
            <a:prstGeom prst="line">
              <a:avLst/>
            </a:prstGeom>
            <a:noFill/>
            <a:ln w="25400">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1283" name="Rectangle 25"/>
            <p:cNvSpPr>
              <a:spLocks noChangeArrowheads="1"/>
            </p:cNvSpPr>
            <p:nvPr/>
          </p:nvSpPr>
          <p:spPr bwMode="auto">
            <a:xfrm>
              <a:off x="4415" y="1392"/>
              <a:ext cx="37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U</a:t>
              </a:r>
              <a:endParaRPr kumimoji="1" lang="en-US" altLang="zh-CN" sz="1000">
                <a:solidFill>
                  <a:srgbClr val="0000FF"/>
                </a:solidFill>
                <a:latin typeface="Times New Roman" panose="02020603050405020304" pitchFamily="18" charset="0"/>
              </a:endParaRPr>
            </a:p>
          </p:txBody>
        </p:sp>
        <p:sp>
          <p:nvSpPr>
            <p:cNvPr id="11284" name="Line 26"/>
            <p:cNvSpPr>
              <a:spLocks noChangeShapeType="1"/>
            </p:cNvSpPr>
            <p:nvPr/>
          </p:nvSpPr>
          <p:spPr bwMode="auto">
            <a:xfrm>
              <a:off x="4120" y="1608"/>
              <a:ext cx="888" cy="0"/>
            </a:xfrm>
            <a:prstGeom prst="line">
              <a:avLst/>
            </a:prstGeom>
            <a:noFill/>
            <a:ln w="254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1285" name="Line 27"/>
            <p:cNvSpPr>
              <a:spLocks noChangeShapeType="1"/>
            </p:cNvSpPr>
            <p:nvPr/>
          </p:nvSpPr>
          <p:spPr bwMode="auto">
            <a:xfrm>
              <a:off x="4120" y="1863"/>
              <a:ext cx="912" cy="1"/>
            </a:xfrm>
            <a:prstGeom prst="line">
              <a:avLst/>
            </a:prstGeom>
            <a:noFill/>
            <a:ln w="254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025525" y="447674"/>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电导率：</a:t>
            </a:r>
            <a:endParaRPr kumimoji="1" lang="zh-CN" altLang="en-US" sz="2800" dirty="0">
              <a:solidFill>
                <a:srgbClr val="0000FF"/>
              </a:solidFill>
              <a:latin typeface="Times New Roman" panose="02020603050405020304" pitchFamily="18" charset="0"/>
              <a:sym typeface="Symbol" panose="05050102010706020507" pitchFamily="18" charset="2"/>
            </a:endParaRPr>
          </a:p>
        </p:txBody>
      </p:sp>
      <p:graphicFrame>
        <p:nvGraphicFramePr>
          <p:cNvPr id="12291" name="Object 3"/>
          <p:cNvGraphicFramePr>
            <a:graphicFrameLocks noChangeAspect="1"/>
          </p:cNvGraphicFramePr>
          <p:nvPr>
            <p:extLst>
              <p:ext uri="{D42A27DB-BD31-4B8C-83A1-F6EECF244321}">
                <p14:modId xmlns:p14="http://schemas.microsoft.com/office/powerpoint/2010/main" val="3358797901"/>
              </p:ext>
            </p:extLst>
          </p:nvPr>
        </p:nvGraphicFramePr>
        <p:xfrm>
          <a:off x="2821783" y="482461"/>
          <a:ext cx="946150" cy="392112"/>
        </p:xfrm>
        <a:graphic>
          <a:graphicData uri="http://schemas.openxmlformats.org/presentationml/2006/ole">
            <mc:AlternateContent xmlns:mc="http://schemas.openxmlformats.org/markup-compatibility/2006">
              <mc:Choice xmlns:v="urn:schemas-microsoft-com:vml" Requires="v">
                <p:oleObj spid="_x0000_s12358" name="公式" r:id="rId3" imgW="476161" imgH="171450" progId="Equation.3">
                  <p:embed/>
                </p:oleObj>
              </mc:Choice>
              <mc:Fallback>
                <p:oleObj name="公式" r:id="rId3" imgW="476161" imgH="17145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1783" y="482461"/>
                        <a:ext cx="94615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 name="Text Box 5"/>
          <p:cNvSpPr txBox="1">
            <a:spLocks noChangeArrowheads="1"/>
          </p:cNvSpPr>
          <p:nvPr/>
        </p:nvSpPr>
        <p:spPr bwMode="auto">
          <a:xfrm>
            <a:off x="961607" y="1129365"/>
            <a:ext cx="1085002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导体中任一点电流密度的方向（正电荷运动方向）和该点场强方向相同，  有 </a:t>
            </a:r>
          </a:p>
        </p:txBody>
      </p:sp>
      <p:sp>
        <p:nvSpPr>
          <p:cNvPr id="12293" name="Text Box 6"/>
          <p:cNvSpPr txBox="1">
            <a:spLocks noChangeArrowheads="1"/>
          </p:cNvSpPr>
          <p:nvPr/>
        </p:nvSpPr>
        <p:spPr bwMode="auto">
          <a:xfrm>
            <a:off x="4116388" y="2303463"/>
            <a:ext cx="396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  </a:t>
            </a:r>
            <a:r>
              <a:rPr kumimoji="1" lang="zh-CN" altLang="en-US" sz="2800">
                <a:solidFill>
                  <a:srgbClr val="0000FF"/>
                </a:solidFill>
                <a:latin typeface="Times New Roman" panose="02020603050405020304" pitchFamily="18" charset="0"/>
              </a:rPr>
              <a:t>欧姆定律的微分形式。</a:t>
            </a:r>
            <a:r>
              <a:rPr kumimoji="1" lang="zh-CN" altLang="en-US" sz="2000">
                <a:solidFill>
                  <a:srgbClr val="0000FF"/>
                </a:solidFill>
                <a:latin typeface="Times New Roman" panose="02020603050405020304" pitchFamily="18" charset="0"/>
              </a:rPr>
              <a:t> </a:t>
            </a:r>
          </a:p>
        </p:txBody>
      </p:sp>
      <p:graphicFrame>
        <p:nvGraphicFramePr>
          <p:cNvPr id="12294" name="Object 7"/>
          <p:cNvGraphicFramePr>
            <a:graphicFrameLocks noChangeAspect="1"/>
          </p:cNvGraphicFramePr>
          <p:nvPr/>
        </p:nvGraphicFramePr>
        <p:xfrm>
          <a:off x="2809876" y="2259013"/>
          <a:ext cx="854075" cy="438150"/>
        </p:xfrm>
        <a:graphic>
          <a:graphicData uri="http://schemas.openxmlformats.org/presentationml/2006/ole">
            <mc:AlternateContent xmlns:mc="http://schemas.openxmlformats.org/markup-compatibility/2006">
              <mc:Choice xmlns:v="urn:schemas-microsoft-com:vml" Requires="v">
                <p:oleObj spid="_x0000_s12359" name="Equation" r:id="rId5" imgW="418973" imgH="190432" progId="Equation.DSMT4">
                  <p:embed/>
                </p:oleObj>
              </mc:Choice>
              <mc:Fallback>
                <p:oleObj name="Equation" r:id="rId5" imgW="418973" imgH="190432"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9876" y="2259013"/>
                        <a:ext cx="85407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5" name="Text Box 8"/>
          <p:cNvSpPr txBox="1">
            <a:spLocks noChangeArrowheads="1"/>
          </p:cNvSpPr>
          <p:nvPr/>
        </p:nvSpPr>
        <p:spPr bwMode="auto">
          <a:xfrm>
            <a:off x="1025294" y="3080264"/>
            <a:ext cx="46720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二、焦耳定律的微分形式</a:t>
            </a:r>
          </a:p>
        </p:txBody>
      </p:sp>
      <p:sp>
        <p:nvSpPr>
          <p:cNvPr id="12296" name="Text Box 9"/>
          <p:cNvSpPr txBox="1">
            <a:spLocks noChangeArrowheads="1"/>
          </p:cNvSpPr>
          <p:nvPr/>
        </p:nvSpPr>
        <p:spPr bwMode="auto">
          <a:xfrm>
            <a:off x="1051908" y="4038600"/>
            <a:ext cx="3384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在导体内取一小柱体</a:t>
            </a:r>
          </a:p>
        </p:txBody>
      </p:sp>
      <p:grpSp>
        <p:nvGrpSpPr>
          <p:cNvPr id="12297" name="Group 10"/>
          <p:cNvGrpSpPr>
            <a:grpSpLocks/>
          </p:cNvGrpSpPr>
          <p:nvPr/>
        </p:nvGrpSpPr>
        <p:grpSpPr bwMode="auto">
          <a:xfrm>
            <a:off x="6681065" y="4298156"/>
            <a:ext cx="3390900" cy="1017588"/>
            <a:chOff x="3456" y="3312"/>
            <a:chExt cx="2136" cy="641"/>
          </a:xfrm>
        </p:grpSpPr>
        <p:sp>
          <p:nvSpPr>
            <p:cNvPr id="12299" name="Rectangle 11"/>
            <p:cNvSpPr>
              <a:spLocks noChangeArrowheads="1"/>
            </p:cNvSpPr>
            <p:nvPr/>
          </p:nvSpPr>
          <p:spPr bwMode="auto">
            <a:xfrm>
              <a:off x="3456" y="3520"/>
              <a:ext cx="24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S</a:t>
              </a:r>
              <a:endParaRPr kumimoji="1" lang="en-US" altLang="zh-CN" sz="1800" b="1">
                <a:solidFill>
                  <a:srgbClr val="0000FF"/>
                </a:solidFill>
                <a:latin typeface="Times New Roman" panose="02020603050405020304" pitchFamily="18" charset="0"/>
              </a:endParaRPr>
            </a:p>
          </p:txBody>
        </p:sp>
        <p:sp>
          <p:nvSpPr>
            <p:cNvPr id="12300" name="Rectangle 12"/>
            <p:cNvSpPr>
              <a:spLocks noChangeArrowheads="1"/>
            </p:cNvSpPr>
            <p:nvPr/>
          </p:nvSpPr>
          <p:spPr bwMode="auto">
            <a:xfrm>
              <a:off x="4128" y="3744"/>
              <a:ext cx="37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l</a:t>
              </a:r>
              <a:endParaRPr kumimoji="1" lang="en-US" altLang="zh-CN" sz="1000" b="1" i="1">
                <a:solidFill>
                  <a:srgbClr val="0000FF"/>
                </a:solidFill>
                <a:latin typeface="Times New Roman" panose="02020603050405020304" pitchFamily="18" charset="0"/>
              </a:endParaRPr>
            </a:p>
          </p:txBody>
        </p:sp>
        <p:sp>
          <p:nvSpPr>
            <p:cNvPr id="12301" name="Rectangle 13"/>
            <p:cNvSpPr>
              <a:spLocks noChangeArrowheads="1"/>
            </p:cNvSpPr>
            <p:nvPr/>
          </p:nvSpPr>
          <p:spPr bwMode="auto">
            <a:xfrm>
              <a:off x="4440" y="3513"/>
              <a:ext cx="19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 </a:t>
              </a:r>
              <a:r>
                <a:rPr kumimoji="1" lang="en-US" altLang="zh-CN" sz="1600" b="1" i="1">
                  <a:solidFill>
                    <a:srgbClr val="0000FF"/>
                  </a:solidFill>
                  <a:latin typeface="Times New Roman" panose="02020603050405020304" pitchFamily="18" charset="0"/>
                </a:rPr>
                <a:t>j</a:t>
              </a:r>
              <a:endParaRPr kumimoji="1" lang="en-US" altLang="zh-CN" sz="1000">
                <a:solidFill>
                  <a:srgbClr val="0000FF"/>
                </a:solidFill>
                <a:latin typeface="Times New Roman" panose="02020603050405020304" pitchFamily="18" charset="0"/>
              </a:endParaRPr>
            </a:p>
          </p:txBody>
        </p:sp>
        <p:sp>
          <p:nvSpPr>
            <p:cNvPr id="12302" name="Oval 14"/>
            <p:cNvSpPr>
              <a:spLocks noChangeArrowheads="1"/>
            </p:cNvSpPr>
            <p:nvPr/>
          </p:nvSpPr>
          <p:spPr bwMode="auto">
            <a:xfrm>
              <a:off x="3776" y="3527"/>
              <a:ext cx="88" cy="256"/>
            </a:xfrm>
            <a:prstGeom prst="ellipse">
              <a:avLst/>
            </a:prstGeom>
            <a:solidFill>
              <a:srgbClr val="00FFFF"/>
            </a:solidFill>
            <a:ln w="25400">
              <a:solidFill>
                <a:srgbClr val="FF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303" name="Line 15"/>
            <p:cNvSpPr>
              <a:spLocks noChangeShapeType="1"/>
            </p:cNvSpPr>
            <p:nvPr/>
          </p:nvSpPr>
          <p:spPr bwMode="auto">
            <a:xfrm>
              <a:off x="3824" y="3527"/>
              <a:ext cx="888" cy="0"/>
            </a:xfrm>
            <a:prstGeom prst="line">
              <a:avLst/>
            </a:prstGeom>
            <a:noFill/>
            <a:ln w="254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2304" name="Line 16"/>
            <p:cNvSpPr>
              <a:spLocks noChangeShapeType="1"/>
            </p:cNvSpPr>
            <p:nvPr/>
          </p:nvSpPr>
          <p:spPr bwMode="auto">
            <a:xfrm>
              <a:off x="3816" y="3791"/>
              <a:ext cx="912" cy="0"/>
            </a:xfrm>
            <a:prstGeom prst="line">
              <a:avLst/>
            </a:prstGeom>
            <a:noFill/>
            <a:ln w="25400">
              <a:solidFill>
                <a:srgbClr val="FF000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2305" name="Oval 17"/>
            <p:cNvSpPr>
              <a:spLocks noChangeArrowheads="1"/>
            </p:cNvSpPr>
            <p:nvPr/>
          </p:nvSpPr>
          <p:spPr bwMode="auto">
            <a:xfrm>
              <a:off x="4656" y="3535"/>
              <a:ext cx="96" cy="249"/>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306" name="Line 18"/>
            <p:cNvSpPr>
              <a:spLocks noChangeShapeType="1"/>
            </p:cNvSpPr>
            <p:nvPr/>
          </p:nvSpPr>
          <p:spPr bwMode="auto">
            <a:xfrm>
              <a:off x="3992" y="3591"/>
              <a:ext cx="448" cy="0"/>
            </a:xfrm>
            <a:prstGeom prst="line">
              <a:avLst/>
            </a:prstGeom>
            <a:noFill/>
            <a:ln w="25400">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2307" name="Line 19"/>
            <p:cNvSpPr>
              <a:spLocks noChangeShapeType="1"/>
            </p:cNvSpPr>
            <p:nvPr/>
          </p:nvSpPr>
          <p:spPr bwMode="auto">
            <a:xfrm>
              <a:off x="4504" y="3568"/>
              <a:ext cx="112" cy="1"/>
            </a:xfrm>
            <a:prstGeom prst="line">
              <a:avLst/>
            </a:prstGeom>
            <a:noFill/>
            <a:ln w="9525">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2308" name="Rectangle 20"/>
            <p:cNvSpPr>
              <a:spLocks noChangeArrowheads="1"/>
            </p:cNvSpPr>
            <p:nvPr/>
          </p:nvSpPr>
          <p:spPr bwMode="auto">
            <a:xfrm>
              <a:off x="4151" y="3312"/>
              <a:ext cx="377"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U</a:t>
              </a:r>
              <a:endParaRPr kumimoji="1" lang="en-US" altLang="zh-CN" sz="1000">
                <a:solidFill>
                  <a:srgbClr val="0000FF"/>
                </a:solidFill>
                <a:latin typeface="Times New Roman" panose="02020603050405020304" pitchFamily="18" charset="0"/>
              </a:endParaRPr>
            </a:p>
          </p:txBody>
        </p:sp>
        <p:sp>
          <p:nvSpPr>
            <p:cNvPr id="12309" name="Line 21"/>
            <p:cNvSpPr>
              <a:spLocks noChangeShapeType="1"/>
            </p:cNvSpPr>
            <p:nvPr/>
          </p:nvSpPr>
          <p:spPr bwMode="auto">
            <a:xfrm>
              <a:off x="3992" y="3673"/>
              <a:ext cx="312" cy="8"/>
            </a:xfrm>
            <a:prstGeom prst="line">
              <a:avLst/>
            </a:prstGeom>
            <a:noFill/>
            <a:ln w="25400">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2310" name="Rectangle 22"/>
            <p:cNvSpPr>
              <a:spLocks noChangeArrowheads="1"/>
            </p:cNvSpPr>
            <p:nvPr/>
          </p:nvSpPr>
          <p:spPr bwMode="auto">
            <a:xfrm>
              <a:off x="4328" y="3609"/>
              <a:ext cx="160"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600" b="1" i="1">
                  <a:solidFill>
                    <a:srgbClr val="0000FF"/>
                  </a:solidFill>
                  <a:latin typeface="Times New Roman" panose="02020603050405020304" pitchFamily="18" charset="0"/>
                </a:rPr>
                <a:t>E</a:t>
              </a:r>
              <a:endParaRPr kumimoji="1" lang="en-US" altLang="zh-CN" sz="1000">
                <a:solidFill>
                  <a:srgbClr val="0000FF"/>
                </a:solidFill>
                <a:latin typeface="Times New Roman" panose="02020603050405020304" pitchFamily="18" charset="0"/>
              </a:endParaRPr>
            </a:p>
          </p:txBody>
        </p:sp>
        <p:sp>
          <p:nvSpPr>
            <p:cNvPr id="12311" name="Line 23"/>
            <p:cNvSpPr>
              <a:spLocks noChangeShapeType="1"/>
            </p:cNvSpPr>
            <p:nvPr/>
          </p:nvSpPr>
          <p:spPr bwMode="auto">
            <a:xfrm>
              <a:off x="4344" y="3655"/>
              <a:ext cx="104" cy="0"/>
            </a:xfrm>
            <a:prstGeom prst="line">
              <a:avLst/>
            </a:prstGeom>
            <a:noFill/>
            <a:ln w="9525">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2312" name="Line 24"/>
            <p:cNvSpPr>
              <a:spLocks noChangeShapeType="1"/>
            </p:cNvSpPr>
            <p:nvPr/>
          </p:nvSpPr>
          <p:spPr bwMode="auto">
            <a:xfrm>
              <a:off x="4768" y="3647"/>
              <a:ext cx="392" cy="0"/>
            </a:xfrm>
            <a:prstGeom prst="line">
              <a:avLst/>
            </a:prstGeom>
            <a:noFill/>
            <a:ln w="25400">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2313" name="Rectangle 25"/>
            <p:cNvSpPr>
              <a:spLocks noChangeArrowheads="1"/>
            </p:cNvSpPr>
            <p:nvPr/>
          </p:nvSpPr>
          <p:spPr bwMode="auto">
            <a:xfrm>
              <a:off x="5200" y="3551"/>
              <a:ext cx="39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rPr>
                <a:t>d</a:t>
              </a:r>
              <a:r>
                <a:rPr kumimoji="1" lang="en-US" altLang="zh-CN" sz="1800" b="1" i="1">
                  <a:solidFill>
                    <a:srgbClr val="0000FF"/>
                  </a:solidFill>
                  <a:latin typeface="Times New Roman" panose="02020603050405020304" pitchFamily="18" charset="0"/>
                </a:rPr>
                <a:t>I</a:t>
              </a:r>
              <a:endParaRPr kumimoji="1" lang="en-US" altLang="zh-CN" sz="1800" b="1">
                <a:solidFill>
                  <a:srgbClr val="0000FF"/>
                </a:solidFill>
                <a:latin typeface="Times New Roman" panose="02020603050405020304" pitchFamily="18" charset="0"/>
              </a:endParaRPr>
            </a:p>
          </p:txBody>
        </p:sp>
      </p:grpSp>
      <p:sp>
        <p:nvSpPr>
          <p:cNvPr id="12298" name="Text Box 26"/>
          <p:cNvSpPr txBox="1">
            <a:spLocks noChangeArrowheads="1"/>
          </p:cNvSpPr>
          <p:nvPr/>
        </p:nvSpPr>
        <p:spPr bwMode="auto">
          <a:xfrm>
            <a:off x="1034204" y="4945623"/>
            <a:ext cx="3028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小柱体的发热功率</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314" name="Object 1024"/>
          <p:cNvGraphicFramePr>
            <a:graphicFrameLocks noChangeAspect="1"/>
          </p:cNvGraphicFramePr>
          <p:nvPr>
            <p:extLst>
              <p:ext uri="{D42A27DB-BD31-4B8C-83A1-F6EECF244321}">
                <p14:modId xmlns:p14="http://schemas.microsoft.com/office/powerpoint/2010/main" val="2430111757"/>
              </p:ext>
            </p:extLst>
          </p:nvPr>
        </p:nvGraphicFramePr>
        <p:xfrm>
          <a:off x="1370475" y="942258"/>
          <a:ext cx="6748463" cy="481013"/>
        </p:xfrm>
        <a:graphic>
          <a:graphicData uri="http://schemas.openxmlformats.org/presentationml/2006/ole">
            <mc:AlternateContent xmlns:mc="http://schemas.openxmlformats.org/markup-compatibility/2006">
              <mc:Choice xmlns:v="urn:schemas-microsoft-com:vml" Requires="v">
                <p:oleObj spid="_x0000_s13433" name="公式" r:id="rId3" imgW="3657600" imgH="219211" progId="Equation.3">
                  <p:embed/>
                </p:oleObj>
              </mc:Choice>
              <mc:Fallback>
                <p:oleObj name="公式" r:id="rId3" imgW="3657600" imgH="219211"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0475" y="942258"/>
                        <a:ext cx="6748463"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5" name="Text Box 22"/>
          <p:cNvSpPr txBox="1">
            <a:spLocks noChangeArrowheads="1"/>
          </p:cNvSpPr>
          <p:nvPr/>
        </p:nvSpPr>
        <p:spPr bwMode="auto">
          <a:xfrm>
            <a:off x="1818790" y="3096553"/>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由</a:t>
            </a:r>
          </a:p>
        </p:txBody>
      </p:sp>
      <p:graphicFrame>
        <p:nvGraphicFramePr>
          <p:cNvPr id="13316" name="Object 1025"/>
          <p:cNvGraphicFramePr>
            <a:graphicFrameLocks noChangeAspect="1"/>
          </p:cNvGraphicFramePr>
          <p:nvPr>
            <p:extLst>
              <p:ext uri="{D42A27DB-BD31-4B8C-83A1-F6EECF244321}">
                <p14:modId xmlns:p14="http://schemas.microsoft.com/office/powerpoint/2010/main" val="1351142990"/>
              </p:ext>
            </p:extLst>
          </p:nvPr>
        </p:nvGraphicFramePr>
        <p:xfrm>
          <a:off x="1812130" y="1725346"/>
          <a:ext cx="2323847" cy="992453"/>
        </p:xfrm>
        <a:graphic>
          <a:graphicData uri="http://schemas.openxmlformats.org/presentationml/2006/ole">
            <mc:AlternateContent xmlns:mc="http://schemas.openxmlformats.org/markup-compatibility/2006">
              <mc:Choice xmlns:v="urn:schemas-microsoft-com:vml" Requires="v">
                <p:oleObj spid="_x0000_s13434" name="Equation" r:id="rId5" imgW="866692" imgH="342900" progId="Equation.3">
                  <p:embed/>
                </p:oleObj>
              </mc:Choice>
              <mc:Fallback>
                <p:oleObj name="Equation" r:id="rId5" imgW="866692" imgH="342900"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2130" y="1725346"/>
                        <a:ext cx="2323847" cy="992453"/>
                      </a:xfrm>
                      <a:prstGeom prst="rect">
                        <a:avLst/>
                      </a:prstGeom>
                      <a:noFill/>
                      <a:ln>
                        <a:noFill/>
                      </a:ln>
                      <a:effectLst/>
                    </p:spPr>
                  </p:pic>
                </p:oleObj>
              </mc:Fallback>
            </mc:AlternateContent>
          </a:graphicData>
        </a:graphic>
      </p:graphicFrame>
      <p:graphicFrame>
        <p:nvGraphicFramePr>
          <p:cNvPr id="13317" name="Object 1026"/>
          <p:cNvGraphicFramePr>
            <a:graphicFrameLocks noChangeAspect="1"/>
          </p:cNvGraphicFramePr>
          <p:nvPr>
            <p:extLst>
              <p:ext uri="{D42A27DB-BD31-4B8C-83A1-F6EECF244321}">
                <p14:modId xmlns:p14="http://schemas.microsoft.com/office/powerpoint/2010/main" val="3191508284"/>
              </p:ext>
            </p:extLst>
          </p:nvPr>
        </p:nvGraphicFramePr>
        <p:xfrm>
          <a:off x="2247416" y="3277529"/>
          <a:ext cx="950913" cy="484187"/>
        </p:xfrm>
        <a:graphic>
          <a:graphicData uri="http://schemas.openxmlformats.org/presentationml/2006/ole">
            <mc:AlternateContent xmlns:mc="http://schemas.openxmlformats.org/markup-compatibility/2006">
              <mc:Choice xmlns:v="urn:schemas-microsoft-com:vml" Requires="v">
                <p:oleObj spid="_x0000_s13435" name="公式" r:id="rId7" imgW="418973" imgH="190432" progId="Equation.3">
                  <p:embed/>
                </p:oleObj>
              </mc:Choice>
              <mc:Fallback>
                <p:oleObj name="公式" r:id="rId7" imgW="418973" imgH="190432"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7416" y="3277529"/>
                        <a:ext cx="95091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8" name="Text Box 25"/>
          <p:cNvSpPr txBox="1">
            <a:spLocks noChangeArrowheads="1"/>
          </p:cNvSpPr>
          <p:nvPr/>
        </p:nvSpPr>
        <p:spPr bwMode="auto">
          <a:xfrm>
            <a:off x="3238015" y="3172753"/>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有</a:t>
            </a:r>
          </a:p>
        </p:txBody>
      </p:sp>
      <p:graphicFrame>
        <p:nvGraphicFramePr>
          <p:cNvPr id="13319" name="Object 1027"/>
          <p:cNvGraphicFramePr>
            <a:graphicFrameLocks noChangeAspect="1"/>
          </p:cNvGraphicFramePr>
          <p:nvPr>
            <p:extLst>
              <p:ext uri="{D42A27DB-BD31-4B8C-83A1-F6EECF244321}">
                <p14:modId xmlns:p14="http://schemas.microsoft.com/office/powerpoint/2010/main" val="2406516854"/>
              </p:ext>
            </p:extLst>
          </p:nvPr>
        </p:nvGraphicFramePr>
        <p:xfrm>
          <a:off x="4100029" y="3012415"/>
          <a:ext cx="1635125" cy="757238"/>
        </p:xfrm>
        <a:graphic>
          <a:graphicData uri="http://schemas.openxmlformats.org/presentationml/2006/ole">
            <mc:AlternateContent xmlns:mc="http://schemas.openxmlformats.org/markup-compatibility/2006">
              <mc:Choice xmlns:v="urn:schemas-microsoft-com:vml" Requires="v">
                <p:oleObj spid="_x0000_s13436" name="Equation" r:id="rId9" imgW="857212" imgH="371373" progId="Equation.DSMT4">
                  <p:embed/>
                </p:oleObj>
              </mc:Choice>
              <mc:Fallback>
                <p:oleObj name="Equation" r:id="rId9" imgW="857212" imgH="371373" progId="Equation.DSMT4">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00029" y="3012415"/>
                        <a:ext cx="1635125"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0" name="Text Box 27"/>
          <p:cNvSpPr txBox="1">
            <a:spLocks noChangeArrowheads="1"/>
          </p:cNvSpPr>
          <p:nvPr/>
        </p:nvSpPr>
        <p:spPr bwMode="auto">
          <a:xfrm>
            <a:off x="2242653" y="3947453"/>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焦耳定律的微分形式</a:t>
            </a:r>
          </a:p>
        </p:txBody>
      </p:sp>
      <p:sp>
        <p:nvSpPr>
          <p:cNvPr id="13321" name="Text Box 28"/>
          <p:cNvSpPr txBox="1">
            <a:spLocks noChangeArrowheads="1"/>
          </p:cNvSpPr>
          <p:nvPr/>
        </p:nvSpPr>
        <p:spPr bwMode="auto">
          <a:xfrm>
            <a:off x="2318853" y="4480853"/>
            <a:ext cx="2673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对导体内任一点</a:t>
            </a:r>
          </a:p>
        </p:txBody>
      </p:sp>
      <p:graphicFrame>
        <p:nvGraphicFramePr>
          <p:cNvPr id="13322" name="Object 1028"/>
          <p:cNvGraphicFramePr>
            <a:graphicFrameLocks noChangeAspect="1"/>
          </p:cNvGraphicFramePr>
          <p:nvPr>
            <p:extLst>
              <p:ext uri="{D42A27DB-BD31-4B8C-83A1-F6EECF244321}">
                <p14:modId xmlns:p14="http://schemas.microsoft.com/office/powerpoint/2010/main" val="4054854469"/>
              </p:ext>
            </p:extLst>
          </p:nvPr>
        </p:nvGraphicFramePr>
        <p:xfrm>
          <a:off x="5290653" y="4601504"/>
          <a:ext cx="969962" cy="428625"/>
        </p:xfrm>
        <a:graphic>
          <a:graphicData uri="http://schemas.openxmlformats.org/presentationml/2006/ole">
            <mc:AlternateContent xmlns:mc="http://schemas.openxmlformats.org/markup-compatibility/2006">
              <mc:Choice xmlns:v="urn:schemas-microsoft-com:vml" Requires="v">
                <p:oleObj spid="_x0000_s13437" name="Equation" r:id="rId11" imgW="381051" imgH="142977" progId="Equation.3">
                  <p:embed/>
                </p:oleObj>
              </mc:Choice>
              <mc:Fallback>
                <p:oleObj name="Equation" r:id="rId11" imgW="381051" imgH="142977" progId="Equation.3">
                  <p:embed/>
                  <p:pic>
                    <p:nvPicPr>
                      <p:cNvPr id="0"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90653" y="4601504"/>
                        <a:ext cx="969962"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519735" y="366740"/>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en-US" altLang="zh-CN" sz="3600" dirty="0">
                <a:solidFill>
                  <a:srgbClr val="FF0000"/>
                </a:solidFill>
                <a:effectLst>
                  <a:outerShdw blurRad="38100" dist="38100" dir="2700000" algn="tl">
                    <a:srgbClr val="C0C0C0"/>
                  </a:outerShdw>
                </a:effectLst>
                <a:latin typeface="黑体" pitchFamily="2" charset="-122"/>
                <a:ea typeface="黑体" pitchFamily="2" charset="-122"/>
              </a:rPr>
              <a:t>5  </a:t>
            </a:r>
            <a:r>
              <a:rPr kumimoji="1" lang="zh-CN" altLang="en-US" sz="3600" dirty="0">
                <a:solidFill>
                  <a:srgbClr val="FF0000"/>
                </a:solidFill>
                <a:effectLst>
                  <a:outerShdw blurRad="38100" dist="38100" dir="2700000" algn="tl">
                    <a:srgbClr val="C0C0C0"/>
                  </a:outerShdw>
                </a:effectLst>
                <a:latin typeface="黑体" pitchFamily="2" charset="-122"/>
                <a:ea typeface="黑体" pitchFamily="2" charset="-122"/>
              </a:rPr>
              <a:t>金属体的经典电子理论</a:t>
            </a:r>
          </a:p>
        </p:txBody>
      </p:sp>
      <p:sp>
        <p:nvSpPr>
          <p:cNvPr id="14339" name="Text Box 3"/>
          <p:cNvSpPr txBox="1">
            <a:spLocks noChangeArrowheads="1"/>
          </p:cNvSpPr>
          <p:nvPr/>
        </p:nvSpPr>
        <p:spPr bwMode="auto">
          <a:xfrm>
            <a:off x="795645" y="1270930"/>
            <a:ext cx="297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一、基本概念</a:t>
            </a:r>
          </a:p>
        </p:txBody>
      </p:sp>
      <p:sp>
        <p:nvSpPr>
          <p:cNvPr id="14340" name="Text Box 4"/>
          <p:cNvSpPr txBox="1">
            <a:spLocks noChangeArrowheads="1"/>
          </p:cNvSpPr>
          <p:nvPr/>
        </p:nvSpPr>
        <p:spPr bwMode="auto">
          <a:xfrm>
            <a:off x="1252845" y="1880531"/>
            <a:ext cx="312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a:t>
            </a:r>
            <a:r>
              <a:rPr kumimoji="1" lang="zh-CN" altLang="en-US" sz="2800">
                <a:solidFill>
                  <a:srgbClr val="0000FF"/>
                </a:solidFill>
                <a:latin typeface="Times New Roman" panose="02020603050405020304" pitchFamily="18" charset="0"/>
              </a:rPr>
              <a:t>自由电子气</a:t>
            </a:r>
          </a:p>
        </p:txBody>
      </p:sp>
      <p:sp>
        <p:nvSpPr>
          <p:cNvPr id="14341" name="Text Box 5"/>
          <p:cNvSpPr txBox="1">
            <a:spLocks noChangeArrowheads="1"/>
          </p:cNvSpPr>
          <p:nvPr/>
        </p:nvSpPr>
        <p:spPr bwMode="auto">
          <a:xfrm>
            <a:off x="1176644" y="2413930"/>
            <a:ext cx="104099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金属导体具有晶体结构，正离子排列成整齐的空间点阵。</a:t>
            </a:r>
          </a:p>
        </p:txBody>
      </p:sp>
      <p:sp>
        <p:nvSpPr>
          <p:cNvPr id="14342" name="Text Box 6"/>
          <p:cNvSpPr txBox="1">
            <a:spLocks noChangeArrowheads="1"/>
          </p:cNvSpPr>
          <p:nvPr/>
        </p:nvSpPr>
        <p:spPr bwMode="auto">
          <a:xfrm>
            <a:off x="1100444" y="3372780"/>
            <a:ext cx="1066618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自由电子在点阵间热运动，运动图象与容器中的气体分子的热运动相似。</a:t>
            </a:r>
          </a:p>
        </p:txBody>
      </p:sp>
      <p:sp>
        <p:nvSpPr>
          <p:cNvPr id="14343" name="Text Box 7"/>
          <p:cNvSpPr txBox="1">
            <a:spLocks noChangeArrowheads="1"/>
          </p:cNvSpPr>
          <p:nvPr/>
        </p:nvSpPr>
        <p:spPr bwMode="auto">
          <a:xfrm>
            <a:off x="1100445" y="4363381"/>
            <a:ext cx="784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金属中自由电子的整体</a:t>
            </a:r>
            <a:r>
              <a:rPr kumimoji="1" lang="zh-CN" altLang="en-US" sz="2800">
                <a:solidFill>
                  <a:srgbClr val="0000FF"/>
                </a:solidFill>
                <a:latin typeface="Times New Roman" panose="02020603050405020304" pitchFamily="18" charset="0"/>
                <a:sym typeface="Symbol" panose="05050102010706020507" pitchFamily="18" charset="2"/>
              </a:rPr>
              <a:t> 自由电子气。</a:t>
            </a:r>
            <a:endParaRPr kumimoji="1" lang="zh-CN" altLang="en-US" sz="2800">
              <a:solidFill>
                <a:srgbClr val="0000FF"/>
              </a:solidFill>
              <a:latin typeface="Times New Roman" panose="02020603050405020304" pitchFamily="18" charset="0"/>
            </a:endParaRPr>
          </a:p>
        </p:txBody>
      </p:sp>
      <p:sp>
        <p:nvSpPr>
          <p:cNvPr id="14344" name="Text Box 9"/>
          <p:cNvSpPr txBox="1">
            <a:spLocks noChangeArrowheads="1"/>
          </p:cNvSpPr>
          <p:nvPr/>
        </p:nvSpPr>
        <p:spPr bwMode="auto">
          <a:xfrm>
            <a:off x="1100445" y="5049180"/>
            <a:ext cx="10666184"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古典电子论的基本观点：气体分子运动论的规律同样适应于金属中的自由电子气。</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533400" y="411161"/>
            <a:ext cx="609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2. </a:t>
            </a:r>
            <a:r>
              <a:rPr kumimoji="1" lang="zh-CN" altLang="en-US" sz="2800">
                <a:solidFill>
                  <a:srgbClr val="0000FF"/>
                </a:solidFill>
                <a:latin typeface="Times New Roman" panose="02020603050405020304" pitchFamily="18" charset="0"/>
              </a:rPr>
              <a:t>金属导体中电流形成的微观过程</a:t>
            </a:r>
          </a:p>
        </p:txBody>
      </p:sp>
      <p:sp>
        <p:nvSpPr>
          <p:cNvPr id="15363" name="Text Box 3"/>
          <p:cNvSpPr txBox="1">
            <a:spLocks noChangeArrowheads="1"/>
          </p:cNvSpPr>
          <p:nvPr/>
        </p:nvSpPr>
        <p:spPr bwMode="auto">
          <a:xfrm>
            <a:off x="650874" y="1274439"/>
            <a:ext cx="4191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dirty="0">
                <a:solidFill>
                  <a:srgbClr val="0000FF"/>
                </a:solidFill>
                <a:latin typeface="Times New Roman" panose="02020603050405020304" pitchFamily="18" charset="0"/>
              </a:rPr>
              <a:t>1) </a:t>
            </a:r>
            <a:r>
              <a:rPr kumimoji="1" lang="zh-CN" altLang="en-US" sz="2800" dirty="0">
                <a:solidFill>
                  <a:srgbClr val="0000FF"/>
                </a:solidFill>
                <a:latin typeface="Times New Roman" panose="02020603050405020304" pitchFamily="18" charset="0"/>
              </a:rPr>
              <a:t>金属中无电场时</a:t>
            </a:r>
          </a:p>
          <a:p>
            <a:pPr eaLnBrk="1" hangingPunct="1">
              <a:spcBef>
                <a:spcPct val="0"/>
              </a:spcBef>
              <a:buFontTx/>
              <a:buNone/>
            </a:pPr>
            <a:r>
              <a:rPr kumimoji="1" lang="en-US" altLang="zh-CN" sz="2800" dirty="0">
                <a:solidFill>
                  <a:srgbClr val="0000FF"/>
                </a:solidFill>
                <a:latin typeface="Times New Roman" panose="02020603050405020304" pitchFamily="18" charset="0"/>
              </a:rPr>
              <a:t>2) </a:t>
            </a:r>
            <a:r>
              <a:rPr kumimoji="1" lang="zh-CN" altLang="en-US" sz="2800" dirty="0">
                <a:solidFill>
                  <a:srgbClr val="0000FF"/>
                </a:solidFill>
                <a:latin typeface="Times New Roman" panose="02020603050405020304" pitchFamily="18" charset="0"/>
              </a:rPr>
              <a:t>金属中存在电场时</a:t>
            </a:r>
          </a:p>
        </p:txBody>
      </p:sp>
      <p:sp>
        <p:nvSpPr>
          <p:cNvPr id="15364" name="Text Box 4"/>
          <p:cNvSpPr txBox="1">
            <a:spLocks noChangeArrowheads="1"/>
          </p:cNvSpPr>
          <p:nvPr/>
        </p:nvSpPr>
        <p:spPr bwMode="auto">
          <a:xfrm>
            <a:off x="498474" y="2265039"/>
            <a:ext cx="108181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电子受电场力</a:t>
            </a:r>
            <a:r>
              <a:rPr kumimoji="1" lang="zh-CN" altLang="en-US" sz="2800" dirty="0">
                <a:solidFill>
                  <a:srgbClr val="0000FF"/>
                </a:solidFill>
                <a:latin typeface="Times New Roman" panose="02020603050405020304" pitchFamily="18" charset="0"/>
                <a:sym typeface="Symbol" panose="05050102010706020507" pitchFamily="18" charset="2"/>
              </a:rPr>
              <a:t> 在热运动基础上叠加一定向运动（漂移运动）。</a:t>
            </a:r>
            <a:endParaRPr kumimoji="1" lang="zh-CN" altLang="en-US" sz="2800" dirty="0">
              <a:solidFill>
                <a:srgbClr val="0000FF"/>
              </a:solidFill>
              <a:latin typeface="Times New Roman" panose="02020603050405020304" pitchFamily="18" charset="0"/>
            </a:endParaRPr>
          </a:p>
        </p:txBody>
      </p:sp>
      <p:sp>
        <p:nvSpPr>
          <p:cNvPr id="15365" name="Text Box 5"/>
          <p:cNvSpPr txBox="1">
            <a:spLocks noChangeArrowheads="1"/>
          </p:cNvSpPr>
          <p:nvPr/>
        </p:nvSpPr>
        <p:spPr bwMode="auto">
          <a:xfrm>
            <a:off x="498474" y="3179440"/>
            <a:ext cx="739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自由电子速度 </a:t>
            </a:r>
            <a:r>
              <a:rPr kumimoji="1" lang="en-US" altLang="zh-CN" sz="2800">
                <a:solidFill>
                  <a:srgbClr val="0000FF"/>
                </a:solidFill>
                <a:latin typeface="Times New Roman" panose="02020603050405020304" pitchFamily="18" charset="0"/>
              </a:rPr>
              <a:t>= </a:t>
            </a:r>
            <a:r>
              <a:rPr kumimoji="1" lang="zh-CN" altLang="en-US" sz="2800">
                <a:solidFill>
                  <a:srgbClr val="0000FF"/>
                </a:solidFill>
                <a:latin typeface="Times New Roman" panose="02020603050405020304" pitchFamily="18" charset="0"/>
              </a:rPr>
              <a:t>热运动速度 </a:t>
            </a:r>
            <a:r>
              <a:rPr kumimoji="1" lang="en-US" altLang="zh-CN" sz="2800">
                <a:solidFill>
                  <a:srgbClr val="0000FF"/>
                </a:solidFill>
                <a:latin typeface="Times New Roman" panose="02020603050405020304" pitchFamily="18" charset="0"/>
              </a:rPr>
              <a:t>+ </a:t>
            </a:r>
            <a:r>
              <a:rPr kumimoji="1" lang="zh-CN" altLang="en-US" sz="2800">
                <a:solidFill>
                  <a:srgbClr val="0000FF"/>
                </a:solidFill>
                <a:latin typeface="Times New Roman" panose="02020603050405020304" pitchFamily="18" charset="0"/>
              </a:rPr>
              <a:t>定向速度</a:t>
            </a:r>
          </a:p>
        </p:txBody>
      </p:sp>
      <p:sp>
        <p:nvSpPr>
          <p:cNvPr id="15366" name="Text Box 6"/>
          <p:cNvSpPr txBox="1">
            <a:spLocks noChangeArrowheads="1"/>
          </p:cNvSpPr>
          <p:nvPr/>
        </p:nvSpPr>
        <p:spPr bwMode="auto">
          <a:xfrm>
            <a:off x="498474" y="3964845"/>
            <a:ext cx="8118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自由电子平均速度 </a:t>
            </a:r>
            <a:r>
              <a:rPr kumimoji="1" lang="en-US" altLang="zh-CN" sz="2800" dirty="0">
                <a:solidFill>
                  <a:srgbClr val="0000FF"/>
                </a:solidFill>
                <a:latin typeface="Times New Roman" panose="02020603050405020304" pitchFamily="18" charset="0"/>
              </a:rPr>
              <a:t>= </a:t>
            </a:r>
            <a:r>
              <a:rPr kumimoji="1" lang="zh-CN" altLang="en-US" sz="2800" dirty="0">
                <a:solidFill>
                  <a:srgbClr val="0000FF"/>
                </a:solidFill>
                <a:latin typeface="Times New Roman" panose="02020603050405020304" pitchFamily="18" charset="0"/>
              </a:rPr>
              <a:t>定向速度平均值 （漂移速度）</a:t>
            </a:r>
          </a:p>
        </p:txBody>
      </p:sp>
      <p:sp>
        <p:nvSpPr>
          <p:cNvPr id="15367" name="Text Box 8"/>
          <p:cNvSpPr txBox="1">
            <a:spLocks noChangeArrowheads="1"/>
          </p:cNvSpPr>
          <p:nvPr/>
        </p:nvSpPr>
        <p:spPr bwMode="auto">
          <a:xfrm>
            <a:off x="530300" y="4960296"/>
            <a:ext cx="86231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大量电子的漂移运动</a:t>
            </a:r>
            <a:r>
              <a:rPr kumimoji="1" lang="zh-CN" altLang="en-US" sz="2800" dirty="0">
                <a:solidFill>
                  <a:srgbClr val="0000FF"/>
                </a:solidFill>
                <a:latin typeface="Times New Roman" panose="02020603050405020304" pitchFamily="18" charset="0"/>
                <a:sym typeface="Symbol" panose="05050102010706020507" pitchFamily="18" charset="2"/>
              </a:rPr>
              <a:t> 形成金属中的电流</a:t>
            </a:r>
            <a:endParaRPr kumimoji="1" lang="zh-CN" altLang="en-US" sz="2800" dirty="0">
              <a:solidFill>
                <a:srgbClr val="0000FF"/>
              </a:solidFill>
              <a:latin typeface="Times New Roman" panose="02020603050405020304" pitchFamily="18" charset="0"/>
            </a:endParaRPr>
          </a:p>
        </p:txBody>
      </p:sp>
      <p:grpSp>
        <p:nvGrpSpPr>
          <p:cNvPr id="15368" name="Group 35"/>
          <p:cNvGrpSpPr>
            <a:grpSpLocks/>
          </p:cNvGrpSpPr>
          <p:nvPr/>
        </p:nvGrpSpPr>
        <p:grpSpPr bwMode="auto">
          <a:xfrm>
            <a:off x="9351808" y="4365916"/>
            <a:ext cx="2184400" cy="1752600"/>
            <a:chOff x="4224" y="2832"/>
            <a:chExt cx="1376" cy="1104"/>
          </a:xfrm>
        </p:grpSpPr>
        <p:sp>
          <p:nvSpPr>
            <p:cNvPr id="15370" name="Line 11"/>
            <p:cNvSpPr>
              <a:spLocks noChangeShapeType="1"/>
            </p:cNvSpPr>
            <p:nvPr/>
          </p:nvSpPr>
          <p:spPr bwMode="auto">
            <a:xfrm flipV="1">
              <a:off x="4472" y="3193"/>
              <a:ext cx="224" cy="336"/>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71" name="Line 12"/>
            <p:cNvSpPr>
              <a:spLocks noChangeShapeType="1"/>
            </p:cNvSpPr>
            <p:nvPr/>
          </p:nvSpPr>
          <p:spPr bwMode="auto">
            <a:xfrm flipV="1">
              <a:off x="4336" y="3080"/>
              <a:ext cx="968" cy="745"/>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72" name="Line 13"/>
            <p:cNvSpPr>
              <a:spLocks noChangeShapeType="1"/>
            </p:cNvSpPr>
            <p:nvPr/>
          </p:nvSpPr>
          <p:spPr bwMode="auto">
            <a:xfrm>
              <a:off x="5296" y="3072"/>
              <a:ext cx="160" cy="464"/>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73" name="Line 14"/>
            <p:cNvSpPr>
              <a:spLocks noChangeShapeType="1"/>
            </p:cNvSpPr>
            <p:nvPr/>
          </p:nvSpPr>
          <p:spPr bwMode="auto">
            <a:xfrm>
              <a:off x="4480" y="3528"/>
              <a:ext cx="968" cy="1"/>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74" name="Line 15"/>
            <p:cNvSpPr>
              <a:spLocks noChangeShapeType="1"/>
            </p:cNvSpPr>
            <p:nvPr/>
          </p:nvSpPr>
          <p:spPr bwMode="auto">
            <a:xfrm>
              <a:off x="4696" y="3192"/>
              <a:ext cx="704" cy="729"/>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75" name="Line 16"/>
            <p:cNvSpPr>
              <a:spLocks noChangeShapeType="1"/>
            </p:cNvSpPr>
            <p:nvPr/>
          </p:nvSpPr>
          <p:spPr bwMode="auto">
            <a:xfrm>
              <a:off x="5272" y="3728"/>
              <a:ext cx="80" cy="89"/>
            </a:xfrm>
            <a:prstGeom prst="line">
              <a:avLst/>
            </a:prstGeom>
            <a:noFill/>
            <a:ln w="9525">
              <a:solidFill>
                <a:schemeClr val="tx1"/>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grpSp>
          <p:nvGrpSpPr>
            <p:cNvPr id="15376" name="Group 17"/>
            <p:cNvGrpSpPr>
              <a:grpSpLocks/>
            </p:cNvGrpSpPr>
            <p:nvPr/>
          </p:nvGrpSpPr>
          <p:grpSpPr bwMode="auto">
            <a:xfrm>
              <a:off x="4224" y="3752"/>
              <a:ext cx="120" cy="120"/>
              <a:chOff x="0" y="0"/>
              <a:chExt cx="20021" cy="20000"/>
            </a:xfrm>
          </p:grpSpPr>
          <p:sp>
            <p:nvSpPr>
              <p:cNvPr id="15387" name="Oval 18"/>
              <p:cNvSpPr>
                <a:spLocks noChangeArrowheads="1"/>
              </p:cNvSpPr>
              <p:nvPr/>
            </p:nvSpPr>
            <p:spPr bwMode="auto">
              <a:xfrm>
                <a:off x="0" y="0"/>
                <a:ext cx="20021" cy="20000"/>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388" name="Line 19"/>
              <p:cNvSpPr>
                <a:spLocks noChangeShapeType="1"/>
              </p:cNvSpPr>
              <p:nvPr/>
            </p:nvSpPr>
            <p:spPr bwMode="auto">
              <a:xfrm>
                <a:off x="3990" y="10632"/>
                <a:ext cx="12041" cy="63"/>
              </a:xfrm>
              <a:prstGeom prst="line">
                <a:avLst/>
              </a:prstGeom>
              <a:noFill/>
              <a:ln w="25400">
                <a:solidFill>
                  <a:srgbClr val="FF00FF"/>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grpSp>
        <p:sp>
          <p:nvSpPr>
            <p:cNvPr id="15377" name="Line 20"/>
            <p:cNvSpPr>
              <a:spLocks noChangeShapeType="1"/>
            </p:cNvSpPr>
            <p:nvPr/>
          </p:nvSpPr>
          <p:spPr bwMode="auto">
            <a:xfrm>
              <a:off x="4752" y="2952"/>
              <a:ext cx="368" cy="0"/>
            </a:xfrm>
            <a:prstGeom prst="line">
              <a:avLst/>
            </a:prstGeom>
            <a:noFill/>
            <a:ln w="25400">
              <a:solidFill>
                <a:srgbClr val="FF0000"/>
              </a:solidFill>
              <a:round/>
              <a:headEnd type="triangl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78" name="Rectangle 21"/>
            <p:cNvSpPr>
              <a:spLocks noChangeArrowheads="1"/>
            </p:cNvSpPr>
            <p:nvPr/>
          </p:nvSpPr>
          <p:spPr bwMode="auto">
            <a:xfrm>
              <a:off x="5192" y="2832"/>
              <a:ext cx="28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200" b="1" i="1">
                  <a:solidFill>
                    <a:srgbClr val="0000FF"/>
                  </a:solidFill>
                  <a:latin typeface="Times New Roman" panose="02020603050405020304" pitchFamily="18" charset="0"/>
                </a:rPr>
                <a:t>E</a:t>
              </a:r>
              <a:endParaRPr kumimoji="1" lang="en-US" altLang="zh-CN" sz="1000">
                <a:solidFill>
                  <a:srgbClr val="0000FF"/>
                </a:solidFill>
                <a:latin typeface="Times New Roman" panose="02020603050405020304" pitchFamily="18" charset="0"/>
              </a:endParaRPr>
            </a:p>
          </p:txBody>
        </p:sp>
        <p:sp>
          <p:nvSpPr>
            <p:cNvPr id="15379" name="Line 22"/>
            <p:cNvSpPr>
              <a:spLocks noChangeShapeType="1"/>
            </p:cNvSpPr>
            <p:nvPr/>
          </p:nvSpPr>
          <p:spPr bwMode="auto">
            <a:xfrm>
              <a:off x="5216" y="2848"/>
              <a:ext cx="144" cy="0"/>
            </a:xfrm>
            <a:prstGeom prst="line">
              <a:avLst/>
            </a:prstGeom>
            <a:noFill/>
            <a:ln w="9525">
              <a:solidFill>
                <a:srgbClr val="FF0000"/>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5380" name="Line 23"/>
            <p:cNvSpPr>
              <a:spLocks noChangeShapeType="1"/>
            </p:cNvSpPr>
            <p:nvPr/>
          </p:nvSpPr>
          <p:spPr bwMode="auto">
            <a:xfrm flipV="1">
              <a:off x="4623" y="3168"/>
              <a:ext cx="225" cy="336"/>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81" name="Line 24"/>
            <p:cNvSpPr>
              <a:spLocks noChangeShapeType="1"/>
            </p:cNvSpPr>
            <p:nvPr/>
          </p:nvSpPr>
          <p:spPr bwMode="auto">
            <a:xfrm flipV="1">
              <a:off x="4472" y="3055"/>
              <a:ext cx="968" cy="745"/>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82" name="Line 25"/>
            <p:cNvSpPr>
              <a:spLocks noChangeShapeType="1"/>
            </p:cNvSpPr>
            <p:nvPr/>
          </p:nvSpPr>
          <p:spPr bwMode="auto">
            <a:xfrm>
              <a:off x="5440" y="3048"/>
              <a:ext cx="160" cy="464"/>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83" name="Line 26"/>
            <p:cNvSpPr>
              <a:spLocks noChangeShapeType="1"/>
            </p:cNvSpPr>
            <p:nvPr/>
          </p:nvSpPr>
          <p:spPr bwMode="auto">
            <a:xfrm>
              <a:off x="4624" y="3503"/>
              <a:ext cx="968" cy="1"/>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84" name="Line 27"/>
            <p:cNvSpPr>
              <a:spLocks noChangeShapeType="1"/>
            </p:cNvSpPr>
            <p:nvPr/>
          </p:nvSpPr>
          <p:spPr bwMode="auto">
            <a:xfrm>
              <a:off x="4840" y="3167"/>
              <a:ext cx="704" cy="729"/>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5385" name="Line 28"/>
            <p:cNvSpPr>
              <a:spLocks noChangeShapeType="1"/>
            </p:cNvSpPr>
            <p:nvPr/>
          </p:nvSpPr>
          <p:spPr bwMode="auto">
            <a:xfrm>
              <a:off x="5440" y="3703"/>
              <a:ext cx="80" cy="89"/>
            </a:xfrm>
            <a:prstGeom prst="line">
              <a:avLst/>
            </a:prstGeom>
            <a:noFill/>
            <a:ln w="9525">
              <a:solidFill>
                <a:schemeClr val="tx1"/>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5386" name="Line 29"/>
            <p:cNvSpPr>
              <a:spLocks noChangeShapeType="1"/>
            </p:cNvSpPr>
            <p:nvPr/>
          </p:nvSpPr>
          <p:spPr bwMode="auto">
            <a:xfrm flipV="1">
              <a:off x="4648" y="3928"/>
              <a:ext cx="392" cy="8"/>
            </a:xfrm>
            <a:prstGeom prst="line">
              <a:avLst/>
            </a:prstGeom>
            <a:noFill/>
            <a:ln w="254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15369" name="Rectangle 30"/>
          <p:cNvSpPr>
            <a:spLocks noChangeArrowheads="1"/>
          </p:cNvSpPr>
          <p:nvPr/>
        </p:nvSpPr>
        <p:spPr bwMode="auto">
          <a:xfrm>
            <a:off x="9936008" y="6131216"/>
            <a:ext cx="1041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1600" b="1">
                <a:solidFill>
                  <a:srgbClr val="0000FF"/>
                </a:solidFill>
                <a:latin typeface="Times New Roman" panose="02020603050405020304" pitchFamily="18" charset="0"/>
              </a:rPr>
              <a:t>漂移方向</a:t>
            </a:r>
            <a:endParaRPr kumimoji="1" lang="zh-CN" altLang="en-US" sz="1000">
              <a:solidFill>
                <a:srgbClr val="0000FF"/>
              </a:solidFill>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532405" y="471487"/>
            <a:ext cx="4806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dirty="0">
                <a:solidFill>
                  <a:srgbClr val="0000FF"/>
                </a:solidFill>
                <a:latin typeface="Times New Roman" panose="02020603050405020304" pitchFamily="18" charset="0"/>
              </a:rPr>
              <a:t>3. </a:t>
            </a:r>
            <a:r>
              <a:rPr kumimoji="1" lang="zh-CN" altLang="en-US" sz="2800" dirty="0">
                <a:solidFill>
                  <a:srgbClr val="0000FF"/>
                </a:solidFill>
                <a:latin typeface="Times New Roman" panose="02020603050405020304" pitchFamily="18" charset="0"/>
              </a:rPr>
              <a:t>电流密度和漂移速度的关系</a:t>
            </a:r>
          </a:p>
        </p:txBody>
      </p:sp>
      <p:sp>
        <p:nvSpPr>
          <p:cNvPr id="16387" name="Text Box 5"/>
          <p:cNvSpPr txBox="1">
            <a:spLocks noChangeArrowheads="1"/>
          </p:cNvSpPr>
          <p:nvPr/>
        </p:nvSpPr>
        <p:spPr bwMode="auto">
          <a:xfrm>
            <a:off x="1311275" y="1281625"/>
            <a:ext cx="6229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设导体内某点处自由电子数密度</a:t>
            </a:r>
            <a:r>
              <a:rPr kumimoji="1" lang="zh-CN" altLang="en-US" sz="2800" dirty="0">
                <a:solidFill>
                  <a:srgbClr val="0000FF"/>
                </a:solidFill>
                <a:latin typeface="Times New Roman" panose="02020603050405020304" pitchFamily="18" charset="0"/>
                <a:sym typeface="Symbol" panose="05050102010706020507" pitchFamily="18" charset="2"/>
              </a:rPr>
              <a:t> </a:t>
            </a:r>
            <a:r>
              <a:rPr kumimoji="1" lang="en-US" altLang="zh-CN" sz="2800" i="1" dirty="0">
                <a:solidFill>
                  <a:srgbClr val="0000FF"/>
                </a:solidFill>
                <a:latin typeface="Times New Roman" panose="02020603050405020304" pitchFamily="18" charset="0"/>
                <a:sym typeface="Symbol" panose="05050102010706020507" pitchFamily="18" charset="2"/>
              </a:rPr>
              <a:t>n</a:t>
            </a:r>
            <a:r>
              <a:rPr kumimoji="1" lang="en-US" altLang="zh-CN" sz="2800" dirty="0">
                <a:solidFill>
                  <a:srgbClr val="0000FF"/>
                </a:solidFill>
                <a:latin typeface="Times New Roman" panose="02020603050405020304" pitchFamily="18" charset="0"/>
                <a:sym typeface="Symbol" panose="05050102010706020507" pitchFamily="18" charset="2"/>
              </a:rPr>
              <a:t> </a:t>
            </a:r>
            <a:endParaRPr kumimoji="1" lang="en-US" altLang="zh-CN" sz="2800" dirty="0">
              <a:solidFill>
                <a:srgbClr val="0000FF"/>
              </a:solidFill>
              <a:latin typeface="Times New Roman" panose="02020603050405020304" pitchFamily="18" charset="0"/>
            </a:endParaRPr>
          </a:p>
        </p:txBody>
      </p:sp>
      <p:graphicFrame>
        <p:nvGraphicFramePr>
          <p:cNvPr id="16388" name="Object 1024"/>
          <p:cNvGraphicFramePr>
            <a:graphicFrameLocks noChangeAspect="1"/>
          </p:cNvGraphicFramePr>
          <p:nvPr>
            <p:extLst>
              <p:ext uri="{D42A27DB-BD31-4B8C-83A1-F6EECF244321}">
                <p14:modId xmlns:p14="http://schemas.microsoft.com/office/powerpoint/2010/main" val="1741882766"/>
              </p:ext>
            </p:extLst>
          </p:nvPr>
        </p:nvGraphicFramePr>
        <p:xfrm>
          <a:off x="7429256" y="2999069"/>
          <a:ext cx="1985963" cy="393700"/>
        </p:xfrm>
        <a:graphic>
          <a:graphicData uri="http://schemas.openxmlformats.org/presentationml/2006/ole">
            <mc:AlternateContent xmlns:mc="http://schemas.openxmlformats.org/markup-compatibility/2006">
              <mc:Choice xmlns:v="urn:schemas-microsoft-com:vml" Requires="v">
                <p:oleObj spid="_x0000_s16525" name="公式" r:id="rId3" imgW="971588" imgH="152468" progId="Equation.3">
                  <p:embed/>
                </p:oleObj>
              </mc:Choice>
              <mc:Fallback>
                <p:oleObj name="公式" r:id="rId3" imgW="971588" imgH="152468"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9256" y="2999069"/>
                        <a:ext cx="198596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Text Box 7"/>
          <p:cNvSpPr txBox="1">
            <a:spLocks noChangeArrowheads="1"/>
          </p:cNvSpPr>
          <p:nvPr/>
        </p:nvSpPr>
        <p:spPr bwMode="auto">
          <a:xfrm>
            <a:off x="1861893" y="2935569"/>
            <a:ext cx="55673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sym typeface="Symbol" panose="05050102010706020507" pitchFamily="18" charset="2"/>
              </a:rPr>
              <a:t>t </a:t>
            </a:r>
            <a:r>
              <a:rPr kumimoji="1" lang="zh-CN" altLang="zh-CN" sz="2800">
                <a:solidFill>
                  <a:srgbClr val="0000FF"/>
                </a:solidFill>
                <a:latin typeface="Times New Roman" panose="02020603050405020304" pitchFamily="18" charset="0"/>
                <a:sym typeface="Symbol" panose="05050102010706020507" pitchFamily="18" charset="2"/>
              </a:rPr>
              <a:t>时间内穿过左端面的电量的大小</a:t>
            </a:r>
            <a:endParaRPr kumimoji="1" lang="zh-CN" altLang="en-US" sz="2800">
              <a:solidFill>
                <a:srgbClr val="0000FF"/>
              </a:solidFill>
              <a:latin typeface="Times New Roman" panose="02020603050405020304" pitchFamily="18" charset="0"/>
            </a:endParaRPr>
          </a:p>
        </p:txBody>
      </p:sp>
      <p:sp>
        <p:nvSpPr>
          <p:cNvPr id="16390" name="Text Box 8"/>
          <p:cNvSpPr txBox="1">
            <a:spLocks noChangeArrowheads="1"/>
          </p:cNvSpPr>
          <p:nvPr/>
        </p:nvSpPr>
        <p:spPr bwMode="auto">
          <a:xfrm>
            <a:off x="2171455" y="3621369"/>
            <a:ext cx="1606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sym typeface="Symbol" panose="05050102010706020507" pitchFamily="18" charset="2"/>
              </a:rPr>
              <a:t>电流强度</a:t>
            </a:r>
            <a:endParaRPr kumimoji="1" lang="zh-CN" altLang="en-US" sz="2800">
              <a:solidFill>
                <a:srgbClr val="0000FF"/>
              </a:solidFill>
              <a:latin typeface="Times New Roman" panose="02020603050405020304" pitchFamily="18" charset="0"/>
            </a:endParaRPr>
          </a:p>
        </p:txBody>
      </p:sp>
      <p:sp>
        <p:nvSpPr>
          <p:cNvPr id="16391" name="Text Box 9"/>
          <p:cNvSpPr txBox="1">
            <a:spLocks noChangeArrowheads="1"/>
          </p:cNvSpPr>
          <p:nvPr/>
        </p:nvSpPr>
        <p:spPr bwMode="auto">
          <a:xfrm>
            <a:off x="2247655" y="4459569"/>
            <a:ext cx="1606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sym typeface="Symbol" panose="05050102010706020507" pitchFamily="18" charset="2"/>
              </a:rPr>
              <a:t>电流密度</a:t>
            </a:r>
            <a:endParaRPr kumimoji="1" lang="zh-CN" altLang="en-US" sz="2800">
              <a:solidFill>
                <a:srgbClr val="0000FF"/>
              </a:solidFill>
              <a:latin typeface="Times New Roman" panose="02020603050405020304" pitchFamily="18" charset="0"/>
            </a:endParaRPr>
          </a:p>
        </p:txBody>
      </p:sp>
      <p:graphicFrame>
        <p:nvGraphicFramePr>
          <p:cNvPr id="16392" name="Object 1025"/>
          <p:cNvGraphicFramePr>
            <a:graphicFrameLocks noChangeAspect="1"/>
          </p:cNvGraphicFramePr>
          <p:nvPr>
            <p:extLst>
              <p:ext uri="{D42A27DB-BD31-4B8C-83A1-F6EECF244321}">
                <p14:modId xmlns:p14="http://schemas.microsoft.com/office/powerpoint/2010/main" val="3673884776"/>
              </p:ext>
            </p:extLst>
          </p:nvPr>
        </p:nvGraphicFramePr>
        <p:xfrm>
          <a:off x="3924055" y="3697569"/>
          <a:ext cx="1511300" cy="393700"/>
        </p:xfrm>
        <a:graphic>
          <a:graphicData uri="http://schemas.openxmlformats.org/presentationml/2006/ole">
            <mc:AlternateContent xmlns:mc="http://schemas.openxmlformats.org/markup-compatibility/2006">
              <mc:Choice xmlns:v="urn:schemas-microsoft-com:vml" Requires="v">
                <p:oleObj spid="_x0000_s16526" name="公式" r:id="rId5" imgW="723875" imgH="152468" progId="Equation.3">
                  <p:embed/>
                </p:oleObj>
              </mc:Choice>
              <mc:Fallback>
                <p:oleObj name="公式" r:id="rId5" imgW="723875" imgH="152468"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4055" y="3697569"/>
                        <a:ext cx="1511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3" name="Object 1026"/>
          <p:cNvGraphicFramePr>
            <a:graphicFrameLocks noChangeAspect="1"/>
          </p:cNvGraphicFramePr>
          <p:nvPr>
            <p:extLst>
              <p:ext uri="{D42A27DB-BD31-4B8C-83A1-F6EECF244321}">
                <p14:modId xmlns:p14="http://schemas.microsoft.com/office/powerpoint/2010/main" val="2168448155"/>
              </p:ext>
            </p:extLst>
          </p:nvPr>
        </p:nvGraphicFramePr>
        <p:xfrm>
          <a:off x="4000256" y="4383370"/>
          <a:ext cx="1685925" cy="765175"/>
        </p:xfrm>
        <a:graphic>
          <a:graphicData uri="http://schemas.openxmlformats.org/presentationml/2006/ole">
            <mc:AlternateContent xmlns:mc="http://schemas.openxmlformats.org/markup-compatibility/2006">
              <mc:Choice xmlns:v="urn:schemas-microsoft-com:vml" Requires="v">
                <p:oleObj spid="_x0000_s16527" name="公式" r:id="rId7" imgW="819290" imgH="342900" progId="Equation.3">
                  <p:embed/>
                </p:oleObj>
              </mc:Choice>
              <mc:Fallback>
                <p:oleObj name="公式" r:id="rId7" imgW="819290" imgH="342900"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0256" y="4383370"/>
                        <a:ext cx="1685925"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4" name="Object 1027"/>
          <p:cNvGraphicFramePr>
            <a:graphicFrameLocks noChangeAspect="1"/>
          </p:cNvGraphicFramePr>
          <p:nvPr>
            <p:extLst>
              <p:ext uri="{D42A27DB-BD31-4B8C-83A1-F6EECF244321}">
                <p14:modId xmlns:p14="http://schemas.microsoft.com/office/powerpoint/2010/main" val="1089580647"/>
              </p:ext>
            </p:extLst>
          </p:nvPr>
        </p:nvGraphicFramePr>
        <p:xfrm>
          <a:off x="4000256" y="5297770"/>
          <a:ext cx="1192213" cy="446087"/>
        </p:xfrm>
        <a:graphic>
          <a:graphicData uri="http://schemas.openxmlformats.org/presentationml/2006/ole">
            <mc:AlternateContent xmlns:mc="http://schemas.openxmlformats.org/markup-compatibility/2006">
              <mc:Choice xmlns:v="urn:schemas-microsoft-com:vml" Requires="v">
                <p:oleObj spid="_x0000_s16528" name="公式" r:id="rId9" imgW="562096" imgH="180941" progId="Equation.3">
                  <p:embed/>
                </p:oleObj>
              </mc:Choice>
              <mc:Fallback>
                <p:oleObj name="公式" r:id="rId9" imgW="562096" imgH="180941"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00256" y="5297770"/>
                        <a:ext cx="1192213"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95" name="Group 55"/>
          <p:cNvGrpSpPr>
            <a:grpSpLocks/>
          </p:cNvGrpSpPr>
          <p:nvPr/>
        </p:nvGrpSpPr>
        <p:grpSpPr bwMode="auto">
          <a:xfrm>
            <a:off x="1790455" y="2249769"/>
            <a:ext cx="6178550" cy="531812"/>
            <a:chOff x="528" y="1147"/>
            <a:chExt cx="3892" cy="335"/>
          </a:xfrm>
        </p:grpSpPr>
        <p:graphicFrame>
          <p:nvGraphicFramePr>
            <p:cNvPr id="16412" name="Object 1028"/>
            <p:cNvGraphicFramePr>
              <a:graphicFrameLocks noChangeAspect="1"/>
            </p:cNvGraphicFramePr>
            <p:nvPr/>
          </p:nvGraphicFramePr>
          <p:xfrm>
            <a:off x="3936" y="1200"/>
            <a:ext cx="172" cy="282"/>
          </p:xfrm>
          <a:graphic>
            <a:graphicData uri="http://schemas.openxmlformats.org/presentationml/2006/ole">
              <mc:AlternateContent xmlns:mc="http://schemas.openxmlformats.org/markup-compatibility/2006">
                <mc:Choice xmlns:v="urn:schemas-microsoft-com:vml" Requires="v">
                  <p:oleObj spid="_x0000_s16529" name="公式" r:id="rId11" imgW="95110" imgH="180941" progId="Equation.3">
                    <p:embed/>
                  </p:oleObj>
                </mc:Choice>
                <mc:Fallback>
                  <p:oleObj name="公式" r:id="rId11" imgW="95110" imgH="180941" progId="Equation.3">
                    <p:embed/>
                    <p:pic>
                      <p:nvPicPr>
                        <p:cNvPr id="0"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36" y="1200"/>
                          <a:ext cx="1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13" name="Text Box 38"/>
            <p:cNvSpPr txBox="1">
              <a:spLocks noChangeArrowheads="1"/>
            </p:cNvSpPr>
            <p:nvPr/>
          </p:nvSpPr>
          <p:spPr bwMode="auto">
            <a:xfrm>
              <a:off x="528" y="1152"/>
              <a:ext cx="34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在该点附近取小圆柱体（截面垂直</a:t>
              </a:r>
            </a:p>
          </p:txBody>
        </p:sp>
        <p:sp>
          <p:nvSpPr>
            <p:cNvPr id="16414" name="Rectangle 39"/>
            <p:cNvSpPr>
              <a:spLocks noChangeArrowheads="1"/>
            </p:cNvSpPr>
            <p:nvPr/>
          </p:nvSpPr>
          <p:spPr bwMode="auto">
            <a:xfrm>
              <a:off x="4080" y="1147"/>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a:t>
              </a:r>
            </a:p>
          </p:txBody>
        </p:sp>
      </p:grpSp>
      <p:grpSp>
        <p:nvGrpSpPr>
          <p:cNvPr id="16396" name="Group 56"/>
          <p:cNvGrpSpPr>
            <a:grpSpLocks/>
          </p:cNvGrpSpPr>
          <p:nvPr/>
        </p:nvGrpSpPr>
        <p:grpSpPr bwMode="auto">
          <a:xfrm>
            <a:off x="6591055" y="4459570"/>
            <a:ext cx="2895600" cy="1195387"/>
            <a:chOff x="3936" y="2544"/>
            <a:chExt cx="1824" cy="753"/>
          </a:xfrm>
        </p:grpSpPr>
        <p:sp>
          <p:nvSpPr>
            <p:cNvPr id="16397" name="Oval 40"/>
            <p:cNvSpPr>
              <a:spLocks noChangeArrowheads="1"/>
            </p:cNvSpPr>
            <p:nvPr/>
          </p:nvSpPr>
          <p:spPr bwMode="auto">
            <a:xfrm>
              <a:off x="5015" y="2752"/>
              <a:ext cx="97" cy="233"/>
            </a:xfrm>
            <a:prstGeom prst="ellipse">
              <a:avLst/>
            </a:prstGeom>
            <a:solidFill>
              <a:srgbClr val="00FFFF"/>
            </a:solidFill>
            <a:ln w="25400">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398" name="Line 41"/>
            <p:cNvSpPr>
              <a:spLocks noChangeShapeType="1"/>
            </p:cNvSpPr>
            <p:nvPr/>
          </p:nvSpPr>
          <p:spPr bwMode="auto">
            <a:xfrm>
              <a:off x="4455" y="2752"/>
              <a:ext cx="609" cy="1"/>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6399" name="Line 42"/>
            <p:cNvSpPr>
              <a:spLocks noChangeShapeType="1"/>
            </p:cNvSpPr>
            <p:nvPr/>
          </p:nvSpPr>
          <p:spPr bwMode="auto">
            <a:xfrm>
              <a:off x="4439" y="2984"/>
              <a:ext cx="625" cy="0"/>
            </a:xfrm>
            <a:prstGeom prst="line">
              <a:avLst/>
            </a:prstGeom>
            <a:noFill/>
            <a:ln w="254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6400" name="Oval 43"/>
            <p:cNvSpPr>
              <a:spLocks noChangeArrowheads="1"/>
            </p:cNvSpPr>
            <p:nvPr/>
          </p:nvSpPr>
          <p:spPr bwMode="auto">
            <a:xfrm>
              <a:off x="4415" y="2752"/>
              <a:ext cx="97" cy="241"/>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401" name="Line 44"/>
            <p:cNvSpPr>
              <a:spLocks noChangeShapeType="1"/>
            </p:cNvSpPr>
            <p:nvPr/>
          </p:nvSpPr>
          <p:spPr bwMode="auto">
            <a:xfrm>
              <a:off x="4455" y="2992"/>
              <a:ext cx="1" cy="136"/>
            </a:xfrm>
            <a:prstGeom prst="line">
              <a:avLst/>
            </a:prstGeom>
            <a:noFill/>
            <a:ln w="127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6402" name="Line 45"/>
            <p:cNvSpPr>
              <a:spLocks noChangeShapeType="1"/>
            </p:cNvSpPr>
            <p:nvPr/>
          </p:nvSpPr>
          <p:spPr bwMode="auto">
            <a:xfrm>
              <a:off x="4455" y="3064"/>
              <a:ext cx="609" cy="0"/>
            </a:xfrm>
            <a:prstGeom prst="line">
              <a:avLst/>
            </a:prstGeom>
            <a:noFill/>
            <a:ln w="9525">
              <a:solidFill>
                <a:schemeClr val="tx1"/>
              </a:solidFill>
              <a:round/>
              <a:headEnd type="triangl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6403" name="Line 46"/>
            <p:cNvSpPr>
              <a:spLocks noChangeShapeType="1"/>
            </p:cNvSpPr>
            <p:nvPr/>
          </p:nvSpPr>
          <p:spPr bwMode="auto">
            <a:xfrm>
              <a:off x="5071" y="2976"/>
              <a:ext cx="1" cy="128"/>
            </a:xfrm>
            <a:prstGeom prst="line">
              <a:avLst/>
            </a:prstGeom>
            <a:noFill/>
            <a:ln w="127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6404" name="Line 47"/>
            <p:cNvSpPr>
              <a:spLocks noChangeShapeType="1"/>
            </p:cNvSpPr>
            <p:nvPr/>
          </p:nvSpPr>
          <p:spPr bwMode="auto">
            <a:xfrm>
              <a:off x="5063" y="2864"/>
              <a:ext cx="369" cy="1"/>
            </a:xfrm>
            <a:prstGeom prst="line">
              <a:avLst/>
            </a:prstGeom>
            <a:noFill/>
            <a:ln w="25400">
              <a:solidFill>
                <a:schemeClr val="tx1"/>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6405" name="Line 48"/>
            <p:cNvSpPr>
              <a:spLocks noChangeShapeType="1"/>
            </p:cNvSpPr>
            <p:nvPr/>
          </p:nvSpPr>
          <p:spPr bwMode="auto">
            <a:xfrm>
              <a:off x="4183" y="2856"/>
              <a:ext cx="281" cy="1"/>
            </a:xfrm>
            <a:prstGeom prst="line">
              <a:avLst/>
            </a:prstGeom>
            <a:noFill/>
            <a:ln w="25400">
              <a:solidFill>
                <a:schemeClr val="tx1"/>
              </a:solidFill>
              <a:round/>
              <a:headEnd type="triangl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6406" name="Rectangle 49"/>
            <p:cNvSpPr>
              <a:spLocks noChangeArrowheads="1"/>
            </p:cNvSpPr>
            <p:nvPr/>
          </p:nvSpPr>
          <p:spPr bwMode="auto">
            <a:xfrm>
              <a:off x="5127" y="2544"/>
              <a:ext cx="281"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600" b="1">
                  <a:solidFill>
                    <a:srgbClr val="0000FF"/>
                  </a:solidFill>
                  <a:latin typeface="Times New Roman" panose="02020603050405020304" pitchFamily="18" charset="0"/>
                  <a:sym typeface="Symbol" panose="05050102010706020507" pitchFamily="18" charset="2"/>
                </a:rPr>
                <a:t></a:t>
              </a:r>
              <a:r>
                <a:rPr kumimoji="1" lang="en-US" altLang="zh-CN" sz="1600" b="1" i="1">
                  <a:solidFill>
                    <a:srgbClr val="0000FF"/>
                  </a:solidFill>
                  <a:latin typeface="Times New Roman" panose="02020603050405020304" pitchFamily="18" charset="0"/>
                </a:rPr>
                <a:t>S</a:t>
              </a:r>
              <a:endParaRPr kumimoji="1" lang="en-US" altLang="zh-CN" sz="1000">
                <a:solidFill>
                  <a:srgbClr val="0000FF"/>
                </a:solidFill>
                <a:latin typeface="Times New Roman" panose="02020603050405020304" pitchFamily="18" charset="0"/>
              </a:endParaRPr>
            </a:p>
          </p:txBody>
        </p:sp>
        <p:sp>
          <p:nvSpPr>
            <p:cNvPr id="16407" name="Rectangle 50"/>
            <p:cNvSpPr>
              <a:spLocks noChangeArrowheads="1"/>
            </p:cNvSpPr>
            <p:nvPr/>
          </p:nvSpPr>
          <p:spPr bwMode="auto">
            <a:xfrm>
              <a:off x="5496" y="2735"/>
              <a:ext cx="26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a:solidFill>
                    <a:srgbClr val="0000FF"/>
                  </a:solidFill>
                  <a:latin typeface="Times New Roman" panose="02020603050405020304" pitchFamily="18" charset="0"/>
                </a:rPr>
                <a:t> </a:t>
              </a:r>
              <a:r>
                <a:rPr kumimoji="1" lang="en-US" altLang="zh-CN" sz="1800" b="1" i="1">
                  <a:solidFill>
                    <a:srgbClr val="0000FF"/>
                  </a:solidFill>
                  <a:latin typeface="Times New Roman" panose="02020603050405020304" pitchFamily="18" charset="0"/>
                </a:rPr>
                <a:t>j</a:t>
              </a:r>
              <a:endParaRPr kumimoji="1" lang="en-US" altLang="zh-CN" sz="1000">
                <a:solidFill>
                  <a:srgbClr val="0000FF"/>
                </a:solidFill>
                <a:latin typeface="Times New Roman" panose="02020603050405020304" pitchFamily="18" charset="0"/>
              </a:endParaRPr>
            </a:p>
          </p:txBody>
        </p:sp>
        <p:sp>
          <p:nvSpPr>
            <p:cNvPr id="16408" name="Rectangle 51"/>
            <p:cNvSpPr>
              <a:spLocks noChangeArrowheads="1"/>
            </p:cNvSpPr>
            <p:nvPr/>
          </p:nvSpPr>
          <p:spPr bwMode="auto">
            <a:xfrm>
              <a:off x="3936" y="2709"/>
              <a:ext cx="24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a:solidFill>
                    <a:srgbClr val="0000FF"/>
                  </a:solidFill>
                  <a:latin typeface="Times New Roman" panose="02020603050405020304" pitchFamily="18" charset="0"/>
                </a:rPr>
                <a:t> </a:t>
              </a:r>
              <a:r>
                <a:rPr kumimoji="1" lang="en-US" altLang="zh-CN" sz="1800" b="1" i="1">
                  <a:solidFill>
                    <a:srgbClr val="0000FF"/>
                  </a:solidFill>
                  <a:latin typeface="Times New Roman" panose="02020603050405020304" pitchFamily="18" charset="0"/>
                </a:rPr>
                <a:t>u</a:t>
              </a:r>
              <a:endParaRPr kumimoji="1" lang="en-US" altLang="zh-CN" sz="1000">
                <a:solidFill>
                  <a:srgbClr val="0000FF"/>
                </a:solidFill>
                <a:latin typeface="Times New Roman" panose="02020603050405020304" pitchFamily="18" charset="0"/>
              </a:endParaRPr>
            </a:p>
          </p:txBody>
        </p:sp>
        <p:sp>
          <p:nvSpPr>
            <p:cNvPr id="16409" name="Rectangle 52"/>
            <p:cNvSpPr>
              <a:spLocks noChangeArrowheads="1"/>
            </p:cNvSpPr>
            <p:nvPr/>
          </p:nvSpPr>
          <p:spPr bwMode="auto">
            <a:xfrm>
              <a:off x="4599" y="3066"/>
              <a:ext cx="4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i="1">
                  <a:solidFill>
                    <a:srgbClr val="0000FF"/>
                  </a:solidFill>
                  <a:latin typeface="Times New Roman" panose="02020603050405020304" pitchFamily="18" charset="0"/>
                </a:rPr>
                <a:t>u</a:t>
              </a:r>
              <a:r>
                <a:rPr kumimoji="1" lang="en-US" altLang="zh-CN" sz="1800" b="1">
                  <a:solidFill>
                    <a:srgbClr val="0000FF"/>
                  </a:solidFill>
                  <a:latin typeface="Times New Roman" panose="02020603050405020304" pitchFamily="18" charset="0"/>
                  <a:sym typeface="Symbol" panose="05050102010706020507" pitchFamily="18" charset="2"/>
                </a:rPr>
                <a:t></a:t>
              </a:r>
              <a:r>
                <a:rPr kumimoji="1" lang="en-US" altLang="zh-CN" sz="1800" b="1" i="1">
                  <a:solidFill>
                    <a:srgbClr val="0000FF"/>
                  </a:solidFill>
                  <a:latin typeface="Times New Roman" panose="02020603050405020304" pitchFamily="18" charset="0"/>
                </a:rPr>
                <a:t>t</a:t>
              </a:r>
              <a:endParaRPr kumimoji="1" lang="en-US" altLang="zh-CN" sz="1000">
                <a:solidFill>
                  <a:srgbClr val="0000FF"/>
                </a:solidFill>
                <a:latin typeface="Times New Roman" panose="02020603050405020304" pitchFamily="18" charset="0"/>
              </a:endParaRPr>
            </a:p>
          </p:txBody>
        </p:sp>
        <p:sp>
          <p:nvSpPr>
            <p:cNvPr id="16410" name="Line 53"/>
            <p:cNvSpPr>
              <a:spLocks noChangeShapeType="1"/>
            </p:cNvSpPr>
            <p:nvPr/>
          </p:nvSpPr>
          <p:spPr bwMode="auto">
            <a:xfrm>
              <a:off x="3983" y="2751"/>
              <a:ext cx="112" cy="0"/>
            </a:xfrm>
            <a:prstGeom prst="line">
              <a:avLst/>
            </a:prstGeom>
            <a:noFill/>
            <a:ln w="9525">
              <a:solidFill>
                <a:schemeClr val="tx1"/>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16411" name="Line 54"/>
            <p:cNvSpPr>
              <a:spLocks noChangeShapeType="1"/>
            </p:cNvSpPr>
            <p:nvPr/>
          </p:nvSpPr>
          <p:spPr bwMode="auto">
            <a:xfrm>
              <a:off x="5505" y="2748"/>
              <a:ext cx="128" cy="0"/>
            </a:xfrm>
            <a:prstGeom prst="line">
              <a:avLst/>
            </a:prstGeom>
            <a:noFill/>
            <a:ln w="9525">
              <a:solidFill>
                <a:schemeClr val="tx1"/>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337857" y="320675"/>
            <a:ext cx="58959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二、由古典电子论推导欧姆定律</a:t>
            </a:r>
          </a:p>
        </p:txBody>
      </p:sp>
      <p:sp>
        <p:nvSpPr>
          <p:cNvPr id="17411" name="Text Box 3"/>
          <p:cNvSpPr txBox="1">
            <a:spLocks noChangeArrowheads="1"/>
          </p:cNvSpPr>
          <p:nvPr/>
        </p:nvSpPr>
        <p:spPr bwMode="auto">
          <a:xfrm>
            <a:off x="1200690" y="1311805"/>
            <a:ext cx="409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1. </a:t>
            </a:r>
            <a:r>
              <a:rPr kumimoji="1" lang="zh-CN" altLang="en-US" sz="2800">
                <a:solidFill>
                  <a:srgbClr val="0000FF"/>
                </a:solidFill>
                <a:latin typeface="Times New Roman" panose="02020603050405020304" pitchFamily="18" charset="0"/>
              </a:rPr>
              <a:t>推导欧姆定律微分形式</a:t>
            </a:r>
          </a:p>
        </p:txBody>
      </p:sp>
      <p:sp>
        <p:nvSpPr>
          <p:cNvPr id="17412" name="Text Box 4"/>
          <p:cNvSpPr txBox="1">
            <a:spLocks noChangeArrowheads="1"/>
          </p:cNvSpPr>
          <p:nvPr/>
        </p:nvSpPr>
        <p:spPr bwMode="auto">
          <a:xfrm>
            <a:off x="1429290" y="1769005"/>
            <a:ext cx="739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设导体内有电场</a:t>
            </a:r>
          </a:p>
        </p:txBody>
      </p:sp>
      <p:graphicFrame>
        <p:nvGraphicFramePr>
          <p:cNvPr id="17413" name="Object 1024"/>
          <p:cNvGraphicFramePr>
            <a:graphicFrameLocks noChangeAspect="1"/>
          </p:cNvGraphicFramePr>
          <p:nvPr>
            <p:extLst>
              <p:ext uri="{D42A27DB-BD31-4B8C-83A1-F6EECF244321}">
                <p14:modId xmlns:p14="http://schemas.microsoft.com/office/powerpoint/2010/main" val="4070702543"/>
              </p:ext>
            </p:extLst>
          </p:nvPr>
        </p:nvGraphicFramePr>
        <p:xfrm>
          <a:off x="4324891" y="1845205"/>
          <a:ext cx="295275" cy="393700"/>
        </p:xfrm>
        <a:graphic>
          <a:graphicData uri="http://schemas.openxmlformats.org/presentationml/2006/ole">
            <mc:AlternateContent xmlns:mc="http://schemas.openxmlformats.org/markup-compatibility/2006">
              <mc:Choice xmlns:v="urn:schemas-microsoft-com:vml" Requires="v">
                <p:oleObj spid="_x0000_s17487" name="公式" r:id="rId3" imgW="104896" imgH="152468" progId="Equation.3">
                  <p:embed/>
                </p:oleObj>
              </mc:Choice>
              <mc:Fallback>
                <p:oleObj name="公式" r:id="rId3" imgW="104896" imgH="152468"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4891" y="1845205"/>
                        <a:ext cx="295275"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4" name="Text Box 6"/>
          <p:cNvSpPr txBox="1">
            <a:spLocks noChangeArrowheads="1"/>
          </p:cNvSpPr>
          <p:nvPr/>
        </p:nvSpPr>
        <p:spPr bwMode="auto">
          <a:xfrm>
            <a:off x="1429290" y="2302405"/>
            <a:ext cx="739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每个自由电子受力</a:t>
            </a:r>
          </a:p>
        </p:txBody>
      </p:sp>
      <p:graphicFrame>
        <p:nvGraphicFramePr>
          <p:cNvPr id="17415" name="Object 1025"/>
          <p:cNvGraphicFramePr>
            <a:graphicFrameLocks noChangeAspect="1"/>
          </p:cNvGraphicFramePr>
          <p:nvPr>
            <p:extLst>
              <p:ext uri="{D42A27DB-BD31-4B8C-83A1-F6EECF244321}">
                <p14:modId xmlns:p14="http://schemas.microsoft.com/office/powerpoint/2010/main" val="3792645305"/>
              </p:ext>
            </p:extLst>
          </p:nvPr>
        </p:nvGraphicFramePr>
        <p:xfrm>
          <a:off x="4629691" y="2378606"/>
          <a:ext cx="1166813" cy="466725"/>
        </p:xfrm>
        <a:graphic>
          <a:graphicData uri="http://schemas.openxmlformats.org/presentationml/2006/ole">
            <mc:AlternateContent xmlns:mc="http://schemas.openxmlformats.org/markup-compatibility/2006">
              <mc:Choice xmlns:v="urn:schemas-microsoft-com:vml" Requires="v">
                <p:oleObj spid="_x0000_s17488" name="Equation" r:id="rId5" imgW="552310" imgH="190432" progId="Equation.3">
                  <p:embed/>
                </p:oleObj>
              </mc:Choice>
              <mc:Fallback>
                <p:oleObj name="Equation" r:id="rId5" imgW="552310" imgH="190432"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9691" y="2378606"/>
                        <a:ext cx="1166813"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6" name="Text Box 8"/>
          <p:cNvSpPr txBox="1">
            <a:spLocks noChangeArrowheads="1"/>
          </p:cNvSpPr>
          <p:nvPr/>
        </p:nvSpPr>
        <p:spPr bwMode="auto">
          <a:xfrm>
            <a:off x="1810290" y="2912005"/>
            <a:ext cx="1295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加速度</a:t>
            </a:r>
          </a:p>
        </p:txBody>
      </p:sp>
      <p:graphicFrame>
        <p:nvGraphicFramePr>
          <p:cNvPr id="17417" name="Object 1026"/>
          <p:cNvGraphicFramePr>
            <a:graphicFrameLocks noChangeAspect="1"/>
          </p:cNvGraphicFramePr>
          <p:nvPr>
            <p:extLst>
              <p:ext uri="{D42A27DB-BD31-4B8C-83A1-F6EECF244321}">
                <p14:modId xmlns:p14="http://schemas.microsoft.com/office/powerpoint/2010/main" val="4028822583"/>
              </p:ext>
            </p:extLst>
          </p:nvPr>
        </p:nvGraphicFramePr>
        <p:xfrm>
          <a:off x="3334290" y="2835806"/>
          <a:ext cx="1138238" cy="815975"/>
        </p:xfrm>
        <a:graphic>
          <a:graphicData uri="http://schemas.openxmlformats.org/presentationml/2006/ole">
            <mc:AlternateContent xmlns:mc="http://schemas.openxmlformats.org/markup-compatibility/2006">
              <mc:Choice xmlns:v="urn:schemas-microsoft-com:vml" Requires="v">
                <p:oleObj spid="_x0000_s17489" name="公式" r:id="rId7" imgW="533349" imgH="371373" progId="Equation.3">
                  <p:embed/>
                </p:oleObj>
              </mc:Choice>
              <mc:Fallback>
                <p:oleObj name="公式" r:id="rId7" imgW="533349" imgH="371373"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4290" y="2835806"/>
                        <a:ext cx="1138238"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8" name="Text Box 10"/>
          <p:cNvSpPr txBox="1">
            <a:spLocks noChangeArrowheads="1"/>
          </p:cNvSpPr>
          <p:nvPr/>
        </p:nvSpPr>
        <p:spPr bwMode="auto">
          <a:xfrm>
            <a:off x="1505490" y="3597805"/>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由于电子与点阵碰撞，电子不能一直加速，电子定向速度增加受到限制。</a:t>
            </a:r>
          </a:p>
        </p:txBody>
      </p:sp>
      <p:sp>
        <p:nvSpPr>
          <p:cNvPr id="17419" name="Text Box 11"/>
          <p:cNvSpPr txBox="1">
            <a:spLocks noChangeArrowheads="1"/>
          </p:cNvSpPr>
          <p:nvPr/>
        </p:nvSpPr>
        <p:spPr bwMode="auto">
          <a:xfrm>
            <a:off x="1505490" y="4648730"/>
            <a:ext cx="777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由于热运动速度 </a:t>
            </a:r>
            <a:r>
              <a:rPr kumimoji="1" lang="en-US" altLang="zh-CN" sz="2800">
                <a:solidFill>
                  <a:srgbClr val="0000FF"/>
                </a:solidFill>
                <a:latin typeface="Times New Roman" panose="02020603050405020304" pitchFamily="18" charset="0"/>
              </a:rPr>
              <a:t>&gt;&gt; </a:t>
            </a:r>
            <a:r>
              <a:rPr kumimoji="1" lang="zh-CN" altLang="en-US" sz="2800">
                <a:solidFill>
                  <a:srgbClr val="0000FF"/>
                </a:solidFill>
                <a:latin typeface="Times New Roman" panose="02020603050405020304" pitchFamily="18" charset="0"/>
              </a:rPr>
              <a:t>定向速度</a:t>
            </a:r>
          </a:p>
        </p:txBody>
      </p:sp>
      <p:sp>
        <p:nvSpPr>
          <p:cNvPr id="17420" name="Text Box 12"/>
          <p:cNvSpPr txBox="1">
            <a:spLocks noChangeArrowheads="1"/>
          </p:cNvSpPr>
          <p:nvPr/>
        </p:nvSpPr>
        <p:spPr bwMode="auto">
          <a:xfrm>
            <a:off x="1505490" y="5274205"/>
            <a:ext cx="777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电子与点阵碰撞所受冲力 </a:t>
            </a:r>
            <a:r>
              <a:rPr kumimoji="1" lang="en-US" altLang="zh-CN" sz="2800">
                <a:solidFill>
                  <a:srgbClr val="0000FF"/>
                </a:solidFill>
                <a:latin typeface="Times New Roman" panose="02020603050405020304" pitchFamily="18" charset="0"/>
              </a:rPr>
              <a:t>&gt;&gt; </a:t>
            </a:r>
            <a:r>
              <a:rPr kumimoji="1" lang="zh-CN" altLang="en-US" sz="2800">
                <a:solidFill>
                  <a:srgbClr val="0000FF"/>
                </a:solidFill>
                <a:latin typeface="Times New Roman" panose="02020603050405020304" pitchFamily="18" charset="0"/>
              </a:rPr>
              <a:t>电场力</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ext Box 13"/>
          <p:cNvSpPr txBox="1">
            <a:spLocks noChangeArrowheads="1"/>
          </p:cNvSpPr>
          <p:nvPr/>
        </p:nvSpPr>
        <p:spPr bwMode="auto">
          <a:xfrm>
            <a:off x="1229924" y="1960100"/>
            <a:ext cx="88265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zh-CN" sz="2800" dirty="0">
                <a:solidFill>
                  <a:srgbClr val="0000FF"/>
                </a:solidFill>
                <a:latin typeface="Times New Roman" panose="02020603050405020304" pitchFamily="18" charset="0"/>
              </a:rPr>
              <a:t>设两次碰撞间电子平均自由飞行时间为</a:t>
            </a:r>
            <a:endParaRPr kumimoji="1" lang="zh-CN" altLang="en-US" sz="2800" dirty="0">
              <a:solidFill>
                <a:srgbClr val="0000FF"/>
              </a:solidFill>
              <a:latin typeface="Times New Roman" panose="02020603050405020304" pitchFamily="18" charset="0"/>
            </a:endParaRPr>
          </a:p>
        </p:txBody>
      </p:sp>
      <p:graphicFrame>
        <p:nvGraphicFramePr>
          <p:cNvPr id="18435" name="Object 1024"/>
          <p:cNvGraphicFramePr>
            <a:graphicFrameLocks noChangeAspect="1"/>
          </p:cNvGraphicFramePr>
          <p:nvPr>
            <p:extLst>
              <p:ext uri="{D42A27DB-BD31-4B8C-83A1-F6EECF244321}">
                <p14:modId xmlns:p14="http://schemas.microsoft.com/office/powerpoint/2010/main" val="3193559229"/>
              </p:ext>
            </p:extLst>
          </p:nvPr>
        </p:nvGraphicFramePr>
        <p:xfrm>
          <a:off x="7532940" y="2090768"/>
          <a:ext cx="244475" cy="319087"/>
        </p:xfrm>
        <a:graphic>
          <a:graphicData uri="http://schemas.openxmlformats.org/presentationml/2006/ole">
            <mc:AlternateContent xmlns:mc="http://schemas.openxmlformats.org/markup-compatibility/2006">
              <mc:Choice xmlns:v="urn:schemas-microsoft-com:vml" Requires="v">
                <p:oleObj spid="_x0000_s18494" name="公式" r:id="rId3" imgW="76149" imgH="114198" progId="Equation.3">
                  <p:embed/>
                </p:oleObj>
              </mc:Choice>
              <mc:Fallback>
                <p:oleObj name="公式" r:id="rId3" imgW="76149" imgH="114198"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2940" y="2090768"/>
                        <a:ext cx="244475"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6" name="Text Box 15"/>
          <p:cNvSpPr txBox="1">
            <a:spLocks noChangeArrowheads="1"/>
          </p:cNvSpPr>
          <p:nvPr/>
        </p:nvSpPr>
        <p:spPr bwMode="auto">
          <a:xfrm>
            <a:off x="1229925" y="3923034"/>
            <a:ext cx="3886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下次碰撞前的定向速度</a:t>
            </a:r>
          </a:p>
        </p:txBody>
      </p:sp>
      <p:sp>
        <p:nvSpPr>
          <p:cNvPr id="18437" name="Line 22"/>
          <p:cNvSpPr>
            <a:spLocks noChangeShapeType="1"/>
          </p:cNvSpPr>
          <p:nvPr/>
        </p:nvSpPr>
        <p:spPr bwMode="auto">
          <a:xfrm>
            <a:off x="6228963" y="5786760"/>
            <a:ext cx="177800"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med" len="sm"/>
                <a:tailEnd type="triangle" w="med" len="sm"/>
              </a14:hiddenLine>
            </a:ext>
          </a:extLst>
        </p:spPr>
        <p:txBody>
          <a:bodyPr/>
          <a:lstStyle/>
          <a:p>
            <a:endParaRPr lang="zh-CN" altLang="en-US"/>
          </a:p>
        </p:txBody>
      </p:sp>
      <p:sp>
        <p:nvSpPr>
          <p:cNvPr id="18438" name="Line 23"/>
          <p:cNvSpPr>
            <a:spLocks noChangeShapeType="1"/>
          </p:cNvSpPr>
          <p:nvPr/>
        </p:nvSpPr>
        <p:spPr bwMode="auto">
          <a:xfrm>
            <a:off x="8794363" y="5813746"/>
            <a:ext cx="1778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med" len="sm"/>
                <a:tailEnd type="triangle" w="med" len="sm"/>
              </a14:hiddenLine>
            </a:ext>
          </a:extLst>
        </p:spPr>
        <p:txBody>
          <a:bodyPr/>
          <a:lstStyle/>
          <a:p>
            <a:endParaRPr lang="zh-CN" altLang="en-US"/>
          </a:p>
        </p:txBody>
      </p:sp>
      <p:grpSp>
        <p:nvGrpSpPr>
          <p:cNvPr id="18439" name="Group 27"/>
          <p:cNvGrpSpPr>
            <a:grpSpLocks/>
          </p:cNvGrpSpPr>
          <p:nvPr/>
        </p:nvGrpSpPr>
        <p:grpSpPr bwMode="auto">
          <a:xfrm>
            <a:off x="5420925" y="3068960"/>
            <a:ext cx="3708400" cy="1004887"/>
            <a:chOff x="3424" y="3264"/>
            <a:chExt cx="2336" cy="633"/>
          </a:xfrm>
        </p:grpSpPr>
        <p:sp>
          <p:nvSpPr>
            <p:cNvPr id="18442" name="Line 16"/>
            <p:cNvSpPr>
              <a:spLocks noChangeShapeType="1"/>
            </p:cNvSpPr>
            <p:nvPr/>
          </p:nvSpPr>
          <p:spPr bwMode="auto">
            <a:xfrm>
              <a:off x="3752" y="3609"/>
              <a:ext cx="1520" cy="0"/>
            </a:xfrm>
            <a:prstGeom prst="line">
              <a:avLst/>
            </a:prstGeom>
            <a:noFill/>
            <a:ln w="12700">
              <a:solidFill>
                <a:schemeClr val="tx1"/>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18443" name="Rectangle 17"/>
            <p:cNvSpPr>
              <a:spLocks noChangeArrowheads="1"/>
            </p:cNvSpPr>
            <p:nvPr/>
          </p:nvSpPr>
          <p:spPr bwMode="auto">
            <a:xfrm>
              <a:off x="3584" y="3264"/>
              <a:ext cx="36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i="1">
                  <a:solidFill>
                    <a:srgbClr val="0000FF"/>
                  </a:solidFill>
                  <a:latin typeface="Times New Roman" panose="02020603050405020304" pitchFamily="18" charset="0"/>
                </a:rPr>
                <a:t>u</a:t>
              </a:r>
              <a:r>
                <a:rPr kumimoji="1" lang="en-US" altLang="zh-CN" sz="1800" b="1" baseline="-25000">
                  <a:solidFill>
                    <a:srgbClr val="0000FF"/>
                  </a:solidFill>
                  <a:latin typeface="Times New Roman" panose="02020603050405020304" pitchFamily="18" charset="0"/>
                </a:rPr>
                <a:t>0</a:t>
              </a:r>
              <a:r>
                <a:rPr kumimoji="1" lang="en-US" altLang="zh-CN" sz="1800" b="1">
                  <a:solidFill>
                    <a:srgbClr val="0000FF"/>
                  </a:solidFill>
                  <a:latin typeface="Times New Roman" panose="02020603050405020304" pitchFamily="18" charset="0"/>
                </a:rPr>
                <a:t>=0</a:t>
              </a:r>
              <a:endParaRPr kumimoji="1" lang="en-US" altLang="zh-CN" sz="1000">
                <a:solidFill>
                  <a:srgbClr val="0000FF"/>
                </a:solidFill>
                <a:latin typeface="Times New Roman" panose="02020603050405020304" pitchFamily="18" charset="0"/>
              </a:endParaRPr>
            </a:p>
          </p:txBody>
        </p:sp>
        <p:sp>
          <p:nvSpPr>
            <p:cNvPr id="18444" name="Rectangle 18"/>
            <p:cNvSpPr>
              <a:spLocks noChangeArrowheads="1"/>
            </p:cNvSpPr>
            <p:nvPr/>
          </p:nvSpPr>
          <p:spPr bwMode="auto">
            <a:xfrm>
              <a:off x="5200" y="3264"/>
              <a:ext cx="472"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i="1">
                  <a:solidFill>
                    <a:srgbClr val="0000FF"/>
                  </a:solidFill>
                  <a:latin typeface="Times New Roman" panose="02020603050405020304" pitchFamily="18" charset="0"/>
                </a:rPr>
                <a:t>u</a:t>
              </a:r>
              <a:r>
                <a:rPr kumimoji="1" lang="en-US" altLang="zh-CN" sz="1800" b="1" i="1" baseline="-25000">
                  <a:solidFill>
                    <a:srgbClr val="0000FF"/>
                  </a:solidFill>
                  <a:latin typeface="Times New Roman" panose="02020603050405020304" pitchFamily="18" charset="0"/>
                </a:rPr>
                <a:t>t</a:t>
              </a:r>
              <a:endParaRPr kumimoji="1" lang="en-US" altLang="zh-CN" sz="1000">
                <a:solidFill>
                  <a:srgbClr val="0000FF"/>
                </a:solidFill>
                <a:latin typeface="Times New Roman" panose="02020603050405020304" pitchFamily="18" charset="0"/>
              </a:endParaRPr>
            </a:p>
          </p:txBody>
        </p:sp>
        <p:sp>
          <p:nvSpPr>
            <p:cNvPr id="18445" name="Rectangle 19"/>
            <p:cNvSpPr>
              <a:spLocks noChangeArrowheads="1"/>
            </p:cNvSpPr>
            <p:nvPr/>
          </p:nvSpPr>
          <p:spPr bwMode="auto">
            <a:xfrm>
              <a:off x="4281" y="3323"/>
              <a:ext cx="28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a:solidFill>
                    <a:srgbClr val="0000FF"/>
                  </a:solidFill>
                  <a:latin typeface="Times New Roman" panose="02020603050405020304" pitchFamily="18" charset="0"/>
                  <a:sym typeface="Symbol" panose="05050102010706020507" pitchFamily="18" charset="2"/>
                </a:rPr>
                <a:t></a:t>
              </a:r>
              <a:r>
                <a:rPr kumimoji="1" lang="en-US" altLang="zh-CN" sz="1800" b="1" i="1">
                  <a:solidFill>
                    <a:srgbClr val="0000FF"/>
                  </a:solidFill>
                  <a:latin typeface="Times New Roman" panose="02020603050405020304" pitchFamily="18" charset="0"/>
                  <a:sym typeface="Symbol" panose="05050102010706020507" pitchFamily="18" charset="2"/>
                </a:rPr>
                <a:t></a:t>
              </a:r>
              <a:endParaRPr kumimoji="1" lang="en-US" altLang="zh-CN" sz="1000" b="1">
                <a:solidFill>
                  <a:srgbClr val="0000FF"/>
                </a:solidFill>
                <a:latin typeface="Times New Roman" panose="02020603050405020304" pitchFamily="18" charset="0"/>
              </a:endParaRPr>
            </a:p>
          </p:txBody>
        </p:sp>
        <p:sp>
          <p:nvSpPr>
            <p:cNvPr id="18446" name="Rectangle 20"/>
            <p:cNvSpPr>
              <a:spLocks noChangeArrowheads="1"/>
            </p:cNvSpPr>
            <p:nvPr/>
          </p:nvSpPr>
          <p:spPr bwMode="auto">
            <a:xfrm>
              <a:off x="3424" y="3673"/>
              <a:ext cx="64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1600" b="1">
                  <a:solidFill>
                    <a:srgbClr val="0000FF"/>
                  </a:solidFill>
                  <a:latin typeface="Times New Roman" panose="02020603050405020304" pitchFamily="18" charset="0"/>
                </a:rPr>
                <a:t>某次碰撞</a:t>
              </a:r>
              <a:endParaRPr kumimoji="1" lang="zh-CN" altLang="en-US" sz="1000">
                <a:solidFill>
                  <a:srgbClr val="0000FF"/>
                </a:solidFill>
                <a:latin typeface="Times New Roman" panose="02020603050405020304" pitchFamily="18" charset="0"/>
              </a:endParaRPr>
            </a:p>
          </p:txBody>
        </p:sp>
        <p:sp>
          <p:nvSpPr>
            <p:cNvPr id="18447" name="Rectangle 21"/>
            <p:cNvSpPr>
              <a:spLocks noChangeArrowheads="1"/>
            </p:cNvSpPr>
            <p:nvPr/>
          </p:nvSpPr>
          <p:spPr bwMode="auto">
            <a:xfrm>
              <a:off x="4936" y="3673"/>
              <a:ext cx="82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1600" b="1">
                  <a:solidFill>
                    <a:srgbClr val="0000FF"/>
                  </a:solidFill>
                  <a:latin typeface="Times New Roman" panose="02020603050405020304" pitchFamily="18" charset="0"/>
                </a:rPr>
                <a:t>下一次碰撞</a:t>
              </a:r>
              <a:endParaRPr kumimoji="1" lang="zh-CN" altLang="en-US" sz="1000">
                <a:solidFill>
                  <a:srgbClr val="0000FF"/>
                </a:solidFill>
                <a:latin typeface="Times New Roman" panose="02020603050405020304" pitchFamily="18" charset="0"/>
              </a:endParaRPr>
            </a:p>
          </p:txBody>
        </p:sp>
        <p:sp>
          <p:nvSpPr>
            <p:cNvPr id="18448" name="Rectangle 24"/>
            <p:cNvSpPr>
              <a:spLocks noChangeArrowheads="1"/>
            </p:cNvSpPr>
            <p:nvPr/>
          </p:nvSpPr>
          <p:spPr bwMode="auto">
            <a:xfrm>
              <a:off x="3656" y="3432"/>
              <a:ext cx="17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200" b="1">
                  <a:solidFill>
                    <a:srgbClr val="0000FF"/>
                  </a:solidFill>
                  <a:latin typeface="Times New Roman" panose="02020603050405020304" pitchFamily="18" charset="0"/>
                </a:rPr>
                <a:t>·</a:t>
              </a:r>
              <a:endParaRPr kumimoji="1" lang="en-US" altLang="zh-CN" sz="1000">
                <a:solidFill>
                  <a:srgbClr val="0000FF"/>
                </a:solidFill>
                <a:latin typeface="Times New Roman" panose="02020603050405020304" pitchFamily="18" charset="0"/>
              </a:endParaRPr>
            </a:p>
          </p:txBody>
        </p:sp>
        <p:sp>
          <p:nvSpPr>
            <p:cNvPr id="18449" name="Rectangle 25"/>
            <p:cNvSpPr>
              <a:spLocks noChangeArrowheads="1"/>
            </p:cNvSpPr>
            <p:nvPr/>
          </p:nvSpPr>
          <p:spPr bwMode="auto">
            <a:xfrm>
              <a:off x="5184" y="3432"/>
              <a:ext cx="21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200" b="1">
                  <a:solidFill>
                    <a:srgbClr val="0000FF"/>
                  </a:solidFill>
                  <a:latin typeface="Times New Roman" panose="02020603050405020304" pitchFamily="18" charset="0"/>
                </a:rPr>
                <a:t>·</a:t>
              </a:r>
              <a:endParaRPr kumimoji="1" lang="en-US" altLang="zh-CN" sz="1000">
                <a:solidFill>
                  <a:srgbClr val="0000FF"/>
                </a:solidFill>
                <a:latin typeface="Times New Roman" panose="02020603050405020304" pitchFamily="18" charset="0"/>
              </a:endParaRPr>
            </a:p>
          </p:txBody>
        </p:sp>
      </p:grpSp>
      <p:sp>
        <p:nvSpPr>
          <p:cNvPr id="18440" name="Text Box 26"/>
          <p:cNvSpPr txBox="1">
            <a:spLocks noChangeArrowheads="1"/>
          </p:cNvSpPr>
          <p:nvPr/>
        </p:nvSpPr>
        <p:spPr bwMode="auto">
          <a:xfrm>
            <a:off x="1153725" y="935360"/>
            <a:ext cx="1065791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碰撞后电子向各方向运动概率相等 </a:t>
            </a:r>
            <a:r>
              <a:rPr kumimoji="1" lang="zh-CN" altLang="en-US" sz="2800" dirty="0">
                <a:solidFill>
                  <a:srgbClr val="0000FF"/>
                </a:solidFill>
                <a:latin typeface="Times New Roman" panose="02020603050405020304" pitchFamily="18" charset="0"/>
                <a:sym typeface="Symbol" panose="05050102010706020507" pitchFamily="18" charset="2"/>
              </a:rPr>
              <a:t> 每次碰撞后瞬间平均而言，定向速度为零，即此后运动中的定向初速度 </a:t>
            </a:r>
            <a:r>
              <a:rPr kumimoji="1" lang="en-US" altLang="zh-CN" sz="2800" i="1" dirty="0">
                <a:solidFill>
                  <a:srgbClr val="0000FF"/>
                </a:solidFill>
                <a:latin typeface="Times New Roman" panose="02020603050405020304" pitchFamily="18" charset="0"/>
                <a:sym typeface="Symbol" panose="05050102010706020507" pitchFamily="18" charset="2"/>
              </a:rPr>
              <a:t>u</a:t>
            </a:r>
            <a:r>
              <a:rPr kumimoji="1" lang="en-US" altLang="zh-CN" sz="2800" baseline="-25000" dirty="0">
                <a:solidFill>
                  <a:srgbClr val="0000FF"/>
                </a:solidFill>
                <a:latin typeface="Times New Roman" panose="02020603050405020304" pitchFamily="18" charset="0"/>
                <a:sym typeface="Symbol" panose="05050102010706020507" pitchFamily="18" charset="2"/>
              </a:rPr>
              <a:t>0</a:t>
            </a:r>
            <a:r>
              <a:rPr kumimoji="1" lang="en-US" altLang="zh-CN" sz="2800" dirty="0">
                <a:solidFill>
                  <a:srgbClr val="0000FF"/>
                </a:solidFill>
                <a:latin typeface="Times New Roman" panose="02020603050405020304" pitchFamily="18" charset="0"/>
                <a:sym typeface="Symbol" panose="05050102010706020507" pitchFamily="18" charset="2"/>
              </a:rPr>
              <a:t>=0</a:t>
            </a:r>
            <a:endParaRPr kumimoji="1" lang="en-US" altLang="zh-CN" sz="2800" dirty="0">
              <a:solidFill>
                <a:srgbClr val="0000FF"/>
              </a:solidFill>
              <a:latin typeface="Times New Roman" panose="02020603050405020304" pitchFamily="18" charset="0"/>
            </a:endParaRPr>
          </a:p>
        </p:txBody>
      </p:sp>
      <p:graphicFrame>
        <p:nvGraphicFramePr>
          <p:cNvPr id="18441" name="Object 1025"/>
          <p:cNvGraphicFramePr>
            <a:graphicFrameLocks noChangeAspect="1"/>
          </p:cNvGraphicFramePr>
          <p:nvPr>
            <p:extLst>
              <p:ext uri="{D42A27DB-BD31-4B8C-83A1-F6EECF244321}">
                <p14:modId xmlns:p14="http://schemas.microsoft.com/office/powerpoint/2010/main" val="978811068"/>
              </p:ext>
            </p:extLst>
          </p:nvPr>
        </p:nvGraphicFramePr>
        <p:xfrm>
          <a:off x="2830125" y="4824734"/>
          <a:ext cx="2306638" cy="836612"/>
        </p:xfrm>
        <a:graphic>
          <a:graphicData uri="http://schemas.openxmlformats.org/presentationml/2006/ole">
            <mc:AlternateContent xmlns:mc="http://schemas.openxmlformats.org/markup-compatibility/2006">
              <mc:Choice xmlns:v="urn:schemas-microsoft-com:vml" Requires="v">
                <p:oleObj spid="_x0000_s18495" name="公式" r:id="rId5" imgW="1133367" imgH="380864" progId="Equation.3">
                  <p:embed/>
                </p:oleObj>
              </mc:Choice>
              <mc:Fallback>
                <p:oleObj name="公式" r:id="rId5" imgW="1133367" imgH="380864"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0125" y="4824734"/>
                        <a:ext cx="2306638" cy="836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9458" name="Object 2"/>
          <p:cNvGraphicFramePr>
            <a:graphicFrameLocks noChangeAspect="1"/>
          </p:cNvGraphicFramePr>
          <p:nvPr/>
        </p:nvGraphicFramePr>
        <p:xfrm>
          <a:off x="7375526" y="685801"/>
          <a:ext cx="2728913" cy="836613"/>
        </p:xfrm>
        <a:graphic>
          <a:graphicData uri="http://schemas.openxmlformats.org/presentationml/2006/ole">
            <mc:AlternateContent xmlns:mc="http://schemas.openxmlformats.org/markup-compatibility/2006">
              <mc:Choice xmlns:v="urn:schemas-microsoft-com:vml" Requires="v">
                <p:oleObj spid="_x0000_s19673" name="公式" r:id="rId3" imgW="1352639" imgH="380864" progId="Equation.3">
                  <p:embed/>
                </p:oleObj>
              </mc:Choice>
              <mc:Fallback>
                <p:oleObj name="公式" r:id="rId3" imgW="1352639" imgH="380864"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5526" y="685801"/>
                        <a:ext cx="2728913"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9" name="Text Box 3"/>
          <p:cNvSpPr txBox="1">
            <a:spLocks noChangeArrowheads="1"/>
          </p:cNvSpPr>
          <p:nvPr/>
        </p:nvSpPr>
        <p:spPr bwMode="auto">
          <a:xfrm>
            <a:off x="2286000" y="838201"/>
            <a:ext cx="632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zh-CN" sz="2800">
                <a:solidFill>
                  <a:srgbClr val="0000FF"/>
                </a:solidFill>
                <a:latin typeface="Times New Roman" panose="02020603050405020304" pitchFamily="18" charset="0"/>
              </a:rPr>
              <a:t>内平均定向速度，即漂移速度</a:t>
            </a:r>
            <a:endParaRPr kumimoji="1" lang="zh-CN" altLang="en-US" sz="2800">
              <a:solidFill>
                <a:srgbClr val="0000FF"/>
              </a:solidFill>
              <a:latin typeface="Times New Roman" panose="02020603050405020304" pitchFamily="18" charset="0"/>
            </a:endParaRPr>
          </a:p>
        </p:txBody>
      </p:sp>
      <p:graphicFrame>
        <p:nvGraphicFramePr>
          <p:cNvPr id="19460" name="Object 4"/>
          <p:cNvGraphicFramePr>
            <a:graphicFrameLocks noChangeAspect="1"/>
          </p:cNvGraphicFramePr>
          <p:nvPr/>
        </p:nvGraphicFramePr>
        <p:xfrm>
          <a:off x="2041526" y="990600"/>
          <a:ext cx="244475" cy="319088"/>
        </p:xfrm>
        <a:graphic>
          <a:graphicData uri="http://schemas.openxmlformats.org/presentationml/2006/ole">
            <mc:AlternateContent xmlns:mc="http://schemas.openxmlformats.org/markup-compatibility/2006">
              <mc:Choice xmlns:v="urn:schemas-microsoft-com:vml" Requires="v">
                <p:oleObj spid="_x0000_s19674" name="公式" r:id="rId5" imgW="76149" imgH="114198" progId="Equation.3">
                  <p:embed/>
                </p:oleObj>
              </mc:Choice>
              <mc:Fallback>
                <p:oleObj name="公式" r:id="rId5" imgW="76149" imgH="114198"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1526" y="990600"/>
                        <a:ext cx="244475"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Text Box 5"/>
          <p:cNvSpPr txBox="1">
            <a:spLocks noChangeArrowheads="1"/>
          </p:cNvSpPr>
          <p:nvPr/>
        </p:nvSpPr>
        <p:spPr bwMode="auto">
          <a:xfrm>
            <a:off x="3579813" y="2189163"/>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有</a:t>
            </a:r>
          </a:p>
        </p:txBody>
      </p:sp>
      <p:graphicFrame>
        <p:nvGraphicFramePr>
          <p:cNvPr id="19462" name="Object 6"/>
          <p:cNvGraphicFramePr>
            <a:graphicFrameLocks noChangeAspect="1"/>
          </p:cNvGraphicFramePr>
          <p:nvPr/>
        </p:nvGraphicFramePr>
        <p:xfrm>
          <a:off x="4189413" y="2036764"/>
          <a:ext cx="1662112" cy="935037"/>
        </p:xfrm>
        <a:graphic>
          <a:graphicData uri="http://schemas.openxmlformats.org/presentationml/2006/ole">
            <mc:AlternateContent xmlns:mc="http://schemas.openxmlformats.org/markup-compatibility/2006">
              <mc:Choice xmlns:v="urn:schemas-microsoft-com:vml" Requires="v">
                <p:oleObj spid="_x0000_s19675" name="公式" r:id="rId7" imgW="800024" imgH="438116" progId="Equation.3">
                  <p:embed/>
                </p:oleObj>
              </mc:Choice>
              <mc:Fallback>
                <p:oleObj name="公式" r:id="rId7" imgW="800024" imgH="438116"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89413" y="2036764"/>
                        <a:ext cx="1662112"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3" name="Text Box 7"/>
          <p:cNvSpPr txBox="1">
            <a:spLocks noChangeArrowheads="1"/>
          </p:cNvSpPr>
          <p:nvPr/>
        </p:nvSpPr>
        <p:spPr bwMode="auto">
          <a:xfrm>
            <a:off x="3579813" y="1503363"/>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由</a:t>
            </a:r>
          </a:p>
        </p:txBody>
      </p:sp>
      <p:graphicFrame>
        <p:nvGraphicFramePr>
          <p:cNvPr id="19464" name="Object 8"/>
          <p:cNvGraphicFramePr>
            <a:graphicFrameLocks noChangeAspect="1"/>
          </p:cNvGraphicFramePr>
          <p:nvPr/>
        </p:nvGraphicFramePr>
        <p:xfrm>
          <a:off x="4189413" y="1579564"/>
          <a:ext cx="1192212" cy="446087"/>
        </p:xfrm>
        <a:graphic>
          <a:graphicData uri="http://schemas.openxmlformats.org/presentationml/2006/ole">
            <mc:AlternateContent xmlns:mc="http://schemas.openxmlformats.org/markup-compatibility/2006">
              <mc:Choice xmlns:v="urn:schemas-microsoft-com:vml" Requires="v">
                <p:oleObj spid="_x0000_s19676" name="公式" r:id="rId9" imgW="562096" imgH="180941" progId="Equation.3">
                  <p:embed/>
                </p:oleObj>
              </mc:Choice>
              <mc:Fallback>
                <p:oleObj name="公式" r:id="rId9" imgW="562096" imgH="180941"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89413" y="1579564"/>
                        <a:ext cx="1192212"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5" name="Text Box 9"/>
          <p:cNvSpPr txBox="1">
            <a:spLocks noChangeArrowheads="1"/>
          </p:cNvSpPr>
          <p:nvPr/>
        </p:nvSpPr>
        <p:spPr bwMode="auto">
          <a:xfrm>
            <a:off x="3276600" y="3200401"/>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可见电导率</a:t>
            </a:r>
          </a:p>
        </p:txBody>
      </p:sp>
      <p:graphicFrame>
        <p:nvGraphicFramePr>
          <p:cNvPr id="19466" name="Object 10"/>
          <p:cNvGraphicFramePr>
            <a:graphicFrameLocks noChangeAspect="1"/>
          </p:cNvGraphicFramePr>
          <p:nvPr/>
        </p:nvGraphicFramePr>
        <p:xfrm>
          <a:off x="5486401" y="3048001"/>
          <a:ext cx="1211263" cy="815975"/>
        </p:xfrm>
        <a:graphic>
          <a:graphicData uri="http://schemas.openxmlformats.org/presentationml/2006/ole">
            <mc:AlternateContent xmlns:mc="http://schemas.openxmlformats.org/markup-compatibility/2006">
              <mc:Choice xmlns:v="urn:schemas-microsoft-com:vml" Requires="v">
                <p:oleObj spid="_x0000_s19677" name="公式" r:id="rId11" imgW="571576" imgH="371373" progId="Equation.3">
                  <p:embed/>
                </p:oleObj>
              </mc:Choice>
              <mc:Fallback>
                <p:oleObj name="公式" r:id="rId11" imgW="571576" imgH="371373"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1" y="3048001"/>
                        <a:ext cx="1211263"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7" name="Text Box 11"/>
          <p:cNvSpPr txBox="1">
            <a:spLocks noChangeArrowheads="1"/>
          </p:cNvSpPr>
          <p:nvPr/>
        </p:nvSpPr>
        <p:spPr bwMode="auto">
          <a:xfrm>
            <a:off x="2514600" y="3810001"/>
            <a:ext cx="396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2. </a:t>
            </a:r>
            <a:r>
              <a:rPr kumimoji="1" lang="zh-CN" altLang="en-US" sz="2800">
                <a:solidFill>
                  <a:srgbClr val="0000FF"/>
                </a:solidFill>
                <a:latin typeface="Times New Roman" panose="02020603050405020304" pitchFamily="18" charset="0"/>
              </a:rPr>
              <a:t>古典电子论的困难</a:t>
            </a:r>
          </a:p>
        </p:txBody>
      </p:sp>
      <p:sp>
        <p:nvSpPr>
          <p:cNvPr id="19468" name="Text Box 12"/>
          <p:cNvSpPr txBox="1">
            <a:spLocks noChangeArrowheads="1"/>
          </p:cNvSpPr>
          <p:nvPr/>
        </p:nvSpPr>
        <p:spPr bwMode="auto">
          <a:xfrm>
            <a:off x="2971800" y="4495801"/>
            <a:ext cx="167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zh-CN" sz="2800">
                <a:solidFill>
                  <a:srgbClr val="0000FF"/>
                </a:solidFill>
                <a:latin typeface="Times New Roman" panose="02020603050405020304" pitchFamily="18" charset="0"/>
              </a:rPr>
              <a:t>上式中</a:t>
            </a:r>
            <a:endParaRPr kumimoji="1" lang="zh-CN" altLang="en-US" sz="2800">
              <a:solidFill>
                <a:srgbClr val="0000FF"/>
              </a:solidFill>
              <a:latin typeface="Times New Roman" panose="02020603050405020304" pitchFamily="18" charset="0"/>
            </a:endParaRPr>
          </a:p>
        </p:txBody>
      </p:sp>
      <p:graphicFrame>
        <p:nvGraphicFramePr>
          <p:cNvPr id="19469" name="Object 13"/>
          <p:cNvGraphicFramePr>
            <a:graphicFrameLocks noChangeAspect="1"/>
          </p:cNvGraphicFramePr>
          <p:nvPr/>
        </p:nvGraphicFramePr>
        <p:xfrm>
          <a:off x="4191001" y="4648200"/>
          <a:ext cx="244475" cy="319088"/>
        </p:xfrm>
        <a:graphic>
          <a:graphicData uri="http://schemas.openxmlformats.org/presentationml/2006/ole">
            <mc:AlternateContent xmlns:mc="http://schemas.openxmlformats.org/markup-compatibility/2006">
              <mc:Choice xmlns:v="urn:schemas-microsoft-com:vml" Requires="v">
                <p:oleObj spid="_x0000_s19678" name="公式" r:id="rId13" imgW="76149" imgH="114198" progId="Equation.3">
                  <p:embed/>
                </p:oleObj>
              </mc:Choice>
              <mc:Fallback>
                <p:oleObj name="公式" r:id="rId13" imgW="76149" imgH="114198"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1001" y="4648200"/>
                        <a:ext cx="244475"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0" name="Text Box 14"/>
          <p:cNvSpPr txBox="1">
            <a:spLocks noChangeArrowheads="1"/>
          </p:cNvSpPr>
          <p:nvPr/>
        </p:nvSpPr>
        <p:spPr bwMode="auto">
          <a:xfrm>
            <a:off x="4572000" y="4495801"/>
            <a:ext cx="388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zh-CN" sz="2800">
                <a:solidFill>
                  <a:srgbClr val="0000FF"/>
                </a:solidFill>
                <a:latin typeface="Times New Roman" panose="02020603050405020304" pitchFamily="18" charset="0"/>
              </a:rPr>
              <a:t>可近似写作</a:t>
            </a:r>
            <a:endParaRPr kumimoji="1" lang="zh-CN" altLang="en-US" sz="2800">
              <a:solidFill>
                <a:srgbClr val="0000FF"/>
              </a:solidFill>
              <a:latin typeface="Times New Roman" panose="02020603050405020304" pitchFamily="18" charset="0"/>
            </a:endParaRPr>
          </a:p>
        </p:txBody>
      </p:sp>
      <p:graphicFrame>
        <p:nvGraphicFramePr>
          <p:cNvPr id="19471" name="Object 15"/>
          <p:cNvGraphicFramePr>
            <a:graphicFrameLocks noChangeAspect="1"/>
          </p:cNvGraphicFramePr>
          <p:nvPr/>
        </p:nvGraphicFramePr>
        <p:xfrm>
          <a:off x="6705601" y="4343401"/>
          <a:ext cx="817563" cy="815975"/>
        </p:xfrm>
        <a:graphic>
          <a:graphicData uri="http://schemas.openxmlformats.org/presentationml/2006/ole">
            <mc:AlternateContent xmlns:mc="http://schemas.openxmlformats.org/markup-compatibility/2006">
              <mc:Choice xmlns:v="urn:schemas-microsoft-com:vml" Requires="v">
                <p:oleObj spid="_x0000_s19679" name="公式" r:id="rId15" imgW="371571" imgH="371373" progId="Equation.3">
                  <p:embed/>
                </p:oleObj>
              </mc:Choice>
              <mc:Fallback>
                <p:oleObj name="公式" r:id="rId15" imgW="371571" imgH="371373"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05601" y="4343401"/>
                        <a:ext cx="817563"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2" name="Object 16"/>
          <p:cNvGraphicFramePr>
            <a:graphicFrameLocks noChangeAspect="1"/>
          </p:cNvGraphicFramePr>
          <p:nvPr/>
        </p:nvGraphicFramePr>
        <p:xfrm>
          <a:off x="3810000" y="5181600"/>
          <a:ext cx="293688" cy="393700"/>
        </p:xfrm>
        <a:graphic>
          <a:graphicData uri="http://schemas.openxmlformats.org/presentationml/2006/ole">
            <mc:AlternateContent xmlns:mc="http://schemas.openxmlformats.org/markup-compatibility/2006">
              <mc:Choice xmlns:v="urn:schemas-microsoft-com:vml" Requires="v">
                <p:oleObj spid="_x0000_s19680" name="公式" r:id="rId17" imgW="104896" imgH="152468" progId="Equation.3">
                  <p:embed/>
                </p:oleObj>
              </mc:Choice>
              <mc:Fallback>
                <p:oleObj name="公式" r:id="rId17" imgW="104896" imgH="152468" progId="Equation.3">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10000" y="5181600"/>
                        <a:ext cx="29368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3" name="Object 17"/>
          <p:cNvGraphicFramePr>
            <a:graphicFrameLocks noChangeAspect="1"/>
          </p:cNvGraphicFramePr>
          <p:nvPr/>
        </p:nvGraphicFramePr>
        <p:xfrm>
          <a:off x="3870326" y="5624514"/>
          <a:ext cx="244475" cy="319087"/>
        </p:xfrm>
        <a:graphic>
          <a:graphicData uri="http://schemas.openxmlformats.org/presentationml/2006/ole">
            <mc:AlternateContent xmlns:mc="http://schemas.openxmlformats.org/markup-compatibility/2006">
              <mc:Choice xmlns:v="urn:schemas-microsoft-com:vml" Requires="v">
                <p:oleObj spid="_x0000_s19681" name="公式" r:id="rId19" imgW="76149" imgH="114198" progId="Equation.3">
                  <p:embed/>
                </p:oleObj>
              </mc:Choice>
              <mc:Fallback>
                <p:oleObj name="公式" r:id="rId19" imgW="76149" imgH="114198" progId="Equation.3">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70326" y="5624514"/>
                        <a:ext cx="244475"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4" name="Text Box 18"/>
          <p:cNvSpPr txBox="1">
            <a:spLocks noChangeArrowheads="1"/>
          </p:cNvSpPr>
          <p:nvPr/>
        </p:nvSpPr>
        <p:spPr bwMode="auto">
          <a:xfrm>
            <a:off x="4114800" y="5105400"/>
            <a:ext cx="5029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0000FF"/>
                </a:solidFill>
                <a:latin typeface="Times New Roman" panose="02020603050405020304" pitchFamily="18" charset="0"/>
              </a:rPr>
              <a:t>平均自由程 </a:t>
            </a:r>
            <a:r>
              <a:rPr kumimoji="1" lang="en-US" altLang="zh-CN" sz="2800">
                <a:solidFill>
                  <a:srgbClr val="0000FF"/>
                </a:solidFill>
                <a:latin typeface="Times New Roman" panose="02020603050405020304" pitchFamily="18" charset="0"/>
              </a:rPr>
              <a:t>[</a:t>
            </a:r>
            <a:r>
              <a:rPr kumimoji="1" lang="zh-CN" altLang="en-US" sz="2800">
                <a:solidFill>
                  <a:srgbClr val="0000FF"/>
                </a:solidFill>
                <a:latin typeface="Times New Roman" panose="02020603050405020304" pitchFamily="18" charset="0"/>
              </a:rPr>
              <a:t>和 </a:t>
            </a:r>
            <a:r>
              <a:rPr kumimoji="1" lang="en-US" altLang="zh-CN" sz="2800" i="1">
                <a:solidFill>
                  <a:srgbClr val="0000FF"/>
                </a:solidFill>
                <a:latin typeface="Times New Roman" panose="02020603050405020304" pitchFamily="18" charset="0"/>
              </a:rPr>
              <a:t>T</a:t>
            </a:r>
            <a:r>
              <a:rPr kumimoji="1" lang="en-US" altLang="zh-CN" sz="2800">
                <a:solidFill>
                  <a:srgbClr val="0000FF"/>
                </a:solidFill>
                <a:latin typeface="Times New Roman" panose="02020603050405020304" pitchFamily="18" charset="0"/>
              </a:rPr>
              <a:t> </a:t>
            </a:r>
            <a:r>
              <a:rPr kumimoji="1" lang="zh-CN" altLang="zh-CN" sz="2800">
                <a:solidFill>
                  <a:srgbClr val="0000FF"/>
                </a:solidFill>
                <a:latin typeface="Times New Roman" panose="02020603050405020304" pitchFamily="18" charset="0"/>
              </a:rPr>
              <a:t>无关</a:t>
            </a:r>
            <a:r>
              <a:rPr kumimoji="1" lang="en-US" altLang="zh-CN" sz="2800">
                <a:solidFill>
                  <a:srgbClr val="0000FF"/>
                </a:solidFill>
                <a:latin typeface="Times New Roman" panose="02020603050405020304" pitchFamily="18" charset="0"/>
              </a:rPr>
              <a:t>]</a:t>
            </a:r>
          </a:p>
          <a:p>
            <a:pPr eaLnBrk="1" hangingPunct="1">
              <a:spcBef>
                <a:spcPct val="0"/>
              </a:spcBef>
              <a:buFontTx/>
              <a:buNone/>
            </a:pPr>
            <a:r>
              <a:rPr kumimoji="1" lang="en-US" altLang="zh-CN" sz="28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0000FF"/>
                </a:solidFill>
                <a:latin typeface="Times New Roman" panose="02020603050405020304" pitchFamily="18" charset="0"/>
              </a:rPr>
              <a:t>热运动平均速率 </a:t>
            </a:r>
            <a:r>
              <a:rPr kumimoji="1" lang="en-US" altLang="zh-CN" sz="2800">
                <a:solidFill>
                  <a:srgbClr val="0000FF"/>
                </a:solidFill>
                <a:latin typeface="Times New Roman" panose="02020603050405020304" pitchFamily="18" charset="0"/>
              </a:rPr>
              <a:t>[ </a:t>
            </a:r>
            <a:r>
              <a:rPr kumimoji="1" lang="en-US" altLang="zh-CN" sz="2800">
                <a:solidFill>
                  <a:srgbClr val="0000FF"/>
                </a:solidFill>
                <a:latin typeface="Times New Roman" panose="02020603050405020304" pitchFamily="18" charset="0"/>
                <a:sym typeface="Symbol" panose="05050102010706020507" pitchFamily="18" charset="2"/>
              </a:rPr>
              <a:t> T</a:t>
            </a:r>
            <a:r>
              <a:rPr kumimoji="1" lang="en-US" altLang="zh-CN" sz="2800" baseline="30000">
                <a:solidFill>
                  <a:srgbClr val="0000FF"/>
                </a:solidFill>
                <a:latin typeface="Times New Roman" panose="02020603050405020304" pitchFamily="18" charset="0"/>
                <a:sym typeface="Symbol" panose="05050102010706020507" pitchFamily="18" charset="2"/>
              </a:rPr>
              <a:t>1/2 </a:t>
            </a:r>
            <a:r>
              <a:rPr kumimoji="1" lang="en-US" altLang="zh-CN" sz="2800">
                <a:solidFill>
                  <a:srgbClr val="0000FF"/>
                </a:solidFill>
                <a:latin typeface="Times New Roman" panose="02020603050405020304" pitchFamily="18"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 Box 22"/>
          <p:cNvSpPr txBox="1">
            <a:spLocks noChangeArrowheads="1"/>
          </p:cNvSpPr>
          <p:nvPr/>
        </p:nvSpPr>
        <p:spPr bwMode="auto">
          <a:xfrm>
            <a:off x="995437" y="674998"/>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有</a:t>
            </a:r>
          </a:p>
        </p:txBody>
      </p:sp>
      <p:graphicFrame>
        <p:nvGraphicFramePr>
          <p:cNvPr id="20483" name="Object 23"/>
          <p:cNvGraphicFramePr>
            <a:graphicFrameLocks noChangeAspect="1"/>
          </p:cNvGraphicFramePr>
          <p:nvPr>
            <p:extLst>
              <p:ext uri="{D42A27DB-BD31-4B8C-83A1-F6EECF244321}">
                <p14:modId xmlns:p14="http://schemas.microsoft.com/office/powerpoint/2010/main" val="2106394260"/>
              </p:ext>
            </p:extLst>
          </p:nvPr>
        </p:nvGraphicFramePr>
        <p:xfrm>
          <a:off x="1833637" y="598798"/>
          <a:ext cx="1117600" cy="765175"/>
        </p:xfrm>
        <a:graphic>
          <a:graphicData uri="http://schemas.openxmlformats.org/presentationml/2006/ole">
            <mc:AlternateContent xmlns:mc="http://schemas.openxmlformats.org/markup-compatibility/2006">
              <mc:Choice xmlns:v="urn:schemas-microsoft-com:vml" Requires="v">
                <p:oleObj spid="_x0000_s20602" name="公式" r:id="rId3" imgW="523869" imgH="342900" progId="Equation.3">
                  <p:embed/>
                </p:oleObj>
              </mc:Choice>
              <mc:Fallback>
                <p:oleObj name="公式" r:id="rId3" imgW="523869" imgH="342900"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3637" y="598798"/>
                        <a:ext cx="1117600"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4" name="Text Box 24"/>
          <p:cNvSpPr txBox="1">
            <a:spLocks noChangeArrowheads="1"/>
          </p:cNvSpPr>
          <p:nvPr/>
        </p:nvSpPr>
        <p:spPr bwMode="auto">
          <a:xfrm>
            <a:off x="919237" y="1360798"/>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电阻率</a:t>
            </a:r>
          </a:p>
        </p:txBody>
      </p:sp>
      <p:graphicFrame>
        <p:nvGraphicFramePr>
          <p:cNvPr id="20485" name="Object 25"/>
          <p:cNvGraphicFramePr>
            <a:graphicFrameLocks noChangeAspect="1"/>
          </p:cNvGraphicFramePr>
          <p:nvPr>
            <p:extLst>
              <p:ext uri="{D42A27DB-BD31-4B8C-83A1-F6EECF244321}">
                <p14:modId xmlns:p14="http://schemas.microsoft.com/office/powerpoint/2010/main" val="210821500"/>
              </p:ext>
            </p:extLst>
          </p:nvPr>
        </p:nvGraphicFramePr>
        <p:xfrm>
          <a:off x="2290838" y="1436997"/>
          <a:ext cx="1039813" cy="446088"/>
        </p:xfrm>
        <a:graphic>
          <a:graphicData uri="http://schemas.openxmlformats.org/presentationml/2006/ole">
            <mc:AlternateContent xmlns:mc="http://schemas.openxmlformats.org/markup-compatibility/2006">
              <mc:Choice xmlns:v="urn:schemas-microsoft-com:vml" Requires="v">
                <p:oleObj spid="_x0000_s20603" name="公式" r:id="rId5" imgW="485641" imgH="180941" progId="Equation.3">
                  <p:embed/>
                </p:oleObj>
              </mc:Choice>
              <mc:Fallback>
                <p:oleObj name="公式" r:id="rId5" imgW="485641" imgH="180941"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0838" y="1436997"/>
                        <a:ext cx="10398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6" name="Text Box 26"/>
          <p:cNvSpPr txBox="1">
            <a:spLocks noChangeArrowheads="1"/>
          </p:cNvSpPr>
          <p:nvPr/>
        </p:nvSpPr>
        <p:spPr bwMode="auto">
          <a:xfrm>
            <a:off x="919237" y="1894197"/>
            <a:ext cx="8077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这就定性说明了</a:t>
            </a:r>
            <a:r>
              <a:rPr kumimoji="1" lang="zh-CN" altLang="en-US" sz="28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0000FF"/>
                </a:solidFill>
                <a:latin typeface="Times New Roman" panose="02020603050405020304" pitchFamily="18" charset="0"/>
              </a:rPr>
              <a:t>随</a:t>
            </a:r>
            <a:r>
              <a:rPr kumimoji="1" lang="en-US" altLang="zh-CN" sz="2800" i="1">
                <a:solidFill>
                  <a:srgbClr val="0000FF"/>
                </a:solidFill>
                <a:latin typeface="Times New Roman" panose="02020603050405020304" pitchFamily="18" charset="0"/>
              </a:rPr>
              <a:t>T</a:t>
            </a:r>
            <a:r>
              <a:rPr kumimoji="1" lang="en-US" altLang="zh-CN" sz="2800">
                <a:solidFill>
                  <a:srgbClr val="0000FF"/>
                </a:solidFill>
                <a:latin typeface="Times New Roman" panose="02020603050405020304" pitchFamily="18" charset="0"/>
              </a:rPr>
              <a:t> </a:t>
            </a:r>
            <a:r>
              <a:rPr kumimoji="1" lang="zh-CN" altLang="zh-CN" sz="2800">
                <a:solidFill>
                  <a:srgbClr val="0000FF"/>
                </a:solidFill>
                <a:latin typeface="Times New Roman" panose="02020603050405020304" pitchFamily="18" charset="0"/>
              </a:rPr>
              <a:t>增加的事实。但实验指出，对大多数金属，</a:t>
            </a:r>
            <a:endParaRPr kumimoji="1" lang="zh-CN" altLang="en-US" sz="2800">
              <a:solidFill>
                <a:srgbClr val="0000FF"/>
              </a:solidFill>
              <a:latin typeface="Times New Roman" panose="02020603050405020304" pitchFamily="18" charset="0"/>
            </a:endParaRPr>
          </a:p>
        </p:txBody>
      </p:sp>
      <p:graphicFrame>
        <p:nvGraphicFramePr>
          <p:cNvPr id="20487" name="Object 27"/>
          <p:cNvGraphicFramePr>
            <a:graphicFrameLocks noChangeAspect="1"/>
          </p:cNvGraphicFramePr>
          <p:nvPr>
            <p:extLst>
              <p:ext uri="{D42A27DB-BD31-4B8C-83A1-F6EECF244321}">
                <p14:modId xmlns:p14="http://schemas.microsoft.com/office/powerpoint/2010/main" val="853310319"/>
              </p:ext>
            </p:extLst>
          </p:nvPr>
        </p:nvGraphicFramePr>
        <p:xfrm>
          <a:off x="3586237" y="2427598"/>
          <a:ext cx="819150" cy="392113"/>
        </p:xfrm>
        <a:graphic>
          <a:graphicData uri="http://schemas.openxmlformats.org/presentationml/2006/ole">
            <mc:AlternateContent xmlns:mc="http://schemas.openxmlformats.org/markup-compatibility/2006">
              <mc:Choice xmlns:v="urn:schemas-microsoft-com:vml" Requires="v">
                <p:oleObj spid="_x0000_s20604" name="公式" r:id="rId7" imgW="371571" imgH="152468" progId="Equation.3">
                  <p:embed/>
                </p:oleObj>
              </mc:Choice>
              <mc:Fallback>
                <p:oleObj name="公式" r:id="rId7" imgW="371571" imgH="152468" progId="Equation.3">
                  <p:embed/>
                  <p:pic>
                    <p:nvPicPr>
                      <p:cNvPr id="0"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6237" y="2427598"/>
                        <a:ext cx="81915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8" name="Text Box 28"/>
          <p:cNvSpPr txBox="1">
            <a:spLocks noChangeArrowheads="1"/>
          </p:cNvSpPr>
          <p:nvPr/>
        </p:nvSpPr>
        <p:spPr bwMode="auto">
          <a:xfrm>
            <a:off x="695399" y="3969060"/>
            <a:ext cx="1093621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例：铜线中有电流密度：</a:t>
            </a:r>
            <a:r>
              <a:rPr kumimoji="1" lang="en-US" altLang="zh-CN" sz="2800" dirty="0">
                <a:solidFill>
                  <a:srgbClr val="0000FF"/>
                </a:solidFill>
                <a:latin typeface="Times New Roman" panose="02020603050405020304" pitchFamily="18" charset="0"/>
              </a:rPr>
              <a:t>2.4A/mm</a:t>
            </a:r>
            <a:r>
              <a:rPr kumimoji="1" lang="en-US" altLang="zh-CN" sz="2800" baseline="30000" dirty="0">
                <a:solidFill>
                  <a:srgbClr val="0000FF"/>
                </a:solidFill>
                <a:latin typeface="Times New Roman" panose="02020603050405020304" pitchFamily="18" charset="0"/>
              </a:rPr>
              <a:t>2</a:t>
            </a:r>
            <a:r>
              <a:rPr kumimoji="1" lang="en-US" altLang="zh-CN" sz="2800" dirty="0">
                <a:solidFill>
                  <a:srgbClr val="0000FF"/>
                </a:solidFill>
                <a:latin typeface="Times New Roman" panose="02020603050405020304" pitchFamily="18" charset="0"/>
              </a:rPr>
              <a:t>,</a:t>
            </a:r>
            <a:r>
              <a:rPr kumimoji="1" lang="zh-CN" altLang="en-US" sz="2800" dirty="0">
                <a:solidFill>
                  <a:srgbClr val="0000FF"/>
                </a:solidFill>
                <a:latin typeface="Times New Roman" panose="02020603050405020304" pitchFamily="18" charset="0"/>
              </a:rPr>
              <a:t>自由电子数密度：</a:t>
            </a:r>
            <a:r>
              <a:rPr kumimoji="1" lang="en-US" altLang="zh-CN" sz="2800" dirty="0">
                <a:solidFill>
                  <a:srgbClr val="0000FF"/>
                </a:solidFill>
                <a:latin typeface="Times New Roman" panose="02020603050405020304" pitchFamily="18" charset="0"/>
              </a:rPr>
              <a:t>n=8.4X10</a:t>
            </a:r>
            <a:r>
              <a:rPr kumimoji="1" lang="en-US" altLang="zh-CN" sz="2800" baseline="30000" dirty="0">
                <a:solidFill>
                  <a:srgbClr val="0000FF"/>
                </a:solidFill>
                <a:latin typeface="Times New Roman" panose="02020603050405020304" pitchFamily="18" charset="0"/>
              </a:rPr>
              <a:t>28</a:t>
            </a:r>
            <a:r>
              <a:rPr kumimoji="1" lang="en-US" altLang="zh-CN" sz="2800" dirty="0">
                <a:solidFill>
                  <a:srgbClr val="0000FF"/>
                </a:solidFill>
                <a:latin typeface="Times New Roman" panose="02020603050405020304" pitchFamily="18" charset="0"/>
              </a:rPr>
              <a:t>m</a:t>
            </a:r>
            <a:r>
              <a:rPr kumimoji="1" lang="en-US" altLang="zh-CN" sz="2800" baseline="30000" dirty="0">
                <a:solidFill>
                  <a:srgbClr val="0000FF"/>
                </a:solidFill>
                <a:latin typeface="Times New Roman" panose="02020603050405020304" pitchFamily="18" charset="0"/>
              </a:rPr>
              <a:t>-3</a:t>
            </a:r>
            <a:r>
              <a:rPr kumimoji="1" lang="en-US" altLang="zh-CN" sz="2800" dirty="0">
                <a:solidFill>
                  <a:srgbClr val="0000FF"/>
                </a:solidFill>
                <a:latin typeface="Times New Roman" panose="02020603050405020304" pitchFamily="18" charset="0"/>
              </a:rPr>
              <a:t>,</a:t>
            </a:r>
            <a:r>
              <a:rPr kumimoji="1" lang="zh-CN" altLang="en-US" sz="2800" dirty="0">
                <a:solidFill>
                  <a:srgbClr val="0000FF"/>
                </a:solidFill>
                <a:latin typeface="Times New Roman" panose="02020603050405020304" pitchFamily="18" charset="0"/>
              </a:rPr>
              <a:t>求自由电子的漂移速度。</a:t>
            </a:r>
          </a:p>
        </p:txBody>
      </p:sp>
      <p:sp>
        <p:nvSpPr>
          <p:cNvPr id="20489" name="Text Box 29"/>
          <p:cNvSpPr txBox="1">
            <a:spLocks noChangeArrowheads="1"/>
          </p:cNvSpPr>
          <p:nvPr/>
        </p:nvSpPr>
        <p:spPr bwMode="auto">
          <a:xfrm>
            <a:off x="831924" y="2978460"/>
            <a:ext cx="994536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近代物理学指出，只有根据量子力学来研究金属导电时，才能得到与实验一致的结果。</a:t>
            </a:r>
          </a:p>
        </p:txBody>
      </p:sp>
      <p:graphicFrame>
        <p:nvGraphicFramePr>
          <p:cNvPr id="20490" name="Object 30"/>
          <p:cNvGraphicFramePr>
            <a:graphicFrameLocks noChangeAspect="1"/>
          </p:cNvGraphicFramePr>
          <p:nvPr>
            <p:extLst>
              <p:ext uri="{D42A27DB-BD31-4B8C-83A1-F6EECF244321}">
                <p14:modId xmlns:p14="http://schemas.microsoft.com/office/powerpoint/2010/main" val="1021213331"/>
              </p:ext>
            </p:extLst>
          </p:nvPr>
        </p:nvGraphicFramePr>
        <p:xfrm>
          <a:off x="1325637" y="5004111"/>
          <a:ext cx="2781300" cy="784225"/>
        </p:xfrm>
        <a:graphic>
          <a:graphicData uri="http://schemas.openxmlformats.org/presentationml/2006/ole">
            <mc:AlternateContent xmlns:mc="http://schemas.openxmlformats.org/markup-compatibility/2006">
              <mc:Choice xmlns:v="urn:schemas-microsoft-com:vml" Requires="v">
                <p:oleObj spid="_x0000_s20605" name="Equation" r:id="rId9" imgW="1371600" imgH="361882" progId="Equation.DSMT4">
                  <p:embed/>
                </p:oleObj>
              </mc:Choice>
              <mc:Fallback>
                <p:oleObj name="Equation" r:id="rId9" imgW="1371600" imgH="361882" progId="Equation.DSMT4">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25637" y="5004111"/>
                        <a:ext cx="2781300"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1" name="Object 31"/>
          <p:cNvGraphicFramePr>
            <a:graphicFrameLocks noChangeAspect="1"/>
          </p:cNvGraphicFramePr>
          <p:nvPr>
            <p:extLst>
              <p:ext uri="{D42A27DB-BD31-4B8C-83A1-F6EECF244321}">
                <p14:modId xmlns:p14="http://schemas.microsoft.com/office/powerpoint/2010/main" val="3680607743"/>
              </p:ext>
            </p:extLst>
          </p:nvPr>
        </p:nvGraphicFramePr>
        <p:xfrm>
          <a:off x="5826201" y="2483161"/>
          <a:ext cx="1762125" cy="441325"/>
        </p:xfrm>
        <a:graphic>
          <a:graphicData uri="http://schemas.openxmlformats.org/presentationml/2006/ole">
            <mc:AlternateContent xmlns:mc="http://schemas.openxmlformats.org/markup-compatibility/2006">
              <mc:Choice xmlns:v="urn:schemas-microsoft-com:vml" Requires="v">
                <p:oleObj spid="_x0000_s20606" name="Equation" r:id="rId11" imgW="857212" imgH="180941" progId="Equation.DSMT4">
                  <p:embed/>
                </p:oleObj>
              </mc:Choice>
              <mc:Fallback>
                <p:oleObj name="Equation" r:id="rId11" imgW="857212" imgH="180941" progId="Equation.DSMT4">
                  <p:embed/>
                  <p:pic>
                    <p:nvPicPr>
                      <p:cNvPr id="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6201" y="2483161"/>
                        <a:ext cx="1762125"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209800" y="990601"/>
            <a:ext cx="19954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电场很大：</a:t>
            </a:r>
          </a:p>
        </p:txBody>
      </p:sp>
      <p:graphicFrame>
        <p:nvGraphicFramePr>
          <p:cNvPr id="21507" name="Object 3"/>
          <p:cNvGraphicFramePr>
            <a:graphicFrameLocks noChangeAspect="1"/>
          </p:cNvGraphicFramePr>
          <p:nvPr/>
        </p:nvGraphicFramePr>
        <p:xfrm>
          <a:off x="4610101" y="728664"/>
          <a:ext cx="1217613" cy="395287"/>
        </p:xfrm>
        <a:graphic>
          <a:graphicData uri="http://schemas.openxmlformats.org/presentationml/2006/ole">
            <mc:AlternateContent xmlns:mc="http://schemas.openxmlformats.org/markup-compatibility/2006">
              <mc:Choice xmlns:v="urn:schemas-microsoft-com:vml" Requires="v">
                <p:oleObj spid="_x0000_s21560" name="Equation" r:id="rId3" imgW="571576" imgH="152468" progId="Equation.DSMT4">
                  <p:embed/>
                </p:oleObj>
              </mc:Choice>
              <mc:Fallback>
                <p:oleObj name="Equation" r:id="rId3" imgW="571576" imgH="152468"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0101" y="728664"/>
                        <a:ext cx="1217613"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8" name="Text Box 4"/>
          <p:cNvSpPr txBox="1">
            <a:spLocks noChangeArrowheads="1"/>
          </p:cNvSpPr>
          <p:nvPr/>
        </p:nvSpPr>
        <p:spPr bwMode="auto">
          <a:xfrm>
            <a:off x="6186488" y="1449388"/>
            <a:ext cx="30146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J</a:t>
            </a:r>
            <a:r>
              <a:rPr kumimoji="1" lang="zh-CN" altLang="en-US" sz="2800">
                <a:solidFill>
                  <a:srgbClr val="0000FF"/>
                </a:solidFill>
                <a:latin typeface="Times New Roman" panose="02020603050405020304" pitchFamily="18" charset="0"/>
              </a:rPr>
              <a:t>与</a:t>
            </a:r>
            <a:r>
              <a:rPr kumimoji="1" lang="en-US" altLang="zh-CN" sz="2800">
                <a:solidFill>
                  <a:srgbClr val="0000FF"/>
                </a:solidFill>
                <a:latin typeface="Times New Roman" panose="02020603050405020304" pitchFamily="18" charset="0"/>
              </a:rPr>
              <a:t>E</a:t>
            </a:r>
            <a:r>
              <a:rPr kumimoji="1" lang="zh-CN" altLang="en-US" sz="2800">
                <a:solidFill>
                  <a:srgbClr val="0000FF"/>
                </a:solidFill>
                <a:latin typeface="Times New Roman" panose="02020603050405020304" pitchFamily="18" charset="0"/>
              </a:rPr>
              <a:t>是非线性的</a:t>
            </a:r>
          </a:p>
        </p:txBody>
      </p:sp>
      <p:sp>
        <p:nvSpPr>
          <p:cNvPr id="21509" name="Text Box 8"/>
          <p:cNvSpPr txBox="1">
            <a:spLocks noChangeArrowheads="1"/>
          </p:cNvSpPr>
          <p:nvPr/>
        </p:nvSpPr>
        <p:spPr bwMode="auto">
          <a:xfrm>
            <a:off x="1909763" y="4284663"/>
            <a:ext cx="2476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非线性元件：</a:t>
            </a:r>
          </a:p>
        </p:txBody>
      </p:sp>
      <p:sp>
        <p:nvSpPr>
          <p:cNvPr id="21510" name="Text Box 9"/>
          <p:cNvSpPr txBox="1">
            <a:spLocks noChangeArrowheads="1"/>
          </p:cNvSpPr>
          <p:nvPr/>
        </p:nvSpPr>
        <p:spPr bwMode="auto">
          <a:xfrm>
            <a:off x="2360614" y="2573338"/>
            <a:ext cx="2097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低电压：</a:t>
            </a:r>
          </a:p>
        </p:txBody>
      </p:sp>
      <p:sp>
        <p:nvSpPr>
          <p:cNvPr id="21511" name="Text Box 13"/>
          <p:cNvSpPr txBox="1">
            <a:spLocks noChangeArrowheads="1"/>
          </p:cNvSpPr>
          <p:nvPr/>
        </p:nvSpPr>
        <p:spPr bwMode="auto">
          <a:xfrm>
            <a:off x="4070351" y="2663826"/>
            <a:ext cx="3014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平均自由程很长</a:t>
            </a:r>
          </a:p>
        </p:txBody>
      </p:sp>
      <p:graphicFrame>
        <p:nvGraphicFramePr>
          <p:cNvPr id="21512" name="Object 14"/>
          <p:cNvGraphicFramePr>
            <a:graphicFrameLocks noChangeAspect="1"/>
          </p:cNvGraphicFramePr>
          <p:nvPr/>
        </p:nvGraphicFramePr>
        <p:xfrm>
          <a:off x="4749800" y="1403350"/>
          <a:ext cx="1117600" cy="395288"/>
        </p:xfrm>
        <a:graphic>
          <a:graphicData uri="http://schemas.openxmlformats.org/presentationml/2006/ole">
            <mc:AlternateContent xmlns:mc="http://schemas.openxmlformats.org/markup-compatibility/2006">
              <mc:Choice xmlns:v="urn:schemas-microsoft-com:vml" Requires="v">
                <p:oleObj spid="_x0000_s21561" name="Equation" r:id="rId5" imgW="523869" imgH="152468" progId="Equation.DSMT4">
                  <p:embed/>
                </p:oleObj>
              </mc:Choice>
              <mc:Fallback>
                <p:oleObj name="Equation" r:id="rId5" imgW="523869" imgH="152468"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49800" y="1403350"/>
                        <a:ext cx="1117600"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3" name="Text Box 15"/>
          <p:cNvSpPr txBox="1">
            <a:spLocks noChangeArrowheads="1"/>
          </p:cNvSpPr>
          <p:nvPr/>
        </p:nvSpPr>
        <p:spPr bwMode="auto">
          <a:xfrm>
            <a:off x="7131051" y="3249613"/>
            <a:ext cx="3014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0000FF"/>
                </a:solidFill>
                <a:latin typeface="Times New Roman" panose="02020603050405020304" pitchFamily="18" charset="0"/>
              </a:rPr>
              <a:t>J</a:t>
            </a:r>
            <a:r>
              <a:rPr kumimoji="1" lang="zh-CN" altLang="en-US" sz="2800">
                <a:solidFill>
                  <a:srgbClr val="0000FF"/>
                </a:solidFill>
                <a:latin typeface="Times New Roman" panose="02020603050405020304" pitchFamily="18" charset="0"/>
              </a:rPr>
              <a:t>与</a:t>
            </a:r>
            <a:r>
              <a:rPr kumimoji="1" lang="en-US" altLang="zh-CN" sz="2800">
                <a:solidFill>
                  <a:srgbClr val="0000FF"/>
                </a:solidFill>
                <a:latin typeface="Times New Roman" panose="02020603050405020304" pitchFamily="18" charset="0"/>
              </a:rPr>
              <a:t>E</a:t>
            </a:r>
            <a:r>
              <a:rPr kumimoji="1" lang="zh-CN" altLang="en-US" sz="2800">
                <a:solidFill>
                  <a:srgbClr val="0000FF"/>
                </a:solidFill>
                <a:latin typeface="Times New Roman" panose="02020603050405020304" pitchFamily="18" charset="0"/>
              </a:rPr>
              <a:t>是非线性的</a:t>
            </a:r>
          </a:p>
        </p:txBody>
      </p:sp>
      <p:sp>
        <p:nvSpPr>
          <p:cNvPr id="21514" name="Line 16"/>
          <p:cNvSpPr>
            <a:spLocks noChangeShapeType="1"/>
          </p:cNvSpPr>
          <p:nvPr/>
        </p:nvSpPr>
        <p:spPr bwMode="auto">
          <a:xfrm>
            <a:off x="6726238" y="2933701"/>
            <a:ext cx="990600" cy="269875"/>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1515" name="Text Box 17"/>
          <p:cNvSpPr txBox="1">
            <a:spLocks noChangeArrowheads="1"/>
          </p:cNvSpPr>
          <p:nvPr/>
        </p:nvSpPr>
        <p:spPr bwMode="auto">
          <a:xfrm>
            <a:off x="2090738" y="5543551"/>
            <a:ext cx="2476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超导体：</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a:t>稳恒电流电场性质</a:t>
            </a:r>
          </a:p>
        </p:txBody>
      </p:sp>
      <p:sp>
        <p:nvSpPr>
          <p:cNvPr id="125955" name="Rectangle 3"/>
          <p:cNvSpPr>
            <a:spLocks noGrp="1" noChangeArrowheads="1"/>
          </p:cNvSpPr>
          <p:nvPr>
            <p:ph type="body" sz="half" idx="1"/>
          </p:nvPr>
        </p:nvSpPr>
        <p:spPr>
          <a:xfrm>
            <a:off x="1981200" y="1600201"/>
            <a:ext cx="4038600" cy="614363"/>
          </a:xfrm>
        </p:spPr>
        <p:txBody>
          <a:bodyPr/>
          <a:lstStyle/>
          <a:p>
            <a:pPr eaLnBrk="1" hangingPunct="1"/>
            <a:r>
              <a:rPr lang="zh-CN" altLang="en-US" sz="2800"/>
              <a:t>电流是闭合的。</a:t>
            </a:r>
          </a:p>
        </p:txBody>
      </p:sp>
      <p:graphicFrame>
        <p:nvGraphicFramePr>
          <p:cNvPr id="125956" name="Object 4"/>
          <p:cNvGraphicFramePr>
            <a:graphicFrameLocks noGrp="1" noChangeAspect="1"/>
          </p:cNvGraphicFramePr>
          <p:nvPr>
            <p:ph sz="half" idx="2"/>
          </p:nvPr>
        </p:nvGraphicFramePr>
        <p:xfrm>
          <a:off x="5151439" y="1538289"/>
          <a:ext cx="1704975" cy="896937"/>
        </p:xfrm>
        <a:graphic>
          <a:graphicData uri="http://schemas.openxmlformats.org/presentationml/2006/ole">
            <mc:AlternateContent xmlns:mc="http://schemas.openxmlformats.org/markup-compatibility/2006">
              <mc:Choice xmlns:v="urn:schemas-microsoft-com:vml" Requires="v">
                <p:oleObj spid="_x0000_s22604" name="Equation" r:id="rId3" imgW="723586" imgH="380835" progId="Equation.DSMT4">
                  <p:embed/>
                </p:oleObj>
              </mc:Choice>
              <mc:Fallback>
                <p:oleObj name="Equation" r:id="rId3" imgW="723586" imgH="380835"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1439" y="1538289"/>
                        <a:ext cx="1704975" cy="896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8" name="Rectangle 6"/>
          <p:cNvSpPr>
            <a:spLocks noChangeArrowheads="1"/>
          </p:cNvSpPr>
          <p:nvPr/>
        </p:nvSpPr>
        <p:spPr bwMode="auto">
          <a:xfrm>
            <a:off x="1865313" y="2619376"/>
            <a:ext cx="4456112"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a:t>电荷密度不随时间变化。</a:t>
            </a:r>
          </a:p>
        </p:txBody>
      </p:sp>
      <p:graphicFrame>
        <p:nvGraphicFramePr>
          <p:cNvPr id="125959" name="Object 7"/>
          <p:cNvGraphicFramePr>
            <a:graphicFrameLocks noChangeAspect="1"/>
          </p:cNvGraphicFramePr>
          <p:nvPr/>
        </p:nvGraphicFramePr>
        <p:xfrm>
          <a:off x="6456364" y="2438401"/>
          <a:ext cx="1106487" cy="957263"/>
        </p:xfrm>
        <a:graphic>
          <a:graphicData uri="http://schemas.openxmlformats.org/presentationml/2006/ole">
            <mc:AlternateContent xmlns:mc="http://schemas.openxmlformats.org/markup-compatibility/2006">
              <mc:Choice xmlns:v="urn:schemas-microsoft-com:vml" Requires="v">
                <p:oleObj spid="_x0000_s22605" name="Equation" r:id="rId5" imgW="469696" imgH="406224" progId="Equation.DSMT4">
                  <p:embed/>
                </p:oleObj>
              </mc:Choice>
              <mc:Fallback>
                <p:oleObj name="Equation" r:id="rId5" imgW="469696" imgH="406224"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6364" y="2438401"/>
                        <a:ext cx="1106487"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60" name="Rectangle 8"/>
          <p:cNvSpPr>
            <a:spLocks noChangeArrowheads="1"/>
          </p:cNvSpPr>
          <p:nvPr/>
        </p:nvSpPr>
        <p:spPr bwMode="auto">
          <a:xfrm>
            <a:off x="1774826" y="3833813"/>
            <a:ext cx="80121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a:t>稳恒电流电场：环路定理、高斯定理成立。</a:t>
            </a:r>
          </a:p>
        </p:txBody>
      </p:sp>
      <p:sp>
        <p:nvSpPr>
          <p:cNvPr id="125961" name="Rectangle 9"/>
          <p:cNvSpPr>
            <a:spLocks noChangeArrowheads="1"/>
          </p:cNvSpPr>
          <p:nvPr/>
        </p:nvSpPr>
        <p:spPr bwMode="auto">
          <a:xfrm>
            <a:off x="1909764" y="4824413"/>
            <a:ext cx="6391275"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a:t>欧姆定律成立的导体：内部电场：</a:t>
            </a:r>
          </a:p>
        </p:txBody>
      </p:sp>
      <p:graphicFrame>
        <p:nvGraphicFramePr>
          <p:cNvPr id="125962" name="Object 10"/>
          <p:cNvGraphicFramePr>
            <a:graphicFrameLocks noChangeAspect="1"/>
          </p:cNvGraphicFramePr>
          <p:nvPr/>
        </p:nvGraphicFramePr>
        <p:xfrm>
          <a:off x="7761289" y="4867275"/>
          <a:ext cx="1195387" cy="508000"/>
        </p:xfrm>
        <a:graphic>
          <a:graphicData uri="http://schemas.openxmlformats.org/presentationml/2006/ole">
            <mc:AlternateContent xmlns:mc="http://schemas.openxmlformats.org/markup-compatibility/2006">
              <mc:Choice xmlns:v="urn:schemas-microsoft-com:vml" Requires="v">
                <p:oleObj spid="_x0000_s22606" name="Equation" r:id="rId7" imgW="507780" imgH="215806" progId="Equation.DSMT4">
                  <p:embed/>
                </p:oleObj>
              </mc:Choice>
              <mc:Fallback>
                <p:oleObj name="Equation" r:id="rId7" imgW="507780" imgH="215806"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61289" y="4867275"/>
                        <a:ext cx="119538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595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59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595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596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59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5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P spid="125958" grpId="0"/>
      <p:bldP spid="125960" grpId="0"/>
      <p:bldP spid="125961"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13C08865-86B1-4EA0-B66A-EA06E3875F5B}"/>
              </a:ext>
            </a:extLst>
          </p:cNvPr>
          <p:cNvGraphicFramePr>
            <a:graphicFrameLocks noGrp="1"/>
          </p:cNvGraphicFramePr>
          <p:nvPr>
            <p:extLst>
              <p:ext uri="{D42A27DB-BD31-4B8C-83A1-F6EECF244321}">
                <p14:modId xmlns:p14="http://schemas.microsoft.com/office/powerpoint/2010/main" val="2677609543"/>
              </p:ext>
            </p:extLst>
          </p:nvPr>
        </p:nvGraphicFramePr>
        <p:xfrm>
          <a:off x="290355" y="3879050"/>
          <a:ext cx="10972800" cy="2819400"/>
        </p:xfrm>
        <a:graphic>
          <a:graphicData uri="http://schemas.openxmlformats.org/drawingml/2006/table">
            <a:tbl>
              <a:tblPr/>
              <a:tblGrid>
                <a:gridCol w="3657600">
                  <a:extLst>
                    <a:ext uri="{9D8B030D-6E8A-4147-A177-3AD203B41FA5}">
                      <a16:colId xmlns:a16="http://schemas.microsoft.com/office/drawing/2014/main" val="1773658319"/>
                    </a:ext>
                  </a:extLst>
                </a:gridCol>
                <a:gridCol w="3657600">
                  <a:extLst>
                    <a:ext uri="{9D8B030D-6E8A-4147-A177-3AD203B41FA5}">
                      <a16:colId xmlns:a16="http://schemas.microsoft.com/office/drawing/2014/main" val="4255022184"/>
                    </a:ext>
                  </a:extLst>
                </a:gridCol>
                <a:gridCol w="3657600">
                  <a:extLst>
                    <a:ext uri="{9D8B030D-6E8A-4147-A177-3AD203B41FA5}">
                      <a16:colId xmlns:a16="http://schemas.microsoft.com/office/drawing/2014/main" val="309697235"/>
                    </a:ext>
                  </a:extLst>
                </a:gridCol>
              </a:tblGrid>
              <a:tr h="0">
                <a:tc>
                  <a:txBody>
                    <a:bodyPr/>
                    <a:lstStyle/>
                    <a:p>
                      <a:pPr algn="ctr" fontAlgn="ctr"/>
                      <a:r>
                        <a:rPr lang="zh-CN" altLang="en-US" sz="2000" b="1">
                          <a:effectLst/>
                          <a:latin typeface="inherit"/>
                        </a:rPr>
                        <a:t>特征​</a:t>
                      </a:r>
                      <a:r>
                        <a:rPr lang="zh-CN" altLang="en-US" sz="2000" b="1">
                          <a:effectLst/>
                          <a:latin typeface="PingFang SC"/>
                        </a:rPr>
                        <a:t>​</a:t>
                      </a:r>
                    </a:p>
                  </a:txBody>
                  <a:tcPr marL="76200" marR="76200" marT="57150" marB="57150" anchor="ctr">
                    <a:lnL>
                      <a:noFill/>
                    </a:lnL>
                    <a:lnR w="4763" cap="flat" cmpd="sng" algn="ctr">
                      <a:solidFill>
                        <a:srgbClr val="E0E0E0"/>
                      </a:solidFill>
                      <a:prstDash val="solid"/>
                      <a:round/>
                      <a:headEnd type="none" w="med" len="med"/>
                      <a:tailEnd type="none" w="med" len="med"/>
                    </a:lnR>
                    <a:lnT>
                      <a:noFill/>
                    </a:lnT>
                    <a:lnB w="4763" cap="flat" cmpd="sng" algn="ctr">
                      <a:solidFill>
                        <a:srgbClr val="E0E0E0"/>
                      </a:solidFill>
                      <a:prstDash val="solid"/>
                      <a:round/>
                      <a:headEnd type="none" w="med" len="med"/>
                      <a:tailEnd type="none" w="med" len="med"/>
                    </a:lnB>
                    <a:solidFill>
                      <a:srgbClr val="EDEDED"/>
                    </a:solidFill>
                  </a:tcPr>
                </a:tc>
                <a:tc>
                  <a:txBody>
                    <a:bodyPr/>
                    <a:lstStyle/>
                    <a:p>
                      <a:pPr algn="ctr" fontAlgn="ctr"/>
                      <a:r>
                        <a:rPr lang="zh-CN" altLang="en-US" sz="2000" b="1">
                          <a:effectLst/>
                          <a:latin typeface="PingFang SC"/>
                        </a:rPr>
                        <a:t>​</a:t>
                      </a:r>
                      <a:r>
                        <a:rPr lang="zh-CN" altLang="en-US" sz="2000" b="1">
                          <a:effectLst/>
                          <a:latin typeface="inherit"/>
                        </a:rPr>
                        <a:t>​静电平衡​</a:t>
                      </a:r>
                      <a:r>
                        <a:rPr lang="zh-CN" altLang="en-US" sz="2000" b="1">
                          <a:effectLst/>
                          <a:latin typeface="PingFang SC"/>
                        </a:rPr>
                        <a:t>​</a:t>
                      </a:r>
                    </a:p>
                  </a:txBody>
                  <a:tcPr marL="76200" marR="76200" marT="57150" marB="57150" anchor="ctr">
                    <a:lnL w="4763" cap="flat" cmpd="sng" algn="ctr">
                      <a:solidFill>
                        <a:srgbClr val="E0E0E0"/>
                      </a:solidFill>
                      <a:prstDash val="solid"/>
                      <a:round/>
                      <a:headEnd type="none" w="med" len="med"/>
                      <a:tailEnd type="none" w="med" len="med"/>
                    </a:lnL>
                    <a:lnR w="4763" cap="flat" cmpd="sng" algn="ctr">
                      <a:solidFill>
                        <a:srgbClr val="E0E0E0"/>
                      </a:solidFill>
                      <a:prstDash val="solid"/>
                      <a:round/>
                      <a:headEnd type="none" w="med" len="med"/>
                      <a:tailEnd type="none" w="med" len="med"/>
                    </a:lnR>
                    <a:lnT>
                      <a:noFill/>
                    </a:lnT>
                    <a:lnB w="4763" cap="flat" cmpd="sng" algn="ctr">
                      <a:solidFill>
                        <a:srgbClr val="E0E0E0"/>
                      </a:solidFill>
                      <a:prstDash val="solid"/>
                      <a:round/>
                      <a:headEnd type="none" w="med" len="med"/>
                      <a:tailEnd type="none" w="med" len="med"/>
                    </a:lnB>
                    <a:solidFill>
                      <a:srgbClr val="EDEDED"/>
                    </a:solidFill>
                  </a:tcPr>
                </a:tc>
                <a:tc>
                  <a:txBody>
                    <a:bodyPr/>
                    <a:lstStyle/>
                    <a:p>
                      <a:pPr algn="ctr" fontAlgn="ctr"/>
                      <a:r>
                        <a:rPr lang="zh-CN" altLang="en-US" sz="2000" b="1">
                          <a:effectLst/>
                          <a:latin typeface="PingFang SC"/>
                        </a:rPr>
                        <a:t>​</a:t>
                      </a:r>
                      <a:r>
                        <a:rPr lang="zh-CN" altLang="en-US" sz="2000" b="1">
                          <a:effectLst/>
                          <a:latin typeface="inherit"/>
                        </a:rPr>
                        <a:t>​稳恒电流状态​</a:t>
                      </a:r>
                      <a:r>
                        <a:rPr lang="zh-CN" altLang="en-US" sz="2000" b="1">
                          <a:effectLst/>
                          <a:latin typeface="PingFang SC"/>
                        </a:rPr>
                        <a:t>​</a:t>
                      </a:r>
                    </a:p>
                  </a:txBody>
                  <a:tcPr marL="76200" marR="76200" marT="57150" marB="57150" anchor="ctr">
                    <a:lnL w="4763" cap="flat" cmpd="sng" algn="ctr">
                      <a:solidFill>
                        <a:srgbClr val="E0E0E0"/>
                      </a:solidFill>
                      <a:prstDash val="solid"/>
                      <a:round/>
                      <a:headEnd type="none" w="med" len="med"/>
                      <a:tailEnd type="none" w="med" len="med"/>
                    </a:lnL>
                    <a:lnR>
                      <a:noFill/>
                    </a:lnR>
                    <a:lnT>
                      <a:noFill/>
                    </a:lnT>
                    <a:lnB w="4763" cap="flat" cmpd="sng" algn="ctr">
                      <a:solidFill>
                        <a:srgbClr val="E0E0E0"/>
                      </a:solidFill>
                      <a:prstDash val="solid"/>
                      <a:round/>
                      <a:headEnd type="none" w="med" len="med"/>
                      <a:tailEnd type="none" w="med" len="med"/>
                    </a:lnB>
                    <a:solidFill>
                      <a:srgbClr val="EDEDED"/>
                    </a:solidFill>
                  </a:tcPr>
                </a:tc>
                <a:extLst>
                  <a:ext uri="{0D108BD9-81ED-4DB2-BD59-A6C34878D82A}">
                    <a16:rowId xmlns:a16="http://schemas.microsoft.com/office/drawing/2014/main" val="66029105"/>
                  </a:ext>
                </a:extLst>
              </a:tr>
              <a:tr h="0">
                <a:tc>
                  <a:txBody>
                    <a:bodyPr/>
                    <a:lstStyle/>
                    <a:p>
                      <a:pPr algn="ctr" fontAlgn="ctr"/>
                      <a:r>
                        <a:rPr lang="zh-CN" altLang="en-US" sz="2000" b="0">
                          <a:effectLst/>
                          <a:latin typeface="PingFang SC"/>
                        </a:rPr>
                        <a:t>​</a:t>
                      </a:r>
                      <a:r>
                        <a:rPr lang="zh-CN" altLang="en-US" sz="2000" b="1">
                          <a:effectLst/>
                          <a:latin typeface="inherit"/>
                        </a:rPr>
                        <a:t>​电场强度​</a:t>
                      </a:r>
                      <a:r>
                        <a:rPr lang="zh-CN" altLang="en-US" sz="2000" b="0">
                          <a:effectLst/>
                          <a:latin typeface="PingFang SC"/>
                        </a:rPr>
                        <a:t>​</a:t>
                      </a:r>
                    </a:p>
                  </a:txBody>
                  <a:tcPr marL="76200" marR="76200" marT="57150" marB="57150" anchor="ctr">
                    <a:lnL>
                      <a:noFill/>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tc>
                  <a:txBody>
                    <a:bodyPr/>
                    <a:lstStyle/>
                    <a:p>
                      <a:pPr algn="ctr" fontAlgn="ctr"/>
                      <a:r>
                        <a:rPr lang="zh-CN" altLang="en-US" sz="2000" b="0">
                          <a:effectLst/>
                          <a:latin typeface="PingFang SC"/>
                        </a:rPr>
                        <a:t>导体内部 </a:t>
                      </a:r>
                      <a:r>
                        <a:rPr lang="en-US" sz="2000" b="1">
                          <a:effectLst/>
                          <a:latin typeface="KaTeX_Main"/>
                        </a:rPr>
                        <a:t>E</a:t>
                      </a:r>
                      <a:r>
                        <a:rPr lang="en-US" sz="2000" b="0">
                          <a:effectLst/>
                          <a:latin typeface="KaTeX_Main"/>
                        </a:rPr>
                        <a:t>=0</a:t>
                      </a:r>
                      <a:endParaRPr lang="en-US" sz="2000" b="0">
                        <a:effectLst/>
                        <a:latin typeface="PingFang SC"/>
                      </a:endParaRPr>
                    </a:p>
                  </a:txBody>
                  <a:tcPr marL="76200" marR="76200" marT="57150" marB="57150" anchor="ctr">
                    <a:lnL w="4763" cap="flat" cmpd="sng" algn="ctr">
                      <a:solidFill>
                        <a:srgbClr val="E0E0E0"/>
                      </a:solidFill>
                      <a:prstDash val="solid"/>
                      <a:round/>
                      <a:headEnd type="none" w="med" len="med"/>
                      <a:tailEnd type="none" w="med" len="med"/>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tc>
                  <a:txBody>
                    <a:bodyPr/>
                    <a:lstStyle/>
                    <a:p>
                      <a:pPr algn="ctr" fontAlgn="ctr"/>
                      <a:r>
                        <a:rPr lang="zh-CN" altLang="en-US" sz="2000" b="0" dirty="0">
                          <a:effectLst/>
                          <a:latin typeface="PingFang SC"/>
                        </a:rPr>
                        <a:t>导体内部 </a:t>
                      </a:r>
                      <a:r>
                        <a:rPr lang="en-US" sz="2000" b="1" dirty="0">
                          <a:effectLst/>
                          <a:latin typeface="KaTeX_Main"/>
                        </a:rPr>
                        <a:t>E</a:t>
                      </a:r>
                      <a:r>
                        <a:rPr lang="en-US" altLang="zh-CN" sz="1800" b="0" i="0" kern="1200" dirty="0">
                          <a:solidFill>
                            <a:schemeClr val="tx1"/>
                          </a:solidFill>
                          <a:effectLst/>
                          <a:latin typeface="+mn-lt"/>
                          <a:ea typeface="+mn-ea"/>
                          <a:cs typeface="+mn-cs"/>
                        </a:rPr>
                        <a:t>/=</a:t>
                      </a:r>
                      <a:r>
                        <a:rPr lang="en-US" sz="2000" b="0" dirty="0">
                          <a:effectLst/>
                          <a:latin typeface="KaTeX_Main"/>
                        </a:rPr>
                        <a:t>0</a:t>
                      </a:r>
                      <a:endParaRPr lang="en-US" sz="2000" b="0" dirty="0">
                        <a:effectLst/>
                        <a:latin typeface="PingFang SC"/>
                      </a:endParaRPr>
                    </a:p>
                  </a:txBody>
                  <a:tcPr marL="76200" marR="76200" marT="57150" marB="57150" anchor="ctr">
                    <a:lnL w="4763" cap="flat" cmpd="sng" algn="ctr">
                      <a:solidFill>
                        <a:srgbClr val="E0E0E0"/>
                      </a:solidFill>
                      <a:prstDash val="solid"/>
                      <a:round/>
                      <a:headEnd type="none" w="med" len="med"/>
                      <a:tailEnd type="none" w="med" len="med"/>
                    </a:lnL>
                    <a:lnR>
                      <a:noFill/>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2485806604"/>
                  </a:ext>
                </a:extLst>
              </a:tr>
              <a:tr h="0">
                <a:tc>
                  <a:txBody>
                    <a:bodyPr/>
                    <a:lstStyle/>
                    <a:p>
                      <a:pPr algn="ctr" fontAlgn="ctr"/>
                      <a:r>
                        <a:rPr lang="zh-CN" altLang="en-US" sz="2000" b="0">
                          <a:effectLst/>
                          <a:latin typeface="PingFang SC"/>
                        </a:rPr>
                        <a:t>​</a:t>
                      </a:r>
                      <a:r>
                        <a:rPr lang="zh-CN" altLang="en-US" sz="2000" b="1">
                          <a:effectLst/>
                          <a:latin typeface="inherit"/>
                        </a:rPr>
                        <a:t>​电荷运动​</a:t>
                      </a:r>
                      <a:r>
                        <a:rPr lang="zh-CN" altLang="en-US" sz="2000" b="0">
                          <a:effectLst/>
                          <a:latin typeface="PingFang SC"/>
                        </a:rPr>
                        <a:t>​</a:t>
                      </a:r>
                    </a:p>
                  </a:txBody>
                  <a:tcPr marL="76200" marR="76200" marT="57150" marB="57150" anchor="ctr">
                    <a:lnL>
                      <a:noFill/>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tc>
                  <a:txBody>
                    <a:bodyPr/>
                    <a:lstStyle/>
                    <a:p>
                      <a:pPr algn="ctr" fontAlgn="ctr"/>
                      <a:r>
                        <a:rPr lang="zh-CN" altLang="en-US" sz="2000" b="0">
                          <a:effectLst/>
                          <a:latin typeface="PingFang SC"/>
                        </a:rPr>
                        <a:t>无电流（电荷静止）</a:t>
                      </a:r>
                    </a:p>
                  </a:txBody>
                  <a:tcPr marL="76200" marR="76200" marT="57150" marB="57150" anchor="ctr">
                    <a:lnL w="4763" cap="flat" cmpd="sng" algn="ctr">
                      <a:solidFill>
                        <a:srgbClr val="E0E0E0"/>
                      </a:solidFill>
                      <a:prstDash val="solid"/>
                      <a:round/>
                      <a:headEnd type="none" w="med" len="med"/>
                      <a:tailEnd type="none" w="med" len="med"/>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tc>
                  <a:txBody>
                    <a:bodyPr/>
                    <a:lstStyle/>
                    <a:p>
                      <a:pPr algn="ctr" fontAlgn="ctr"/>
                      <a:r>
                        <a:rPr lang="zh-CN" altLang="en-US" sz="2000" b="0">
                          <a:effectLst/>
                          <a:latin typeface="PingFang SC"/>
                        </a:rPr>
                        <a:t>有稳恒电流（电荷定向移动）</a:t>
                      </a:r>
                    </a:p>
                  </a:txBody>
                  <a:tcPr marL="76200" marR="76200" marT="57150" marB="57150" anchor="ctr">
                    <a:lnL w="4763" cap="flat" cmpd="sng" algn="ctr">
                      <a:solidFill>
                        <a:srgbClr val="E0E0E0"/>
                      </a:solidFill>
                      <a:prstDash val="solid"/>
                      <a:round/>
                      <a:headEnd type="none" w="med" len="med"/>
                      <a:tailEnd type="none" w="med" len="med"/>
                    </a:lnL>
                    <a:lnR>
                      <a:noFill/>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327168041"/>
                  </a:ext>
                </a:extLst>
              </a:tr>
              <a:tr h="0">
                <a:tc>
                  <a:txBody>
                    <a:bodyPr/>
                    <a:lstStyle/>
                    <a:p>
                      <a:pPr algn="ctr" fontAlgn="ctr"/>
                      <a:r>
                        <a:rPr lang="zh-CN" altLang="en-US" sz="2000" b="0">
                          <a:effectLst/>
                          <a:latin typeface="PingFang SC"/>
                        </a:rPr>
                        <a:t>​</a:t>
                      </a:r>
                      <a:r>
                        <a:rPr lang="zh-CN" altLang="en-US" sz="2000" b="1">
                          <a:effectLst/>
                          <a:latin typeface="inherit"/>
                        </a:rPr>
                        <a:t>​能量来源​</a:t>
                      </a:r>
                      <a:r>
                        <a:rPr lang="zh-CN" altLang="en-US" sz="2000" b="0">
                          <a:effectLst/>
                          <a:latin typeface="PingFang SC"/>
                        </a:rPr>
                        <a:t>​</a:t>
                      </a:r>
                    </a:p>
                  </a:txBody>
                  <a:tcPr marL="76200" marR="76200" marT="57150" marB="57150" anchor="ctr">
                    <a:lnL>
                      <a:noFill/>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tc>
                  <a:txBody>
                    <a:bodyPr/>
                    <a:lstStyle/>
                    <a:p>
                      <a:pPr algn="ctr" fontAlgn="ctr"/>
                      <a:r>
                        <a:rPr lang="zh-CN" altLang="en-US" sz="2000" b="0">
                          <a:effectLst/>
                          <a:latin typeface="PingFang SC"/>
                        </a:rPr>
                        <a:t>静止电荷的静电作用</a:t>
                      </a:r>
                    </a:p>
                  </a:txBody>
                  <a:tcPr marL="76200" marR="76200" marT="57150" marB="57150" anchor="ctr">
                    <a:lnL w="4763" cap="flat" cmpd="sng" algn="ctr">
                      <a:solidFill>
                        <a:srgbClr val="E0E0E0"/>
                      </a:solidFill>
                      <a:prstDash val="solid"/>
                      <a:round/>
                      <a:headEnd type="none" w="med" len="med"/>
                      <a:tailEnd type="none" w="med" len="med"/>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tc>
                  <a:txBody>
                    <a:bodyPr/>
                    <a:lstStyle/>
                    <a:p>
                      <a:pPr algn="ctr" fontAlgn="ctr"/>
                      <a:r>
                        <a:rPr lang="zh-CN" altLang="en-US" sz="2000" b="0">
                          <a:effectLst/>
                          <a:latin typeface="PingFang SC"/>
                        </a:rPr>
                        <a:t>非静电力（如化学能、电磁能）</a:t>
                      </a:r>
                    </a:p>
                  </a:txBody>
                  <a:tcPr marL="76200" marR="76200" marT="57150" marB="57150" anchor="ctr">
                    <a:lnL w="4763" cap="flat" cmpd="sng" algn="ctr">
                      <a:solidFill>
                        <a:srgbClr val="E0E0E0"/>
                      </a:solidFill>
                      <a:prstDash val="solid"/>
                      <a:round/>
                      <a:headEnd type="none" w="med" len="med"/>
                      <a:tailEnd type="none" w="med" len="med"/>
                    </a:lnL>
                    <a:lnR>
                      <a:noFill/>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169561470"/>
                  </a:ext>
                </a:extLst>
              </a:tr>
              <a:tr h="0">
                <a:tc>
                  <a:txBody>
                    <a:bodyPr/>
                    <a:lstStyle/>
                    <a:p>
                      <a:pPr algn="ctr" fontAlgn="ctr"/>
                      <a:r>
                        <a:rPr lang="zh-CN" altLang="en-US" sz="2000" b="0">
                          <a:effectLst/>
                          <a:latin typeface="PingFang SC"/>
                        </a:rPr>
                        <a:t>​</a:t>
                      </a:r>
                      <a:r>
                        <a:rPr lang="zh-CN" altLang="en-US" sz="2000" b="1">
                          <a:effectLst/>
                          <a:latin typeface="inherit"/>
                        </a:rPr>
                        <a:t>​电荷分布​</a:t>
                      </a:r>
                      <a:r>
                        <a:rPr lang="zh-CN" altLang="en-US" sz="2000" b="0">
                          <a:effectLst/>
                          <a:latin typeface="PingFang SC"/>
                        </a:rPr>
                        <a:t>​</a:t>
                      </a:r>
                    </a:p>
                  </a:txBody>
                  <a:tcPr marL="76200" marR="76200" marT="57150" marB="57150" anchor="ctr">
                    <a:lnL>
                      <a:noFill/>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tc>
                  <a:txBody>
                    <a:bodyPr/>
                    <a:lstStyle/>
                    <a:p>
                      <a:pPr algn="ctr" fontAlgn="ctr"/>
                      <a:r>
                        <a:rPr lang="zh-CN" altLang="en-US" sz="2000" b="0">
                          <a:effectLst/>
                          <a:latin typeface="PingFang SC"/>
                        </a:rPr>
                        <a:t>电荷仅分布在导体表面</a:t>
                      </a:r>
                    </a:p>
                  </a:txBody>
                  <a:tcPr marL="76200" marR="76200" marT="57150" marB="57150" anchor="ctr">
                    <a:lnL w="4763" cap="flat" cmpd="sng" algn="ctr">
                      <a:solidFill>
                        <a:srgbClr val="E0E0E0"/>
                      </a:solidFill>
                      <a:prstDash val="solid"/>
                      <a:round/>
                      <a:headEnd type="none" w="med" len="med"/>
                      <a:tailEnd type="none" w="med" len="med"/>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tc>
                  <a:txBody>
                    <a:bodyPr/>
                    <a:lstStyle/>
                    <a:p>
                      <a:pPr algn="ctr" fontAlgn="ctr"/>
                      <a:r>
                        <a:rPr lang="zh-CN" altLang="en-US" sz="2000" b="0">
                          <a:effectLst/>
                          <a:latin typeface="PingFang SC"/>
                        </a:rPr>
                        <a:t>导体表面或内部可能有净电荷分布</a:t>
                      </a:r>
                    </a:p>
                  </a:txBody>
                  <a:tcPr marL="76200" marR="76200" marT="57150" marB="57150" anchor="ctr">
                    <a:lnL w="4763" cap="flat" cmpd="sng" algn="ctr">
                      <a:solidFill>
                        <a:srgbClr val="E0E0E0"/>
                      </a:solidFill>
                      <a:prstDash val="solid"/>
                      <a:round/>
                      <a:headEnd type="none" w="med" len="med"/>
                      <a:tailEnd type="none" w="med" len="med"/>
                    </a:lnL>
                    <a:lnR>
                      <a:noFill/>
                    </a:lnR>
                    <a:lnT w="4763" cap="flat" cmpd="sng" algn="ctr">
                      <a:solidFill>
                        <a:srgbClr val="E0E0E0"/>
                      </a:solidFill>
                      <a:prstDash val="solid"/>
                      <a:round/>
                      <a:headEnd type="none" w="med" len="med"/>
                      <a:tailEnd type="none" w="med" len="med"/>
                    </a:lnT>
                    <a:lnB w="4763"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2945515095"/>
                  </a:ext>
                </a:extLst>
              </a:tr>
              <a:tr h="0">
                <a:tc>
                  <a:txBody>
                    <a:bodyPr/>
                    <a:lstStyle/>
                    <a:p>
                      <a:pPr algn="ctr" fontAlgn="ctr"/>
                      <a:r>
                        <a:rPr lang="zh-CN" altLang="en-US" sz="2000" b="0">
                          <a:effectLst/>
                          <a:latin typeface="PingFang SC"/>
                        </a:rPr>
                        <a:t>​</a:t>
                      </a:r>
                      <a:r>
                        <a:rPr lang="zh-CN" altLang="en-US" sz="2000" b="1">
                          <a:effectLst/>
                          <a:latin typeface="inherit"/>
                        </a:rPr>
                        <a:t>​是否耗散能量​</a:t>
                      </a:r>
                      <a:r>
                        <a:rPr lang="zh-CN" altLang="en-US" sz="2000" b="0">
                          <a:effectLst/>
                          <a:latin typeface="PingFang SC"/>
                        </a:rPr>
                        <a:t>​</a:t>
                      </a:r>
                    </a:p>
                  </a:txBody>
                  <a:tcPr marL="76200" marR="76200" marT="57150" marB="57150" anchor="ctr">
                    <a:lnL>
                      <a:noFill/>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a:noFill/>
                    </a:lnB>
                    <a:solidFill>
                      <a:srgbClr val="FFFFFF"/>
                    </a:solidFill>
                  </a:tcPr>
                </a:tc>
                <a:tc>
                  <a:txBody>
                    <a:bodyPr/>
                    <a:lstStyle/>
                    <a:p>
                      <a:pPr algn="ctr" fontAlgn="ctr"/>
                      <a:r>
                        <a:rPr lang="zh-CN" altLang="en-US" sz="2000" b="0">
                          <a:effectLst/>
                          <a:latin typeface="PingFang SC"/>
                        </a:rPr>
                        <a:t>无能量耗散</a:t>
                      </a:r>
                    </a:p>
                  </a:txBody>
                  <a:tcPr marL="76200" marR="76200" marT="57150" marB="57150" anchor="ctr">
                    <a:lnL w="4763" cap="flat" cmpd="sng" algn="ctr">
                      <a:solidFill>
                        <a:srgbClr val="E0E0E0"/>
                      </a:solidFill>
                      <a:prstDash val="solid"/>
                      <a:round/>
                      <a:headEnd type="none" w="med" len="med"/>
                      <a:tailEnd type="none" w="med" len="med"/>
                    </a:lnL>
                    <a:lnR w="4763" cap="flat" cmpd="sng" algn="ctr">
                      <a:solidFill>
                        <a:srgbClr val="E0E0E0"/>
                      </a:solidFill>
                      <a:prstDash val="solid"/>
                      <a:round/>
                      <a:headEnd type="none" w="med" len="med"/>
                      <a:tailEnd type="none" w="med" len="med"/>
                    </a:lnR>
                    <a:lnT w="4763" cap="flat" cmpd="sng" algn="ctr">
                      <a:solidFill>
                        <a:srgbClr val="E0E0E0"/>
                      </a:solidFill>
                      <a:prstDash val="solid"/>
                      <a:round/>
                      <a:headEnd type="none" w="med" len="med"/>
                      <a:tailEnd type="none" w="med" len="med"/>
                    </a:lnT>
                    <a:lnB>
                      <a:noFill/>
                    </a:lnB>
                    <a:solidFill>
                      <a:srgbClr val="FFFFFF"/>
                    </a:solidFill>
                  </a:tcPr>
                </a:tc>
                <a:tc>
                  <a:txBody>
                    <a:bodyPr/>
                    <a:lstStyle/>
                    <a:p>
                      <a:pPr algn="ctr" fontAlgn="ctr"/>
                      <a:r>
                        <a:rPr lang="zh-CN" altLang="en-US" sz="2000" b="0" dirty="0">
                          <a:effectLst/>
                          <a:latin typeface="PingFang SC"/>
                        </a:rPr>
                        <a:t>存在焦耳热等能量耗散</a:t>
                      </a:r>
                    </a:p>
                  </a:txBody>
                  <a:tcPr marL="76200" marR="76200" marT="57150" marB="57150" anchor="ctr">
                    <a:lnL w="4763" cap="flat" cmpd="sng" algn="ctr">
                      <a:solidFill>
                        <a:srgbClr val="E0E0E0"/>
                      </a:solidFill>
                      <a:prstDash val="solid"/>
                      <a:round/>
                      <a:headEnd type="none" w="med" len="med"/>
                      <a:tailEnd type="none" w="med" len="med"/>
                    </a:lnL>
                    <a:lnR>
                      <a:noFill/>
                    </a:lnR>
                    <a:lnT w="4763" cap="flat" cmpd="sng" algn="ctr">
                      <a:solidFill>
                        <a:srgbClr val="E0E0E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69633173"/>
                  </a:ext>
                </a:extLst>
              </a:tr>
            </a:tbl>
          </a:graphicData>
        </a:graphic>
      </p:graphicFrame>
      <p:sp>
        <p:nvSpPr>
          <p:cNvPr id="7" name="文本框 6">
            <a:extLst>
              <a:ext uri="{FF2B5EF4-FFF2-40B4-BE49-F238E27FC236}">
                <a16:creationId xmlns:a16="http://schemas.microsoft.com/office/drawing/2014/main" id="{73109511-BD06-4894-A188-8E0D5C8E125E}"/>
              </a:ext>
            </a:extLst>
          </p:cNvPr>
          <p:cNvSpPr txBox="1"/>
          <p:nvPr/>
        </p:nvSpPr>
        <p:spPr>
          <a:xfrm>
            <a:off x="200345" y="291881"/>
            <a:ext cx="4860541" cy="2862322"/>
          </a:xfrm>
          <a:prstGeom prst="rect">
            <a:avLst/>
          </a:prstGeom>
          <a:noFill/>
        </p:spPr>
        <p:txBody>
          <a:bodyPr wrap="square">
            <a:spAutoFit/>
          </a:bodyPr>
          <a:lstStyle/>
          <a:p>
            <a:r>
              <a:rPr lang="zh-CN" altLang="en-US" sz="2000" dirty="0"/>
              <a:t>​​静电平衡的条件​​</a:t>
            </a:r>
          </a:p>
          <a:p>
            <a:r>
              <a:rPr lang="zh-CN" altLang="en-US" sz="2000" dirty="0"/>
              <a:t>自由电荷不再定向移动，导体内部电场强度为零（</a:t>
            </a:r>
            <a:r>
              <a:rPr lang="en-US" altLang="zh-CN" sz="2000" dirty="0"/>
              <a:t>E=0</a:t>
            </a:r>
            <a:r>
              <a:rPr lang="zh-CN" altLang="en-US" sz="2000" dirty="0"/>
              <a:t>），电荷仅分布在导体表面，导体成为等势体。</a:t>
            </a:r>
          </a:p>
          <a:p>
            <a:r>
              <a:rPr lang="zh-CN" altLang="en-US" sz="2000" dirty="0"/>
              <a:t>​​静电平衡的物理图像​​</a:t>
            </a:r>
          </a:p>
          <a:p>
            <a:r>
              <a:rPr lang="zh-CN" altLang="en-US" sz="2000" dirty="0"/>
              <a:t>静电场由静止电荷产生，满足高斯定理和环路定理。</a:t>
            </a:r>
          </a:p>
          <a:p>
            <a:r>
              <a:rPr lang="zh-CN" altLang="en-US" sz="2000" dirty="0"/>
              <a:t>导体内部电荷不再移动，电流为零，系统处于动态平衡状态。</a:t>
            </a:r>
          </a:p>
        </p:txBody>
      </p:sp>
      <p:sp>
        <p:nvSpPr>
          <p:cNvPr id="9" name="文本框 8">
            <a:extLst>
              <a:ext uri="{FF2B5EF4-FFF2-40B4-BE49-F238E27FC236}">
                <a16:creationId xmlns:a16="http://schemas.microsoft.com/office/drawing/2014/main" id="{312FC5FE-0D64-4DF5-884A-655E2D49E04C}"/>
              </a:ext>
            </a:extLst>
          </p:cNvPr>
          <p:cNvSpPr txBox="1"/>
          <p:nvPr/>
        </p:nvSpPr>
        <p:spPr>
          <a:xfrm>
            <a:off x="5735960" y="8894"/>
            <a:ext cx="5940660" cy="3785652"/>
          </a:xfrm>
          <a:prstGeom prst="rect">
            <a:avLst/>
          </a:prstGeom>
          <a:noFill/>
        </p:spPr>
        <p:txBody>
          <a:bodyPr wrap="square">
            <a:spAutoFit/>
          </a:bodyPr>
          <a:lstStyle/>
          <a:p>
            <a:r>
              <a:rPr lang="zh-CN" altLang="en-US" sz="2000" dirty="0"/>
              <a:t>​​稳恒电流的条件​​</a:t>
            </a:r>
          </a:p>
          <a:p>
            <a:r>
              <a:rPr lang="zh-CN" altLang="en-US" sz="2000" dirty="0"/>
              <a:t>电流密度 </a:t>
            </a:r>
            <a:r>
              <a:rPr lang="en-US" altLang="zh-CN" sz="2000" dirty="0"/>
              <a:t>J </a:t>
            </a:r>
            <a:r>
              <a:rPr lang="zh-CN" altLang="en-US" sz="2000" dirty="0"/>
              <a:t>不随时间变化，且电荷分布稳定（即 </a:t>
            </a:r>
            <a:r>
              <a:rPr lang="en-US" altLang="zh-CN" sz="2000" dirty="0"/>
              <a:t>∂ρ/</a:t>
            </a:r>
            <a:r>
              <a:rPr lang="zh-CN" altLang="en-US" sz="2000" dirty="0"/>
              <a:t>∂</a:t>
            </a:r>
            <a:r>
              <a:rPr lang="en-US" altLang="zh-CN" sz="2000" dirty="0"/>
              <a:t>t =0</a:t>
            </a:r>
            <a:r>
              <a:rPr lang="zh-CN" altLang="en-US" sz="2000" dirty="0"/>
              <a:t>）。此时导体内部存在非零电场 </a:t>
            </a:r>
            <a:r>
              <a:rPr lang="en-US" altLang="zh-CN" sz="2000" dirty="0"/>
              <a:t>E≠0</a:t>
            </a:r>
            <a:r>
              <a:rPr lang="zh-CN" altLang="en-US" sz="2000" dirty="0"/>
              <a:t>，电荷在电场驱动下定向移动形成电流。</a:t>
            </a:r>
          </a:p>
          <a:p>
            <a:r>
              <a:rPr lang="zh-CN" altLang="en-US" sz="2000" dirty="0"/>
              <a:t>​​稳恒电流的维持机制​​</a:t>
            </a:r>
          </a:p>
          <a:p>
            <a:r>
              <a:rPr lang="zh-CN" altLang="en-US" sz="2000" dirty="0"/>
              <a:t>​​非静电力的作用​​：仅靠静电力无法维持稳恒电流（静电平衡时电流为零）。必须存在非静电力（如化学电池的化学能、发电机的电磁感应等），将电荷从低电势端搬运到高电势端，形成闭合回路。</a:t>
            </a:r>
          </a:p>
          <a:p>
            <a:r>
              <a:rPr lang="zh-CN" altLang="en-US" sz="2000" dirty="0"/>
              <a:t>​​电荷分布的动态调整​​：虽然电荷总量不随时间变化，但导体表面或内部不均匀处会积累电荷，以维持导体内外的电场稳定</a:t>
            </a:r>
          </a:p>
        </p:txBody>
      </p:sp>
    </p:spTree>
    <p:extLst>
      <p:ext uri="{BB962C8B-B14F-4D97-AF65-F5344CB8AC3E}">
        <p14:creationId xmlns:p14="http://schemas.microsoft.com/office/powerpoint/2010/main" val="2757811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BB5C69-68BE-4EEF-86C5-C205C04A337A}"/>
              </a:ext>
            </a:extLst>
          </p:cNvPr>
          <p:cNvSpPr>
            <a:spLocks noGrp="1"/>
          </p:cNvSpPr>
          <p:nvPr>
            <p:ph type="title"/>
          </p:nvPr>
        </p:nvSpPr>
        <p:spPr/>
        <p:txBody>
          <a:bodyPr/>
          <a:lstStyle/>
          <a:p>
            <a:r>
              <a:rPr lang="zh-CN" altLang="en-US" dirty="0"/>
              <a:t>静电场与稳恒电场</a:t>
            </a:r>
          </a:p>
        </p:txBody>
      </p:sp>
      <p:sp>
        <p:nvSpPr>
          <p:cNvPr id="3" name="文本占位符 2">
            <a:extLst>
              <a:ext uri="{FF2B5EF4-FFF2-40B4-BE49-F238E27FC236}">
                <a16:creationId xmlns:a16="http://schemas.microsoft.com/office/drawing/2014/main" id="{E624B557-122D-43DB-8352-E434BC77117E}"/>
              </a:ext>
            </a:extLst>
          </p:cNvPr>
          <p:cNvSpPr>
            <a:spLocks noGrp="1"/>
          </p:cNvSpPr>
          <p:nvPr>
            <p:ph type="body" sz="half" idx="1"/>
          </p:nvPr>
        </p:nvSpPr>
        <p:spPr>
          <a:xfrm>
            <a:off x="0" y="1585605"/>
            <a:ext cx="11991655" cy="4525963"/>
          </a:xfrm>
        </p:spPr>
        <p:txBody>
          <a:bodyPr/>
          <a:lstStyle/>
          <a:p>
            <a:pPr algn="l" fontAlgn="base">
              <a:buFont typeface="+mj-lt"/>
              <a:buAutoNum type="arabicPeriod"/>
            </a:pPr>
            <a:r>
              <a:rPr lang="zh-CN" altLang="en-US" b="0" i="0" dirty="0">
                <a:effectLst/>
                <a:latin typeface="inherit"/>
              </a:rPr>
              <a:t>​</a:t>
            </a:r>
            <a:r>
              <a:rPr lang="zh-CN" altLang="en-US" b="1" i="0" dirty="0">
                <a:effectLst/>
                <a:latin typeface="inherit"/>
              </a:rPr>
              <a:t>​稳恒电流状态不是静电平衡​</a:t>
            </a:r>
            <a:r>
              <a:rPr lang="zh-CN" altLang="en-US" b="0" i="0" dirty="0">
                <a:effectLst/>
                <a:latin typeface="inherit"/>
              </a:rPr>
              <a:t>​</a:t>
            </a:r>
            <a:br>
              <a:rPr lang="zh-CN" altLang="en-US" b="0" i="0" dirty="0">
                <a:effectLst/>
                <a:latin typeface="inherit"/>
              </a:rPr>
            </a:br>
            <a:r>
              <a:rPr lang="zh-CN" altLang="en-US" b="0" i="0" dirty="0">
                <a:effectLst/>
                <a:latin typeface="inherit"/>
              </a:rPr>
              <a:t>静电平衡要求导体内部场强为零且无电流，而稳恒电流状态需要非零电场驱动电荷运动，两者在电场性质和电荷行为上存在根本矛盾</a:t>
            </a:r>
            <a:r>
              <a:rPr lang="zh-CN" altLang="en-US" b="0" i="0" dirty="0">
                <a:effectLst/>
                <a:latin typeface="PingFang SC"/>
              </a:rPr>
              <a:t>。</a:t>
            </a:r>
          </a:p>
          <a:p>
            <a:pPr algn="l" fontAlgn="base">
              <a:buFont typeface="+mj-lt"/>
              <a:buAutoNum type="arabicPeriod"/>
            </a:pPr>
            <a:r>
              <a:rPr lang="zh-CN" altLang="en-US" b="0" i="0" dirty="0">
                <a:effectLst/>
                <a:latin typeface="inherit"/>
              </a:rPr>
              <a:t>​</a:t>
            </a:r>
            <a:r>
              <a:rPr lang="zh-CN" altLang="en-US" b="1" i="0" dirty="0">
                <a:effectLst/>
                <a:latin typeface="inherit"/>
              </a:rPr>
              <a:t>​稳恒电场与静电场的联系与区别​</a:t>
            </a:r>
            <a:r>
              <a:rPr lang="zh-CN" altLang="en-US" b="0" i="0" dirty="0">
                <a:effectLst/>
                <a:latin typeface="inherit"/>
              </a:rPr>
              <a:t>​</a:t>
            </a:r>
          </a:p>
          <a:p>
            <a:pPr marL="742950" lvl="1" indent="-285750" algn="ctr" fontAlgn="base">
              <a:buFont typeface="+mj-lt"/>
              <a:buAutoNum type="arabicPeriod"/>
            </a:pPr>
            <a:r>
              <a:rPr lang="zh-CN" altLang="en-US" b="0" i="0" dirty="0">
                <a:effectLst/>
                <a:latin typeface="PingFang SC"/>
              </a:rPr>
              <a:t>​</a:t>
            </a:r>
            <a:r>
              <a:rPr lang="zh-CN" altLang="en-US" b="1" i="0" dirty="0">
                <a:effectLst/>
                <a:latin typeface="inherit"/>
              </a:rPr>
              <a:t>​相似性​</a:t>
            </a:r>
            <a:r>
              <a:rPr lang="zh-CN" altLang="en-US" b="0" i="0" dirty="0">
                <a:effectLst/>
                <a:latin typeface="PingFang SC"/>
              </a:rPr>
              <a:t>​：两者均满足高斯定理和环路定理，且电场由电荷分布决</a:t>
            </a:r>
            <a:r>
              <a:rPr lang="zh-CN" altLang="en-US" dirty="0">
                <a:latin typeface="PingFang SC"/>
              </a:rPr>
              <a:t>定</a:t>
            </a:r>
            <a:r>
              <a:rPr lang="zh-CN" altLang="en-US" b="0" i="0" dirty="0">
                <a:effectLst/>
                <a:latin typeface="PingFang SC"/>
              </a:rPr>
              <a:t>。</a:t>
            </a:r>
          </a:p>
          <a:p>
            <a:pPr marL="742950" lvl="1" indent="-285750" algn="l" fontAlgn="base">
              <a:buFont typeface="+mj-lt"/>
              <a:buAutoNum type="arabicPeriod"/>
            </a:pPr>
            <a:r>
              <a:rPr lang="zh-CN" altLang="en-US" b="0" i="0" dirty="0">
                <a:effectLst/>
                <a:latin typeface="PingFang SC"/>
              </a:rPr>
              <a:t>​</a:t>
            </a:r>
            <a:r>
              <a:rPr lang="zh-CN" altLang="en-US" b="1" i="0" dirty="0">
                <a:effectLst/>
                <a:latin typeface="inherit"/>
              </a:rPr>
              <a:t>​差异性​</a:t>
            </a:r>
            <a:r>
              <a:rPr lang="zh-CN" altLang="en-US" b="0" i="0" dirty="0">
                <a:effectLst/>
                <a:latin typeface="PingFang SC"/>
              </a:rPr>
              <a:t>​：稳恒电场由稳定但非静止的电荷分布维持，伴随能量转换（如电源的非静电力做功），而静电场仅由静止电荷产生，无能量耗散。</a:t>
            </a:r>
          </a:p>
          <a:p>
            <a:endParaRPr lang="zh-CN" altLang="en-US" dirty="0"/>
          </a:p>
        </p:txBody>
      </p:sp>
    </p:spTree>
    <p:extLst>
      <p:ext uri="{BB962C8B-B14F-4D97-AF65-F5344CB8AC3E}">
        <p14:creationId xmlns:p14="http://schemas.microsoft.com/office/powerpoint/2010/main" val="4138369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3554" name="Object 4"/>
          <p:cNvGraphicFramePr>
            <a:graphicFrameLocks noGrp="1" noChangeAspect="1"/>
          </p:cNvGraphicFramePr>
          <p:nvPr>
            <p:ph/>
          </p:nvPr>
        </p:nvGraphicFramePr>
        <p:xfrm>
          <a:off x="3081339" y="503239"/>
          <a:ext cx="5145087" cy="1354137"/>
        </p:xfrm>
        <a:graphic>
          <a:graphicData uri="http://schemas.openxmlformats.org/presentationml/2006/ole">
            <mc:AlternateContent xmlns:mc="http://schemas.openxmlformats.org/markup-compatibility/2006">
              <mc:Choice xmlns:v="urn:schemas-microsoft-com:vml" Requires="v">
                <p:oleObj spid="_x0000_s23627" name="Equation" r:id="rId3" imgW="1447800" imgH="381000" progId="Equation.DSMT4">
                  <p:embed/>
                </p:oleObj>
              </mc:Choice>
              <mc:Fallback>
                <p:oleObj name="Equation" r:id="rId3" imgW="1447800" imgH="3810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1339" y="503239"/>
                        <a:ext cx="5145087" cy="1354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5" name="Object 6"/>
          <p:cNvGraphicFramePr>
            <a:graphicFrameLocks noChangeAspect="1"/>
          </p:cNvGraphicFramePr>
          <p:nvPr/>
        </p:nvGraphicFramePr>
        <p:xfrm>
          <a:off x="4970464" y="2393950"/>
          <a:ext cx="2617787" cy="1354138"/>
        </p:xfrm>
        <a:graphic>
          <a:graphicData uri="http://schemas.openxmlformats.org/presentationml/2006/ole">
            <mc:AlternateContent xmlns:mc="http://schemas.openxmlformats.org/markup-compatibility/2006">
              <mc:Choice xmlns:v="urn:schemas-microsoft-com:vml" Requires="v">
                <p:oleObj spid="_x0000_s23628" name="Equation" r:id="rId5" imgW="736600" imgH="381000" progId="Equation.DSMT4">
                  <p:embed/>
                </p:oleObj>
              </mc:Choice>
              <mc:Fallback>
                <p:oleObj name="Equation" r:id="rId5" imgW="736600" imgH="3810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70464" y="2393950"/>
                        <a:ext cx="2617787" cy="1354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6" name="Line 7"/>
          <p:cNvSpPr>
            <a:spLocks noChangeShapeType="1"/>
          </p:cNvSpPr>
          <p:nvPr/>
        </p:nvSpPr>
        <p:spPr bwMode="auto">
          <a:xfrm>
            <a:off x="4881563" y="1673226"/>
            <a:ext cx="0" cy="676275"/>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3557" name="Object 8"/>
          <p:cNvGraphicFramePr>
            <a:graphicFrameLocks noChangeAspect="1"/>
          </p:cNvGraphicFramePr>
          <p:nvPr/>
        </p:nvGraphicFramePr>
        <p:xfrm>
          <a:off x="7716839" y="3789363"/>
          <a:ext cx="1400175" cy="722312"/>
        </p:xfrm>
        <a:graphic>
          <a:graphicData uri="http://schemas.openxmlformats.org/presentationml/2006/ole">
            <mc:AlternateContent xmlns:mc="http://schemas.openxmlformats.org/markup-compatibility/2006">
              <mc:Choice xmlns:v="urn:schemas-microsoft-com:vml" Requires="v">
                <p:oleObj spid="_x0000_s23629" name="Equation" r:id="rId7" imgW="393529" imgH="203112" progId="Equation.DSMT4">
                  <p:embed/>
                </p:oleObj>
              </mc:Choice>
              <mc:Fallback>
                <p:oleObj name="Equation" r:id="rId7" imgW="393529" imgH="203112"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16839" y="3789363"/>
                        <a:ext cx="1400175"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8" name="Line 9"/>
          <p:cNvSpPr>
            <a:spLocks noChangeShapeType="1"/>
          </p:cNvSpPr>
          <p:nvPr/>
        </p:nvSpPr>
        <p:spPr bwMode="auto">
          <a:xfrm>
            <a:off x="7896225" y="3024189"/>
            <a:ext cx="0" cy="676275"/>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3559" name="Text Box 10"/>
          <p:cNvSpPr txBox="1">
            <a:spLocks noChangeArrowheads="1"/>
          </p:cNvSpPr>
          <p:nvPr/>
        </p:nvSpPr>
        <p:spPr bwMode="auto">
          <a:xfrm>
            <a:off x="875420" y="4689476"/>
            <a:ext cx="105311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t>当闭合曲面</a:t>
            </a:r>
            <a:r>
              <a:rPr lang="en-US" altLang="zh-CN" sz="2400" dirty="0"/>
              <a:t>S</a:t>
            </a:r>
            <a:r>
              <a:rPr lang="zh-CN" altLang="en-US" sz="2400" dirty="0"/>
              <a:t>上各点电导率都相等时，</a:t>
            </a:r>
            <a:r>
              <a:rPr lang="en-US" altLang="zh-CN" sz="2400" dirty="0"/>
              <a:t>S</a:t>
            </a:r>
            <a:r>
              <a:rPr lang="zh-CN" altLang="en-US" sz="2400" dirty="0"/>
              <a:t>内全部电量代数和等于零。</a:t>
            </a:r>
          </a:p>
        </p:txBody>
      </p:sp>
      <p:sp>
        <p:nvSpPr>
          <p:cNvPr id="23560" name="Text Box 11"/>
          <p:cNvSpPr txBox="1">
            <a:spLocks noChangeArrowheads="1"/>
          </p:cNvSpPr>
          <p:nvPr/>
        </p:nvSpPr>
        <p:spPr bwMode="auto">
          <a:xfrm>
            <a:off x="4205289" y="5815013"/>
            <a:ext cx="5131071" cy="584775"/>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dirty="0">
                <a:solidFill>
                  <a:srgbClr val="FF0000"/>
                </a:solidFill>
              </a:rPr>
              <a:t>均匀导体的内部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4578" name="Object 5"/>
          <p:cNvGraphicFramePr>
            <a:graphicFrameLocks noChangeAspect="1"/>
          </p:cNvGraphicFramePr>
          <p:nvPr/>
        </p:nvGraphicFramePr>
        <p:xfrm>
          <a:off x="2495550" y="1719263"/>
          <a:ext cx="1943100" cy="812800"/>
        </p:xfrm>
        <a:graphic>
          <a:graphicData uri="http://schemas.openxmlformats.org/presentationml/2006/ole">
            <mc:AlternateContent xmlns:mc="http://schemas.openxmlformats.org/markup-compatibility/2006">
              <mc:Choice xmlns:v="urn:schemas-microsoft-com:vml" Requires="v">
                <p:oleObj spid="_x0000_s24678" name="Equation" r:id="rId3" imgW="545863" imgH="228501" progId="Equation.DSMT4">
                  <p:embed/>
                </p:oleObj>
              </mc:Choice>
              <mc:Fallback>
                <p:oleObj name="Equation" r:id="rId3" imgW="545863" imgH="228501"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550" y="1719263"/>
                        <a:ext cx="19431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79" name="Text Box 7"/>
          <p:cNvSpPr txBox="1">
            <a:spLocks noChangeArrowheads="1"/>
          </p:cNvSpPr>
          <p:nvPr/>
        </p:nvSpPr>
        <p:spPr bwMode="auto">
          <a:xfrm>
            <a:off x="5735638" y="3473450"/>
            <a:ext cx="4635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界面上出现宏观的面电荷分布。</a:t>
            </a:r>
          </a:p>
        </p:txBody>
      </p:sp>
      <p:sp>
        <p:nvSpPr>
          <p:cNvPr id="24580" name="Text Box 8"/>
          <p:cNvSpPr txBox="1">
            <a:spLocks noChangeArrowheads="1"/>
          </p:cNvSpPr>
          <p:nvPr/>
        </p:nvSpPr>
        <p:spPr bwMode="auto">
          <a:xfrm>
            <a:off x="1193800" y="633874"/>
            <a:ext cx="6975475" cy="52322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FF0000"/>
                </a:solidFill>
              </a:rPr>
              <a:t>电导率不同的两种导体的分界面：</a:t>
            </a:r>
          </a:p>
        </p:txBody>
      </p:sp>
      <p:graphicFrame>
        <p:nvGraphicFramePr>
          <p:cNvPr id="24581" name="Object 10"/>
          <p:cNvGraphicFramePr>
            <a:graphicFrameLocks noChangeAspect="1"/>
          </p:cNvGraphicFramePr>
          <p:nvPr/>
        </p:nvGraphicFramePr>
        <p:xfrm>
          <a:off x="6816725" y="1763713"/>
          <a:ext cx="3117850" cy="812800"/>
        </p:xfrm>
        <a:graphic>
          <a:graphicData uri="http://schemas.openxmlformats.org/presentationml/2006/ole">
            <mc:AlternateContent xmlns:mc="http://schemas.openxmlformats.org/markup-compatibility/2006">
              <mc:Choice xmlns:v="urn:schemas-microsoft-com:vml" Requires="v">
                <p:oleObj spid="_x0000_s24679" name="Equation" r:id="rId5" imgW="876300" imgH="228600" progId="Equation.DSMT4">
                  <p:embed/>
                </p:oleObj>
              </mc:Choice>
              <mc:Fallback>
                <p:oleObj name="Equation" r:id="rId5" imgW="876300" imgH="228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6725" y="1763713"/>
                        <a:ext cx="311785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2" name="Line 11"/>
          <p:cNvSpPr>
            <a:spLocks noChangeShapeType="1"/>
          </p:cNvSpPr>
          <p:nvPr/>
        </p:nvSpPr>
        <p:spPr bwMode="auto">
          <a:xfrm>
            <a:off x="4475164" y="2168525"/>
            <a:ext cx="2160587" cy="0"/>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4583" name="Object 12"/>
          <p:cNvGraphicFramePr>
            <a:graphicFrameLocks noChangeAspect="1"/>
          </p:cNvGraphicFramePr>
          <p:nvPr/>
        </p:nvGraphicFramePr>
        <p:xfrm>
          <a:off x="2000250" y="3249613"/>
          <a:ext cx="2122488" cy="812800"/>
        </p:xfrm>
        <a:graphic>
          <a:graphicData uri="http://schemas.openxmlformats.org/presentationml/2006/ole">
            <mc:AlternateContent xmlns:mc="http://schemas.openxmlformats.org/markup-compatibility/2006">
              <mc:Choice xmlns:v="urn:schemas-microsoft-com:vml" Requires="v">
                <p:oleObj spid="_x0000_s24680" name="Equation" r:id="rId7" imgW="596900" imgH="228600" progId="Equation.DSMT4">
                  <p:embed/>
                </p:oleObj>
              </mc:Choice>
              <mc:Fallback>
                <p:oleObj name="Equation" r:id="rId7" imgW="596900" imgH="2286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0250" y="3249613"/>
                        <a:ext cx="2122488"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4" name="Line 13"/>
          <p:cNvSpPr>
            <a:spLocks noChangeShapeType="1"/>
          </p:cNvSpPr>
          <p:nvPr/>
        </p:nvSpPr>
        <p:spPr bwMode="auto">
          <a:xfrm>
            <a:off x="4251326" y="3698875"/>
            <a:ext cx="1484313" cy="0"/>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4585" name="Text Box 14"/>
          <p:cNvSpPr txBox="1">
            <a:spLocks noChangeArrowheads="1"/>
          </p:cNvSpPr>
          <p:nvPr/>
        </p:nvSpPr>
        <p:spPr bwMode="auto">
          <a:xfrm>
            <a:off x="1774825" y="5003800"/>
            <a:ext cx="2141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一侧绝缘体：</a:t>
            </a:r>
          </a:p>
        </p:txBody>
      </p:sp>
      <p:graphicFrame>
        <p:nvGraphicFramePr>
          <p:cNvPr id="24586" name="Object 15"/>
          <p:cNvGraphicFramePr>
            <a:graphicFrameLocks noChangeAspect="1"/>
          </p:cNvGraphicFramePr>
          <p:nvPr/>
        </p:nvGraphicFramePr>
        <p:xfrm>
          <a:off x="3846513" y="4868863"/>
          <a:ext cx="1670050" cy="812800"/>
        </p:xfrm>
        <a:graphic>
          <a:graphicData uri="http://schemas.openxmlformats.org/presentationml/2006/ole">
            <mc:AlternateContent xmlns:mc="http://schemas.openxmlformats.org/markup-compatibility/2006">
              <mc:Choice xmlns:v="urn:schemas-microsoft-com:vml" Requires="v">
                <p:oleObj spid="_x0000_s24681" name="Equation" r:id="rId9" imgW="469900" imgH="228600" progId="Equation.DSMT4">
                  <p:embed/>
                </p:oleObj>
              </mc:Choice>
              <mc:Fallback>
                <p:oleObj name="Equation" r:id="rId9" imgW="469900" imgH="228600"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6513" y="4868863"/>
                        <a:ext cx="167005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7" name="Text Box 16"/>
          <p:cNvSpPr txBox="1">
            <a:spLocks noChangeArrowheads="1"/>
          </p:cNvSpPr>
          <p:nvPr/>
        </p:nvSpPr>
        <p:spPr bwMode="auto">
          <a:xfrm>
            <a:off x="6032500" y="5003800"/>
            <a:ext cx="370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导体侧电场与界面平行。</a:t>
            </a:r>
          </a:p>
        </p:txBody>
      </p:sp>
      <p:sp>
        <p:nvSpPr>
          <p:cNvPr id="24588" name="Text Box 17"/>
          <p:cNvSpPr txBox="1">
            <a:spLocks noChangeArrowheads="1"/>
          </p:cNvSpPr>
          <p:nvPr/>
        </p:nvSpPr>
        <p:spPr bwMode="auto">
          <a:xfrm>
            <a:off x="4295776" y="6129338"/>
            <a:ext cx="594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弯曲导线内部电场始终沿导线方向</a:t>
            </a:r>
          </a:p>
        </p:txBody>
      </p:sp>
      <p:sp>
        <p:nvSpPr>
          <p:cNvPr id="24589" name="Line 18"/>
          <p:cNvSpPr>
            <a:spLocks noChangeShapeType="1"/>
          </p:cNvSpPr>
          <p:nvPr/>
        </p:nvSpPr>
        <p:spPr bwMode="auto">
          <a:xfrm flipH="1">
            <a:off x="6681788" y="5408614"/>
            <a:ext cx="900112" cy="720725"/>
          </a:xfrm>
          <a:prstGeom prst="line">
            <a:avLst/>
          </a:prstGeom>
          <a:noFill/>
          <a:ln w="762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ext Box 3"/>
          <p:cNvSpPr txBox="1">
            <a:spLocks noChangeArrowheads="1"/>
          </p:cNvSpPr>
          <p:nvPr/>
        </p:nvSpPr>
        <p:spPr bwMode="auto">
          <a:xfrm>
            <a:off x="1865313" y="1808164"/>
            <a:ext cx="46355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两同轴长园柱形铜管间填滿石墨。求管间电阻。</a:t>
            </a:r>
          </a:p>
        </p:txBody>
      </p:sp>
      <p:sp>
        <p:nvSpPr>
          <p:cNvPr id="25603" name="Text Box 4"/>
          <p:cNvSpPr txBox="1">
            <a:spLocks noChangeArrowheads="1"/>
          </p:cNvSpPr>
          <p:nvPr/>
        </p:nvSpPr>
        <p:spPr bwMode="auto">
          <a:xfrm>
            <a:off x="1524000" y="863600"/>
            <a:ext cx="3779838" cy="469900"/>
          </a:xfrm>
          <a:prstGeom prst="rect">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导体表面可以有面电荷：</a:t>
            </a:r>
          </a:p>
        </p:txBody>
      </p:sp>
      <p:sp>
        <p:nvSpPr>
          <p:cNvPr id="25604" name="Text Box 14"/>
          <p:cNvSpPr txBox="1">
            <a:spLocks noChangeArrowheads="1"/>
          </p:cNvSpPr>
          <p:nvPr/>
        </p:nvSpPr>
        <p:spPr bwMode="auto">
          <a:xfrm>
            <a:off x="6321426" y="863600"/>
            <a:ext cx="4049713" cy="469900"/>
          </a:xfrm>
          <a:prstGeom prst="rect">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导体外侧电场有垂直分量。</a:t>
            </a:r>
          </a:p>
        </p:txBody>
      </p:sp>
      <p:sp>
        <p:nvSpPr>
          <p:cNvPr id="25605" name="Line 15"/>
          <p:cNvSpPr>
            <a:spLocks noChangeShapeType="1"/>
          </p:cNvSpPr>
          <p:nvPr/>
        </p:nvSpPr>
        <p:spPr bwMode="auto">
          <a:xfrm>
            <a:off x="5330826" y="1089025"/>
            <a:ext cx="809625" cy="0"/>
          </a:xfrm>
          <a:prstGeom prst="line">
            <a:avLst/>
          </a:prstGeom>
          <a:noFill/>
          <a:ln w="762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5606" name="Rectangle 16" descr="浅色上对角线"/>
          <p:cNvSpPr>
            <a:spLocks noChangeArrowheads="1"/>
          </p:cNvSpPr>
          <p:nvPr/>
        </p:nvSpPr>
        <p:spPr bwMode="auto">
          <a:xfrm>
            <a:off x="6681788" y="1763713"/>
            <a:ext cx="628650" cy="2609850"/>
          </a:xfrm>
          <a:prstGeom prst="rect">
            <a:avLst/>
          </a:prstGeom>
          <a:pattFill prst="ltUpDiag">
            <a:fgClr>
              <a:schemeClr val="bg2"/>
            </a:fgClr>
            <a:bgClr>
              <a:schemeClr val="bg1"/>
            </a:bgClr>
          </a:pattFill>
          <a:ln w="38100" cap="sq" cmpd="dbl">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07" name="Rectangle 17" descr="浅色上对角线"/>
          <p:cNvSpPr>
            <a:spLocks noChangeArrowheads="1"/>
          </p:cNvSpPr>
          <p:nvPr/>
        </p:nvSpPr>
        <p:spPr bwMode="auto">
          <a:xfrm>
            <a:off x="8210550" y="1763713"/>
            <a:ext cx="628650" cy="2609850"/>
          </a:xfrm>
          <a:prstGeom prst="rect">
            <a:avLst/>
          </a:prstGeom>
          <a:pattFill prst="ltUpDiag">
            <a:fgClr>
              <a:schemeClr val="bg2"/>
            </a:fgClr>
            <a:bgClr>
              <a:schemeClr val="bg1"/>
            </a:bgClr>
          </a:pattFill>
          <a:ln w="38100" cap="sq" cmpd="dbl">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5608" name="Line 18"/>
          <p:cNvSpPr>
            <a:spLocks noChangeShapeType="1"/>
          </p:cNvSpPr>
          <p:nvPr/>
        </p:nvSpPr>
        <p:spPr bwMode="auto">
          <a:xfrm>
            <a:off x="7716838" y="1493839"/>
            <a:ext cx="0" cy="3330575"/>
          </a:xfrm>
          <a:prstGeom prst="line">
            <a:avLst/>
          </a:prstGeom>
          <a:noFill/>
          <a:ln w="12700">
            <a:solidFill>
              <a:schemeClr val="tx1"/>
            </a:solidFill>
            <a:prstDash val="lgDashDot"/>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5609" name="Text Box 19"/>
          <p:cNvSpPr txBox="1">
            <a:spLocks noChangeArrowheads="1"/>
          </p:cNvSpPr>
          <p:nvPr/>
        </p:nvSpPr>
        <p:spPr bwMode="auto">
          <a:xfrm>
            <a:off x="7761288" y="3294063"/>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r</a:t>
            </a:r>
            <a:r>
              <a:rPr lang="en-US" altLang="zh-CN" sz="1800" baseline="-25000"/>
              <a:t>1</a:t>
            </a:r>
          </a:p>
        </p:txBody>
      </p:sp>
      <p:sp>
        <p:nvSpPr>
          <p:cNvPr id="25610" name="Text Box 20"/>
          <p:cNvSpPr txBox="1">
            <a:spLocks noChangeArrowheads="1"/>
          </p:cNvSpPr>
          <p:nvPr/>
        </p:nvSpPr>
        <p:spPr bwMode="auto">
          <a:xfrm>
            <a:off x="7265988" y="2484438"/>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r</a:t>
            </a:r>
            <a:r>
              <a:rPr lang="en-US" altLang="zh-CN" sz="1800" baseline="-25000"/>
              <a:t>2</a:t>
            </a:r>
          </a:p>
        </p:txBody>
      </p:sp>
      <p:sp>
        <p:nvSpPr>
          <p:cNvPr id="25611" name="Line 21"/>
          <p:cNvSpPr>
            <a:spLocks noChangeShapeType="1"/>
          </p:cNvSpPr>
          <p:nvPr/>
        </p:nvSpPr>
        <p:spPr bwMode="auto">
          <a:xfrm>
            <a:off x="7716838" y="3249613"/>
            <a:ext cx="493712"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5612" name="Line 22"/>
          <p:cNvSpPr>
            <a:spLocks noChangeShapeType="1"/>
          </p:cNvSpPr>
          <p:nvPr/>
        </p:nvSpPr>
        <p:spPr bwMode="auto">
          <a:xfrm flipH="1">
            <a:off x="6635750" y="2528888"/>
            <a:ext cx="1081088"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5613" name="Text Box 23"/>
          <p:cNvSpPr txBox="1">
            <a:spLocks noChangeArrowheads="1"/>
          </p:cNvSpPr>
          <p:nvPr/>
        </p:nvSpPr>
        <p:spPr bwMode="auto">
          <a:xfrm>
            <a:off x="6681789" y="3159126"/>
            <a:ext cx="674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l-GR" altLang="zh-CN" sz="1800">
                <a:solidFill>
                  <a:srgbClr val="FF0000"/>
                </a:solidFill>
                <a:latin typeface="宋体" panose="02010600030101010101" pitchFamily="2" charset="-122"/>
              </a:rPr>
              <a:t>σ</a:t>
            </a:r>
          </a:p>
        </p:txBody>
      </p:sp>
      <p:sp>
        <p:nvSpPr>
          <p:cNvPr id="25614" name="Text Box 24"/>
          <p:cNvSpPr txBox="1">
            <a:spLocks noChangeArrowheads="1"/>
          </p:cNvSpPr>
          <p:nvPr/>
        </p:nvSpPr>
        <p:spPr bwMode="auto">
          <a:xfrm>
            <a:off x="8301038" y="3698876"/>
            <a:ext cx="58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a:solidFill>
                  <a:srgbClr val="FF0000"/>
                </a:solidFill>
              </a:rPr>
              <a:t>E</a:t>
            </a:r>
          </a:p>
        </p:txBody>
      </p:sp>
      <p:sp>
        <p:nvSpPr>
          <p:cNvPr id="25615" name="Text Box 25"/>
          <p:cNvSpPr txBox="1">
            <a:spLocks noChangeArrowheads="1"/>
          </p:cNvSpPr>
          <p:nvPr/>
        </p:nvSpPr>
        <p:spPr bwMode="auto">
          <a:xfrm>
            <a:off x="7761288" y="4284663"/>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U</a:t>
            </a:r>
            <a:r>
              <a:rPr lang="en-US" altLang="zh-CN" sz="1800" baseline="-25000"/>
              <a:t>1</a:t>
            </a:r>
          </a:p>
        </p:txBody>
      </p:sp>
      <p:sp>
        <p:nvSpPr>
          <p:cNvPr id="25616" name="Text Box 26"/>
          <p:cNvSpPr txBox="1">
            <a:spLocks noChangeArrowheads="1"/>
          </p:cNvSpPr>
          <p:nvPr/>
        </p:nvSpPr>
        <p:spPr bwMode="auto">
          <a:xfrm>
            <a:off x="6545263" y="4373563"/>
            <a:ext cx="449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U</a:t>
            </a:r>
            <a:r>
              <a:rPr lang="en-US" altLang="zh-CN" sz="1800" baseline="-25000"/>
              <a:t>2</a:t>
            </a:r>
          </a:p>
        </p:txBody>
      </p:sp>
      <p:graphicFrame>
        <p:nvGraphicFramePr>
          <p:cNvPr id="131099" name="Object 27"/>
          <p:cNvGraphicFramePr>
            <a:graphicFrameLocks noGrp="1" noChangeAspect="1"/>
          </p:cNvGraphicFramePr>
          <p:nvPr>
            <p:ph/>
          </p:nvPr>
        </p:nvGraphicFramePr>
        <p:xfrm>
          <a:off x="2360614" y="3159125"/>
          <a:ext cx="3659187" cy="920750"/>
        </p:xfrm>
        <a:graphic>
          <a:graphicData uri="http://schemas.openxmlformats.org/presentationml/2006/ole">
            <mc:AlternateContent xmlns:mc="http://schemas.openxmlformats.org/markup-compatibility/2006">
              <mc:Choice xmlns:v="urn:schemas-microsoft-com:vml" Requires="v">
                <p:oleObj spid="_x0000_s25710" name="Equation" r:id="rId3" imgW="1866900" imgH="469900" progId="Equation.DSMT4">
                  <p:embed/>
                </p:oleObj>
              </mc:Choice>
              <mc:Fallback>
                <p:oleObj name="Equation" r:id="rId3" imgW="1866900" imgH="469900" progId="Equation.DSMT4">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0614" y="3159125"/>
                        <a:ext cx="3659187"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1" name="Object 29"/>
          <p:cNvGraphicFramePr>
            <a:graphicFrameLocks noChangeAspect="1"/>
          </p:cNvGraphicFramePr>
          <p:nvPr/>
        </p:nvGraphicFramePr>
        <p:xfrm>
          <a:off x="2806701" y="4660900"/>
          <a:ext cx="2314575" cy="795338"/>
        </p:xfrm>
        <a:graphic>
          <a:graphicData uri="http://schemas.openxmlformats.org/presentationml/2006/ole">
            <mc:AlternateContent xmlns:mc="http://schemas.openxmlformats.org/markup-compatibility/2006">
              <mc:Choice xmlns:v="urn:schemas-microsoft-com:vml" Requires="v">
                <p:oleObj spid="_x0000_s25711" name="Equation" r:id="rId5" imgW="1180588" imgH="406224" progId="Equation.DSMT4">
                  <p:embed/>
                </p:oleObj>
              </mc:Choice>
              <mc:Fallback>
                <p:oleObj name="Equation" r:id="rId5" imgW="1180588" imgH="406224" progId="Equation.DSMT4">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6701" y="4660900"/>
                        <a:ext cx="2314575"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2" name="Object 30"/>
          <p:cNvGraphicFramePr>
            <a:graphicFrameLocks noChangeAspect="1"/>
          </p:cNvGraphicFramePr>
          <p:nvPr/>
        </p:nvGraphicFramePr>
        <p:xfrm>
          <a:off x="2613025" y="5678489"/>
          <a:ext cx="2438400" cy="795337"/>
        </p:xfrm>
        <a:graphic>
          <a:graphicData uri="http://schemas.openxmlformats.org/presentationml/2006/ole">
            <mc:AlternateContent xmlns:mc="http://schemas.openxmlformats.org/markup-compatibility/2006">
              <mc:Choice xmlns:v="urn:schemas-microsoft-com:vml" Requires="v">
                <p:oleObj spid="_x0000_s25712" name="Equation" r:id="rId7" imgW="1244060" imgH="406224" progId="Equation.DSMT4">
                  <p:embed/>
                </p:oleObj>
              </mc:Choice>
              <mc:Fallback>
                <p:oleObj name="Equation" r:id="rId7" imgW="1244060" imgH="406224" progId="Equation.DSMT4">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3025" y="5678489"/>
                        <a:ext cx="2438400"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103" name="Object 31"/>
          <p:cNvGraphicFramePr>
            <a:graphicFrameLocks noChangeAspect="1"/>
          </p:cNvGraphicFramePr>
          <p:nvPr/>
        </p:nvGraphicFramePr>
        <p:xfrm>
          <a:off x="5545138" y="5678489"/>
          <a:ext cx="3359150" cy="795337"/>
        </p:xfrm>
        <a:graphic>
          <a:graphicData uri="http://schemas.openxmlformats.org/presentationml/2006/ole">
            <mc:AlternateContent xmlns:mc="http://schemas.openxmlformats.org/markup-compatibility/2006">
              <mc:Choice xmlns:v="urn:schemas-microsoft-com:vml" Requires="v">
                <p:oleObj spid="_x0000_s25713" name="Equation" r:id="rId9" imgW="1713756" imgH="406224" progId="Equation.DSMT4">
                  <p:embed/>
                </p:oleObj>
              </mc:Choice>
              <mc:Fallback>
                <p:oleObj name="Equation" r:id="rId9" imgW="1713756" imgH="406224" progId="Equation.DSMT4">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5138" y="5678489"/>
                        <a:ext cx="3359150"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21" name="Text Box 32"/>
          <p:cNvSpPr txBox="1">
            <a:spLocks noChangeArrowheads="1"/>
          </p:cNvSpPr>
          <p:nvPr/>
        </p:nvSpPr>
        <p:spPr bwMode="auto">
          <a:xfrm>
            <a:off x="9336088" y="2079626"/>
            <a:ext cx="9906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t>石墨电阻率大于铜的千倍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1099"/>
                                        </p:tgtEl>
                                        <p:attrNameLst>
                                          <p:attrName>style.visibility</p:attrName>
                                        </p:attrNameLst>
                                      </p:cBhvr>
                                      <p:to>
                                        <p:strVal val="visible"/>
                                      </p:to>
                                    </p:set>
                                    <p:anim calcmode="lin" valueType="num">
                                      <p:cBhvr additive="base">
                                        <p:cTn id="7" dur="500" fill="hold"/>
                                        <p:tgtEl>
                                          <p:spTgt spid="131099"/>
                                        </p:tgtEl>
                                        <p:attrNameLst>
                                          <p:attrName>ppt_x</p:attrName>
                                        </p:attrNameLst>
                                      </p:cBhvr>
                                      <p:tavLst>
                                        <p:tav tm="0">
                                          <p:val>
                                            <p:strVal val="#ppt_x"/>
                                          </p:val>
                                        </p:tav>
                                        <p:tav tm="100000">
                                          <p:val>
                                            <p:strVal val="#ppt_x"/>
                                          </p:val>
                                        </p:tav>
                                      </p:tavLst>
                                    </p:anim>
                                    <p:anim calcmode="lin" valueType="num">
                                      <p:cBhvr additive="base">
                                        <p:cTn id="8" dur="500" fill="hold"/>
                                        <p:tgtEl>
                                          <p:spTgt spid="13109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1101"/>
                                        </p:tgtEl>
                                        <p:attrNameLst>
                                          <p:attrName>style.visibility</p:attrName>
                                        </p:attrNameLst>
                                      </p:cBhvr>
                                      <p:to>
                                        <p:strVal val="visible"/>
                                      </p:to>
                                    </p:set>
                                    <p:anim calcmode="lin" valueType="num">
                                      <p:cBhvr additive="base">
                                        <p:cTn id="11" dur="500" fill="hold"/>
                                        <p:tgtEl>
                                          <p:spTgt spid="131101"/>
                                        </p:tgtEl>
                                        <p:attrNameLst>
                                          <p:attrName>ppt_x</p:attrName>
                                        </p:attrNameLst>
                                      </p:cBhvr>
                                      <p:tavLst>
                                        <p:tav tm="0">
                                          <p:val>
                                            <p:strVal val="#ppt_x"/>
                                          </p:val>
                                        </p:tav>
                                        <p:tav tm="100000">
                                          <p:val>
                                            <p:strVal val="#ppt_x"/>
                                          </p:val>
                                        </p:tav>
                                      </p:tavLst>
                                    </p:anim>
                                    <p:anim calcmode="lin" valueType="num">
                                      <p:cBhvr additive="base">
                                        <p:cTn id="12" dur="500" fill="hold"/>
                                        <p:tgtEl>
                                          <p:spTgt spid="13110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1102"/>
                                        </p:tgtEl>
                                        <p:attrNameLst>
                                          <p:attrName>style.visibility</p:attrName>
                                        </p:attrNameLst>
                                      </p:cBhvr>
                                      <p:to>
                                        <p:strVal val="visible"/>
                                      </p:to>
                                    </p:set>
                                    <p:anim calcmode="lin" valueType="num">
                                      <p:cBhvr additive="base">
                                        <p:cTn id="15" dur="500" fill="hold"/>
                                        <p:tgtEl>
                                          <p:spTgt spid="131102"/>
                                        </p:tgtEl>
                                        <p:attrNameLst>
                                          <p:attrName>ppt_x</p:attrName>
                                        </p:attrNameLst>
                                      </p:cBhvr>
                                      <p:tavLst>
                                        <p:tav tm="0">
                                          <p:val>
                                            <p:strVal val="#ppt_x"/>
                                          </p:val>
                                        </p:tav>
                                        <p:tav tm="100000">
                                          <p:val>
                                            <p:strVal val="#ppt_x"/>
                                          </p:val>
                                        </p:tav>
                                      </p:tavLst>
                                    </p:anim>
                                    <p:anim calcmode="lin" valueType="num">
                                      <p:cBhvr additive="base">
                                        <p:cTn id="16" dur="500" fill="hold"/>
                                        <p:tgtEl>
                                          <p:spTgt spid="13110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1103"/>
                                        </p:tgtEl>
                                        <p:attrNameLst>
                                          <p:attrName>style.visibility</p:attrName>
                                        </p:attrNameLst>
                                      </p:cBhvr>
                                      <p:to>
                                        <p:strVal val="visible"/>
                                      </p:to>
                                    </p:set>
                                    <p:anim calcmode="lin" valueType="num">
                                      <p:cBhvr additive="base">
                                        <p:cTn id="19" dur="500" fill="hold"/>
                                        <p:tgtEl>
                                          <p:spTgt spid="131103"/>
                                        </p:tgtEl>
                                        <p:attrNameLst>
                                          <p:attrName>ppt_x</p:attrName>
                                        </p:attrNameLst>
                                      </p:cBhvr>
                                      <p:tavLst>
                                        <p:tav tm="0">
                                          <p:val>
                                            <p:strVal val="#ppt_x"/>
                                          </p:val>
                                        </p:tav>
                                        <p:tav tm="100000">
                                          <p:val>
                                            <p:strVal val="#ppt_x"/>
                                          </p:val>
                                        </p:tav>
                                      </p:tavLst>
                                    </p:anim>
                                    <p:anim calcmode="lin" valueType="num">
                                      <p:cBhvr additive="base">
                                        <p:cTn id="20" dur="500" fill="hold"/>
                                        <p:tgtEl>
                                          <p:spTgt spid="131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981200" y="274638"/>
            <a:ext cx="8686800" cy="1143000"/>
          </a:xfrm>
        </p:spPr>
        <p:txBody>
          <a:bodyPr/>
          <a:lstStyle/>
          <a:p>
            <a:pPr eaLnBrk="1" hangingPunct="1"/>
            <a:r>
              <a:rPr lang="zh-CN" altLang="en-US" sz="3200"/>
              <a:t>稳恒电路中接入铜球，分析发热情况。</a:t>
            </a:r>
          </a:p>
        </p:txBody>
      </p:sp>
      <p:sp>
        <p:nvSpPr>
          <p:cNvPr id="26627" name="Rectangle 3"/>
          <p:cNvSpPr>
            <a:spLocks noGrp="1" noChangeArrowheads="1"/>
          </p:cNvSpPr>
          <p:nvPr>
            <p:ph type="body" idx="1"/>
          </p:nvPr>
        </p:nvSpPr>
        <p:spPr>
          <a:xfrm>
            <a:off x="2900364" y="1449389"/>
            <a:ext cx="5284787" cy="884237"/>
          </a:xfrm>
        </p:spPr>
        <p:txBody>
          <a:bodyPr/>
          <a:lstStyle/>
          <a:p>
            <a:pPr eaLnBrk="1" hangingPunct="1"/>
            <a:r>
              <a:rPr lang="zh-CN" altLang="en-US"/>
              <a:t>限流电阻位置关系分析。</a:t>
            </a:r>
          </a:p>
        </p:txBody>
      </p:sp>
      <p:sp>
        <p:nvSpPr>
          <p:cNvPr id="2" name="流程图: 磁盘 1">
            <a:extLst>
              <a:ext uri="{FF2B5EF4-FFF2-40B4-BE49-F238E27FC236}">
                <a16:creationId xmlns:a16="http://schemas.microsoft.com/office/drawing/2014/main" id="{F42C9553-D7DB-4E1C-8D3F-945128574B30}"/>
              </a:ext>
            </a:extLst>
          </p:cNvPr>
          <p:cNvSpPr/>
          <p:nvPr/>
        </p:nvSpPr>
        <p:spPr bwMode="auto">
          <a:xfrm>
            <a:off x="5825970" y="3023956"/>
            <a:ext cx="1620180" cy="2384657"/>
          </a:xfrm>
          <a:prstGeom prst="flowChartMagneticDisk">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vert="horz" wrap="none" lIns="91440" tIns="45720" rIns="91440" bIns="45720" numCol="1" rtlCol="0" anchor="t" anchorCtr="0" compatLnSpc="1">
            <a:prstTxWarp prst="textNoShape">
              <a:avLst/>
            </a:prstTxWarp>
          </a:bodyPr>
          <a:lstStyle/>
          <a:p>
            <a:pPr eaLnBrk="1" hangingPunct="1"/>
            <a:endParaRPr lang="zh-CN" altLang="en-US">
              <a:noFill/>
              <a:latin typeface="Arial" charset="0"/>
              <a:ea typeface="宋体" charset="-122"/>
            </a:endParaRPr>
          </a:p>
        </p:txBody>
      </p:sp>
      <p:sp>
        <p:nvSpPr>
          <p:cNvPr id="3" name="圆: 空心 2">
            <a:extLst>
              <a:ext uri="{FF2B5EF4-FFF2-40B4-BE49-F238E27FC236}">
                <a16:creationId xmlns:a16="http://schemas.microsoft.com/office/drawing/2014/main" id="{6D8BDC0D-FE65-472A-8D20-07F29AB09D10}"/>
              </a:ext>
            </a:extLst>
          </p:cNvPr>
          <p:cNvSpPr/>
          <p:nvPr/>
        </p:nvSpPr>
        <p:spPr bwMode="auto">
          <a:xfrm>
            <a:off x="5825970" y="3023956"/>
            <a:ext cx="1620180" cy="810090"/>
          </a:xfrm>
          <a:prstGeom prst="donut">
            <a:avLst/>
          </a:prstGeom>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n>
            <a:solidFill>
              <a:schemeClr val="tx1"/>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eaLnBrk="1" hangingPunct="1"/>
            <a:endParaRPr lang="zh-CN" altLang="en-US" dirty="0">
              <a:solidFill>
                <a:schemeClr val="tx1"/>
              </a:solidFill>
              <a:latin typeface="Arial" charset="0"/>
              <a:ea typeface="宋体"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981200" y="274638"/>
            <a:ext cx="8229600" cy="1039812"/>
          </a:xfrm>
        </p:spPr>
        <p:txBody>
          <a:bodyPr/>
          <a:lstStyle/>
          <a:p>
            <a:pPr eaLnBrk="1" hangingPunct="1"/>
            <a:r>
              <a:rPr lang="en-US" altLang="zh-CN" sz="4000"/>
              <a:t>AB</a:t>
            </a:r>
            <a:r>
              <a:rPr lang="zh-CN" altLang="en-US" sz="4000"/>
              <a:t>间总电阻为</a:t>
            </a:r>
            <a:r>
              <a:rPr lang="en-US" altLang="zh-CN" sz="4000"/>
              <a:t>1</a:t>
            </a:r>
            <a:r>
              <a:rPr lang="zh-CN" altLang="en-US" sz="4000"/>
              <a:t>欧姆，求未知电阻。</a:t>
            </a:r>
          </a:p>
        </p:txBody>
      </p:sp>
      <p:sp>
        <p:nvSpPr>
          <p:cNvPr id="27651" name="AutoShape 3"/>
          <p:cNvSpPr>
            <a:spLocks noChangeArrowheads="1"/>
          </p:cNvSpPr>
          <p:nvPr/>
        </p:nvSpPr>
        <p:spPr bwMode="auto">
          <a:xfrm>
            <a:off x="6005514" y="1989138"/>
            <a:ext cx="3870325" cy="4005262"/>
          </a:xfrm>
          <a:prstGeom prst="cube">
            <a:avLst>
              <a:gd name="adj" fmla="val 25000"/>
            </a:avLst>
          </a:prstGeom>
          <a:solidFill>
            <a:schemeClr val="bg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52" name="Rectangle 4"/>
          <p:cNvSpPr>
            <a:spLocks noChangeArrowheads="1"/>
          </p:cNvSpPr>
          <p:nvPr/>
        </p:nvSpPr>
        <p:spPr bwMode="auto">
          <a:xfrm>
            <a:off x="7175501" y="2843214"/>
            <a:ext cx="811213" cy="223837"/>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53" name="Rectangle 5"/>
          <p:cNvSpPr>
            <a:spLocks noChangeArrowheads="1"/>
          </p:cNvSpPr>
          <p:nvPr/>
        </p:nvSpPr>
        <p:spPr bwMode="auto">
          <a:xfrm>
            <a:off x="6905626" y="5859464"/>
            <a:ext cx="811213" cy="223837"/>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54" name="Line 6"/>
          <p:cNvSpPr>
            <a:spLocks noChangeShapeType="1"/>
          </p:cNvSpPr>
          <p:nvPr/>
        </p:nvSpPr>
        <p:spPr bwMode="auto">
          <a:xfrm flipV="1">
            <a:off x="6005513" y="5049838"/>
            <a:ext cx="946150" cy="944562"/>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7655" name="Line 7"/>
          <p:cNvSpPr>
            <a:spLocks noChangeShapeType="1"/>
          </p:cNvSpPr>
          <p:nvPr/>
        </p:nvSpPr>
        <p:spPr bwMode="auto">
          <a:xfrm>
            <a:off x="6996113" y="1989138"/>
            <a:ext cx="0" cy="30607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7656" name="Line 8"/>
          <p:cNvSpPr>
            <a:spLocks noChangeShapeType="1"/>
          </p:cNvSpPr>
          <p:nvPr/>
        </p:nvSpPr>
        <p:spPr bwMode="auto">
          <a:xfrm flipH="1">
            <a:off x="6996114" y="5003800"/>
            <a:ext cx="2879725"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7657" name="Rectangle 9"/>
          <p:cNvSpPr>
            <a:spLocks noChangeArrowheads="1"/>
          </p:cNvSpPr>
          <p:nvPr/>
        </p:nvSpPr>
        <p:spPr bwMode="auto">
          <a:xfrm>
            <a:off x="7851776" y="1898650"/>
            <a:ext cx="811213" cy="223838"/>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58" name="Rectangle 10"/>
          <p:cNvSpPr>
            <a:spLocks noChangeArrowheads="1"/>
          </p:cNvSpPr>
          <p:nvPr/>
        </p:nvSpPr>
        <p:spPr bwMode="auto">
          <a:xfrm>
            <a:off x="7626351" y="4868864"/>
            <a:ext cx="811213" cy="223837"/>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59" name="Rectangle 11"/>
          <p:cNvSpPr>
            <a:spLocks noChangeArrowheads="1"/>
          </p:cNvSpPr>
          <p:nvPr/>
        </p:nvSpPr>
        <p:spPr bwMode="auto">
          <a:xfrm rot="-5400000">
            <a:off x="5622926" y="4397376"/>
            <a:ext cx="811212" cy="223837"/>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60" name="Rectangle 12"/>
          <p:cNvSpPr>
            <a:spLocks noChangeArrowheads="1"/>
          </p:cNvSpPr>
          <p:nvPr/>
        </p:nvSpPr>
        <p:spPr bwMode="auto">
          <a:xfrm rot="-5400000">
            <a:off x="6611938" y="3678238"/>
            <a:ext cx="811213" cy="223838"/>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61" name="Rectangle 13"/>
          <p:cNvSpPr>
            <a:spLocks noChangeArrowheads="1"/>
          </p:cNvSpPr>
          <p:nvPr/>
        </p:nvSpPr>
        <p:spPr bwMode="auto">
          <a:xfrm rot="-5400000">
            <a:off x="8502651" y="4037014"/>
            <a:ext cx="811213" cy="223837"/>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62" name="Rectangle 14"/>
          <p:cNvSpPr>
            <a:spLocks noChangeArrowheads="1"/>
          </p:cNvSpPr>
          <p:nvPr/>
        </p:nvSpPr>
        <p:spPr bwMode="auto">
          <a:xfrm rot="-5400000">
            <a:off x="9447213" y="3678238"/>
            <a:ext cx="811213" cy="223838"/>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63" name="Rectangle 15"/>
          <p:cNvSpPr>
            <a:spLocks noChangeArrowheads="1"/>
          </p:cNvSpPr>
          <p:nvPr/>
        </p:nvSpPr>
        <p:spPr bwMode="auto">
          <a:xfrm rot="-2644427">
            <a:off x="6186488" y="5319714"/>
            <a:ext cx="811212" cy="223837"/>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64" name="Rectangle 16"/>
          <p:cNvSpPr>
            <a:spLocks noChangeArrowheads="1"/>
          </p:cNvSpPr>
          <p:nvPr/>
        </p:nvSpPr>
        <p:spPr bwMode="auto">
          <a:xfrm rot="-2879945">
            <a:off x="6072188" y="2373313"/>
            <a:ext cx="811213" cy="223838"/>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65" name="Rectangle 17"/>
          <p:cNvSpPr>
            <a:spLocks noChangeArrowheads="1"/>
          </p:cNvSpPr>
          <p:nvPr/>
        </p:nvSpPr>
        <p:spPr bwMode="auto">
          <a:xfrm rot="-2879945">
            <a:off x="8951913" y="2373313"/>
            <a:ext cx="811213" cy="223838"/>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66" name="Rectangle 18"/>
          <p:cNvSpPr>
            <a:spLocks noChangeArrowheads="1"/>
          </p:cNvSpPr>
          <p:nvPr/>
        </p:nvSpPr>
        <p:spPr bwMode="auto">
          <a:xfrm rot="-2879945">
            <a:off x="8997951" y="5387976"/>
            <a:ext cx="811212" cy="223837"/>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7667" name="Text Box 19"/>
          <p:cNvSpPr txBox="1">
            <a:spLocks noChangeArrowheads="1"/>
          </p:cNvSpPr>
          <p:nvPr/>
        </p:nvSpPr>
        <p:spPr bwMode="auto">
          <a:xfrm>
            <a:off x="9921876" y="1763713"/>
            <a:ext cx="360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A</a:t>
            </a:r>
          </a:p>
        </p:txBody>
      </p:sp>
      <p:sp>
        <p:nvSpPr>
          <p:cNvPr id="27668" name="Text Box 20"/>
          <p:cNvSpPr txBox="1">
            <a:spLocks noChangeArrowheads="1"/>
          </p:cNvSpPr>
          <p:nvPr/>
        </p:nvSpPr>
        <p:spPr bwMode="auto">
          <a:xfrm>
            <a:off x="5510213" y="5949951"/>
            <a:ext cx="360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B</a:t>
            </a:r>
          </a:p>
        </p:txBody>
      </p:sp>
      <p:sp>
        <p:nvSpPr>
          <p:cNvPr id="27669" name="Text Box 21"/>
          <p:cNvSpPr txBox="1">
            <a:spLocks noChangeArrowheads="1"/>
          </p:cNvSpPr>
          <p:nvPr/>
        </p:nvSpPr>
        <p:spPr bwMode="auto">
          <a:xfrm>
            <a:off x="6500813" y="1719263"/>
            <a:ext cx="360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c</a:t>
            </a:r>
          </a:p>
        </p:txBody>
      </p:sp>
      <p:sp>
        <p:nvSpPr>
          <p:cNvPr id="27670" name="Text Box 22"/>
          <p:cNvSpPr txBox="1">
            <a:spLocks noChangeArrowheads="1"/>
          </p:cNvSpPr>
          <p:nvPr/>
        </p:nvSpPr>
        <p:spPr bwMode="auto">
          <a:xfrm>
            <a:off x="9966326" y="4824413"/>
            <a:ext cx="360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d</a:t>
            </a:r>
          </a:p>
        </p:txBody>
      </p:sp>
      <p:sp>
        <p:nvSpPr>
          <p:cNvPr id="27671" name="Text Box 23"/>
          <p:cNvSpPr txBox="1">
            <a:spLocks noChangeArrowheads="1"/>
          </p:cNvSpPr>
          <p:nvPr/>
        </p:nvSpPr>
        <p:spPr bwMode="auto">
          <a:xfrm>
            <a:off x="6996113" y="4689476"/>
            <a:ext cx="360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e</a:t>
            </a:r>
          </a:p>
        </p:txBody>
      </p:sp>
      <p:sp>
        <p:nvSpPr>
          <p:cNvPr id="27672" name="Text Box 24"/>
          <p:cNvSpPr txBox="1">
            <a:spLocks noChangeArrowheads="1"/>
          </p:cNvSpPr>
          <p:nvPr/>
        </p:nvSpPr>
        <p:spPr bwMode="auto">
          <a:xfrm>
            <a:off x="5465763" y="2843213"/>
            <a:ext cx="360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f</a:t>
            </a:r>
          </a:p>
        </p:txBody>
      </p:sp>
      <p:sp>
        <p:nvSpPr>
          <p:cNvPr id="27673" name="Text Box 25"/>
          <p:cNvSpPr txBox="1">
            <a:spLocks noChangeArrowheads="1"/>
          </p:cNvSpPr>
          <p:nvPr/>
        </p:nvSpPr>
        <p:spPr bwMode="auto">
          <a:xfrm>
            <a:off x="8931276" y="2979738"/>
            <a:ext cx="360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g</a:t>
            </a:r>
          </a:p>
        </p:txBody>
      </p:sp>
      <p:sp>
        <p:nvSpPr>
          <p:cNvPr id="27674" name="Text Box 26"/>
          <p:cNvSpPr txBox="1">
            <a:spLocks noChangeArrowheads="1"/>
          </p:cNvSpPr>
          <p:nvPr/>
        </p:nvSpPr>
        <p:spPr bwMode="auto">
          <a:xfrm>
            <a:off x="8886826" y="5994401"/>
            <a:ext cx="3603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h</a:t>
            </a:r>
          </a:p>
        </p:txBody>
      </p:sp>
      <p:sp>
        <p:nvSpPr>
          <p:cNvPr id="27675" name="Text Box 27"/>
          <p:cNvSpPr txBox="1">
            <a:spLocks noChangeArrowheads="1"/>
          </p:cNvSpPr>
          <p:nvPr/>
        </p:nvSpPr>
        <p:spPr bwMode="auto">
          <a:xfrm>
            <a:off x="5465764" y="4329113"/>
            <a:ext cx="585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1</a:t>
            </a:r>
          </a:p>
        </p:txBody>
      </p:sp>
      <p:sp>
        <p:nvSpPr>
          <p:cNvPr id="27676" name="Text Box 28"/>
          <p:cNvSpPr txBox="1">
            <a:spLocks noChangeArrowheads="1"/>
          </p:cNvSpPr>
          <p:nvPr/>
        </p:nvSpPr>
        <p:spPr bwMode="auto">
          <a:xfrm>
            <a:off x="7175500" y="6173788"/>
            <a:ext cx="585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1</a:t>
            </a:r>
          </a:p>
        </p:txBody>
      </p:sp>
      <p:sp>
        <p:nvSpPr>
          <p:cNvPr id="27677" name="Text Box 29"/>
          <p:cNvSpPr txBox="1">
            <a:spLocks noChangeArrowheads="1"/>
          </p:cNvSpPr>
          <p:nvPr/>
        </p:nvSpPr>
        <p:spPr bwMode="auto">
          <a:xfrm>
            <a:off x="6545264" y="5364163"/>
            <a:ext cx="585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1</a:t>
            </a:r>
          </a:p>
        </p:txBody>
      </p:sp>
      <p:sp>
        <p:nvSpPr>
          <p:cNvPr id="27678" name="Text Box 30"/>
          <p:cNvSpPr txBox="1">
            <a:spLocks noChangeArrowheads="1"/>
          </p:cNvSpPr>
          <p:nvPr/>
        </p:nvSpPr>
        <p:spPr bwMode="auto">
          <a:xfrm>
            <a:off x="7986714" y="1628776"/>
            <a:ext cx="5857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1</a:t>
            </a:r>
          </a:p>
        </p:txBody>
      </p:sp>
      <p:sp>
        <p:nvSpPr>
          <p:cNvPr id="27679" name="Text Box 31"/>
          <p:cNvSpPr txBox="1">
            <a:spLocks noChangeArrowheads="1"/>
          </p:cNvSpPr>
          <p:nvPr/>
        </p:nvSpPr>
        <p:spPr bwMode="auto">
          <a:xfrm>
            <a:off x="9382125" y="2438401"/>
            <a:ext cx="585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1</a:t>
            </a:r>
          </a:p>
        </p:txBody>
      </p:sp>
      <p:sp>
        <p:nvSpPr>
          <p:cNvPr id="27680" name="Text Box 32"/>
          <p:cNvSpPr txBox="1">
            <a:spLocks noChangeArrowheads="1"/>
          </p:cNvSpPr>
          <p:nvPr/>
        </p:nvSpPr>
        <p:spPr bwMode="auto">
          <a:xfrm>
            <a:off x="7400925" y="2528888"/>
            <a:ext cx="585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p>
        </p:txBody>
      </p:sp>
      <p:sp>
        <p:nvSpPr>
          <p:cNvPr id="27681" name="Text Box 33"/>
          <p:cNvSpPr txBox="1">
            <a:spLocks noChangeArrowheads="1"/>
          </p:cNvSpPr>
          <p:nvPr/>
        </p:nvSpPr>
        <p:spPr bwMode="auto">
          <a:xfrm>
            <a:off x="6051550" y="2214563"/>
            <a:ext cx="585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p>
        </p:txBody>
      </p:sp>
      <p:sp>
        <p:nvSpPr>
          <p:cNvPr id="27682" name="Text Box 34"/>
          <p:cNvSpPr txBox="1">
            <a:spLocks noChangeArrowheads="1"/>
          </p:cNvSpPr>
          <p:nvPr/>
        </p:nvSpPr>
        <p:spPr bwMode="auto">
          <a:xfrm>
            <a:off x="6410325" y="3654426"/>
            <a:ext cx="585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p>
        </p:txBody>
      </p:sp>
      <p:sp>
        <p:nvSpPr>
          <p:cNvPr id="27683" name="Text Box 35"/>
          <p:cNvSpPr txBox="1">
            <a:spLocks noChangeArrowheads="1"/>
          </p:cNvSpPr>
          <p:nvPr/>
        </p:nvSpPr>
        <p:spPr bwMode="auto">
          <a:xfrm>
            <a:off x="7805739" y="4464051"/>
            <a:ext cx="5857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p>
        </p:txBody>
      </p:sp>
      <p:sp>
        <p:nvSpPr>
          <p:cNvPr id="27684" name="Text Box 36"/>
          <p:cNvSpPr txBox="1">
            <a:spLocks noChangeArrowheads="1"/>
          </p:cNvSpPr>
          <p:nvPr/>
        </p:nvSpPr>
        <p:spPr bwMode="auto">
          <a:xfrm>
            <a:off x="8391525" y="3924301"/>
            <a:ext cx="5857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p>
        </p:txBody>
      </p:sp>
      <p:sp>
        <p:nvSpPr>
          <p:cNvPr id="27685" name="Text Box 37"/>
          <p:cNvSpPr txBox="1">
            <a:spLocks noChangeArrowheads="1"/>
          </p:cNvSpPr>
          <p:nvPr/>
        </p:nvSpPr>
        <p:spPr bwMode="auto">
          <a:xfrm>
            <a:off x="9966325" y="3473451"/>
            <a:ext cx="495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1</a:t>
            </a:r>
          </a:p>
        </p:txBody>
      </p:sp>
      <p:sp>
        <p:nvSpPr>
          <p:cNvPr id="27686" name="Text Box 38"/>
          <p:cNvSpPr txBox="1">
            <a:spLocks noChangeArrowheads="1"/>
          </p:cNvSpPr>
          <p:nvPr/>
        </p:nvSpPr>
        <p:spPr bwMode="auto">
          <a:xfrm>
            <a:off x="9471025" y="5454651"/>
            <a:ext cx="495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x</a:t>
            </a:r>
          </a:p>
        </p:txBody>
      </p:sp>
      <p:sp>
        <p:nvSpPr>
          <p:cNvPr id="27687" name="TextBox 38"/>
          <p:cNvSpPr txBox="1">
            <a:spLocks noChangeArrowheads="1"/>
          </p:cNvSpPr>
          <p:nvPr/>
        </p:nvSpPr>
        <p:spPr bwMode="auto">
          <a:xfrm>
            <a:off x="2000250" y="5543550"/>
            <a:ext cx="1709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t>作业：</a:t>
            </a:r>
            <a:r>
              <a:rPr lang="en-US" altLang="zh-CN" sz="1800"/>
              <a:t>1-3</a:t>
            </a:r>
            <a:endParaRPr lang="zh-CN" altLang="en-US"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6914" name="Rectangle 2"/>
          <p:cNvSpPr>
            <a:spLocks noChangeArrowheads="1"/>
          </p:cNvSpPr>
          <p:nvPr/>
        </p:nvSpPr>
        <p:spPr bwMode="auto">
          <a:xfrm>
            <a:off x="2360613" y="0"/>
            <a:ext cx="7239000" cy="571500"/>
          </a:xfrm>
          <a:prstGeom prst="rect">
            <a:avLst/>
          </a:prstGeom>
          <a:noFill/>
          <a:ln w="9525">
            <a:noFill/>
            <a:miter lim="800000"/>
            <a:headEnd/>
            <a:tailEnd/>
          </a:ln>
          <a:effectLst/>
        </p:spPr>
        <p:txBody>
          <a:bodyPr lIns="92075" tIns="46038" rIns="92075" bIns="46038" anchor="ctr"/>
          <a:lstStyle/>
          <a:p>
            <a:pPr algn="ctr" eaLnBrk="1" hangingPunct="1">
              <a:defRPr/>
            </a:pPr>
            <a:r>
              <a:rPr kumimoji="1" lang="zh-CN" altLang="en-US" sz="3600" dirty="0">
                <a:solidFill>
                  <a:srgbClr val="FF0000"/>
                </a:solidFill>
                <a:effectLst>
                  <a:outerShdw blurRad="38100" dist="38100" dir="2700000" algn="tl">
                    <a:srgbClr val="C0C0C0"/>
                  </a:outerShdw>
                </a:effectLst>
                <a:latin typeface="黑体" pitchFamily="2" charset="-122"/>
                <a:ea typeface="黑体" pitchFamily="2" charset="-122"/>
              </a:rPr>
              <a:t>电动势</a:t>
            </a:r>
          </a:p>
        </p:txBody>
      </p:sp>
      <p:sp>
        <p:nvSpPr>
          <p:cNvPr id="29699" name="Text Box 3"/>
          <p:cNvSpPr txBox="1">
            <a:spLocks noChangeArrowheads="1"/>
          </p:cNvSpPr>
          <p:nvPr/>
        </p:nvSpPr>
        <p:spPr bwMode="auto">
          <a:xfrm>
            <a:off x="754371" y="1984383"/>
            <a:ext cx="2632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一、非静电力</a:t>
            </a:r>
          </a:p>
        </p:txBody>
      </p:sp>
      <p:sp>
        <p:nvSpPr>
          <p:cNvPr id="29700" name="Text Box 4"/>
          <p:cNvSpPr txBox="1">
            <a:spLocks noChangeArrowheads="1"/>
          </p:cNvSpPr>
          <p:nvPr/>
        </p:nvSpPr>
        <p:spPr bwMode="auto">
          <a:xfrm>
            <a:off x="1100445" y="2517784"/>
            <a:ext cx="4451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凡电源内部都有非静电力；</a:t>
            </a:r>
          </a:p>
        </p:txBody>
      </p:sp>
      <p:sp>
        <p:nvSpPr>
          <p:cNvPr id="29701" name="Text Box 5"/>
          <p:cNvSpPr txBox="1">
            <a:spLocks noChangeArrowheads="1"/>
          </p:cNvSpPr>
          <p:nvPr/>
        </p:nvSpPr>
        <p:spPr bwMode="auto">
          <a:xfrm>
            <a:off x="1100445" y="3005146"/>
            <a:ext cx="7651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非静电力使正电荷由负极经电源内部到达正极。</a:t>
            </a:r>
          </a:p>
        </p:txBody>
      </p:sp>
      <p:graphicFrame>
        <p:nvGraphicFramePr>
          <p:cNvPr id="29702" name="Object 6"/>
          <p:cNvGraphicFramePr>
            <a:graphicFrameLocks noChangeAspect="1"/>
          </p:cNvGraphicFramePr>
          <p:nvPr>
            <p:extLst>
              <p:ext uri="{D42A27DB-BD31-4B8C-83A1-F6EECF244321}">
                <p14:modId xmlns:p14="http://schemas.microsoft.com/office/powerpoint/2010/main" val="1582511411"/>
              </p:ext>
            </p:extLst>
          </p:nvPr>
        </p:nvGraphicFramePr>
        <p:xfrm>
          <a:off x="2846696" y="3895733"/>
          <a:ext cx="1087437" cy="920750"/>
        </p:xfrm>
        <a:graphic>
          <a:graphicData uri="http://schemas.openxmlformats.org/presentationml/2006/ole">
            <mc:AlternateContent xmlns:mc="http://schemas.openxmlformats.org/markup-compatibility/2006">
              <mc:Choice xmlns:v="urn:schemas-microsoft-com:vml" Requires="v">
                <p:oleObj spid="_x0000_s29768" name="Equation" r:id="rId3" imgW="514388" imgH="419134" progId="Equation.DSMT4">
                  <p:embed/>
                </p:oleObj>
              </mc:Choice>
              <mc:Fallback>
                <p:oleObj name="Equation" r:id="rId3" imgW="514388" imgH="419134"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6696" y="3895733"/>
                        <a:ext cx="1087437"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3" name="Text Box 7"/>
          <p:cNvSpPr txBox="1">
            <a:spLocks noChangeArrowheads="1"/>
          </p:cNvSpPr>
          <p:nvPr/>
        </p:nvSpPr>
        <p:spPr bwMode="auto">
          <a:xfrm>
            <a:off x="1100445" y="4683134"/>
            <a:ext cx="4451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单位正电荷所受的非静电力</a:t>
            </a:r>
          </a:p>
        </p:txBody>
      </p:sp>
      <p:sp>
        <p:nvSpPr>
          <p:cNvPr id="29704" name="Text Box 8"/>
          <p:cNvSpPr txBox="1">
            <a:spLocks noChangeArrowheads="1"/>
          </p:cNvSpPr>
          <p:nvPr/>
        </p:nvSpPr>
        <p:spPr bwMode="auto">
          <a:xfrm>
            <a:off x="1100445" y="3462346"/>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引入：非静电力场强</a:t>
            </a:r>
          </a:p>
        </p:txBody>
      </p:sp>
      <p:sp>
        <p:nvSpPr>
          <p:cNvPr id="29705" name="Text Box 9"/>
          <p:cNvSpPr txBox="1">
            <a:spLocks noChangeArrowheads="1"/>
          </p:cNvSpPr>
          <p:nvPr/>
        </p:nvSpPr>
        <p:spPr bwMode="auto">
          <a:xfrm>
            <a:off x="857557" y="5184784"/>
            <a:ext cx="38924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a:solidFill>
                  <a:srgbClr val="0000FF"/>
                </a:solidFill>
                <a:latin typeface="Times New Roman" panose="02020603050405020304" pitchFamily="18" charset="0"/>
              </a:rPr>
              <a:t>普遍形式欧姆定律：</a:t>
            </a:r>
          </a:p>
        </p:txBody>
      </p:sp>
      <p:sp>
        <p:nvSpPr>
          <p:cNvPr id="29706" name="Rectangle 10"/>
          <p:cNvSpPr>
            <a:spLocks noChangeArrowheads="1"/>
          </p:cNvSpPr>
          <p:nvPr/>
        </p:nvSpPr>
        <p:spPr bwMode="auto">
          <a:xfrm>
            <a:off x="8421995" y="4493807"/>
            <a:ext cx="482600"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200" b="1">
                <a:solidFill>
                  <a:srgbClr val="0000FF"/>
                </a:solidFill>
                <a:latin typeface="Times New Roman" panose="02020603050405020304" pitchFamily="18" charset="0"/>
              </a:rPr>
              <a:t> </a:t>
            </a:r>
            <a:r>
              <a:rPr kumimoji="1" lang="en-US" altLang="zh-CN" sz="2600" b="1" i="1">
                <a:solidFill>
                  <a:srgbClr val="0000FF"/>
                </a:solidFill>
                <a:latin typeface="Times New Roman" panose="02020603050405020304" pitchFamily="18" charset="0"/>
                <a:sym typeface="Symbol" panose="05050102010706020507" pitchFamily="18" charset="2"/>
              </a:rPr>
              <a:t></a:t>
            </a:r>
            <a:endParaRPr kumimoji="1" lang="en-US" altLang="zh-CN" sz="1000" b="1">
              <a:solidFill>
                <a:srgbClr val="0000FF"/>
              </a:solidFill>
              <a:latin typeface="Times New Roman" panose="02020603050405020304" pitchFamily="18" charset="0"/>
            </a:endParaRPr>
          </a:p>
        </p:txBody>
      </p:sp>
      <p:sp>
        <p:nvSpPr>
          <p:cNvPr id="29707" name="Line 11"/>
          <p:cNvSpPr>
            <a:spLocks noChangeShapeType="1"/>
          </p:cNvSpPr>
          <p:nvPr/>
        </p:nvSpPr>
        <p:spPr bwMode="auto">
          <a:xfrm>
            <a:off x="8752195" y="3849282"/>
            <a:ext cx="2209800" cy="1587"/>
          </a:xfrm>
          <a:prstGeom prst="line">
            <a:avLst/>
          </a:prstGeom>
          <a:noFill/>
          <a:ln w="25400">
            <a:solidFill>
              <a:srgbClr val="80008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08" name="Line 12"/>
          <p:cNvSpPr>
            <a:spLocks noChangeShapeType="1"/>
          </p:cNvSpPr>
          <p:nvPr/>
        </p:nvSpPr>
        <p:spPr bwMode="auto">
          <a:xfrm>
            <a:off x="8498195" y="4471581"/>
            <a:ext cx="508000" cy="0"/>
          </a:xfrm>
          <a:prstGeom prst="line">
            <a:avLst/>
          </a:prstGeom>
          <a:noFill/>
          <a:ln w="25400">
            <a:solidFill>
              <a:schemeClr val="accent2"/>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09" name="Line 13"/>
          <p:cNvSpPr>
            <a:spLocks noChangeShapeType="1"/>
          </p:cNvSpPr>
          <p:nvPr/>
        </p:nvSpPr>
        <p:spPr bwMode="auto">
          <a:xfrm>
            <a:off x="8599795" y="4585881"/>
            <a:ext cx="304800" cy="0"/>
          </a:xfrm>
          <a:prstGeom prst="line">
            <a:avLst/>
          </a:prstGeom>
          <a:noFill/>
          <a:ln w="50800">
            <a:solidFill>
              <a:schemeClr val="accent2"/>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10" name="Line 14"/>
          <p:cNvSpPr>
            <a:spLocks noChangeShapeType="1"/>
          </p:cNvSpPr>
          <p:nvPr/>
        </p:nvSpPr>
        <p:spPr bwMode="auto">
          <a:xfrm>
            <a:off x="8752195" y="3849281"/>
            <a:ext cx="0" cy="622300"/>
          </a:xfrm>
          <a:prstGeom prst="line">
            <a:avLst/>
          </a:prstGeom>
          <a:noFill/>
          <a:ln w="25400">
            <a:solidFill>
              <a:srgbClr val="80008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11" name="Rectangle 15"/>
          <p:cNvSpPr>
            <a:spLocks noChangeArrowheads="1"/>
          </p:cNvSpPr>
          <p:nvPr/>
        </p:nvSpPr>
        <p:spPr bwMode="auto">
          <a:xfrm>
            <a:off x="10885795" y="4306482"/>
            <a:ext cx="152400" cy="509587"/>
          </a:xfrm>
          <a:prstGeom prst="rect">
            <a:avLst/>
          </a:prstGeom>
          <a:solidFill>
            <a:srgbClr val="FFFF00"/>
          </a:solidFill>
          <a:ln w="25400">
            <a:solidFill>
              <a:srgbClr val="80008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12" name="Line 16"/>
          <p:cNvSpPr>
            <a:spLocks noChangeShapeType="1"/>
          </p:cNvSpPr>
          <p:nvPr/>
        </p:nvSpPr>
        <p:spPr bwMode="auto">
          <a:xfrm>
            <a:off x="8752195" y="4611282"/>
            <a:ext cx="0" cy="738187"/>
          </a:xfrm>
          <a:prstGeom prst="line">
            <a:avLst/>
          </a:prstGeom>
          <a:noFill/>
          <a:ln w="25400">
            <a:solidFill>
              <a:srgbClr val="80008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13" name="Line 17"/>
          <p:cNvSpPr>
            <a:spLocks noChangeShapeType="1"/>
          </p:cNvSpPr>
          <p:nvPr/>
        </p:nvSpPr>
        <p:spPr bwMode="auto">
          <a:xfrm>
            <a:off x="10974695" y="4814482"/>
            <a:ext cx="0" cy="534987"/>
          </a:xfrm>
          <a:prstGeom prst="line">
            <a:avLst/>
          </a:prstGeom>
          <a:noFill/>
          <a:ln w="25400">
            <a:solidFill>
              <a:srgbClr val="80008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14" name="Line 18"/>
          <p:cNvSpPr>
            <a:spLocks noChangeShapeType="1"/>
          </p:cNvSpPr>
          <p:nvPr/>
        </p:nvSpPr>
        <p:spPr bwMode="auto">
          <a:xfrm>
            <a:off x="8752195" y="5365343"/>
            <a:ext cx="2209800" cy="1588"/>
          </a:xfrm>
          <a:prstGeom prst="line">
            <a:avLst/>
          </a:prstGeom>
          <a:noFill/>
          <a:ln w="25400">
            <a:solidFill>
              <a:srgbClr val="80008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15" name="Line 19"/>
          <p:cNvSpPr>
            <a:spLocks noChangeShapeType="1"/>
          </p:cNvSpPr>
          <p:nvPr/>
        </p:nvSpPr>
        <p:spPr bwMode="auto">
          <a:xfrm>
            <a:off x="10961995" y="3846106"/>
            <a:ext cx="0" cy="457200"/>
          </a:xfrm>
          <a:prstGeom prst="line">
            <a:avLst/>
          </a:prstGeom>
          <a:noFill/>
          <a:ln w="25400">
            <a:solidFill>
              <a:srgbClr val="800080"/>
            </a:solidFill>
            <a:round/>
            <a:headEnd type="non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16" name="Line 20"/>
          <p:cNvSpPr>
            <a:spLocks noChangeShapeType="1"/>
          </p:cNvSpPr>
          <p:nvPr/>
        </p:nvSpPr>
        <p:spPr bwMode="auto">
          <a:xfrm>
            <a:off x="9031595" y="4236631"/>
            <a:ext cx="0" cy="508000"/>
          </a:xfrm>
          <a:prstGeom prst="line">
            <a:avLst/>
          </a:prstGeom>
          <a:noFill/>
          <a:ln w="25400">
            <a:solidFill>
              <a:srgbClr val="FF00FF"/>
            </a:solidFill>
            <a:round/>
            <a:headEnd type="triangle" w="med" len="sm"/>
            <a:tailEnd type="none" w="med" len="sm"/>
          </a:ln>
          <a:extLst>
            <a:ext uri="{909E8E84-426E-40DD-AFC4-6F175D3DCCD1}">
              <a14:hiddenFill xmlns:a14="http://schemas.microsoft.com/office/drawing/2010/main">
                <a:noFill/>
              </a14:hiddenFill>
            </a:ext>
          </a:extLst>
        </p:spPr>
        <p:txBody>
          <a:bodyPr/>
          <a:lstStyle/>
          <a:p>
            <a:endParaRPr lang="zh-CN" altLang="en-US"/>
          </a:p>
        </p:txBody>
      </p:sp>
      <p:sp>
        <p:nvSpPr>
          <p:cNvPr id="29717" name="Rectangle 21"/>
          <p:cNvSpPr>
            <a:spLocks noChangeArrowheads="1"/>
          </p:cNvSpPr>
          <p:nvPr/>
        </p:nvSpPr>
        <p:spPr bwMode="auto">
          <a:xfrm>
            <a:off x="9120495" y="4235043"/>
            <a:ext cx="4953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200" b="1" i="1">
                <a:solidFill>
                  <a:srgbClr val="0000FF"/>
                </a:solidFill>
                <a:latin typeface="Times New Roman" panose="02020603050405020304" pitchFamily="18" charset="0"/>
              </a:rPr>
              <a:t>F</a:t>
            </a:r>
            <a:r>
              <a:rPr kumimoji="1" lang="zh-CN" altLang="en-US" sz="2200" b="1" baseline="-25000">
                <a:solidFill>
                  <a:srgbClr val="0000FF"/>
                </a:solidFill>
                <a:latin typeface="Times New Roman" panose="02020603050405020304" pitchFamily="18" charset="0"/>
              </a:rPr>
              <a:t>非</a:t>
            </a:r>
            <a:endParaRPr kumimoji="1" lang="zh-CN" altLang="en-US" sz="1000">
              <a:solidFill>
                <a:srgbClr val="0000FF"/>
              </a:solidFill>
              <a:latin typeface="Times New Roman" panose="02020603050405020304" pitchFamily="18" charset="0"/>
            </a:endParaRPr>
          </a:p>
        </p:txBody>
      </p:sp>
      <p:sp>
        <p:nvSpPr>
          <p:cNvPr id="29718" name="Line 22"/>
          <p:cNvSpPr>
            <a:spLocks noChangeShapeType="1"/>
          </p:cNvSpPr>
          <p:nvPr/>
        </p:nvSpPr>
        <p:spPr bwMode="auto">
          <a:xfrm>
            <a:off x="9177646" y="4257268"/>
            <a:ext cx="192087" cy="0"/>
          </a:xfrm>
          <a:prstGeom prst="line">
            <a:avLst/>
          </a:prstGeom>
          <a:noFill/>
          <a:ln w="9525">
            <a:solidFill>
              <a:srgbClr val="FF00FF"/>
            </a:solidFill>
            <a:round/>
            <a:headEnd type="none" w="med" len="sm"/>
            <a:tailEnd type="triangle" w="med" len="sm"/>
          </a:ln>
          <a:extLst>
            <a:ext uri="{909E8E84-426E-40DD-AFC4-6F175D3DCCD1}">
              <a14:hiddenFill xmlns:a14="http://schemas.microsoft.com/office/drawing/2010/main">
                <a:noFill/>
              </a14:hiddenFill>
            </a:ext>
          </a:extLst>
        </p:spPr>
        <p:txBody>
          <a:bodyPr/>
          <a:lstStyle/>
          <a:p>
            <a:endParaRPr lang="zh-CN" altLang="en-US"/>
          </a:p>
        </p:txBody>
      </p:sp>
      <p:sp>
        <p:nvSpPr>
          <p:cNvPr id="29719" name="Rectangle 23"/>
          <p:cNvSpPr>
            <a:spLocks noChangeArrowheads="1"/>
          </p:cNvSpPr>
          <p:nvPr/>
        </p:nvSpPr>
        <p:spPr bwMode="auto">
          <a:xfrm>
            <a:off x="11101695" y="4349343"/>
            <a:ext cx="444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i="1">
                <a:solidFill>
                  <a:srgbClr val="0000FF"/>
                </a:solidFill>
                <a:latin typeface="Times New Roman" panose="02020603050405020304" pitchFamily="18" charset="0"/>
              </a:rPr>
              <a:t>R</a:t>
            </a:r>
            <a:endParaRPr kumimoji="1" lang="en-US" altLang="zh-CN" sz="1000">
              <a:solidFill>
                <a:srgbClr val="0000FF"/>
              </a:solidFill>
              <a:latin typeface="Times New Roman" panose="02020603050405020304" pitchFamily="18" charset="0"/>
            </a:endParaRPr>
          </a:p>
        </p:txBody>
      </p:sp>
      <p:sp>
        <p:nvSpPr>
          <p:cNvPr id="29720" name="Line 24"/>
          <p:cNvSpPr>
            <a:spLocks noChangeShapeType="1"/>
          </p:cNvSpPr>
          <p:nvPr/>
        </p:nvSpPr>
        <p:spPr bwMode="auto">
          <a:xfrm>
            <a:off x="9425295" y="3731806"/>
            <a:ext cx="520700" cy="0"/>
          </a:xfrm>
          <a:prstGeom prst="line">
            <a:avLst/>
          </a:prstGeom>
          <a:noFill/>
          <a:ln w="254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9721" name="Rectangle 25"/>
          <p:cNvSpPr>
            <a:spLocks noChangeArrowheads="1"/>
          </p:cNvSpPr>
          <p:nvPr/>
        </p:nvSpPr>
        <p:spPr bwMode="auto">
          <a:xfrm>
            <a:off x="10466695" y="3536544"/>
            <a:ext cx="3429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1800" b="1" i="1">
                <a:solidFill>
                  <a:srgbClr val="0000FF"/>
                </a:solidFill>
                <a:latin typeface="Times New Roman" panose="02020603050405020304" pitchFamily="18" charset="0"/>
              </a:rPr>
              <a:t>I</a:t>
            </a:r>
            <a:endParaRPr kumimoji="1" lang="en-US" altLang="zh-CN" sz="1800">
              <a:solidFill>
                <a:srgbClr val="0000FF"/>
              </a:solidFill>
              <a:latin typeface="Times New Roman" panose="02020603050405020304" pitchFamily="18" charset="0"/>
            </a:endParaRPr>
          </a:p>
        </p:txBody>
      </p:sp>
      <p:graphicFrame>
        <p:nvGraphicFramePr>
          <p:cNvPr id="29722" name="Object 26"/>
          <p:cNvGraphicFramePr>
            <a:graphicFrameLocks noChangeAspect="1"/>
          </p:cNvGraphicFramePr>
          <p:nvPr>
            <p:extLst>
              <p:ext uri="{D42A27DB-BD31-4B8C-83A1-F6EECF244321}">
                <p14:modId xmlns:p14="http://schemas.microsoft.com/office/powerpoint/2010/main" val="156027699"/>
              </p:ext>
            </p:extLst>
          </p:nvPr>
        </p:nvGraphicFramePr>
        <p:xfrm>
          <a:off x="1635433" y="5940434"/>
          <a:ext cx="1704975" cy="473075"/>
        </p:xfrm>
        <a:graphic>
          <a:graphicData uri="http://schemas.openxmlformats.org/presentationml/2006/ole">
            <mc:AlternateContent xmlns:mc="http://schemas.openxmlformats.org/markup-compatibility/2006">
              <mc:Choice xmlns:v="urn:schemas-microsoft-com:vml" Requires="v">
                <p:oleObj spid="_x0000_s29769" name="Equation" r:id="rId5" imgW="828771" imgH="190432" progId="Equation.DSMT4">
                  <p:embed/>
                </p:oleObj>
              </mc:Choice>
              <mc:Fallback>
                <p:oleObj name="Equation" r:id="rId5" imgW="828771" imgH="190432" progId="Equation.DSMT4">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5433" y="5940434"/>
                        <a:ext cx="170497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3" name="Text Box 3"/>
          <p:cNvSpPr txBox="1">
            <a:spLocks noChangeArrowheads="1"/>
          </p:cNvSpPr>
          <p:nvPr/>
        </p:nvSpPr>
        <p:spPr bwMode="auto">
          <a:xfrm>
            <a:off x="110335" y="741973"/>
            <a:ext cx="1208166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b="1" dirty="0">
                <a:solidFill>
                  <a:srgbClr val="0000FF"/>
                </a:solidFill>
                <a:latin typeface="Times New Roman" panose="02020603050405020304" pitchFamily="18" charset="0"/>
              </a:rPr>
              <a:t>仅静电力不能维持稳恒电流　（电容放电）</a:t>
            </a:r>
            <a:endParaRPr kumimoji="1" lang="en-US" altLang="zh-CN" b="1" dirty="0">
              <a:solidFill>
                <a:srgbClr val="0000FF"/>
              </a:solidFill>
              <a:latin typeface="Times New Roman" panose="02020603050405020304" pitchFamily="18" charset="0"/>
            </a:endParaRPr>
          </a:p>
          <a:p>
            <a:pPr eaLnBrk="1" hangingPunct="1">
              <a:spcBef>
                <a:spcPct val="0"/>
              </a:spcBef>
              <a:buFontTx/>
              <a:buNone/>
            </a:pPr>
            <a:r>
              <a:rPr kumimoji="1" lang="zh-CN" altLang="en-US" b="1" dirty="0">
                <a:solidFill>
                  <a:srgbClr val="0000FF"/>
                </a:solidFill>
                <a:latin typeface="Times New Roman" panose="02020603050405020304" pitchFamily="18" charset="0"/>
              </a:rPr>
              <a:t>电源：提供非静电的外加力，将正电荷从低电位经内部移到高电位</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802395" y="2820575"/>
            <a:ext cx="110886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把单位正电荷经电源内部由负极移向正极过程中，非静电力所作的功</a:t>
            </a:r>
          </a:p>
        </p:txBody>
      </p:sp>
      <p:graphicFrame>
        <p:nvGraphicFramePr>
          <p:cNvPr id="30723" name="Object 3"/>
          <p:cNvGraphicFramePr>
            <a:graphicFrameLocks noChangeAspect="1"/>
          </p:cNvGraphicFramePr>
          <p:nvPr>
            <p:extLst>
              <p:ext uri="{D42A27DB-BD31-4B8C-83A1-F6EECF244321}">
                <p14:modId xmlns:p14="http://schemas.microsoft.com/office/powerpoint/2010/main" val="2494466330"/>
              </p:ext>
            </p:extLst>
          </p:nvPr>
        </p:nvGraphicFramePr>
        <p:xfrm>
          <a:off x="3412245" y="3728626"/>
          <a:ext cx="1658938" cy="841375"/>
        </p:xfrm>
        <a:graphic>
          <a:graphicData uri="http://schemas.openxmlformats.org/presentationml/2006/ole">
            <mc:AlternateContent xmlns:mc="http://schemas.openxmlformats.org/markup-compatibility/2006">
              <mc:Choice xmlns:v="urn:schemas-microsoft-com:vml" Requires="v">
                <p:oleObj spid="_x0000_s30819" name="Equation" r:id="rId3" imgW="800024" imgH="380864" progId="Equation.DSMT4">
                  <p:embed/>
                </p:oleObj>
              </mc:Choice>
              <mc:Fallback>
                <p:oleObj name="Equation" r:id="rId3" imgW="800024" imgH="380864"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2245" y="3728626"/>
                        <a:ext cx="1658938"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4" name="Text Box 4"/>
          <p:cNvSpPr txBox="1">
            <a:spLocks noChangeArrowheads="1"/>
          </p:cNvSpPr>
          <p:nvPr/>
        </p:nvSpPr>
        <p:spPr bwMode="auto">
          <a:xfrm>
            <a:off x="875420" y="4554125"/>
            <a:ext cx="65357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若电动势存在于整个电流回路</a:t>
            </a:r>
            <a:r>
              <a:rPr kumimoji="1" lang="en-US" altLang="zh-CN" sz="2800">
                <a:solidFill>
                  <a:srgbClr val="0000FF"/>
                </a:solidFill>
                <a:latin typeface="Times New Roman" panose="02020603050405020304" pitchFamily="18" charset="0"/>
              </a:rPr>
              <a:t>L </a:t>
            </a:r>
            <a:r>
              <a:rPr kumimoji="1" lang="zh-CN" altLang="en-US" sz="2800">
                <a:solidFill>
                  <a:srgbClr val="0000FF"/>
                </a:solidFill>
                <a:latin typeface="Times New Roman" panose="02020603050405020304" pitchFamily="18" charset="0"/>
              </a:rPr>
              <a:t>，</a:t>
            </a:r>
            <a:r>
              <a:rPr kumimoji="1" lang="zh-CN" altLang="zh-CN" sz="2800">
                <a:solidFill>
                  <a:srgbClr val="0000FF"/>
                </a:solidFill>
                <a:latin typeface="Times New Roman" panose="02020603050405020304" pitchFamily="18" charset="0"/>
              </a:rPr>
              <a:t>可写作</a:t>
            </a:r>
            <a:endParaRPr kumimoji="1" lang="zh-CN" altLang="en-US" sz="2800">
              <a:solidFill>
                <a:srgbClr val="0000FF"/>
              </a:solidFill>
              <a:latin typeface="Times New Roman" panose="02020603050405020304" pitchFamily="18" charset="0"/>
            </a:endParaRPr>
          </a:p>
        </p:txBody>
      </p:sp>
      <p:graphicFrame>
        <p:nvGraphicFramePr>
          <p:cNvPr id="30725" name="Object 5"/>
          <p:cNvGraphicFramePr>
            <a:graphicFrameLocks noChangeAspect="1"/>
          </p:cNvGraphicFramePr>
          <p:nvPr>
            <p:extLst>
              <p:ext uri="{D42A27DB-BD31-4B8C-83A1-F6EECF244321}">
                <p14:modId xmlns:p14="http://schemas.microsoft.com/office/powerpoint/2010/main" val="3753390528"/>
              </p:ext>
            </p:extLst>
          </p:nvPr>
        </p:nvGraphicFramePr>
        <p:xfrm>
          <a:off x="3296359" y="5455825"/>
          <a:ext cx="1658937" cy="595312"/>
        </p:xfrm>
        <a:graphic>
          <a:graphicData uri="http://schemas.openxmlformats.org/presentationml/2006/ole">
            <mc:AlternateContent xmlns:mc="http://schemas.openxmlformats.org/markup-compatibility/2006">
              <mc:Choice xmlns:v="urn:schemas-microsoft-com:vml" Requires="v">
                <p:oleObj spid="_x0000_s30820" name="Equation" r:id="rId5" imgW="800024" imgH="257175" progId="Equation.DSMT4">
                  <p:embed/>
                </p:oleObj>
              </mc:Choice>
              <mc:Fallback>
                <p:oleObj name="Equation" r:id="rId5" imgW="800024" imgH="257175"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6359" y="5455825"/>
                        <a:ext cx="1658937"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6" name="Text Box 6"/>
          <p:cNvSpPr txBox="1">
            <a:spLocks noChangeArrowheads="1"/>
          </p:cNvSpPr>
          <p:nvPr/>
        </p:nvSpPr>
        <p:spPr bwMode="auto">
          <a:xfrm>
            <a:off x="802395" y="471075"/>
            <a:ext cx="79184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把电荷</a:t>
            </a:r>
            <a:r>
              <a:rPr kumimoji="1" lang="en-US" altLang="zh-CN" sz="2800">
                <a:solidFill>
                  <a:srgbClr val="0000FF"/>
                </a:solidFill>
                <a:latin typeface="Times New Roman" panose="02020603050405020304" pitchFamily="18" charset="0"/>
              </a:rPr>
              <a:t>q </a:t>
            </a:r>
            <a:r>
              <a:rPr kumimoji="1" lang="zh-CN" altLang="zh-CN" sz="2800">
                <a:solidFill>
                  <a:srgbClr val="0000FF"/>
                </a:solidFill>
                <a:latin typeface="Times New Roman" panose="02020603050405020304" pitchFamily="18" charset="0"/>
              </a:rPr>
              <a:t>由负极移向正极（经电源内部）非静电力</a:t>
            </a:r>
            <a:endParaRPr kumimoji="1" lang="zh-CN" altLang="en-US" sz="2800">
              <a:solidFill>
                <a:srgbClr val="0000FF"/>
              </a:solidFill>
              <a:latin typeface="Times New Roman" panose="02020603050405020304" pitchFamily="18" charset="0"/>
            </a:endParaRPr>
          </a:p>
          <a:p>
            <a:pPr eaLnBrk="1" hangingPunct="1">
              <a:spcBef>
                <a:spcPct val="0"/>
              </a:spcBef>
              <a:buFontTx/>
              <a:buNone/>
            </a:pPr>
            <a:r>
              <a:rPr kumimoji="1" lang="zh-CN" altLang="zh-CN" sz="2800">
                <a:solidFill>
                  <a:srgbClr val="0000FF"/>
                </a:solidFill>
                <a:latin typeface="Times New Roman" panose="02020603050405020304" pitchFamily="18" charset="0"/>
              </a:rPr>
              <a:t>作功</a:t>
            </a:r>
            <a:endParaRPr kumimoji="1" lang="zh-CN" altLang="en-US" sz="2800">
              <a:solidFill>
                <a:srgbClr val="0000FF"/>
              </a:solidFill>
              <a:latin typeface="Times New Roman" panose="02020603050405020304" pitchFamily="18" charset="0"/>
            </a:endParaRPr>
          </a:p>
        </p:txBody>
      </p:sp>
      <p:graphicFrame>
        <p:nvGraphicFramePr>
          <p:cNvPr id="30727" name="Object 7"/>
          <p:cNvGraphicFramePr>
            <a:graphicFrameLocks noChangeAspect="1"/>
          </p:cNvGraphicFramePr>
          <p:nvPr>
            <p:extLst>
              <p:ext uri="{D42A27DB-BD31-4B8C-83A1-F6EECF244321}">
                <p14:modId xmlns:p14="http://schemas.microsoft.com/office/powerpoint/2010/main" val="4267841431"/>
              </p:ext>
            </p:extLst>
          </p:nvPr>
        </p:nvGraphicFramePr>
        <p:xfrm>
          <a:off x="1800934" y="988601"/>
          <a:ext cx="3692525" cy="841375"/>
        </p:xfrm>
        <a:graphic>
          <a:graphicData uri="http://schemas.openxmlformats.org/presentationml/2006/ole">
            <mc:AlternateContent xmlns:mc="http://schemas.openxmlformats.org/markup-compatibility/2006">
              <mc:Choice xmlns:v="urn:schemas-microsoft-com:vml" Requires="v">
                <p:oleObj spid="_x0000_s30821" name="Equation" r:id="rId7" imgW="1847761" imgH="380864" progId="Equation.DSMT4">
                  <p:embed/>
                </p:oleObj>
              </mc:Choice>
              <mc:Fallback>
                <p:oleObj name="Equation" r:id="rId7" imgW="1847761" imgH="380864"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0934" y="988601"/>
                        <a:ext cx="3692525"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8" name="Text Box 8"/>
          <p:cNvSpPr txBox="1">
            <a:spLocks noChangeArrowheads="1"/>
          </p:cNvSpPr>
          <p:nvPr/>
        </p:nvSpPr>
        <p:spPr bwMode="auto">
          <a:xfrm>
            <a:off x="1100845" y="1918875"/>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电动势</a:t>
            </a:r>
          </a:p>
        </p:txBody>
      </p:sp>
      <p:graphicFrame>
        <p:nvGraphicFramePr>
          <p:cNvPr id="30729" name="Object 9"/>
          <p:cNvGraphicFramePr>
            <a:graphicFrameLocks noChangeAspect="1"/>
          </p:cNvGraphicFramePr>
          <p:nvPr>
            <p:extLst>
              <p:ext uri="{D42A27DB-BD31-4B8C-83A1-F6EECF244321}">
                <p14:modId xmlns:p14="http://schemas.microsoft.com/office/powerpoint/2010/main" val="1346529914"/>
              </p:ext>
            </p:extLst>
          </p:nvPr>
        </p:nvGraphicFramePr>
        <p:xfrm>
          <a:off x="2624845" y="1771238"/>
          <a:ext cx="992188" cy="842963"/>
        </p:xfrm>
        <a:graphic>
          <a:graphicData uri="http://schemas.openxmlformats.org/presentationml/2006/ole">
            <mc:AlternateContent xmlns:mc="http://schemas.openxmlformats.org/markup-compatibility/2006">
              <mc:Choice xmlns:v="urn:schemas-microsoft-com:vml" Requires="v">
                <p:oleObj spid="_x0000_s30822" name="公式" r:id="rId9" imgW="457200" imgH="380864" progId="Equation.3">
                  <p:embed/>
                </p:oleObj>
              </mc:Choice>
              <mc:Fallback>
                <p:oleObj name="公式" r:id="rId9" imgW="457200" imgH="380864"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4845" y="1771238"/>
                        <a:ext cx="992188" cy="842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30" name="Text Box 10"/>
          <p:cNvSpPr txBox="1">
            <a:spLocks noChangeArrowheads="1"/>
          </p:cNvSpPr>
          <p:nvPr/>
        </p:nvSpPr>
        <p:spPr bwMode="auto">
          <a:xfrm>
            <a:off x="5568070" y="3700050"/>
            <a:ext cx="2565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单位：伏特</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1746" name="Object 2"/>
          <p:cNvGraphicFramePr>
            <a:graphicFrameLocks noChangeAspect="1"/>
          </p:cNvGraphicFramePr>
          <p:nvPr/>
        </p:nvGraphicFramePr>
        <p:xfrm>
          <a:off x="4475163" y="4014789"/>
          <a:ext cx="1287462" cy="346075"/>
        </p:xfrm>
        <a:graphic>
          <a:graphicData uri="http://schemas.openxmlformats.org/presentationml/2006/ole">
            <mc:AlternateContent xmlns:mc="http://schemas.openxmlformats.org/markup-compatibility/2006">
              <mc:Choice xmlns:v="urn:schemas-microsoft-com:vml" Requires="v">
                <p:oleObj spid="_x0000_s31890" name="Equation" r:id="rId3" imgW="609498" imgH="133486" progId="Equation.DSMT4">
                  <p:embed/>
                </p:oleObj>
              </mc:Choice>
              <mc:Fallback>
                <p:oleObj name="Equation" r:id="rId3" imgW="609498" imgH="133486"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5163" y="4014789"/>
                        <a:ext cx="128746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7" name="Object 3"/>
          <p:cNvGraphicFramePr>
            <a:graphicFrameLocks noChangeAspect="1"/>
          </p:cNvGraphicFramePr>
          <p:nvPr/>
        </p:nvGraphicFramePr>
        <p:xfrm>
          <a:off x="4295776" y="4914901"/>
          <a:ext cx="1287463" cy="347663"/>
        </p:xfrm>
        <a:graphic>
          <a:graphicData uri="http://schemas.openxmlformats.org/presentationml/2006/ole">
            <mc:AlternateContent xmlns:mc="http://schemas.openxmlformats.org/markup-compatibility/2006">
              <mc:Choice xmlns:v="urn:schemas-microsoft-com:vml" Requires="v">
                <p:oleObj spid="_x0000_s31891" name="Equation" r:id="rId5" imgW="609498" imgH="133486" progId="Equation.DSMT4">
                  <p:embed/>
                </p:oleObj>
              </mc:Choice>
              <mc:Fallback>
                <p:oleObj name="Equation" r:id="rId5" imgW="609498" imgH="133486"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6" y="4914901"/>
                        <a:ext cx="1287463"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8" name="Text Box 4"/>
          <p:cNvSpPr txBox="1">
            <a:spLocks noChangeArrowheads="1"/>
          </p:cNvSpPr>
          <p:nvPr/>
        </p:nvSpPr>
        <p:spPr bwMode="auto">
          <a:xfrm>
            <a:off x="2139950" y="582613"/>
            <a:ext cx="196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路端电压：</a:t>
            </a:r>
          </a:p>
        </p:txBody>
      </p:sp>
      <p:graphicFrame>
        <p:nvGraphicFramePr>
          <p:cNvPr id="31749" name="Object 5"/>
          <p:cNvGraphicFramePr>
            <a:graphicFrameLocks noChangeAspect="1"/>
          </p:cNvGraphicFramePr>
          <p:nvPr/>
        </p:nvGraphicFramePr>
        <p:xfrm>
          <a:off x="4251326" y="1089025"/>
          <a:ext cx="1560513" cy="446088"/>
        </p:xfrm>
        <a:graphic>
          <a:graphicData uri="http://schemas.openxmlformats.org/presentationml/2006/ole">
            <mc:AlternateContent xmlns:mc="http://schemas.openxmlformats.org/markup-compatibility/2006">
              <mc:Choice xmlns:v="urn:schemas-microsoft-com:vml" Requires="v">
                <p:oleObj spid="_x0000_s31892" name="Equation" r:id="rId7" imgW="752622" imgH="180941" progId="Equation.DSMT4">
                  <p:embed/>
                </p:oleObj>
              </mc:Choice>
              <mc:Fallback>
                <p:oleObj name="Equation" r:id="rId7" imgW="752622" imgH="180941"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1326" y="1089025"/>
                        <a:ext cx="15605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0" name="Text Box 6"/>
          <p:cNvSpPr txBox="1">
            <a:spLocks noChangeArrowheads="1"/>
          </p:cNvSpPr>
          <p:nvPr/>
        </p:nvSpPr>
        <p:spPr bwMode="auto">
          <a:xfrm>
            <a:off x="2270125" y="1854201"/>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断路：</a:t>
            </a:r>
          </a:p>
        </p:txBody>
      </p:sp>
      <p:graphicFrame>
        <p:nvGraphicFramePr>
          <p:cNvPr id="31751" name="Object 7"/>
          <p:cNvGraphicFramePr>
            <a:graphicFrameLocks noChangeAspect="1"/>
          </p:cNvGraphicFramePr>
          <p:nvPr/>
        </p:nvGraphicFramePr>
        <p:xfrm>
          <a:off x="3486150" y="1763714"/>
          <a:ext cx="4243388" cy="917575"/>
        </p:xfrm>
        <a:graphic>
          <a:graphicData uri="http://schemas.openxmlformats.org/presentationml/2006/ole">
            <mc:AlternateContent xmlns:mc="http://schemas.openxmlformats.org/markup-compatibility/2006">
              <mc:Choice xmlns:v="urn:schemas-microsoft-com:vml" Requires="v">
                <p:oleObj spid="_x0000_s31893" name="Equation" r:id="rId9" imgW="2124222" imgH="419134" progId="Equation.DSMT4">
                  <p:embed/>
                </p:oleObj>
              </mc:Choice>
              <mc:Fallback>
                <p:oleObj name="Equation" r:id="rId9" imgW="2124222" imgH="419134"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86150" y="1763714"/>
                        <a:ext cx="4243388"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2" name="Text Box 8"/>
          <p:cNvSpPr txBox="1">
            <a:spLocks noChangeArrowheads="1"/>
          </p:cNvSpPr>
          <p:nvPr/>
        </p:nvSpPr>
        <p:spPr bwMode="auto">
          <a:xfrm>
            <a:off x="2181225" y="2798763"/>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放电：</a:t>
            </a:r>
          </a:p>
        </p:txBody>
      </p:sp>
      <p:graphicFrame>
        <p:nvGraphicFramePr>
          <p:cNvPr id="31753" name="Object 9"/>
          <p:cNvGraphicFramePr>
            <a:graphicFrameLocks noChangeAspect="1"/>
          </p:cNvGraphicFramePr>
          <p:nvPr/>
        </p:nvGraphicFramePr>
        <p:xfrm>
          <a:off x="4310064" y="2946401"/>
          <a:ext cx="1360487" cy="815975"/>
        </p:xfrm>
        <a:graphic>
          <a:graphicData uri="http://schemas.openxmlformats.org/presentationml/2006/ole">
            <mc:AlternateContent xmlns:mc="http://schemas.openxmlformats.org/markup-compatibility/2006">
              <mc:Choice xmlns:v="urn:schemas-microsoft-com:vml" Requires="v">
                <p:oleObj spid="_x0000_s31894" name="Equation" r:id="rId11" imgW="647725" imgH="371373" progId="Equation.DSMT4">
                  <p:embed/>
                </p:oleObj>
              </mc:Choice>
              <mc:Fallback>
                <p:oleObj name="Equation" r:id="rId11" imgW="647725" imgH="371373"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10064" y="2946401"/>
                        <a:ext cx="1360487"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4" name="Text Box 10"/>
          <p:cNvSpPr txBox="1">
            <a:spLocks noChangeArrowheads="1"/>
          </p:cNvSpPr>
          <p:nvPr/>
        </p:nvSpPr>
        <p:spPr bwMode="auto">
          <a:xfrm>
            <a:off x="2090738" y="4554538"/>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a:solidFill>
                  <a:srgbClr val="0000FF"/>
                </a:solidFill>
                <a:latin typeface="Times New Roman" panose="02020603050405020304" pitchFamily="18" charset="0"/>
              </a:rPr>
              <a:t>充电：</a:t>
            </a:r>
          </a:p>
        </p:txBody>
      </p:sp>
      <p:graphicFrame>
        <p:nvGraphicFramePr>
          <p:cNvPr id="31755" name="Object 11"/>
          <p:cNvGraphicFramePr>
            <a:graphicFrameLocks noChangeAspect="1"/>
          </p:cNvGraphicFramePr>
          <p:nvPr/>
        </p:nvGraphicFramePr>
        <p:xfrm>
          <a:off x="6508751" y="4014789"/>
          <a:ext cx="1362075" cy="346075"/>
        </p:xfrm>
        <a:graphic>
          <a:graphicData uri="http://schemas.openxmlformats.org/presentationml/2006/ole">
            <mc:AlternateContent xmlns:mc="http://schemas.openxmlformats.org/markup-compatibility/2006">
              <mc:Choice xmlns:v="urn:schemas-microsoft-com:vml" Requires="v">
                <p:oleObj spid="_x0000_s31895" name="Equation" r:id="rId13" imgW="647725" imgH="133486" progId="Equation.DSMT4">
                  <p:embed/>
                </p:oleObj>
              </mc:Choice>
              <mc:Fallback>
                <p:oleObj name="Equation" r:id="rId13" imgW="647725" imgH="133486"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08751" y="4014789"/>
                        <a:ext cx="1362075"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6" name="Text Box 12"/>
          <p:cNvSpPr txBox="1">
            <a:spLocks noChangeArrowheads="1"/>
          </p:cNvSpPr>
          <p:nvPr/>
        </p:nvSpPr>
        <p:spPr bwMode="auto">
          <a:xfrm>
            <a:off x="1190455" y="5627687"/>
            <a:ext cx="10145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dirty="0">
                <a:solidFill>
                  <a:srgbClr val="0000FF"/>
                </a:solidFill>
                <a:latin typeface="Times New Roman" panose="02020603050405020304" pitchFamily="18" charset="0"/>
              </a:rPr>
              <a:t>例：</a:t>
            </a:r>
            <a:r>
              <a:rPr kumimoji="1" lang="en-US" altLang="zh-CN" sz="2800" dirty="0">
                <a:solidFill>
                  <a:srgbClr val="0000FF"/>
                </a:solidFill>
                <a:latin typeface="Times New Roman" panose="02020603050405020304" pitchFamily="18" charset="0"/>
              </a:rPr>
              <a:t>20A</a:t>
            </a:r>
            <a:r>
              <a:rPr kumimoji="1" lang="zh-CN" altLang="en-US" sz="2800" dirty="0">
                <a:solidFill>
                  <a:srgbClr val="0000FF"/>
                </a:solidFill>
                <a:latin typeface="Times New Roman" panose="02020603050405020304" pitchFamily="18" charset="0"/>
              </a:rPr>
              <a:t>充电，</a:t>
            </a:r>
            <a:r>
              <a:rPr kumimoji="1" lang="en-US" altLang="zh-CN" sz="2800" dirty="0">
                <a:solidFill>
                  <a:srgbClr val="0000FF"/>
                </a:solidFill>
                <a:latin typeface="Times New Roman" panose="02020603050405020304" pitchFamily="18" charset="0"/>
              </a:rPr>
              <a:t>U1</a:t>
            </a:r>
            <a:r>
              <a:rPr kumimoji="1" lang="zh-CN" altLang="en-US" sz="2800" dirty="0">
                <a:solidFill>
                  <a:srgbClr val="0000FF"/>
                </a:solidFill>
                <a:latin typeface="Times New Roman" panose="02020603050405020304" pitchFamily="18" charset="0"/>
              </a:rPr>
              <a:t>＝</a:t>
            </a:r>
            <a:r>
              <a:rPr kumimoji="1" lang="en-US" altLang="zh-CN" sz="2800" dirty="0">
                <a:solidFill>
                  <a:srgbClr val="0000FF"/>
                </a:solidFill>
                <a:latin typeface="Times New Roman" panose="02020603050405020304" pitchFamily="18" charset="0"/>
              </a:rPr>
              <a:t>2.30V</a:t>
            </a:r>
            <a:r>
              <a:rPr kumimoji="1" lang="zh-CN" altLang="en-US" sz="2800" dirty="0">
                <a:solidFill>
                  <a:srgbClr val="0000FF"/>
                </a:solidFill>
                <a:latin typeface="Times New Roman" panose="02020603050405020304" pitchFamily="18" charset="0"/>
              </a:rPr>
              <a:t>；</a:t>
            </a:r>
            <a:r>
              <a:rPr kumimoji="1" lang="en-US" altLang="zh-CN" sz="2800" dirty="0">
                <a:solidFill>
                  <a:srgbClr val="0000FF"/>
                </a:solidFill>
                <a:latin typeface="Times New Roman" panose="02020603050405020304" pitchFamily="18" charset="0"/>
              </a:rPr>
              <a:t>12A</a:t>
            </a:r>
            <a:r>
              <a:rPr kumimoji="1" lang="zh-CN" altLang="en-US" sz="2800" dirty="0">
                <a:solidFill>
                  <a:srgbClr val="0000FF"/>
                </a:solidFill>
                <a:latin typeface="Times New Roman" panose="02020603050405020304" pitchFamily="18" charset="0"/>
              </a:rPr>
              <a:t>放电</a:t>
            </a:r>
            <a:r>
              <a:rPr kumimoji="1" lang="en-US" altLang="zh-CN" sz="2800" dirty="0">
                <a:solidFill>
                  <a:srgbClr val="0000FF"/>
                </a:solidFill>
                <a:latin typeface="Times New Roman" panose="02020603050405020304" pitchFamily="18" charset="0"/>
              </a:rPr>
              <a:t>,U2=1.98V,</a:t>
            </a:r>
            <a:r>
              <a:rPr kumimoji="1" lang="zh-CN" altLang="en-US" sz="2800" dirty="0">
                <a:solidFill>
                  <a:srgbClr val="0000FF"/>
                </a:solidFill>
                <a:latin typeface="Times New Roman" panose="02020603050405020304" pitchFamily="18" charset="0"/>
              </a:rPr>
              <a:t>求电动势，内阻。</a:t>
            </a:r>
          </a:p>
        </p:txBody>
      </p:sp>
      <p:pic>
        <p:nvPicPr>
          <p:cNvPr id="13" name="Picture 5" descr="Pict004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761288" y="188913"/>
            <a:ext cx="253365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133600" y="301625"/>
            <a:ext cx="7772400" cy="990600"/>
          </a:xfrm>
        </p:spPr>
        <p:txBody>
          <a:bodyPr/>
          <a:lstStyle/>
          <a:p>
            <a:pPr eaLnBrk="1" hangingPunct="1">
              <a:lnSpc>
                <a:spcPct val="80000"/>
              </a:lnSpc>
            </a:pPr>
            <a:r>
              <a:rPr lang="zh-CN" altLang="en-US" sz="3600" b="1">
                <a:solidFill>
                  <a:srgbClr val="0000FF"/>
                </a:solidFill>
                <a:latin typeface="宋体" panose="02010600030101010101" pitchFamily="2" charset="-122"/>
              </a:rPr>
              <a:t>一、化学电池</a:t>
            </a:r>
            <a:br>
              <a:rPr lang="zh-CN" altLang="en-US" sz="3600" b="1">
                <a:solidFill>
                  <a:srgbClr val="0000FF"/>
                </a:solidFill>
                <a:latin typeface="宋体" panose="02010600030101010101" pitchFamily="2" charset="-122"/>
              </a:rPr>
            </a:br>
            <a:r>
              <a:rPr lang="zh-CN" altLang="en-US" sz="4000" b="1">
                <a:solidFill>
                  <a:srgbClr val="0000FF"/>
                </a:solidFill>
                <a:latin typeface="宋体" panose="02010600030101010101" pitchFamily="2" charset="-122"/>
              </a:rPr>
              <a:t> </a:t>
            </a:r>
            <a:r>
              <a:rPr lang="en-US" altLang="zh-CN" sz="2800">
                <a:solidFill>
                  <a:schemeClr val="folHlink"/>
                </a:solidFill>
                <a:latin typeface="Times New Roman" panose="02020603050405020304" pitchFamily="18" charset="0"/>
              </a:rPr>
              <a:t>chemical cell</a:t>
            </a:r>
          </a:p>
        </p:txBody>
      </p:sp>
      <p:sp>
        <p:nvSpPr>
          <p:cNvPr id="32771" name="Text Box 3"/>
          <p:cNvSpPr txBox="1">
            <a:spLocks noChangeArrowheads="1"/>
          </p:cNvSpPr>
          <p:nvPr/>
        </p:nvSpPr>
        <p:spPr bwMode="auto">
          <a:xfrm>
            <a:off x="380365" y="1538790"/>
            <a:ext cx="6633193" cy="437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400" b="1" dirty="0">
                <a:solidFill>
                  <a:srgbClr val="F8240E"/>
                </a:solidFill>
                <a:latin typeface="黑体" panose="02010609060101010101" pitchFamily="49" charset="-122"/>
                <a:ea typeface="黑体" panose="02010609060101010101" pitchFamily="49" charset="-122"/>
              </a:rPr>
              <a:t>电极</a:t>
            </a:r>
            <a:r>
              <a:rPr lang="zh-CN" altLang="en-US" sz="2400" b="1" dirty="0">
                <a:solidFill>
                  <a:srgbClr val="3333FF"/>
                </a:solidFill>
                <a:latin typeface="宋体" panose="02010600030101010101" pitchFamily="2" charset="-122"/>
              </a:rPr>
              <a:t>：将金属放入对应的溶液后所组成的系统。</a:t>
            </a:r>
          </a:p>
          <a:p>
            <a:pPr eaLnBrk="1" hangingPunct="1">
              <a:lnSpc>
                <a:spcPct val="80000"/>
              </a:lnSpc>
              <a:spcBef>
                <a:spcPct val="50000"/>
              </a:spcBef>
              <a:buFontTx/>
              <a:buNone/>
            </a:pPr>
            <a:r>
              <a:rPr lang="zh-CN" altLang="en-US" sz="2400" b="1" dirty="0">
                <a:solidFill>
                  <a:srgbClr val="F8240E"/>
                </a:solidFill>
                <a:latin typeface="黑体" panose="02010609060101010101" pitchFamily="49" charset="-122"/>
                <a:ea typeface="黑体" panose="02010609060101010101" pitchFamily="49" charset="-122"/>
              </a:rPr>
              <a:t>化学电池</a:t>
            </a:r>
            <a:r>
              <a:rPr lang="zh-CN" altLang="en-US" sz="2400" b="1" dirty="0">
                <a:solidFill>
                  <a:srgbClr val="3333FF"/>
                </a:solidFill>
                <a:latin typeface="宋体" panose="02010600030101010101" pitchFamily="2" charset="-122"/>
              </a:rPr>
              <a:t>：由两支电极构成的系统；化学能与电能的转换装置；</a:t>
            </a:r>
          </a:p>
          <a:p>
            <a:pPr eaLnBrk="1" hangingPunct="1">
              <a:lnSpc>
                <a:spcPct val="90000"/>
              </a:lnSpc>
              <a:spcBef>
                <a:spcPct val="50000"/>
              </a:spcBef>
              <a:buFontTx/>
              <a:buNone/>
            </a:pPr>
            <a:r>
              <a:rPr lang="zh-CN" altLang="en-US" sz="2400" b="1" dirty="0">
                <a:solidFill>
                  <a:srgbClr val="0000FF"/>
                </a:solidFill>
                <a:latin typeface="宋体" panose="02010600030101010101" pitchFamily="2" charset="-122"/>
              </a:rPr>
              <a:t>电化学分析法中涉及到两类化学电池：</a:t>
            </a:r>
            <a:endParaRPr lang="zh-CN" altLang="en-US" sz="2400" b="1" dirty="0">
              <a:solidFill>
                <a:srgbClr val="3333FF"/>
              </a:solidFill>
              <a:latin typeface="宋体" panose="02010600030101010101" pitchFamily="2" charset="-122"/>
            </a:endParaRPr>
          </a:p>
          <a:p>
            <a:pPr eaLnBrk="1" hangingPunct="1">
              <a:lnSpc>
                <a:spcPct val="70000"/>
              </a:lnSpc>
              <a:spcBef>
                <a:spcPct val="50000"/>
              </a:spcBef>
              <a:buFontTx/>
              <a:buNone/>
            </a:pPr>
            <a:r>
              <a:rPr lang="zh-CN" altLang="en-US" sz="2400" b="1" dirty="0">
                <a:solidFill>
                  <a:srgbClr val="F8240E"/>
                </a:solidFill>
                <a:latin typeface="黑体" panose="02010609060101010101" pitchFamily="49" charset="-122"/>
                <a:ea typeface="黑体" panose="02010609060101010101" pitchFamily="49" charset="-122"/>
              </a:rPr>
              <a:t>原电池</a:t>
            </a:r>
            <a:r>
              <a:rPr lang="zh-CN" altLang="en-US" sz="2400" b="1" dirty="0">
                <a:solidFill>
                  <a:srgbClr val="3333FF"/>
                </a:solidFill>
                <a:latin typeface="宋体" panose="02010600030101010101" pitchFamily="2" charset="-122"/>
              </a:rPr>
              <a:t>：自发地将化学能转变成电能；</a:t>
            </a:r>
          </a:p>
          <a:p>
            <a:pPr eaLnBrk="1" hangingPunct="1">
              <a:lnSpc>
                <a:spcPct val="90000"/>
              </a:lnSpc>
              <a:spcBef>
                <a:spcPct val="50000"/>
              </a:spcBef>
              <a:buFontTx/>
              <a:buNone/>
            </a:pPr>
            <a:r>
              <a:rPr lang="zh-CN" altLang="en-US" sz="2400" b="1" dirty="0">
                <a:solidFill>
                  <a:srgbClr val="F8240E"/>
                </a:solidFill>
                <a:latin typeface="黑体" panose="02010609060101010101" pitchFamily="49" charset="-122"/>
                <a:ea typeface="黑体" panose="02010609060101010101" pitchFamily="49" charset="-122"/>
              </a:rPr>
              <a:t>电解电池</a:t>
            </a:r>
            <a:r>
              <a:rPr lang="zh-CN" altLang="en-US" sz="2400" b="1" dirty="0">
                <a:solidFill>
                  <a:srgbClr val="3333FF"/>
                </a:solidFill>
                <a:latin typeface="宋体" panose="02010600030101010101" pitchFamily="2" charset="-122"/>
              </a:rPr>
              <a:t>：由外电源提供电能，使电流通过电极，在电极上发生电极反应的装置。</a:t>
            </a:r>
          </a:p>
          <a:p>
            <a:pPr eaLnBrk="1" hangingPunct="1">
              <a:lnSpc>
                <a:spcPct val="90000"/>
              </a:lnSpc>
              <a:spcBef>
                <a:spcPct val="50000"/>
              </a:spcBef>
              <a:buFontTx/>
              <a:buNone/>
            </a:pPr>
            <a:r>
              <a:rPr lang="zh-CN" altLang="en-US" sz="2400" b="1" dirty="0">
                <a:solidFill>
                  <a:srgbClr val="3333FF"/>
                </a:solidFill>
                <a:latin typeface="宋体" panose="02010600030101010101" pitchFamily="2" charset="-122"/>
              </a:rPr>
              <a:t>电池工作时，电流必须在电池内部和外部流过，构成回路。</a:t>
            </a:r>
          </a:p>
          <a:p>
            <a:pPr eaLnBrk="1" hangingPunct="1">
              <a:lnSpc>
                <a:spcPct val="90000"/>
              </a:lnSpc>
              <a:spcBef>
                <a:spcPct val="50000"/>
              </a:spcBef>
              <a:buFontTx/>
              <a:buNone/>
            </a:pPr>
            <a:r>
              <a:rPr lang="zh-CN" altLang="en-US" sz="2400" b="1" dirty="0">
                <a:solidFill>
                  <a:srgbClr val="F8240E"/>
                </a:solidFill>
                <a:latin typeface="黑体" panose="02010609060101010101" pitchFamily="49" charset="-122"/>
                <a:ea typeface="黑体" panose="02010609060101010101" pitchFamily="49" charset="-122"/>
              </a:rPr>
              <a:t>溶液中的电流</a:t>
            </a:r>
            <a:r>
              <a:rPr lang="zh-CN" altLang="en-US" sz="2400" b="1" dirty="0">
                <a:solidFill>
                  <a:srgbClr val="3333FF"/>
                </a:solidFill>
                <a:latin typeface="宋体" panose="02010600030101010101" pitchFamily="2" charset="-122"/>
              </a:rPr>
              <a:t>：正、负离子的移动。</a:t>
            </a:r>
          </a:p>
        </p:txBody>
      </p:sp>
      <p:pic>
        <p:nvPicPr>
          <p:cNvPr id="32772" name="Picture 4" descr="dc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6886" y="1474170"/>
            <a:ext cx="2514600" cy="2238375"/>
          </a:xfrm>
          <a:prstGeom prst="rect">
            <a:avLst/>
          </a:pr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32773" name="Picture 5" descr="dc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8271" y="4014065"/>
            <a:ext cx="2590800" cy="2235200"/>
          </a:xfrm>
          <a:prstGeom prst="rect">
            <a:avLst/>
          </a:prstGeom>
          <a:noFill/>
          <a:ln w="57150">
            <a:solidFill>
              <a:srgbClr val="FF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3794" name="Object 2"/>
          <p:cNvGraphicFramePr>
            <a:graphicFrameLocks noChangeAspect="1"/>
          </p:cNvGraphicFramePr>
          <p:nvPr/>
        </p:nvGraphicFramePr>
        <p:xfrm>
          <a:off x="2667000" y="304801"/>
          <a:ext cx="7086600" cy="5883275"/>
        </p:xfrm>
        <a:graphic>
          <a:graphicData uri="http://schemas.openxmlformats.org/presentationml/2006/ole">
            <mc:AlternateContent xmlns:mc="http://schemas.openxmlformats.org/markup-compatibility/2006">
              <mc:Choice xmlns:v="urn:schemas-microsoft-com:vml" Requires="v">
                <p:oleObj spid="_x0000_s33818" name="BMP 图象" r:id="rId3" imgW="5563377" imgH="4619048" progId="Paint.Picture">
                  <p:embed/>
                </p:oleObj>
              </mc:Choice>
              <mc:Fallback>
                <p:oleObj name="BMP 图象" r:id="rId3" imgW="5563377" imgH="4619048"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04801"/>
                        <a:ext cx="7086600" cy="588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5" name="矩形 2"/>
          <p:cNvSpPr>
            <a:spLocks noChangeArrowheads="1"/>
          </p:cNvSpPr>
          <p:nvPr/>
        </p:nvSpPr>
        <p:spPr bwMode="auto">
          <a:xfrm>
            <a:off x="5870576" y="4373564"/>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solidFill>
                  <a:srgbClr val="FF0000"/>
                </a:solidFill>
                <a:hlinkClick r:id="rId5"/>
              </a:rPr>
              <a:t>盐桥</a:t>
            </a:r>
            <a:endParaRPr lang="zh-CN" altLang="en-US" sz="1800">
              <a:solidFill>
                <a:srgbClr val="FF0000"/>
              </a:solidFill>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133600" y="377825"/>
            <a:ext cx="7772400" cy="723900"/>
          </a:xfrm>
        </p:spPr>
        <p:txBody>
          <a:bodyPr/>
          <a:lstStyle/>
          <a:p>
            <a:pPr eaLnBrk="1" hangingPunct="1"/>
            <a:r>
              <a:rPr lang="zh-CN" altLang="en-US" sz="3600" b="1">
                <a:solidFill>
                  <a:srgbClr val="0000FF"/>
                </a:solidFill>
                <a:latin typeface="宋体" panose="02010600030101010101" pitchFamily="2" charset="-122"/>
              </a:rPr>
              <a:t>原电池</a:t>
            </a:r>
          </a:p>
        </p:txBody>
      </p:sp>
      <p:sp>
        <p:nvSpPr>
          <p:cNvPr id="34819" name="Text Box 3"/>
          <p:cNvSpPr txBox="1">
            <a:spLocks noChangeArrowheads="1"/>
          </p:cNvSpPr>
          <p:nvPr/>
        </p:nvSpPr>
        <p:spPr bwMode="auto">
          <a:xfrm>
            <a:off x="349487" y="1628800"/>
            <a:ext cx="3568225" cy="315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400" dirty="0">
                <a:solidFill>
                  <a:srgbClr val="F8240E"/>
                </a:solidFill>
                <a:latin typeface="宋体" panose="02010600030101010101" pitchFamily="2" charset="-122"/>
              </a:rPr>
              <a:t>阳极：</a:t>
            </a:r>
            <a:r>
              <a:rPr lang="zh-CN" altLang="en-US" sz="2400" dirty="0">
                <a:solidFill>
                  <a:srgbClr val="3333FF"/>
                </a:solidFill>
                <a:latin typeface="宋体" panose="02010600030101010101" pitchFamily="2" charset="-122"/>
              </a:rPr>
              <a:t>发生氧化反应的电极（负极）；</a:t>
            </a:r>
          </a:p>
          <a:p>
            <a:pPr eaLnBrk="1" hangingPunct="1">
              <a:lnSpc>
                <a:spcPct val="90000"/>
              </a:lnSpc>
              <a:spcBef>
                <a:spcPct val="50000"/>
              </a:spcBef>
              <a:buFontTx/>
              <a:buNone/>
            </a:pPr>
            <a:r>
              <a:rPr lang="zh-CN" altLang="en-US" sz="2400" dirty="0">
                <a:solidFill>
                  <a:srgbClr val="F8240E"/>
                </a:solidFill>
                <a:latin typeface="宋体" panose="02010600030101010101" pitchFamily="2" charset="-122"/>
              </a:rPr>
              <a:t>阴极：</a:t>
            </a:r>
            <a:r>
              <a:rPr lang="zh-CN" altLang="en-US" sz="2400" dirty="0">
                <a:solidFill>
                  <a:srgbClr val="3333FF"/>
                </a:solidFill>
                <a:latin typeface="宋体" panose="02010600030101010101" pitchFamily="2" charset="-122"/>
              </a:rPr>
              <a:t>发生还原反应的电极（正极）；</a:t>
            </a:r>
          </a:p>
          <a:p>
            <a:pPr eaLnBrk="1" hangingPunct="1">
              <a:lnSpc>
                <a:spcPct val="90000"/>
              </a:lnSpc>
              <a:spcBef>
                <a:spcPct val="50000"/>
              </a:spcBef>
              <a:buFontTx/>
              <a:buNone/>
            </a:pPr>
            <a:r>
              <a:rPr lang="zh-CN" altLang="en-US" sz="2400" dirty="0">
                <a:solidFill>
                  <a:srgbClr val="F8240E"/>
                </a:solidFill>
                <a:latin typeface="宋体" panose="02010600030101010101" pitchFamily="2" charset="-122"/>
              </a:rPr>
              <a:t>阳极≠正极</a:t>
            </a:r>
          </a:p>
          <a:p>
            <a:pPr eaLnBrk="1" hangingPunct="1">
              <a:lnSpc>
                <a:spcPct val="90000"/>
              </a:lnSpc>
              <a:spcBef>
                <a:spcPct val="50000"/>
              </a:spcBef>
              <a:buFontTx/>
              <a:buNone/>
            </a:pPr>
            <a:r>
              <a:rPr lang="zh-CN" altLang="en-US" sz="2400" dirty="0">
                <a:solidFill>
                  <a:srgbClr val="F8240E"/>
                </a:solidFill>
                <a:latin typeface="宋体" panose="02010600030101010101" pitchFamily="2" charset="-122"/>
              </a:rPr>
              <a:t>阴极≠负极</a:t>
            </a:r>
          </a:p>
          <a:p>
            <a:pPr eaLnBrk="1" hangingPunct="1">
              <a:lnSpc>
                <a:spcPct val="90000"/>
              </a:lnSpc>
              <a:spcBef>
                <a:spcPct val="50000"/>
              </a:spcBef>
              <a:buFontTx/>
              <a:buNone/>
            </a:pPr>
            <a:r>
              <a:rPr lang="zh-CN" altLang="en-US" sz="2400" dirty="0">
                <a:solidFill>
                  <a:srgbClr val="0000FF"/>
                </a:solidFill>
                <a:latin typeface="宋体" panose="02010600030101010101" pitchFamily="2" charset="-122"/>
              </a:rPr>
              <a:t>电极电位较高的为正极</a:t>
            </a:r>
          </a:p>
        </p:txBody>
      </p:sp>
      <p:pic>
        <p:nvPicPr>
          <p:cNvPr id="34820" name="Picture 4" descr="dc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5850" y="1268760"/>
            <a:ext cx="5791200" cy="4995862"/>
          </a:xfrm>
          <a:prstGeom prst="rect">
            <a:avLst/>
          </a:prstGeom>
          <a:noFill/>
          <a:ln w="57150">
            <a:solidFill>
              <a:srgbClr val="FF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245351" y="1295401"/>
            <a:ext cx="11337048" cy="491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buFontTx/>
              <a:buNone/>
            </a:pPr>
            <a:r>
              <a:rPr lang="en-US" altLang="zh-CN" sz="2800" b="1" dirty="0">
                <a:solidFill>
                  <a:srgbClr val="800000"/>
                </a:solidFill>
                <a:latin typeface="黑体" panose="02010609060101010101" pitchFamily="49" charset="-122"/>
                <a:ea typeface="黑体" panose="02010609060101010101" pitchFamily="49" charset="-122"/>
              </a:rPr>
              <a:t>1.</a:t>
            </a:r>
            <a:r>
              <a:rPr lang="zh-CN" altLang="en-US" sz="2800" b="1" dirty="0">
                <a:solidFill>
                  <a:srgbClr val="800000"/>
                </a:solidFill>
                <a:latin typeface="黑体" panose="02010609060101010101" pitchFamily="49" charset="-122"/>
                <a:ea typeface="黑体" panose="02010609060101010101" pitchFamily="49" charset="-122"/>
              </a:rPr>
              <a:t>平衡电极电位</a:t>
            </a:r>
            <a:endParaRPr lang="zh-CN" altLang="en-US" sz="2400" b="1" dirty="0">
              <a:solidFill>
                <a:srgbClr val="800000"/>
              </a:solidFill>
              <a:latin typeface="黑体" panose="02010609060101010101" pitchFamily="49" charset="-122"/>
              <a:ea typeface="黑体" panose="02010609060101010101" pitchFamily="49" charset="-122"/>
            </a:endParaRPr>
          </a:p>
          <a:p>
            <a:pPr algn="just">
              <a:lnSpc>
                <a:spcPct val="130000"/>
              </a:lnSpc>
              <a:spcBef>
                <a:spcPct val="0"/>
              </a:spcBef>
              <a:buFontTx/>
              <a:buNone/>
            </a:pPr>
            <a:r>
              <a:rPr lang="zh-CN" altLang="en-US" sz="2400" b="1" dirty="0">
                <a:solidFill>
                  <a:schemeClr val="bg2"/>
                </a:solidFill>
                <a:latin typeface="宋体" panose="02010600030101010101" pitchFamily="2" charset="-122"/>
              </a:rPr>
              <a:t>    </a:t>
            </a:r>
            <a:r>
              <a:rPr lang="zh-CN" altLang="en-US" sz="2400" dirty="0">
                <a:solidFill>
                  <a:srgbClr val="0000FF"/>
                </a:solidFill>
                <a:latin typeface="宋体" panose="02010600030101010101" pitchFamily="2" charset="-122"/>
              </a:rPr>
              <a:t>可以将金属看成离子和自由电子构成。以锌</a:t>
            </a:r>
            <a:r>
              <a:rPr lang="en-US" altLang="zh-CN" sz="2400" dirty="0">
                <a:solidFill>
                  <a:srgbClr val="0000FF"/>
                </a:solidFill>
                <a:latin typeface="宋体" panose="02010600030101010101" pitchFamily="2" charset="-122"/>
              </a:rPr>
              <a:t>-</a:t>
            </a:r>
            <a:r>
              <a:rPr lang="zh-CN" altLang="en-US" sz="2400" dirty="0">
                <a:solidFill>
                  <a:srgbClr val="0000FF"/>
                </a:solidFill>
                <a:latin typeface="宋体" panose="02010600030101010101" pitchFamily="2" charset="-122"/>
              </a:rPr>
              <a:t>硫酸锌为例</a:t>
            </a:r>
          </a:p>
          <a:p>
            <a:pPr algn="just">
              <a:lnSpc>
                <a:spcPct val="130000"/>
              </a:lnSpc>
              <a:spcBef>
                <a:spcPct val="0"/>
              </a:spcBef>
              <a:buFontTx/>
              <a:buNone/>
            </a:pPr>
            <a:r>
              <a:rPr lang="zh-CN" altLang="en-US" sz="2400" dirty="0">
                <a:solidFill>
                  <a:srgbClr val="0000FF"/>
                </a:solidFill>
                <a:latin typeface="宋体" panose="02010600030101010101" pitchFamily="2" charset="-122"/>
              </a:rPr>
              <a:t>    当锌片与硫酸锌溶液接触时，金属锌中</a:t>
            </a:r>
            <a:r>
              <a:rPr lang="en-US" altLang="zh-CN" sz="2400" dirty="0">
                <a:solidFill>
                  <a:srgbClr val="0000FF"/>
                </a:solidFill>
                <a:latin typeface="宋体" panose="02010600030101010101" pitchFamily="2" charset="-122"/>
              </a:rPr>
              <a:t>Zn</a:t>
            </a:r>
            <a:r>
              <a:rPr lang="en-US" altLang="zh-CN" sz="2400" baseline="30000" dirty="0">
                <a:solidFill>
                  <a:srgbClr val="0000FF"/>
                </a:solidFill>
                <a:latin typeface="宋体" panose="02010600030101010101" pitchFamily="2" charset="-122"/>
              </a:rPr>
              <a:t>2+</a:t>
            </a:r>
            <a:r>
              <a:rPr lang="zh-CN" altLang="en-US" sz="2400" dirty="0">
                <a:solidFill>
                  <a:srgbClr val="0000FF"/>
                </a:solidFill>
                <a:latin typeface="宋体" panose="02010600030101010101" pitchFamily="2" charset="-122"/>
              </a:rPr>
              <a:t>的化学势大于溶液中</a:t>
            </a:r>
            <a:r>
              <a:rPr lang="en-US" altLang="zh-CN" sz="2400" dirty="0">
                <a:solidFill>
                  <a:srgbClr val="0000FF"/>
                </a:solidFill>
                <a:latin typeface="宋体" panose="02010600030101010101" pitchFamily="2" charset="-122"/>
              </a:rPr>
              <a:t>Zn</a:t>
            </a:r>
            <a:r>
              <a:rPr lang="en-US" altLang="zh-CN" sz="2400" baseline="30000" dirty="0">
                <a:solidFill>
                  <a:srgbClr val="0000FF"/>
                </a:solidFill>
                <a:latin typeface="宋体" panose="02010600030101010101" pitchFamily="2" charset="-122"/>
              </a:rPr>
              <a:t>2+</a:t>
            </a:r>
            <a:r>
              <a:rPr lang="zh-CN" altLang="en-US" sz="2400" dirty="0">
                <a:solidFill>
                  <a:srgbClr val="0000FF"/>
                </a:solidFill>
                <a:latin typeface="宋体" panose="02010600030101010101" pitchFamily="2" charset="-122"/>
              </a:rPr>
              <a:t>的化学势，则锌不断溶解到溶液中，而电子留在锌片上。结果：金属带负电，溶液带正电；形成</a:t>
            </a:r>
            <a:r>
              <a:rPr lang="zh-CN" altLang="en-US" sz="2400" dirty="0">
                <a:solidFill>
                  <a:srgbClr val="F8240E"/>
                </a:solidFill>
                <a:latin typeface="宋体" panose="02010600030101010101" pitchFamily="2" charset="-122"/>
              </a:rPr>
              <a:t>双电层</a:t>
            </a:r>
            <a:r>
              <a:rPr lang="zh-CN" altLang="en-US" sz="2400" dirty="0">
                <a:solidFill>
                  <a:schemeClr val="bg2"/>
                </a:solidFill>
                <a:latin typeface="宋体" panose="02010600030101010101" pitchFamily="2" charset="-122"/>
              </a:rPr>
              <a:t>。</a:t>
            </a:r>
          </a:p>
          <a:p>
            <a:pPr algn="just">
              <a:lnSpc>
                <a:spcPct val="130000"/>
              </a:lnSpc>
              <a:spcBef>
                <a:spcPct val="0"/>
              </a:spcBef>
              <a:buFontTx/>
              <a:buNone/>
            </a:pPr>
            <a:r>
              <a:rPr lang="zh-CN" altLang="en-US" sz="2400" dirty="0">
                <a:solidFill>
                  <a:schemeClr val="bg2"/>
                </a:solidFill>
                <a:latin typeface="宋体" panose="02010600030101010101" pitchFamily="2" charset="-122"/>
              </a:rPr>
              <a:t>    </a:t>
            </a:r>
            <a:r>
              <a:rPr lang="zh-CN" altLang="en-US" sz="2400" dirty="0">
                <a:solidFill>
                  <a:srgbClr val="0000FF"/>
                </a:solidFill>
                <a:latin typeface="宋体" panose="02010600030101010101" pitchFamily="2" charset="-122"/>
              </a:rPr>
              <a:t>双电层的形成建立了相间的电位差；</a:t>
            </a:r>
          </a:p>
          <a:p>
            <a:pPr algn="just">
              <a:lnSpc>
                <a:spcPct val="130000"/>
              </a:lnSpc>
              <a:spcBef>
                <a:spcPct val="0"/>
              </a:spcBef>
              <a:buFontTx/>
              <a:buNone/>
            </a:pPr>
            <a:r>
              <a:rPr lang="zh-CN" altLang="en-US" sz="2400" dirty="0">
                <a:solidFill>
                  <a:srgbClr val="0000FF"/>
                </a:solidFill>
                <a:latin typeface="宋体" panose="02010600030101010101" pitchFamily="2" charset="-122"/>
              </a:rPr>
              <a:t>    电位差排斥</a:t>
            </a:r>
            <a:r>
              <a:rPr lang="en-US" altLang="zh-CN" sz="2400" dirty="0">
                <a:solidFill>
                  <a:srgbClr val="0000FF"/>
                </a:solidFill>
                <a:latin typeface="宋体" panose="02010600030101010101" pitchFamily="2" charset="-122"/>
              </a:rPr>
              <a:t>Zn</a:t>
            </a:r>
            <a:r>
              <a:rPr lang="en-US" altLang="zh-CN" sz="2400" baseline="30000" dirty="0">
                <a:solidFill>
                  <a:srgbClr val="0000FF"/>
                </a:solidFill>
                <a:latin typeface="宋体" panose="02010600030101010101" pitchFamily="2" charset="-122"/>
              </a:rPr>
              <a:t>2+</a:t>
            </a:r>
            <a:r>
              <a:rPr lang="zh-CN" altLang="en-US" sz="2400" dirty="0">
                <a:solidFill>
                  <a:srgbClr val="0000FF"/>
                </a:solidFill>
                <a:latin typeface="宋体" panose="02010600030101010101" pitchFamily="2" charset="-122"/>
              </a:rPr>
              <a:t>继续进入溶液；</a:t>
            </a:r>
          </a:p>
          <a:p>
            <a:pPr algn="just">
              <a:lnSpc>
                <a:spcPct val="130000"/>
              </a:lnSpc>
              <a:spcBef>
                <a:spcPct val="0"/>
              </a:spcBef>
              <a:buFontTx/>
              <a:buNone/>
            </a:pPr>
            <a:r>
              <a:rPr lang="zh-CN" altLang="en-US" sz="2400" dirty="0">
                <a:solidFill>
                  <a:srgbClr val="0000FF"/>
                </a:solidFill>
                <a:latin typeface="宋体" panose="02010600030101010101" pitchFamily="2" charset="-122"/>
              </a:rPr>
              <a:t>    金属表面的负电荷又吸引</a:t>
            </a:r>
            <a:r>
              <a:rPr lang="en-US" altLang="zh-CN" sz="2400" dirty="0">
                <a:solidFill>
                  <a:srgbClr val="0000FF"/>
                </a:solidFill>
                <a:latin typeface="宋体" panose="02010600030101010101" pitchFamily="2" charset="-122"/>
              </a:rPr>
              <a:t>Zn</a:t>
            </a:r>
            <a:r>
              <a:rPr lang="en-US" altLang="zh-CN" sz="2400" baseline="30000" dirty="0">
                <a:solidFill>
                  <a:srgbClr val="0000FF"/>
                </a:solidFill>
                <a:latin typeface="宋体" panose="02010600030101010101" pitchFamily="2" charset="-122"/>
              </a:rPr>
              <a:t>2+ </a:t>
            </a:r>
            <a:r>
              <a:rPr lang="zh-CN" altLang="en-US" sz="2400" dirty="0">
                <a:solidFill>
                  <a:srgbClr val="0000FF"/>
                </a:solidFill>
                <a:latin typeface="宋体" panose="02010600030101010101" pitchFamily="2" charset="-122"/>
              </a:rPr>
              <a:t>；</a:t>
            </a:r>
          </a:p>
          <a:p>
            <a:pPr algn="just">
              <a:lnSpc>
                <a:spcPct val="130000"/>
              </a:lnSpc>
              <a:spcBef>
                <a:spcPct val="0"/>
              </a:spcBef>
              <a:buFontTx/>
              <a:buNone/>
            </a:pPr>
            <a:r>
              <a:rPr lang="zh-CN" altLang="en-US" sz="2400" dirty="0">
                <a:solidFill>
                  <a:srgbClr val="0000FF"/>
                </a:solidFill>
                <a:latin typeface="宋体" panose="02010600030101010101" pitchFamily="2" charset="-122"/>
              </a:rPr>
              <a:t>    达到动态平衡，相间平衡电位</a:t>
            </a:r>
          </a:p>
          <a:p>
            <a:pPr algn="just">
              <a:lnSpc>
                <a:spcPct val="130000"/>
              </a:lnSpc>
              <a:spcBef>
                <a:spcPct val="0"/>
              </a:spcBef>
              <a:buFontTx/>
              <a:buNone/>
            </a:pPr>
            <a:r>
              <a:rPr lang="zh-CN" altLang="en-US" sz="2400" dirty="0">
                <a:solidFill>
                  <a:schemeClr val="bg2"/>
                </a:solidFill>
                <a:latin typeface="宋体" panose="02010600030101010101" pitchFamily="2" charset="-122"/>
              </a:rPr>
              <a:t>    </a:t>
            </a:r>
            <a:r>
              <a:rPr lang="en-US" altLang="zh-CN" sz="2400" dirty="0">
                <a:solidFill>
                  <a:srgbClr val="0000FF"/>
                </a:solidFill>
                <a:latin typeface="Times New Roman" panose="02020603050405020304" pitchFamily="18" charset="0"/>
              </a:rPr>
              <a:t>——</a:t>
            </a:r>
            <a:r>
              <a:rPr lang="zh-CN" altLang="en-US" sz="2400" dirty="0">
                <a:solidFill>
                  <a:srgbClr val="F8240E"/>
                </a:solidFill>
                <a:latin typeface="宋体" panose="02010600030101010101" pitchFamily="2" charset="-122"/>
              </a:rPr>
              <a:t>平衡电极电位</a:t>
            </a:r>
            <a:r>
              <a:rPr lang="zh-CN" altLang="en-US" sz="2400" dirty="0">
                <a:solidFill>
                  <a:srgbClr val="0000FF"/>
                </a:solidFill>
                <a:latin typeface="宋体" panose="02010600030101010101" pitchFamily="2" charset="-122"/>
              </a:rPr>
              <a:t>。</a:t>
            </a:r>
          </a:p>
        </p:txBody>
      </p:sp>
      <p:sp>
        <p:nvSpPr>
          <p:cNvPr id="35843" name="Rectangle 3"/>
          <p:cNvSpPr>
            <a:spLocks noGrp="1" noChangeArrowheads="1"/>
          </p:cNvSpPr>
          <p:nvPr>
            <p:ph type="title"/>
          </p:nvPr>
        </p:nvSpPr>
        <p:spPr/>
        <p:txBody>
          <a:bodyPr/>
          <a:lstStyle/>
          <a:p>
            <a:pPr eaLnBrk="1" hangingPunct="1"/>
            <a:endParaRPr lang="zh-CN" altLang="zh-CN"/>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l" eaLnBrk="1" hangingPunct="1"/>
            <a:r>
              <a:rPr lang="zh-CN" altLang="en-US" dirty="0"/>
              <a:t>丹聂耳（</a:t>
            </a:r>
            <a:r>
              <a:rPr lang="en-US" altLang="zh-CN" dirty="0" err="1"/>
              <a:t>Danill</a:t>
            </a:r>
            <a:r>
              <a:rPr lang="zh-CN" altLang="en-US" dirty="0"/>
              <a:t>）原理</a:t>
            </a:r>
          </a:p>
        </p:txBody>
      </p:sp>
      <p:sp>
        <p:nvSpPr>
          <p:cNvPr id="36867" name="Rectangle 3"/>
          <p:cNvSpPr>
            <a:spLocks noGrp="1" noChangeArrowheads="1"/>
          </p:cNvSpPr>
          <p:nvPr>
            <p:ph type="body" idx="1"/>
          </p:nvPr>
        </p:nvSpPr>
        <p:spPr>
          <a:xfrm>
            <a:off x="1524000" y="1268413"/>
            <a:ext cx="8229600" cy="4525962"/>
          </a:xfrm>
        </p:spPr>
        <p:txBody>
          <a:bodyPr/>
          <a:lstStyle/>
          <a:p>
            <a:pPr eaLnBrk="1" hangingPunct="1"/>
            <a:r>
              <a:rPr lang="zh-CN" altLang="en-US"/>
              <a:t>电极：</a:t>
            </a:r>
            <a:r>
              <a:rPr lang="en-US" altLang="zh-CN"/>
              <a:t>Cu ,Zn</a:t>
            </a:r>
          </a:p>
          <a:p>
            <a:pPr eaLnBrk="1" hangingPunct="1"/>
            <a:r>
              <a:rPr lang="zh-CN" altLang="en-US"/>
              <a:t>溶液</a:t>
            </a:r>
            <a:r>
              <a:rPr lang="en-US" altLang="zh-CN"/>
              <a:t>: CuSO</a:t>
            </a:r>
            <a:r>
              <a:rPr lang="en-US" altLang="zh-CN" baseline="-25000"/>
              <a:t>4</a:t>
            </a:r>
            <a:r>
              <a:rPr lang="en-US" altLang="zh-CN"/>
              <a:t>,ZnSO</a:t>
            </a:r>
            <a:r>
              <a:rPr lang="en-US" altLang="zh-CN" baseline="-25000"/>
              <a:t>4</a:t>
            </a:r>
          </a:p>
          <a:p>
            <a:pPr eaLnBrk="1" hangingPunct="1"/>
            <a:r>
              <a:rPr lang="zh-CN" altLang="en-US"/>
              <a:t>导电离子</a:t>
            </a:r>
            <a:r>
              <a:rPr lang="en-US" altLang="zh-CN"/>
              <a:t>:Cu</a:t>
            </a:r>
            <a:r>
              <a:rPr lang="en-US" altLang="zh-CN" baseline="30000"/>
              <a:t>2+</a:t>
            </a:r>
            <a:r>
              <a:rPr lang="en-US" altLang="zh-CN"/>
              <a:t>,Zn</a:t>
            </a:r>
            <a:r>
              <a:rPr lang="en-US" altLang="zh-CN" baseline="30000"/>
              <a:t>2+</a:t>
            </a:r>
            <a:r>
              <a:rPr lang="en-US" altLang="zh-CN"/>
              <a:t>,SO</a:t>
            </a:r>
            <a:r>
              <a:rPr lang="en-US" altLang="zh-CN" baseline="-25000"/>
              <a:t>4</a:t>
            </a:r>
            <a:r>
              <a:rPr lang="en-US" altLang="zh-CN" baseline="30000"/>
              <a:t>2-</a:t>
            </a:r>
          </a:p>
        </p:txBody>
      </p:sp>
      <p:pic>
        <p:nvPicPr>
          <p:cNvPr id="36868" name="Picture 4" descr="e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0326" y="1223964"/>
            <a:ext cx="3971925"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Line 5"/>
          <p:cNvSpPr>
            <a:spLocks noChangeShapeType="1"/>
          </p:cNvSpPr>
          <p:nvPr/>
        </p:nvSpPr>
        <p:spPr bwMode="auto">
          <a:xfrm>
            <a:off x="2316163" y="3340100"/>
            <a:ext cx="103505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70" name="Line 6"/>
          <p:cNvSpPr>
            <a:spLocks noChangeShapeType="1"/>
          </p:cNvSpPr>
          <p:nvPr/>
        </p:nvSpPr>
        <p:spPr bwMode="auto">
          <a:xfrm>
            <a:off x="3351213" y="3340100"/>
            <a:ext cx="0" cy="10795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71" name="Line 7"/>
          <p:cNvSpPr>
            <a:spLocks noChangeShapeType="1"/>
          </p:cNvSpPr>
          <p:nvPr/>
        </p:nvSpPr>
        <p:spPr bwMode="auto">
          <a:xfrm>
            <a:off x="3351213" y="4419600"/>
            <a:ext cx="103505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72" name="Line 8"/>
          <p:cNvSpPr>
            <a:spLocks noChangeShapeType="1"/>
          </p:cNvSpPr>
          <p:nvPr/>
        </p:nvSpPr>
        <p:spPr bwMode="auto">
          <a:xfrm>
            <a:off x="4386263" y="4419600"/>
            <a:ext cx="0" cy="10795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73" name="Line 9"/>
          <p:cNvSpPr>
            <a:spLocks noChangeShapeType="1"/>
          </p:cNvSpPr>
          <p:nvPr/>
        </p:nvSpPr>
        <p:spPr bwMode="auto">
          <a:xfrm>
            <a:off x="4386263" y="5499100"/>
            <a:ext cx="103505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74" name="Text Box 10"/>
          <p:cNvSpPr txBox="1">
            <a:spLocks noChangeArrowheads="1"/>
          </p:cNvSpPr>
          <p:nvPr/>
        </p:nvSpPr>
        <p:spPr bwMode="auto">
          <a:xfrm>
            <a:off x="1820863" y="3159126"/>
            <a:ext cx="450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a:t>
            </a:r>
            <a:r>
              <a:rPr lang="en-US" altLang="zh-CN" sz="1800" baseline="-25000"/>
              <a:t>A</a:t>
            </a:r>
          </a:p>
        </p:txBody>
      </p:sp>
      <p:sp>
        <p:nvSpPr>
          <p:cNvPr id="36875" name="Text Box 11"/>
          <p:cNvSpPr txBox="1">
            <a:spLocks noChangeArrowheads="1"/>
          </p:cNvSpPr>
          <p:nvPr/>
        </p:nvSpPr>
        <p:spPr bwMode="auto">
          <a:xfrm>
            <a:off x="2765425" y="4238626"/>
            <a:ext cx="495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a:t>
            </a:r>
            <a:r>
              <a:rPr lang="en-US" altLang="zh-CN" sz="1800" baseline="-25000"/>
              <a:t>D</a:t>
            </a:r>
          </a:p>
        </p:txBody>
      </p:sp>
      <p:sp>
        <p:nvSpPr>
          <p:cNvPr id="36876" name="Text Box 12"/>
          <p:cNvSpPr txBox="1">
            <a:spLocks noChangeArrowheads="1"/>
          </p:cNvSpPr>
          <p:nvPr/>
        </p:nvSpPr>
        <p:spPr bwMode="auto">
          <a:xfrm>
            <a:off x="4521200" y="428466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a:t>
            </a:r>
            <a:r>
              <a:rPr lang="en-US" altLang="zh-CN" sz="1800" baseline="-25000"/>
              <a:t>C</a:t>
            </a:r>
          </a:p>
        </p:txBody>
      </p:sp>
      <p:sp>
        <p:nvSpPr>
          <p:cNvPr id="36877" name="Text Box 13"/>
          <p:cNvSpPr txBox="1">
            <a:spLocks noChangeArrowheads="1"/>
          </p:cNvSpPr>
          <p:nvPr/>
        </p:nvSpPr>
        <p:spPr bwMode="auto">
          <a:xfrm>
            <a:off x="4521200" y="5634038"/>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a:t>
            </a:r>
            <a:r>
              <a:rPr lang="en-US" altLang="zh-CN" sz="1800" baseline="-25000"/>
              <a:t>B</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2" descr="e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0864" y="233364"/>
            <a:ext cx="315277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1" name="Picture 3" descr="er2"/>
          <p:cNvPicPr>
            <a:picLocks noChangeAspect="1" noChangeArrowheads="1"/>
          </p:cNvPicPr>
          <p:nvPr/>
        </p:nvPicPr>
        <p:blipFill>
          <a:blip r:embed="rId3">
            <a:extLst>
              <a:ext uri="{28A0092B-C50C-407E-A947-70E740481C1C}">
                <a14:useLocalDpi xmlns:a14="http://schemas.microsoft.com/office/drawing/2010/main" val="0"/>
              </a:ext>
            </a:extLst>
          </a:blip>
          <a:srcRect l="9660" t="16882" r="32957" b="22078"/>
          <a:stretch>
            <a:fillRect/>
          </a:stretch>
        </p:blipFill>
        <p:spPr bwMode="auto">
          <a:xfrm>
            <a:off x="7671835" y="875506"/>
            <a:ext cx="3195638"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Text Box 4"/>
          <p:cNvSpPr txBox="1">
            <a:spLocks noChangeArrowheads="1"/>
          </p:cNvSpPr>
          <p:nvPr/>
        </p:nvSpPr>
        <p:spPr bwMode="auto">
          <a:xfrm>
            <a:off x="7086049" y="426243"/>
            <a:ext cx="1620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充电过程：</a:t>
            </a:r>
          </a:p>
        </p:txBody>
      </p:sp>
      <p:sp>
        <p:nvSpPr>
          <p:cNvPr id="37893" name="Line 5"/>
          <p:cNvSpPr>
            <a:spLocks noChangeShapeType="1"/>
          </p:cNvSpPr>
          <p:nvPr/>
        </p:nvSpPr>
        <p:spPr bwMode="auto">
          <a:xfrm>
            <a:off x="8167135" y="3847306"/>
            <a:ext cx="103505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894" name="Line 6"/>
          <p:cNvSpPr>
            <a:spLocks noChangeShapeType="1"/>
          </p:cNvSpPr>
          <p:nvPr/>
        </p:nvSpPr>
        <p:spPr bwMode="auto">
          <a:xfrm>
            <a:off x="9202185" y="3847306"/>
            <a:ext cx="0" cy="107950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895" name="Line 7"/>
          <p:cNvSpPr>
            <a:spLocks noChangeShapeType="1"/>
          </p:cNvSpPr>
          <p:nvPr/>
        </p:nvSpPr>
        <p:spPr bwMode="auto">
          <a:xfrm flipV="1">
            <a:off x="9202185" y="4387056"/>
            <a:ext cx="1035050" cy="53975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896" name="Line 8"/>
          <p:cNvSpPr>
            <a:spLocks noChangeShapeType="1"/>
          </p:cNvSpPr>
          <p:nvPr/>
        </p:nvSpPr>
        <p:spPr bwMode="auto">
          <a:xfrm>
            <a:off x="10237235" y="4387056"/>
            <a:ext cx="0" cy="103505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897" name="Line 9"/>
          <p:cNvSpPr>
            <a:spLocks noChangeShapeType="1"/>
          </p:cNvSpPr>
          <p:nvPr/>
        </p:nvSpPr>
        <p:spPr bwMode="auto">
          <a:xfrm>
            <a:off x="10237235" y="5422106"/>
            <a:ext cx="1035050"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7898" name="Text Box 10"/>
          <p:cNvSpPr txBox="1">
            <a:spLocks noChangeArrowheads="1"/>
          </p:cNvSpPr>
          <p:nvPr/>
        </p:nvSpPr>
        <p:spPr bwMode="auto">
          <a:xfrm>
            <a:off x="7671835" y="3666331"/>
            <a:ext cx="450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a:t>
            </a:r>
            <a:r>
              <a:rPr lang="en-US" altLang="zh-CN" sz="1800" baseline="-25000"/>
              <a:t>A</a:t>
            </a:r>
          </a:p>
        </p:txBody>
      </p:sp>
      <p:sp>
        <p:nvSpPr>
          <p:cNvPr id="37899" name="Text Box 11"/>
          <p:cNvSpPr txBox="1">
            <a:spLocks noChangeArrowheads="1"/>
          </p:cNvSpPr>
          <p:nvPr/>
        </p:nvSpPr>
        <p:spPr bwMode="auto">
          <a:xfrm>
            <a:off x="8616398" y="4745831"/>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a:t>
            </a:r>
            <a:r>
              <a:rPr lang="en-US" altLang="zh-CN" sz="1800" baseline="-25000"/>
              <a:t>D</a:t>
            </a:r>
          </a:p>
        </p:txBody>
      </p:sp>
      <p:sp>
        <p:nvSpPr>
          <p:cNvPr id="37900" name="Text Box 12"/>
          <p:cNvSpPr txBox="1">
            <a:spLocks noChangeArrowheads="1"/>
          </p:cNvSpPr>
          <p:nvPr/>
        </p:nvSpPr>
        <p:spPr bwMode="auto">
          <a:xfrm>
            <a:off x="10326135" y="4298156"/>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a:t>
            </a:r>
            <a:r>
              <a:rPr lang="en-US" altLang="zh-CN" sz="1800" baseline="-25000"/>
              <a:t>C</a:t>
            </a:r>
          </a:p>
        </p:txBody>
      </p:sp>
      <p:sp>
        <p:nvSpPr>
          <p:cNvPr id="37901" name="Text Box 13"/>
          <p:cNvSpPr txBox="1">
            <a:spLocks noChangeArrowheads="1"/>
          </p:cNvSpPr>
          <p:nvPr/>
        </p:nvSpPr>
        <p:spPr bwMode="auto">
          <a:xfrm>
            <a:off x="10372173" y="5557044"/>
            <a:ext cx="495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U</a:t>
            </a:r>
            <a:r>
              <a:rPr lang="en-US" altLang="zh-CN" sz="1800" baseline="-25000"/>
              <a:t>B</a:t>
            </a:r>
          </a:p>
        </p:txBody>
      </p:sp>
      <p:sp>
        <p:nvSpPr>
          <p:cNvPr id="37902" name="Text Box 14"/>
          <p:cNvSpPr txBox="1">
            <a:spLocks noChangeArrowheads="1"/>
          </p:cNvSpPr>
          <p:nvPr/>
        </p:nvSpPr>
        <p:spPr bwMode="auto">
          <a:xfrm>
            <a:off x="8706885" y="1640681"/>
            <a:ext cx="16208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0000FF"/>
                </a:solidFill>
              </a:rPr>
              <a:t>Cu:0.6V</a:t>
            </a:r>
            <a:endParaRPr lang="zh-CN" altLang="en-US" sz="1800">
              <a:solidFill>
                <a:srgbClr val="0000FF"/>
              </a:solidFill>
            </a:endParaRPr>
          </a:p>
        </p:txBody>
      </p:sp>
      <p:sp>
        <p:nvSpPr>
          <p:cNvPr id="37903" name="Text Box 14"/>
          <p:cNvSpPr txBox="1">
            <a:spLocks noChangeArrowheads="1"/>
          </p:cNvSpPr>
          <p:nvPr/>
        </p:nvSpPr>
        <p:spPr bwMode="auto">
          <a:xfrm>
            <a:off x="7851224" y="2721769"/>
            <a:ext cx="1620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0000FF"/>
                </a:solidFill>
              </a:rPr>
              <a:t>Zn:0.51V</a:t>
            </a:r>
            <a:endParaRPr lang="zh-CN" altLang="en-US" sz="1800">
              <a:solidFill>
                <a:srgbClr val="0000FF"/>
              </a:solidFill>
            </a:endParaRPr>
          </a:p>
        </p:txBody>
      </p:sp>
      <p:sp>
        <p:nvSpPr>
          <p:cNvPr id="37904" name="Text Box 4"/>
          <p:cNvSpPr txBox="1">
            <a:spLocks noChangeArrowheads="1"/>
          </p:cNvSpPr>
          <p:nvPr/>
        </p:nvSpPr>
        <p:spPr bwMode="auto">
          <a:xfrm>
            <a:off x="7492449" y="4296569"/>
            <a:ext cx="1620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放电过程：</a:t>
            </a:r>
          </a:p>
        </p:txBody>
      </p:sp>
      <p:sp>
        <p:nvSpPr>
          <p:cNvPr id="37905" name="Text Box 4"/>
          <p:cNvSpPr txBox="1">
            <a:spLocks noChangeArrowheads="1"/>
          </p:cNvSpPr>
          <p:nvPr/>
        </p:nvSpPr>
        <p:spPr bwMode="auto">
          <a:xfrm>
            <a:off x="605390" y="2754314"/>
            <a:ext cx="522073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t>放电过程：非静电力做正功，化学能转为电能，再通过用电器转换为其它形式的能量。</a:t>
            </a:r>
          </a:p>
        </p:txBody>
      </p:sp>
      <p:sp>
        <p:nvSpPr>
          <p:cNvPr id="37906" name="Text Box 4"/>
          <p:cNvSpPr txBox="1">
            <a:spLocks noChangeArrowheads="1"/>
          </p:cNvSpPr>
          <p:nvPr/>
        </p:nvSpPr>
        <p:spPr bwMode="auto">
          <a:xfrm>
            <a:off x="830416" y="3698875"/>
            <a:ext cx="5040159"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t>稳恒电流电场：不随时间变化</a:t>
            </a:r>
            <a:endParaRPr lang="en-US" altLang="zh-CN" sz="1800" dirty="0"/>
          </a:p>
          <a:p>
            <a:pPr eaLnBrk="1" hangingPunct="1">
              <a:spcBef>
                <a:spcPct val="50000"/>
              </a:spcBef>
              <a:buFontTx/>
              <a:buNone/>
            </a:pPr>
            <a:r>
              <a:rPr lang="zh-CN" altLang="en-US" sz="1800" dirty="0"/>
              <a:t>电场能量：不随时间变化</a:t>
            </a:r>
            <a:endParaRPr lang="en-US" altLang="zh-CN" sz="1800" dirty="0"/>
          </a:p>
          <a:p>
            <a:pPr eaLnBrk="1" hangingPunct="1">
              <a:spcBef>
                <a:spcPct val="50000"/>
              </a:spcBef>
              <a:buFontTx/>
              <a:buNone/>
            </a:pPr>
            <a:r>
              <a:rPr lang="zh-CN" altLang="en-US" sz="1800" dirty="0"/>
              <a:t>电源供能</a:t>
            </a:r>
          </a:p>
        </p:txBody>
      </p:sp>
      <p:sp>
        <p:nvSpPr>
          <p:cNvPr id="37907" name="Text Box 4"/>
          <p:cNvSpPr txBox="1">
            <a:spLocks noChangeArrowheads="1"/>
          </p:cNvSpPr>
          <p:nvPr/>
        </p:nvSpPr>
        <p:spPr bwMode="auto">
          <a:xfrm>
            <a:off x="605391" y="5184775"/>
            <a:ext cx="6076398"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t>稳恒电流电场：电荷运动；导体中电场可不为零；自外界不断吸收能量同时放出能量</a:t>
            </a:r>
            <a:endParaRPr lang="en-US" altLang="zh-CN" sz="1800" dirty="0"/>
          </a:p>
          <a:p>
            <a:pPr eaLnBrk="1" hangingPunct="1">
              <a:spcBef>
                <a:spcPct val="50000"/>
              </a:spcBef>
              <a:buFontTx/>
              <a:buNone/>
            </a:pPr>
            <a:r>
              <a:rPr lang="zh-CN" altLang="en-US" sz="1800" dirty="0"/>
              <a:t>静电场：与外界没有能量交换</a:t>
            </a:r>
            <a:endParaRPr lang="en-US" altLang="zh-CN" sz="1800" dirty="0"/>
          </a:p>
        </p:txBody>
      </p:sp>
      <p:sp>
        <p:nvSpPr>
          <p:cNvPr id="37908" name="Text Box 4"/>
          <p:cNvSpPr txBox="1">
            <a:spLocks noChangeArrowheads="1"/>
          </p:cNvSpPr>
          <p:nvPr/>
        </p:nvSpPr>
        <p:spPr bwMode="auto">
          <a:xfrm>
            <a:off x="8076649" y="5826918"/>
            <a:ext cx="16208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b="1">
                <a:solidFill>
                  <a:srgbClr val="FF0000"/>
                </a:solidFill>
              </a:rPr>
              <a:t>放电：“吸热”</a:t>
            </a:r>
          </a:p>
        </p:txBody>
      </p:sp>
      <p:sp>
        <p:nvSpPr>
          <p:cNvPr id="37909" name="Text Box 4"/>
          <p:cNvSpPr txBox="1">
            <a:spLocks noChangeArrowheads="1"/>
          </p:cNvSpPr>
          <p:nvPr/>
        </p:nvSpPr>
        <p:spPr bwMode="auto">
          <a:xfrm>
            <a:off x="8076649" y="6276182"/>
            <a:ext cx="1620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b="1">
                <a:solidFill>
                  <a:srgbClr val="FF0000"/>
                </a:solidFill>
              </a:rPr>
              <a:t>充电：“放热”</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a:xfrm>
            <a:off x="3276600" y="152401"/>
            <a:ext cx="5105400" cy="555625"/>
          </a:xfrm>
        </p:spPr>
        <p:txBody>
          <a:bodyPr/>
          <a:lstStyle/>
          <a:p>
            <a:r>
              <a:rPr lang="zh-CN" altLang="en-US" sz="2800"/>
              <a:t>锂离子电池工作原理</a:t>
            </a:r>
          </a:p>
        </p:txBody>
      </p:sp>
      <p:pic>
        <p:nvPicPr>
          <p:cNvPr id="38915" name="Picture 4" descr="20091113141263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914401"/>
            <a:ext cx="347345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 Box 5"/>
          <p:cNvSpPr txBox="1">
            <a:spLocks noChangeArrowheads="1"/>
          </p:cNvSpPr>
          <p:nvPr/>
        </p:nvSpPr>
        <p:spPr bwMode="auto">
          <a:xfrm>
            <a:off x="1524000" y="3962401"/>
            <a:ext cx="533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b="1"/>
              <a:t>正极反应：放电时锂离子嵌入，充电时锂离子脱嵌</a:t>
            </a:r>
            <a:r>
              <a:rPr lang="zh-CN" altLang="en-US" sz="1800"/>
              <a:t> </a:t>
            </a:r>
          </a:p>
        </p:txBody>
      </p:sp>
      <p:sp>
        <p:nvSpPr>
          <p:cNvPr id="38917" name="Text Box 6"/>
          <p:cNvSpPr txBox="1">
            <a:spLocks noChangeArrowheads="1"/>
          </p:cNvSpPr>
          <p:nvPr/>
        </p:nvSpPr>
        <p:spPr bwMode="auto">
          <a:xfrm>
            <a:off x="1524001" y="4953001"/>
            <a:ext cx="5311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a:t>负极反应：放电时锂离子脱插，充电时锂离子插入</a:t>
            </a:r>
            <a:r>
              <a:rPr lang="zh-CN" altLang="en-US" sz="1800"/>
              <a:t> </a:t>
            </a:r>
          </a:p>
        </p:txBody>
      </p:sp>
      <p:grpSp>
        <p:nvGrpSpPr>
          <p:cNvPr id="38918" name="Group 15"/>
          <p:cNvGrpSpPr>
            <a:grpSpLocks/>
          </p:cNvGrpSpPr>
          <p:nvPr/>
        </p:nvGrpSpPr>
        <p:grpSpPr bwMode="auto">
          <a:xfrm>
            <a:off x="2209801" y="4267201"/>
            <a:ext cx="3838575" cy="677863"/>
            <a:chOff x="1488" y="3799"/>
            <a:chExt cx="2418" cy="427"/>
          </a:xfrm>
        </p:grpSpPr>
        <p:sp>
          <p:nvSpPr>
            <p:cNvPr id="38944" name="Text Box 11"/>
            <p:cNvSpPr txBox="1">
              <a:spLocks noChangeArrowheads="1"/>
            </p:cNvSpPr>
            <p:nvPr/>
          </p:nvSpPr>
          <p:spPr bwMode="auto">
            <a:xfrm>
              <a:off x="2054" y="3799"/>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Charge</a:t>
              </a:r>
            </a:p>
          </p:txBody>
        </p:sp>
        <p:grpSp>
          <p:nvGrpSpPr>
            <p:cNvPr id="38945" name="Group 14"/>
            <p:cNvGrpSpPr>
              <a:grpSpLocks/>
            </p:cNvGrpSpPr>
            <p:nvPr/>
          </p:nvGrpSpPr>
          <p:grpSpPr bwMode="auto">
            <a:xfrm>
              <a:off x="1488" y="3888"/>
              <a:ext cx="2418" cy="338"/>
              <a:chOff x="1488" y="3888"/>
              <a:chExt cx="2418" cy="338"/>
            </a:xfrm>
          </p:grpSpPr>
          <p:sp>
            <p:nvSpPr>
              <p:cNvPr id="38946" name="Text Box 7"/>
              <p:cNvSpPr txBox="1">
                <a:spLocks noChangeArrowheads="1"/>
              </p:cNvSpPr>
              <p:nvPr/>
            </p:nvSpPr>
            <p:spPr bwMode="auto">
              <a:xfrm>
                <a:off x="1488" y="3888"/>
                <a:ext cx="5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LiCoO</a:t>
                </a:r>
                <a:r>
                  <a:rPr lang="en-US" altLang="zh-CN" sz="1800" baseline="-25000"/>
                  <a:t>2</a:t>
                </a:r>
              </a:p>
            </p:txBody>
          </p:sp>
          <p:sp>
            <p:nvSpPr>
              <p:cNvPr id="38947" name="Text Box 8"/>
              <p:cNvSpPr txBox="1">
                <a:spLocks noChangeArrowheads="1"/>
              </p:cNvSpPr>
              <p:nvPr/>
            </p:nvSpPr>
            <p:spPr bwMode="auto">
              <a:xfrm>
                <a:off x="2592" y="3888"/>
                <a:ext cx="131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Li</a:t>
                </a:r>
                <a:r>
                  <a:rPr lang="en-US" altLang="zh-CN" sz="1800" baseline="-25000"/>
                  <a:t>1-x</a:t>
                </a:r>
                <a:r>
                  <a:rPr lang="en-US" altLang="zh-CN" sz="1800"/>
                  <a:t>CoO</a:t>
                </a:r>
                <a:r>
                  <a:rPr lang="en-US" altLang="zh-CN" sz="1800" baseline="-25000"/>
                  <a:t>2</a:t>
                </a:r>
                <a:r>
                  <a:rPr lang="en-US" altLang="zh-CN" sz="1800"/>
                  <a:t>+xLi</a:t>
                </a:r>
                <a:r>
                  <a:rPr lang="en-US" altLang="zh-CN" sz="1800" baseline="30000"/>
                  <a:t>+</a:t>
                </a:r>
                <a:r>
                  <a:rPr lang="en-US" altLang="zh-CN" sz="1800"/>
                  <a:t>+xe</a:t>
                </a:r>
                <a:r>
                  <a:rPr lang="en-US" altLang="zh-CN" sz="1800" baseline="30000"/>
                  <a:t>-</a:t>
                </a:r>
              </a:p>
            </p:txBody>
          </p:sp>
          <p:sp>
            <p:nvSpPr>
              <p:cNvPr id="38948" name="Line 9"/>
              <p:cNvSpPr>
                <a:spLocks noChangeShapeType="1"/>
              </p:cNvSpPr>
              <p:nvPr/>
            </p:nvSpPr>
            <p:spPr bwMode="auto">
              <a:xfrm>
                <a:off x="2064" y="3984"/>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9" name="Line 10"/>
              <p:cNvSpPr>
                <a:spLocks noChangeShapeType="1"/>
              </p:cNvSpPr>
              <p:nvPr/>
            </p:nvSpPr>
            <p:spPr bwMode="auto">
              <a:xfrm flipH="1">
                <a:off x="2064" y="403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0" name="Text Box 12"/>
              <p:cNvSpPr txBox="1">
                <a:spLocks noChangeArrowheads="1"/>
              </p:cNvSpPr>
              <p:nvPr/>
            </p:nvSpPr>
            <p:spPr bwMode="auto">
              <a:xfrm>
                <a:off x="2016" y="4032"/>
                <a:ext cx="6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Discharge</a:t>
                </a:r>
              </a:p>
            </p:txBody>
          </p:sp>
        </p:grpSp>
      </p:grpSp>
      <p:grpSp>
        <p:nvGrpSpPr>
          <p:cNvPr id="38919" name="Group 25"/>
          <p:cNvGrpSpPr>
            <a:grpSpLocks/>
          </p:cNvGrpSpPr>
          <p:nvPr/>
        </p:nvGrpSpPr>
        <p:grpSpPr bwMode="auto">
          <a:xfrm>
            <a:off x="2209800" y="5334001"/>
            <a:ext cx="2787650" cy="688975"/>
            <a:chOff x="528" y="3552"/>
            <a:chExt cx="1756" cy="434"/>
          </a:xfrm>
        </p:grpSpPr>
        <p:sp>
          <p:nvSpPr>
            <p:cNvPr id="38937" name="Text Box 16"/>
            <p:cNvSpPr txBox="1">
              <a:spLocks noChangeArrowheads="1"/>
            </p:cNvSpPr>
            <p:nvPr/>
          </p:nvSpPr>
          <p:spPr bwMode="auto">
            <a:xfrm>
              <a:off x="528" y="3648"/>
              <a:ext cx="81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C+xLi</a:t>
              </a:r>
              <a:r>
                <a:rPr lang="en-US" altLang="zh-CN" sz="1800" baseline="30000"/>
                <a:t>+</a:t>
              </a:r>
              <a:r>
                <a:rPr lang="en-US" altLang="zh-CN" sz="1800"/>
                <a:t>+xe</a:t>
              </a:r>
              <a:r>
                <a:rPr lang="en-US" altLang="zh-CN" sz="1800" baseline="30000"/>
                <a:t>-</a:t>
              </a:r>
            </a:p>
          </p:txBody>
        </p:sp>
        <p:grpSp>
          <p:nvGrpSpPr>
            <p:cNvPr id="38938" name="Group 24"/>
            <p:cNvGrpSpPr>
              <a:grpSpLocks/>
            </p:cNvGrpSpPr>
            <p:nvPr/>
          </p:nvGrpSpPr>
          <p:grpSpPr bwMode="auto">
            <a:xfrm>
              <a:off x="1296" y="3552"/>
              <a:ext cx="988" cy="434"/>
              <a:chOff x="1296" y="3552"/>
              <a:chExt cx="988" cy="434"/>
            </a:xfrm>
          </p:grpSpPr>
          <p:sp>
            <p:nvSpPr>
              <p:cNvPr id="38939" name="Text Box 18"/>
              <p:cNvSpPr txBox="1">
                <a:spLocks noChangeArrowheads="1"/>
              </p:cNvSpPr>
              <p:nvPr/>
            </p:nvSpPr>
            <p:spPr bwMode="auto">
              <a:xfrm>
                <a:off x="1872" y="3648"/>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CLi</a:t>
                </a:r>
                <a:r>
                  <a:rPr lang="en-US" altLang="zh-CN" sz="1800" baseline="-25000"/>
                  <a:t>x</a:t>
                </a:r>
              </a:p>
            </p:txBody>
          </p:sp>
          <p:sp>
            <p:nvSpPr>
              <p:cNvPr id="38940" name="Line 19"/>
              <p:cNvSpPr>
                <a:spLocks noChangeShapeType="1"/>
              </p:cNvSpPr>
              <p:nvPr/>
            </p:nvSpPr>
            <p:spPr bwMode="auto">
              <a:xfrm>
                <a:off x="1344" y="3744"/>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1" name="Line 21"/>
              <p:cNvSpPr>
                <a:spLocks noChangeShapeType="1"/>
              </p:cNvSpPr>
              <p:nvPr/>
            </p:nvSpPr>
            <p:spPr bwMode="auto">
              <a:xfrm flipH="1">
                <a:off x="1296" y="3792"/>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2" name="Text Box 22"/>
              <p:cNvSpPr txBox="1">
                <a:spLocks noChangeArrowheads="1"/>
              </p:cNvSpPr>
              <p:nvPr/>
            </p:nvSpPr>
            <p:spPr bwMode="auto">
              <a:xfrm>
                <a:off x="1344" y="3552"/>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Charge</a:t>
                </a:r>
              </a:p>
            </p:txBody>
          </p:sp>
          <p:sp>
            <p:nvSpPr>
              <p:cNvPr id="38943" name="Text Box 23"/>
              <p:cNvSpPr txBox="1">
                <a:spLocks noChangeArrowheads="1"/>
              </p:cNvSpPr>
              <p:nvPr/>
            </p:nvSpPr>
            <p:spPr bwMode="auto">
              <a:xfrm>
                <a:off x="1296" y="3792"/>
                <a:ext cx="6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Discharge</a:t>
                </a:r>
              </a:p>
            </p:txBody>
          </p:sp>
        </p:grpSp>
      </p:grpSp>
      <p:sp>
        <p:nvSpPr>
          <p:cNvPr id="38920" name="Text Box 26"/>
          <p:cNvSpPr txBox="1">
            <a:spLocks noChangeArrowheads="1"/>
          </p:cNvSpPr>
          <p:nvPr/>
        </p:nvSpPr>
        <p:spPr bwMode="auto">
          <a:xfrm>
            <a:off x="1524001" y="6172201"/>
            <a:ext cx="1565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a:t>电池总反应：</a:t>
            </a:r>
          </a:p>
        </p:txBody>
      </p:sp>
      <p:grpSp>
        <p:nvGrpSpPr>
          <p:cNvPr id="38921" name="Group 36"/>
          <p:cNvGrpSpPr>
            <a:grpSpLocks/>
          </p:cNvGrpSpPr>
          <p:nvPr/>
        </p:nvGrpSpPr>
        <p:grpSpPr bwMode="auto">
          <a:xfrm>
            <a:off x="2971800" y="6019801"/>
            <a:ext cx="3768726" cy="612775"/>
            <a:chOff x="1142" y="3792"/>
            <a:chExt cx="2374" cy="386"/>
          </a:xfrm>
        </p:grpSpPr>
        <p:sp>
          <p:nvSpPr>
            <p:cNvPr id="38929" name="Text Box 32"/>
            <p:cNvSpPr txBox="1">
              <a:spLocks noChangeArrowheads="1"/>
            </p:cNvSpPr>
            <p:nvPr/>
          </p:nvSpPr>
          <p:spPr bwMode="auto">
            <a:xfrm>
              <a:off x="1968" y="3792"/>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Charge</a:t>
              </a:r>
            </a:p>
          </p:txBody>
        </p:sp>
        <p:grpSp>
          <p:nvGrpSpPr>
            <p:cNvPr id="38930" name="Group 35"/>
            <p:cNvGrpSpPr>
              <a:grpSpLocks/>
            </p:cNvGrpSpPr>
            <p:nvPr/>
          </p:nvGrpSpPr>
          <p:grpSpPr bwMode="auto">
            <a:xfrm>
              <a:off x="1142" y="3888"/>
              <a:ext cx="2374" cy="290"/>
              <a:chOff x="1142" y="3888"/>
              <a:chExt cx="2374" cy="290"/>
            </a:xfrm>
          </p:grpSpPr>
          <p:sp>
            <p:nvSpPr>
              <p:cNvPr id="38931" name="Text Box 29"/>
              <p:cNvSpPr txBox="1">
                <a:spLocks noChangeArrowheads="1"/>
              </p:cNvSpPr>
              <p:nvPr/>
            </p:nvSpPr>
            <p:spPr bwMode="auto">
              <a:xfrm>
                <a:off x="2448" y="3888"/>
                <a:ext cx="10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Li</a:t>
                </a:r>
                <a:r>
                  <a:rPr lang="en-US" altLang="zh-CN" sz="1800" baseline="-25000"/>
                  <a:t>1-x</a:t>
                </a:r>
                <a:r>
                  <a:rPr lang="en-US" altLang="zh-CN" sz="1800"/>
                  <a:t>CoO</a:t>
                </a:r>
                <a:r>
                  <a:rPr lang="en-US" altLang="zh-CN" sz="1800" baseline="-25000"/>
                  <a:t>2</a:t>
                </a:r>
                <a:r>
                  <a:rPr lang="en-US" altLang="zh-CN" sz="1800"/>
                  <a:t>+CLi</a:t>
                </a:r>
                <a:r>
                  <a:rPr lang="en-US" altLang="zh-CN" sz="1800" baseline="-25000"/>
                  <a:t>x</a:t>
                </a:r>
              </a:p>
            </p:txBody>
          </p:sp>
          <p:grpSp>
            <p:nvGrpSpPr>
              <p:cNvPr id="38932" name="Group 34"/>
              <p:cNvGrpSpPr>
                <a:grpSpLocks/>
              </p:cNvGrpSpPr>
              <p:nvPr/>
            </p:nvGrpSpPr>
            <p:grpSpPr bwMode="auto">
              <a:xfrm>
                <a:off x="1142" y="3912"/>
                <a:ext cx="1402" cy="266"/>
                <a:chOff x="1142" y="3912"/>
                <a:chExt cx="1402" cy="266"/>
              </a:xfrm>
            </p:grpSpPr>
            <p:sp>
              <p:nvSpPr>
                <p:cNvPr id="38933" name="Text Box 27"/>
                <p:cNvSpPr txBox="1">
                  <a:spLocks noChangeArrowheads="1"/>
                </p:cNvSpPr>
                <p:nvPr/>
              </p:nvSpPr>
              <p:spPr bwMode="auto">
                <a:xfrm>
                  <a:off x="1142" y="3912"/>
                  <a:ext cx="8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LiCoO</a:t>
                  </a:r>
                  <a:r>
                    <a:rPr lang="en-US" altLang="zh-CN" sz="1800" baseline="-25000"/>
                    <a:t>2</a:t>
                  </a:r>
                  <a:r>
                    <a:rPr lang="en-US" altLang="zh-CN" sz="1800"/>
                    <a:t> + C</a:t>
                  </a:r>
                </a:p>
              </p:txBody>
            </p:sp>
            <p:sp>
              <p:nvSpPr>
                <p:cNvPr id="38934" name="Line 30"/>
                <p:cNvSpPr>
                  <a:spLocks noChangeShapeType="1"/>
                </p:cNvSpPr>
                <p:nvPr/>
              </p:nvSpPr>
              <p:spPr bwMode="auto">
                <a:xfrm>
                  <a:off x="1920" y="3984"/>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5" name="Line 31"/>
                <p:cNvSpPr>
                  <a:spLocks noChangeShapeType="1"/>
                </p:cNvSpPr>
                <p:nvPr/>
              </p:nvSpPr>
              <p:spPr bwMode="auto">
                <a:xfrm flipH="1">
                  <a:off x="1920" y="4032"/>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6" name="Text Box 33"/>
                <p:cNvSpPr txBox="1">
                  <a:spLocks noChangeArrowheads="1"/>
                </p:cNvSpPr>
                <p:nvPr/>
              </p:nvSpPr>
              <p:spPr bwMode="auto">
                <a:xfrm>
                  <a:off x="1920" y="3984"/>
                  <a:ext cx="6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Discharge</a:t>
                  </a:r>
                </a:p>
              </p:txBody>
            </p:sp>
          </p:grpSp>
        </p:grpSp>
      </p:grpSp>
      <p:sp>
        <p:nvSpPr>
          <p:cNvPr id="38922" name="Text Box 37"/>
          <p:cNvSpPr txBox="1">
            <a:spLocks noChangeArrowheads="1"/>
          </p:cNvSpPr>
          <p:nvPr/>
        </p:nvSpPr>
        <p:spPr bwMode="auto">
          <a:xfrm>
            <a:off x="5638800" y="1219200"/>
            <a:ext cx="1327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t>商用聚合物</a:t>
            </a:r>
          </a:p>
          <a:p>
            <a:pPr eaLnBrk="1" hangingPunct="1">
              <a:spcBef>
                <a:spcPct val="0"/>
              </a:spcBef>
              <a:buFontTx/>
              <a:buNone/>
            </a:pPr>
            <a:r>
              <a:rPr lang="zh-CN" altLang="en-US" sz="1800"/>
              <a:t>锂离子电池</a:t>
            </a:r>
          </a:p>
        </p:txBody>
      </p:sp>
      <p:sp>
        <p:nvSpPr>
          <p:cNvPr id="38923" name="AutoShape 38"/>
          <p:cNvSpPr>
            <a:spLocks noChangeArrowheads="1"/>
          </p:cNvSpPr>
          <p:nvPr/>
        </p:nvSpPr>
        <p:spPr bwMode="auto">
          <a:xfrm>
            <a:off x="5486400" y="2362200"/>
            <a:ext cx="1828800" cy="381000"/>
          </a:xfrm>
          <a:prstGeom prst="rightArrow">
            <a:avLst>
              <a:gd name="adj1" fmla="val 50000"/>
              <a:gd name="adj2" fmla="val 120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38924" name="Picture 39" descr="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609600"/>
            <a:ext cx="3138488"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5" name="Picture 40" descr="201303140924582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4114801"/>
            <a:ext cx="3238500" cy="215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6" name="AutoShape 41"/>
          <p:cNvSpPr>
            <a:spLocks noChangeArrowheads="1"/>
          </p:cNvSpPr>
          <p:nvPr/>
        </p:nvSpPr>
        <p:spPr bwMode="auto">
          <a:xfrm>
            <a:off x="5334000" y="1981200"/>
            <a:ext cx="1752600" cy="381000"/>
          </a:xfrm>
          <a:prstGeom prst="leftArrow">
            <a:avLst>
              <a:gd name="adj1" fmla="val 50000"/>
              <a:gd name="adj2" fmla="val 115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8927" name="Text Box 42"/>
          <p:cNvSpPr txBox="1">
            <a:spLocks noChangeArrowheads="1"/>
          </p:cNvSpPr>
          <p:nvPr/>
        </p:nvSpPr>
        <p:spPr bwMode="auto">
          <a:xfrm>
            <a:off x="5410200" y="2819401"/>
            <a:ext cx="178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t>水基锂离子电池</a:t>
            </a:r>
          </a:p>
        </p:txBody>
      </p:sp>
      <p:sp>
        <p:nvSpPr>
          <p:cNvPr id="38928" name="Text Box 43"/>
          <p:cNvSpPr txBox="1">
            <a:spLocks noChangeArrowheads="1"/>
          </p:cNvSpPr>
          <p:nvPr/>
        </p:nvSpPr>
        <p:spPr bwMode="auto">
          <a:xfrm>
            <a:off x="7239001" y="6324600"/>
            <a:ext cx="3555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Wang et al. Nat. Sci. Report. 2013,3,1401</a:t>
            </a:r>
            <a:r>
              <a:rPr lang="en-US" altLang="zh-CN" sz="180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155340" y="45245"/>
            <a:ext cx="5465762" cy="528638"/>
          </a:xfrm>
          <a:prstGeom prst="rect">
            <a:avLst/>
          </a:prstGeom>
          <a:solidFill>
            <a:srgbClr val="FFFF99"/>
          </a:solidFill>
          <a:ln w="9525">
            <a:solidFill>
              <a:srgbClr val="CCFFFF"/>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ea typeface="楷体_GB2312"/>
                <a:cs typeface="楷体_GB2312"/>
              </a:rPr>
              <a:t>温差电现象</a:t>
            </a:r>
          </a:p>
        </p:txBody>
      </p:sp>
      <p:grpSp>
        <p:nvGrpSpPr>
          <p:cNvPr id="40963" name="Group 3"/>
          <p:cNvGrpSpPr>
            <a:grpSpLocks/>
          </p:cNvGrpSpPr>
          <p:nvPr/>
        </p:nvGrpSpPr>
        <p:grpSpPr bwMode="auto">
          <a:xfrm>
            <a:off x="8697298" y="501002"/>
            <a:ext cx="2814638" cy="2236787"/>
            <a:chOff x="72" y="681"/>
            <a:chExt cx="2400" cy="1815"/>
          </a:xfrm>
        </p:grpSpPr>
        <p:grpSp>
          <p:nvGrpSpPr>
            <p:cNvPr id="40988" name="Group 4"/>
            <p:cNvGrpSpPr>
              <a:grpSpLocks/>
            </p:cNvGrpSpPr>
            <p:nvPr/>
          </p:nvGrpSpPr>
          <p:grpSpPr bwMode="auto">
            <a:xfrm>
              <a:off x="432" y="960"/>
              <a:ext cx="1728" cy="480"/>
              <a:chOff x="432" y="960"/>
              <a:chExt cx="1728" cy="480"/>
            </a:xfrm>
          </p:grpSpPr>
          <p:sp>
            <p:nvSpPr>
              <p:cNvPr id="41016" name="Freeform 5"/>
              <p:cNvSpPr>
                <a:spLocks/>
              </p:cNvSpPr>
              <p:nvPr/>
            </p:nvSpPr>
            <p:spPr bwMode="auto">
              <a:xfrm>
                <a:off x="432" y="960"/>
                <a:ext cx="1728" cy="480"/>
              </a:xfrm>
              <a:custGeom>
                <a:avLst/>
                <a:gdLst>
                  <a:gd name="T0" fmla="*/ 0 w 1728"/>
                  <a:gd name="T1" fmla="*/ 10018 h 392"/>
                  <a:gd name="T2" fmla="*/ 288 w 1728"/>
                  <a:gd name="T3" fmla="*/ 3887 h 392"/>
                  <a:gd name="T4" fmla="*/ 912 w 1728"/>
                  <a:gd name="T5" fmla="*/ 200 h 392"/>
                  <a:gd name="T6" fmla="*/ 1584 w 1728"/>
                  <a:gd name="T7" fmla="*/ 5101 h 392"/>
                  <a:gd name="T8" fmla="*/ 1728 w 1728"/>
                  <a:gd name="T9" fmla="*/ 10018 h 392"/>
                  <a:gd name="T10" fmla="*/ 0 60000 65536"/>
                  <a:gd name="T11" fmla="*/ 0 60000 65536"/>
                  <a:gd name="T12" fmla="*/ 0 60000 65536"/>
                  <a:gd name="T13" fmla="*/ 0 60000 65536"/>
                  <a:gd name="T14" fmla="*/ 0 60000 65536"/>
                  <a:gd name="T15" fmla="*/ 0 w 1728"/>
                  <a:gd name="T16" fmla="*/ 0 h 392"/>
                  <a:gd name="T17" fmla="*/ 1728 w 1728"/>
                  <a:gd name="T18" fmla="*/ 392 h 392"/>
                </a:gdLst>
                <a:ahLst/>
                <a:cxnLst>
                  <a:cxn ang="T10">
                    <a:pos x="T0" y="T1"/>
                  </a:cxn>
                  <a:cxn ang="T11">
                    <a:pos x="T2" y="T3"/>
                  </a:cxn>
                  <a:cxn ang="T12">
                    <a:pos x="T4" y="T5"/>
                  </a:cxn>
                  <a:cxn ang="T13">
                    <a:pos x="T6" y="T7"/>
                  </a:cxn>
                  <a:cxn ang="T14">
                    <a:pos x="T8" y="T9"/>
                  </a:cxn>
                </a:cxnLst>
                <a:rect l="T15" t="T16" r="T17" b="T18"/>
                <a:pathLst>
                  <a:path w="1728" h="392">
                    <a:moveTo>
                      <a:pt x="0" y="392"/>
                    </a:moveTo>
                    <a:cubicBezTo>
                      <a:pt x="68" y="304"/>
                      <a:pt x="136" y="216"/>
                      <a:pt x="288" y="152"/>
                    </a:cubicBezTo>
                    <a:cubicBezTo>
                      <a:pt x="440" y="88"/>
                      <a:pt x="696" y="0"/>
                      <a:pt x="912" y="8"/>
                    </a:cubicBezTo>
                    <a:cubicBezTo>
                      <a:pt x="1128" y="16"/>
                      <a:pt x="1448" y="136"/>
                      <a:pt x="1584" y="200"/>
                    </a:cubicBezTo>
                    <a:cubicBezTo>
                      <a:pt x="1720" y="264"/>
                      <a:pt x="1724" y="328"/>
                      <a:pt x="1728" y="392"/>
                    </a:cubicBezTo>
                  </a:path>
                </a:pathLst>
              </a:custGeom>
              <a:noFill/>
              <a:ln w="3810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017" name="Freeform 6"/>
              <p:cNvSpPr>
                <a:spLocks/>
              </p:cNvSpPr>
              <p:nvPr/>
            </p:nvSpPr>
            <p:spPr bwMode="auto">
              <a:xfrm>
                <a:off x="624" y="1152"/>
                <a:ext cx="1344" cy="288"/>
              </a:xfrm>
              <a:custGeom>
                <a:avLst/>
                <a:gdLst>
                  <a:gd name="T0" fmla="*/ 0 w 1728"/>
                  <a:gd name="T1" fmla="*/ 3 h 392"/>
                  <a:gd name="T2" fmla="*/ 5 w 1728"/>
                  <a:gd name="T3" fmla="*/ 1 h 392"/>
                  <a:gd name="T4" fmla="*/ 16 w 1728"/>
                  <a:gd name="T5" fmla="*/ 1 h 392"/>
                  <a:gd name="T6" fmla="*/ 29 w 1728"/>
                  <a:gd name="T7" fmla="*/ 1 h 392"/>
                  <a:gd name="T8" fmla="*/ 31 w 1728"/>
                  <a:gd name="T9" fmla="*/ 3 h 392"/>
                  <a:gd name="T10" fmla="*/ 0 60000 65536"/>
                  <a:gd name="T11" fmla="*/ 0 60000 65536"/>
                  <a:gd name="T12" fmla="*/ 0 60000 65536"/>
                  <a:gd name="T13" fmla="*/ 0 60000 65536"/>
                  <a:gd name="T14" fmla="*/ 0 60000 65536"/>
                  <a:gd name="T15" fmla="*/ 0 w 1728"/>
                  <a:gd name="T16" fmla="*/ 0 h 392"/>
                  <a:gd name="T17" fmla="*/ 1728 w 1728"/>
                  <a:gd name="T18" fmla="*/ 392 h 392"/>
                </a:gdLst>
                <a:ahLst/>
                <a:cxnLst>
                  <a:cxn ang="T10">
                    <a:pos x="T0" y="T1"/>
                  </a:cxn>
                  <a:cxn ang="T11">
                    <a:pos x="T2" y="T3"/>
                  </a:cxn>
                  <a:cxn ang="T12">
                    <a:pos x="T4" y="T5"/>
                  </a:cxn>
                  <a:cxn ang="T13">
                    <a:pos x="T6" y="T7"/>
                  </a:cxn>
                  <a:cxn ang="T14">
                    <a:pos x="T8" y="T9"/>
                  </a:cxn>
                </a:cxnLst>
                <a:rect l="T15" t="T16" r="T17" b="T18"/>
                <a:pathLst>
                  <a:path w="1728" h="392">
                    <a:moveTo>
                      <a:pt x="0" y="392"/>
                    </a:moveTo>
                    <a:cubicBezTo>
                      <a:pt x="68" y="304"/>
                      <a:pt x="136" y="216"/>
                      <a:pt x="288" y="152"/>
                    </a:cubicBezTo>
                    <a:cubicBezTo>
                      <a:pt x="440" y="88"/>
                      <a:pt x="696" y="0"/>
                      <a:pt x="912" y="8"/>
                    </a:cubicBezTo>
                    <a:cubicBezTo>
                      <a:pt x="1128" y="16"/>
                      <a:pt x="1448" y="136"/>
                      <a:pt x="1584" y="200"/>
                    </a:cubicBezTo>
                    <a:cubicBezTo>
                      <a:pt x="1720" y="264"/>
                      <a:pt x="1724" y="328"/>
                      <a:pt x="1728" y="392"/>
                    </a:cubicBezTo>
                  </a:path>
                </a:pathLst>
              </a:custGeom>
              <a:noFill/>
              <a:ln w="3810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018" name="Line 7"/>
              <p:cNvSpPr>
                <a:spLocks noChangeShapeType="1"/>
              </p:cNvSpPr>
              <p:nvPr/>
            </p:nvSpPr>
            <p:spPr bwMode="auto">
              <a:xfrm>
                <a:off x="432" y="1440"/>
                <a:ext cx="192"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9" name="Line 8"/>
              <p:cNvSpPr>
                <a:spLocks noChangeShapeType="1"/>
              </p:cNvSpPr>
              <p:nvPr/>
            </p:nvSpPr>
            <p:spPr bwMode="auto">
              <a:xfrm>
                <a:off x="1968" y="1440"/>
                <a:ext cx="192"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0989" name="Group 9"/>
            <p:cNvGrpSpPr>
              <a:grpSpLocks/>
            </p:cNvGrpSpPr>
            <p:nvPr/>
          </p:nvGrpSpPr>
          <p:grpSpPr bwMode="auto">
            <a:xfrm flipV="1">
              <a:off x="432" y="1440"/>
              <a:ext cx="1728" cy="480"/>
              <a:chOff x="432" y="960"/>
              <a:chExt cx="1728" cy="480"/>
            </a:xfrm>
          </p:grpSpPr>
          <p:sp>
            <p:nvSpPr>
              <p:cNvPr id="41012" name="Freeform 10"/>
              <p:cNvSpPr>
                <a:spLocks/>
              </p:cNvSpPr>
              <p:nvPr/>
            </p:nvSpPr>
            <p:spPr bwMode="auto">
              <a:xfrm>
                <a:off x="432" y="960"/>
                <a:ext cx="1728" cy="480"/>
              </a:xfrm>
              <a:custGeom>
                <a:avLst/>
                <a:gdLst>
                  <a:gd name="T0" fmla="*/ 0 w 1728"/>
                  <a:gd name="T1" fmla="*/ 10018 h 392"/>
                  <a:gd name="T2" fmla="*/ 288 w 1728"/>
                  <a:gd name="T3" fmla="*/ 3887 h 392"/>
                  <a:gd name="T4" fmla="*/ 912 w 1728"/>
                  <a:gd name="T5" fmla="*/ 200 h 392"/>
                  <a:gd name="T6" fmla="*/ 1584 w 1728"/>
                  <a:gd name="T7" fmla="*/ 5101 h 392"/>
                  <a:gd name="T8" fmla="*/ 1728 w 1728"/>
                  <a:gd name="T9" fmla="*/ 10018 h 392"/>
                  <a:gd name="T10" fmla="*/ 0 60000 65536"/>
                  <a:gd name="T11" fmla="*/ 0 60000 65536"/>
                  <a:gd name="T12" fmla="*/ 0 60000 65536"/>
                  <a:gd name="T13" fmla="*/ 0 60000 65536"/>
                  <a:gd name="T14" fmla="*/ 0 60000 65536"/>
                  <a:gd name="T15" fmla="*/ 0 w 1728"/>
                  <a:gd name="T16" fmla="*/ 0 h 392"/>
                  <a:gd name="T17" fmla="*/ 1728 w 1728"/>
                  <a:gd name="T18" fmla="*/ 392 h 392"/>
                </a:gdLst>
                <a:ahLst/>
                <a:cxnLst>
                  <a:cxn ang="T10">
                    <a:pos x="T0" y="T1"/>
                  </a:cxn>
                  <a:cxn ang="T11">
                    <a:pos x="T2" y="T3"/>
                  </a:cxn>
                  <a:cxn ang="T12">
                    <a:pos x="T4" y="T5"/>
                  </a:cxn>
                  <a:cxn ang="T13">
                    <a:pos x="T6" y="T7"/>
                  </a:cxn>
                  <a:cxn ang="T14">
                    <a:pos x="T8" y="T9"/>
                  </a:cxn>
                </a:cxnLst>
                <a:rect l="T15" t="T16" r="T17" b="T18"/>
                <a:pathLst>
                  <a:path w="1728" h="392">
                    <a:moveTo>
                      <a:pt x="0" y="392"/>
                    </a:moveTo>
                    <a:cubicBezTo>
                      <a:pt x="68" y="304"/>
                      <a:pt x="136" y="216"/>
                      <a:pt x="288" y="152"/>
                    </a:cubicBezTo>
                    <a:cubicBezTo>
                      <a:pt x="440" y="88"/>
                      <a:pt x="696" y="0"/>
                      <a:pt x="912" y="8"/>
                    </a:cubicBezTo>
                    <a:cubicBezTo>
                      <a:pt x="1128" y="16"/>
                      <a:pt x="1448" y="136"/>
                      <a:pt x="1584" y="200"/>
                    </a:cubicBezTo>
                    <a:cubicBezTo>
                      <a:pt x="1720" y="264"/>
                      <a:pt x="1724" y="328"/>
                      <a:pt x="1728" y="392"/>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013" name="Freeform 11"/>
              <p:cNvSpPr>
                <a:spLocks/>
              </p:cNvSpPr>
              <p:nvPr/>
            </p:nvSpPr>
            <p:spPr bwMode="auto">
              <a:xfrm>
                <a:off x="624" y="1152"/>
                <a:ext cx="1344" cy="288"/>
              </a:xfrm>
              <a:custGeom>
                <a:avLst/>
                <a:gdLst>
                  <a:gd name="T0" fmla="*/ 0 w 1728"/>
                  <a:gd name="T1" fmla="*/ 3 h 392"/>
                  <a:gd name="T2" fmla="*/ 5 w 1728"/>
                  <a:gd name="T3" fmla="*/ 1 h 392"/>
                  <a:gd name="T4" fmla="*/ 16 w 1728"/>
                  <a:gd name="T5" fmla="*/ 1 h 392"/>
                  <a:gd name="T6" fmla="*/ 29 w 1728"/>
                  <a:gd name="T7" fmla="*/ 1 h 392"/>
                  <a:gd name="T8" fmla="*/ 31 w 1728"/>
                  <a:gd name="T9" fmla="*/ 3 h 392"/>
                  <a:gd name="T10" fmla="*/ 0 60000 65536"/>
                  <a:gd name="T11" fmla="*/ 0 60000 65536"/>
                  <a:gd name="T12" fmla="*/ 0 60000 65536"/>
                  <a:gd name="T13" fmla="*/ 0 60000 65536"/>
                  <a:gd name="T14" fmla="*/ 0 60000 65536"/>
                  <a:gd name="T15" fmla="*/ 0 w 1728"/>
                  <a:gd name="T16" fmla="*/ 0 h 392"/>
                  <a:gd name="T17" fmla="*/ 1728 w 1728"/>
                  <a:gd name="T18" fmla="*/ 392 h 392"/>
                </a:gdLst>
                <a:ahLst/>
                <a:cxnLst>
                  <a:cxn ang="T10">
                    <a:pos x="T0" y="T1"/>
                  </a:cxn>
                  <a:cxn ang="T11">
                    <a:pos x="T2" y="T3"/>
                  </a:cxn>
                  <a:cxn ang="T12">
                    <a:pos x="T4" y="T5"/>
                  </a:cxn>
                  <a:cxn ang="T13">
                    <a:pos x="T6" y="T7"/>
                  </a:cxn>
                  <a:cxn ang="T14">
                    <a:pos x="T8" y="T9"/>
                  </a:cxn>
                </a:cxnLst>
                <a:rect l="T15" t="T16" r="T17" b="T18"/>
                <a:pathLst>
                  <a:path w="1728" h="392">
                    <a:moveTo>
                      <a:pt x="0" y="392"/>
                    </a:moveTo>
                    <a:cubicBezTo>
                      <a:pt x="68" y="304"/>
                      <a:pt x="136" y="216"/>
                      <a:pt x="288" y="152"/>
                    </a:cubicBezTo>
                    <a:cubicBezTo>
                      <a:pt x="440" y="88"/>
                      <a:pt x="696" y="0"/>
                      <a:pt x="912" y="8"/>
                    </a:cubicBezTo>
                    <a:cubicBezTo>
                      <a:pt x="1128" y="16"/>
                      <a:pt x="1448" y="136"/>
                      <a:pt x="1584" y="200"/>
                    </a:cubicBezTo>
                    <a:cubicBezTo>
                      <a:pt x="1720" y="264"/>
                      <a:pt x="1724" y="328"/>
                      <a:pt x="1728" y="392"/>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014" name="Line 12"/>
              <p:cNvSpPr>
                <a:spLocks noChangeShapeType="1"/>
              </p:cNvSpPr>
              <p:nvPr/>
            </p:nvSpPr>
            <p:spPr bwMode="auto">
              <a:xfrm>
                <a:off x="432" y="1440"/>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5" name="Line 13"/>
              <p:cNvSpPr>
                <a:spLocks noChangeShapeType="1"/>
              </p:cNvSpPr>
              <p:nvPr/>
            </p:nvSpPr>
            <p:spPr bwMode="auto">
              <a:xfrm>
                <a:off x="1968" y="1440"/>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0990" name="Text Box 14"/>
            <p:cNvSpPr txBox="1">
              <a:spLocks noChangeArrowheads="1"/>
            </p:cNvSpPr>
            <p:nvPr/>
          </p:nvSpPr>
          <p:spPr bwMode="auto">
            <a:xfrm>
              <a:off x="1103" y="1873"/>
              <a:ext cx="481"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rgbClr val="000000"/>
                  </a:solidFill>
                  <a:latin typeface="Times New Roman" panose="02020603050405020304" pitchFamily="18" charset="0"/>
                  <a:ea typeface="楷体_GB2312"/>
                  <a:cs typeface="楷体_GB2312"/>
                </a:rPr>
                <a:t>Cu</a:t>
              </a:r>
            </a:p>
          </p:txBody>
        </p:sp>
        <p:sp>
          <p:nvSpPr>
            <p:cNvPr id="40991" name="Text Box 15"/>
            <p:cNvSpPr txBox="1">
              <a:spLocks noChangeArrowheads="1"/>
            </p:cNvSpPr>
            <p:nvPr/>
          </p:nvSpPr>
          <p:spPr bwMode="auto">
            <a:xfrm>
              <a:off x="1152" y="681"/>
              <a:ext cx="479"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olidFill>
                    <a:schemeClr val="accent2"/>
                  </a:solidFill>
                  <a:latin typeface="Times New Roman" panose="02020603050405020304" pitchFamily="18" charset="0"/>
                  <a:ea typeface="楷体_GB2312"/>
                  <a:cs typeface="楷体_GB2312"/>
                </a:rPr>
                <a:t>Fe</a:t>
              </a:r>
            </a:p>
          </p:txBody>
        </p:sp>
        <p:grpSp>
          <p:nvGrpSpPr>
            <p:cNvPr id="40992" name="Group 16"/>
            <p:cNvGrpSpPr>
              <a:grpSpLocks/>
            </p:cNvGrpSpPr>
            <p:nvPr/>
          </p:nvGrpSpPr>
          <p:grpSpPr bwMode="auto">
            <a:xfrm>
              <a:off x="72" y="1564"/>
              <a:ext cx="684" cy="932"/>
              <a:chOff x="204" y="1768"/>
              <a:chExt cx="684" cy="932"/>
            </a:xfrm>
          </p:grpSpPr>
          <p:sp>
            <p:nvSpPr>
              <p:cNvPr id="40999" name="Oval 17"/>
              <p:cNvSpPr>
                <a:spLocks noChangeArrowheads="1"/>
              </p:cNvSpPr>
              <p:nvPr/>
            </p:nvSpPr>
            <p:spPr bwMode="auto">
              <a:xfrm>
                <a:off x="288" y="2256"/>
                <a:ext cx="528" cy="19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1000" name="Oval 18"/>
              <p:cNvSpPr>
                <a:spLocks noChangeArrowheads="1"/>
              </p:cNvSpPr>
              <p:nvPr/>
            </p:nvSpPr>
            <p:spPr bwMode="auto">
              <a:xfrm>
                <a:off x="288" y="2508"/>
                <a:ext cx="528" cy="19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1001" name="Rectangle 19"/>
              <p:cNvSpPr>
                <a:spLocks noChangeArrowheads="1"/>
              </p:cNvSpPr>
              <p:nvPr/>
            </p:nvSpPr>
            <p:spPr bwMode="auto">
              <a:xfrm>
                <a:off x="240" y="2460"/>
                <a:ext cx="624"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1002" name="Freeform 20"/>
              <p:cNvSpPr>
                <a:spLocks/>
              </p:cNvSpPr>
              <p:nvPr/>
            </p:nvSpPr>
            <p:spPr bwMode="auto">
              <a:xfrm>
                <a:off x="204" y="2352"/>
                <a:ext cx="60" cy="240"/>
              </a:xfrm>
              <a:custGeom>
                <a:avLst/>
                <a:gdLst>
                  <a:gd name="T0" fmla="*/ 1711 w 48"/>
                  <a:gd name="T1" fmla="*/ 0 h 288"/>
                  <a:gd name="T2" fmla="*/ 0 w 48"/>
                  <a:gd name="T3" fmla="*/ 5 h 288"/>
                  <a:gd name="T4" fmla="*/ 1711 w 48"/>
                  <a:gd name="T5" fmla="*/ 16 h 288"/>
                  <a:gd name="T6" fmla="*/ 0 60000 65536"/>
                  <a:gd name="T7" fmla="*/ 0 60000 65536"/>
                  <a:gd name="T8" fmla="*/ 0 60000 65536"/>
                  <a:gd name="T9" fmla="*/ 0 w 48"/>
                  <a:gd name="T10" fmla="*/ 0 h 288"/>
                  <a:gd name="T11" fmla="*/ 48 w 48"/>
                  <a:gd name="T12" fmla="*/ 288 h 288"/>
                </a:gdLst>
                <a:ahLst/>
                <a:cxnLst>
                  <a:cxn ang="T6">
                    <a:pos x="T0" y="T1"/>
                  </a:cxn>
                  <a:cxn ang="T7">
                    <a:pos x="T2" y="T3"/>
                  </a:cxn>
                  <a:cxn ang="T8">
                    <a:pos x="T4" y="T5"/>
                  </a:cxn>
                </a:cxnLst>
                <a:rect l="T9" t="T10" r="T11" b="T12"/>
                <a:pathLst>
                  <a:path w="48" h="288">
                    <a:moveTo>
                      <a:pt x="48" y="0"/>
                    </a:moveTo>
                    <a:cubicBezTo>
                      <a:pt x="24" y="24"/>
                      <a:pt x="0" y="48"/>
                      <a:pt x="0" y="96"/>
                    </a:cubicBezTo>
                    <a:cubicBezTo>
                      <a:pt x="0" y="144"/>
                      <a:pt x="24" y="216"/>
                      <a:pt x="48" y="28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003" name="Freeform 21"/>
              <p:cNvSpPr>
                <a:spLocks/>
              </p:cNvSpPr>
              <p:nvPr/>
            </p:nvSpPr>
            <p:spPr bwMode="auto">
              <a:xfrm flipH="1">
                <a:off x="828" y="2352"/>
                <a:ext cx="60" cy="240"/>
              </a:xfrm>
              <a:custGeom>
                <a:avLst/>
                <a:gdLst>
                  <a:gd name="T0" fmla="*/ 1711 w 48"/>
                  <a:gd name="T1" fmla="*/ 0 h 288"/>
                  <a:gd name="T2" fmla="*/ 0 w 48"/>
                  <a:gd name="T3" fmla="*/ 5 h 288"/>
                  <a:gd name="T4" fmla="*/ 1711 w 48"/>
                  <a:gd name="T5" fmla="*/ 16 h 288"/>
                  <a:gd name="T6" fmla="*/ 0 60000 65536"/>
                  <a:gd name="T7" fmla="*/ 0 60000 65536"/>
                  <a:gd name="T8" fmla="*/ 0 60000 65536"/>
                  <a:gd name="T9" fmla="*/ 0 w 48"/>
                  <a:gd name="T10" fmla="*/ 0 h 288"/>
                  <a:gd name="T11" fmla="*/ 48 w 48"/>
                  <a:gd name="T12" fmla="*/ 288 h 288"/>
                </a:gdLst>
                <a:ahLst/>
                <a:cxnLst>
                  <a:cxn ang="T6">
                    <a:pos x="T0" y="T1"/>
                  </a:cxn>
                  <a:cxn ang="T7">
                    <a:pos x="T2" y="T3"/>
                  </a:cxn>
                  <a:cxn ang="T8">
                    <a:pos x="T4" y="T5"/>
                  </a:cxn>
                </a:cxnLst>
                <a:rect l="T9" t="T10" r="T11" b="T12"/>
                <a:pathLst>
                  <a:path w="48" h="288">
                    <a:moveTo>
                      <a:pt x="48" y="0"/>
                    </a:moveTo>
                    <a:cubicBezTo>
                      <a:pt x="24" y="24"/>
                      <a:pt x="0" y="48"/>
                      <a:pt x="0" y="96"/>
                    </a:cubicBezTo>
                    <a:cubicBezTo>
                      <a:pt x="0" y="144"/>
                      <a:pt x="24" y="216"/>
                      <a:pt x="48" y="28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1004" name="Group 22"/>
              <p:cNvGrpSpPr>
                <a:grpSpLocks/>
              </p:cNvGrpSpPr>
              <p:nvPr/>
            </p:nvGrpSpPr>
            <p:grpSpPr bwMode="auto">
              <a:xfrm>
                <a:off x="408" y="2148"/>
                <a:ext cx="288" cy="216"/>
                <a:chOff x="408" y="2136"/>
                <a:chExt cx="288" cy="216"/>
              </a:xfrm>
            </p:grpSpPr>
            <p:grpSp>
              <p:nvGrpSpPr>
                <p:cNvPr id="41007" name="Group 23"/>
                <p:cNvGrpSpPr>
                  <a:grpSpLocks/>
                </p:cNvGrpSpPr>
                <p:nvPr/>
              </p:nvGrpSpPr>
              <p:grpSpPr bwMode="auto">
                <a:xfrm>
                  <a:off x="468" y="2136"/>
                  <a:ext cx="192" cy="192"/>
                  <a:chOff x="432" y="2112"/>
                  <a:chExt cx="192" cy="192"/>
                </a:xfrm>
              </p:grpSpPr>
              <p:sp>
                <p:nvSpPr>
                  <p:cNvPr id="41009" name="Line 24"/>
                  <p:cNvSpPr>
                    <a:spLocks noChangeShapeType="1"/>
                  </p:cNvSpPr>
                  <p:nvPr/>
                </p:nvSpPr>
                <p:spPr bwMode="auto">
                  <a:xfrm flipV="1">
                    <a:off x="432" y="2112"/>
                    <a:ext cx="48"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0" name="Line 25"/>
                  <p:cNvSpPr>
                    <a:spLocks noChangeShapeType="1"/>
                  </p:cNvSpPr>
                  <p:nvPr/>
                </p:nvSpPr>
                <p:spPr bwMode="auto">
                  <a:xfrm flipH="1" flipV="1">
                    <a:off x="624" y="2112"/>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1" name="Oval 26"/>
                  <p:cNvSpPr>
                    <a:spLocks noChangeArrowheads="1"/>
                  </p:cNvSpPr>
                  <p:nvPr/>
                </p:nvSpPr>
                <p:spPr bwMode="auto">
                  <a:xfrm>
                    <a:off x="480" y="2112"/>
                    <a:ext cx="144" cy="4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41008" name="Freeform 27"/>
                <p:cNvSpPr>
                  <a:spLocks/>
                </p:cNvSpPr>
                <p:nvPr/>
              </p:nvSpPr>
              <p:spPr bwMode="auto">
                <a:xfrm>
                  <a:off x="408" y="2304"/>
                  <a:ext cx="288" cy="48"/>
                </a:xfrm>
                <a:custGeom>
                  <a:avLst/>
                  <a:gdLst>
                    <a:gd name="T0" fmla="*/ 0 w 240"/>
                    <a:gd name="T1" fmla="*/ 0 h 48"/>
                    <a:gd name="T2" fmla="*/ 1777 w 240"/>
                    <a:gd name="T3" fmla="*/ 48 h 48"/>
                    <a:gd name="T4" fmla="*/ 4447 w 240"/>
                    <a:gd name="T5" fmla="*/ 0 h 48"/>
                    <a:gd name="T6" fmla="*/ 0 60000 65536"/>
                    <a:gd name="T7" fmla="*/ 0 60000 65536"/>
                    <a:gd name="T8" fmla="*/ 0 60000 65536"/>
                    <a:gd name="T9" fmla="*/ 0 w 240"/>
                    <a:gd name="T10" fmla="*/ 0 h 48"/>
                    <a:gd name="T11" fmla="*/ 240 w 240"/>
                    <a:gd name="T12" fmla="*/ 48 h 48"/>
                  </a:gdLst>
                  <a:ahLst/>
                  <a:cxnLst>
                    <a:cxn ang="T6">
                      <a:pos x="T0" y="T1"/>
                    </a:cxn>
                    <a:cxn ang="T7">
                      <a:pos x="T2" y="T3"/>
                    </a:cxn>
                    <a:cxn ang="T8">
                      <a:pos x="T4" y="T5"/>
                    </a:cxn>
                  </a:cxnLst>
                  <a:rect l="T9" t="T10" r="T11" b="T12"/>
                  <a:pathLst>
                    <a:path w="240" h="48">
                      <a:moveTo>
                        <a:pt x="0" y="0"/>
                      </a:moveTo>
                      <a:cubicBezTo>
                        <a:pt x="28" y="24"/>
                        <a:pt x="56" y="48"/>
                        <a:pt x="96" y="48"/>
                      </a:cubicBezTo>
                      <a:cubicBezTo>
                        <a:pt x="136" y="48"/>
                        <a:pt x="188" y="24"/>
                        <a:pt x="240" y="0"/>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1005" name="Line 28"/>
              <p:cNvSpPr>
                <a:spLocks noChangeShapeType="1"/>
              </p:cNvSpPr>
              <p:nvPr/>
            </p:nvSpPr>
            <p:spPr bwMode="auto">
              <a:xfrm>
                <a:off x="504" y="2256"/>
                <a:ext cx="144" cy="0"/>
              </a:xfrm>
              <a:prstGeom prst="line">
                <a:avLst/>
              </a:prstGeom>
              <a:noFill/>
              <a:ln w="571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6" name="Freeform 29"/>
              <p:cNvSpPr>
                <a:spLocks/>
              </p:cNvSpPr>
              <p:nvPr/>
            </p:nvSpPr>
            <p:spPr bwMode="auto">
              <a:xfrm>
                <a:off x="480" y="1768"/>
                <a:ext cx="200" cy="400"/>
              </a:xfrm>
              <a:custGeom>
                <a:avLst/>
                <a:gdLst>
                  <a:gd name="T0" fmla="*/ 96 w 200"/>
                  <a:gd name="T1" fmla="*/ 392 h 400"/>
                  <a:gd name="T2" fmla="*/ 0 w 200"/>
                  <a:gd name="T3" fmla="*/ 152 h 400"/>
                  <a:gd name="T4" fmla="*/ 96 w 200"/>
                  <a:gd name="T5" fmla="*/ 8 h 400"/>
                  <a:gd name="T6" fmla="*/ 192 w 200"/>
                  <a:gd name="T7" fmla="*/ 200 h 400"/>
                  <a:gd name="T8" fmla="*/ 96 w 200"/>
                  <a:gd name="T9" fmla="*/ 392 h 400"/>
                  <a:gd name="T10" fmla="*/ 0 60000 65536"/>
                  <a:gd name="T11" fmla="*/ 0 60000 65536"/>
                  <a:gd name="T12" fmla="*/ 0 60000 65536"/>
                  <a:gd name="T13" fmla="*/ 0 60000 65536"/>
                  <a:gd name="T14" fmla="*/ 0 60000 65536"/>
                  <a:gd name="T15" fmla="*/ 0 w 200"/>
                  <a:gd name="T16" fmla="*/ 0 h 400"/>
                  <a:gd name="T17" fmla="*/ 200 w 200"/>
                  <a:gd name="T18" fmla="*/ 400 h 400"/>
                </a:gdLst>
                <a:ahLst/>
                <a:cxnLst>
                  <a:cxn ang="T10">
                    <a:pos x="T0" y="T1"/>
                  </a:cxn>
                  <a:cxn ang="T11">
                    <a:pos x="T2" y="T3"/>
                  </a:cxn>
                  <a:cxn ang="T12">
                    <a:pos x="T4" y="T5"/>
                  </a:cxn>
                  <a:cxn ang="T13">
                    <a:pos x="T6" y="T7"/>
                  </a:cxn>
                  <a:cxn ang="T14">
                    <a:pos x="T8" y="T9"/>
                  </a:cxn>
                </a:cxnLst>
                <a:rect l="T15" t="T16" r="T17" b="T18"/>
                <a:pathLst>
                  <a:path w="200" h="400">
                    <a:moveTo>
                      <a:pt x="96" y="392"/>
                    </a:moveTo>
                    <a:cubicBezTo>
                      <a:pt x="64" y="384"/>
                      <a:pt x="0" y="216"/>
                      <a:pt x="0" y="152"/>
                    </a:cubicBezTo>
                    <a:cubicBezTo>
                      <a:pt x="0" y="88"/>
                      <a:pt x="64" y="0"/>
                      <a:pt x="96" y="8"/>
                    </a:cubicBezTo>
                    <a:cubicBezTo>
                      <a:pt x="128" y="16"/>
                      <a:pt x="184" y="144"/>
                      <a:pt x="192" y="200"/>
                    </a:cubicBezTo>
                    <a:cubicBezTo>
                      <a:pt x="200" y="256"/>
                      <a:pt x="128" y="400"/>
                      <a:pt x="96" y="392"/>
                    </a:cubicBezTo>
                    <a:close/>
                  </a:path>
                </a:pathLst>
              </a:custGeom>
              <a:solidFill>
                <a:srgbClr val="FF3300"/>
              </a:solidFill>
              <a:ln w="9525">
                <a:solidFill>
                  <a:schemeClr val="tx1"/>
                </a:solidFill>
                <a:round/>
                <a:headEnd/>
                <a:tailEnd/>
              </a:ln>
            </p:spPr>
            <p:txBody>
              <a:bodyPr wrap="none" anchor="ctr"/>
              <a:lstStyle/>
              <a:p>
                <a:endParaRPr lang="zh-CN" altLang="en-US"/>
              </a:p>
            </p:txBody>
          </p:sp>
        </p:grpSp>
        <p:sp>
          <p:nvSpPr>
            <p:cNvPr id="40993" name="Freeform 30"/>
            <p:cNvSpPr>
              <a:spLocks/>
            </p:cNvSpPr>
            <p:nvPr/>
          </p:nvSpPr>
          <p:spPr bwMode="auto">
            <a:xfrm rot="241111">
              <a:off x="961" y="1056"/>
              <a:ext cx="720" cy="96"/>
            </a:xfrm>
            <a:custGeom>
              <a:avLst/>
              <a:gdLst>
                <a:gd name="T0" fmla="*/ 0 w 720"/>
                <a:gd name="T1" fmla="*/ 29 h 104"/>
                <a:gd name="T2" fmla="*/ 336 w 720"/>
                <a:gd name="T3" fmla="*/ 6 h 104"/>
                <a:gd name="T4" fmla="*/ 720 w 720"/>
                <a:gd name="T5" fmla="*/ 16 h 104"/>
                <a:gd name="T6" fmla="*/ 0 60000 65536"/>
                <a:gd name="T7" fmla="*/ 0 60000 65536"/>
                <a:gd name="T8" fmla="*/ 0 60000 65536"/>
                <a:gd name="T9" fmla="*/ 0 w 720"/>
                <a:gd name="T10" fmla="*/ 0 h 104"/>
                <a:gd name="T11" fmla="*/ 720 w 720"/>
                <a:gd name="T12" fmla="*/ 104 h 104"/>
              </a:gdLst>
              <a:ahLst/>
              <a:cxnLst>
                <a:cxn ang="T6">
                  <a:pos x="T0" y="T1"/>
                </a:cxn>
                <a:cxn ang="T7">
                  <a:pos x="T2" y="T3"/>
                </a:cxn>
                <a:cxn ang="T8">
                  <a:pos x="T4" y="T5"/>
                </a:cxn>
              </a:cxnLst>
              <a:rect l="T9" t="T10" r="T11" b="T12"/>
              <a:pathLst>
                <a:path w="720" h="104">
                  <a:moveTo>
                    <a:pt x="0" y="104"/>
                  </a:moveTo>
                  <a:cubicBezTo>
                    <a:pt x="108" y="60"/>
                    <a:pt x="216" y="16"/>
                    <a:pt x="336" y="8"/>
                  </a:cubicBezTo>
                  <a:cubicBezTo>
                    <a:pt x="456" y="0"/>
                    <a:pt x="588" y="28"/>
                    <a:pt x="720" y="56"/>
                  </a:cubicBezTo>
                </a:path>
              </a:pathLst>
            </a:custGeom>
            <a:noFill/>
            <a:ln w="38100" cmpd="sng">
              <a:solidFill>
                <a:srgbClr val="FF3300"/>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994" name="Freeform 31"/>
            <p:cNvSpPr>
              <a:spLocks/>
            </p:cNvSpPr>
            <p:nvPr/>
          </p:nvSpPr>
          <p:spPr bwMode="auto">
            <a:xfrm rot="241111" flipH="1" flipV="1">
              <a:off x="900" y="1716"/>
              <a:ext cx="720" cy="96"/>
            </a:xfrm>
            <a:custGeom>
              <a:avLst/>
              <a:gdLst>
                <a:gd name="T0" fmla="*/ 0 w 720"/>
                <a:gd name="T1" fmla="*/ 29 h 104"/>
                <a:gd name="T2" fmla="*/ 336 w 720"/>
                <a:gd name="T3" fmla="*/ 6 h 104"/>
                <a:gd name="T4" fmla="*/ 720 w 720"/>
                <a:gd name="T5" fmla="*/ 16 h 104"/>
                <a:gd name="T6" fmla="*/ 0 60000 65536"/>
                <a:gd name="T7" fmla="*/ 0 60000 65536"/>
                <a:gd name="T8" fmla="*/ 0 60000 65536"/>
                <a:gd name="T9" fmla="*/ 0 w 720"/>
                <a:gd name="T10" fmla="*/ 0 h 104"/>
                <a:gd name="T11" fmla="*/ 720 w 720"/>
                <a:gd name="T12" fmla="*/ 104 h 104"/>
              </a:gdLst>
              <a:ahLst/>
              <a:cxnLst>
                <a:cxn ang="T6">
                  <a:pos x="T0" y="T1"/>
                </a:cxn>
                <a:cxn ang="T7">
                  <a:pos x="T2" y="T3"/>
                </a:cxn>
                <a:cxn ang="T8">
                  <a:pos x="T4" y="T5"/>
                </a:cxn>
              </a:cxnLst>
              <a:rect l="T9" t="T10" r="T11" b="T12"/>
              <a:pathLst>
                <a:path w="720" h="104">
                  <a:moveTo>
                    <a:pt x="0" y="104"/>
                  </a:moveTo>
                  <a:cubicBezTo>
                    <a:pt x="108" y="60"/>
                    <a:pt x="216" y="16"/>
                    <a:pt x="336" y="8"/>
                  </a:cubicBezTo>
                  <a:cubicBezTo>
                    <a:pt x="456" y="0"/>
                    <a:pt x="588" y="28"/>
                    <a:pt x="720" y="56"/>
                  </a:cubicBezTo>
                </a:path>
              </a:pathLst>
            </a:custGeom>
            <a:noFill/>
            <a:ln w="38100" cmpd="sng">
              <a:solidFill>
                <a:srgbClr val="FF3300"/>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995" name="Text Box 32"/>
            <p:cNvSpPr txBox="1">
              <a:spLocks noChangeArrowheads="1"/>
            </p:cNvSpPr>
            <p:nvPr/>
          </p:nvSpPr>
          <p:spPr bwMode="auto">
            <a:xfrm>
              <a:off x="1200" y="1008"/>
              <a:ext cx="384"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chemeClr val="accent2"/>
                  </a:solidFill>
                  <a:latin typeface="Times New Roman" panose="02020603050405020304" pitchFamily="18" charset="0"/>
                  <a:ea typeface="楷体_GB2312"/>
                  <a:cs typeface="楷体_GB2312"/>
                </a:rPr>
                <a:t>I</a:t>
              </a:r>
            </a:p>
          </p:txBody>
        </p:sp>
        <p:sp>
          <p:nvSpPr>
            <p:cNvPr id="40996" name="Text Box 33"/>
            <p:cNvSpPr txBox="1">
              <a:spLocks noChangeArrowheads="1"/>
            </p:cNvSpPr>
            <p:nvPr/>
          </p:nvSpPr>
          <p:spPr bwMode="auto">
            <a:xfrm>
              <a:off x="1224" y="1523"/>
              <a:ext cx="384"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chemeClr val="accent2"/>
                  </a:solidFill>
                  <a:latin typeface="Times New Roman" panose="02020603050405020304" pitchFamily="18" charset="0"/>
                  <a:ea typeface="楷体_GB2312"/>
                  <a:cs typeface="楷体_GB2312"/>
                </a:rPr>
                <a:t>I</a:t>
              </a:r>
            </a:p>
          </p:txBody>
        </p:sp>
        <p:sp>
          <p:nvSpPr>
            <p:cNvPr id="40997" name="Text Box 34"/>
            <p:cNvSpPr txBox="1">
              <a:spLocks noChangeArrowheads="1"/>
            </p:cNvSpPr>
            <p:nvPr/>
          </p:nvSpPr>
          <p:spPr bwMode="auto">
            <a:xfrm>
              <a:off x="144" y="864"/>
              <a:ext cx="335" cy="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chemeClr val="accent2"/>
                  </a:solidFill>
                  <a:latin typeface="Times New Roman" panose="02020603050405020304" pitchFamily="18" charset="0"/>
                  <a:ea typeface="楷体_GB2312"/>
                  <a:cs typeface="楷体_GB2312"/>
                </a:rPr>
                <a:t>热接头</a:t>
              </a:r>
            </a:p>
          </p:txBody>
        </p:sp>
        <p:sp>
          <p:nvSpPr>
            <p:cNvPr id="40998" name="Text Box 35"/>
            <p:cNvSpPr txBox="1">
              <a:spLocks noChangeArrowheads="1"/>
            </p:cNvSpPr>
            <p:nvPr/>
          </p:nvSpPr>
          <p:spPr bwMode="auto">
            <a:xfrm>
              <a:off x="2136" y="828"/>
              <a:ext cx="336" cy="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chemeClr val="accent2"/>
                  </a:solidFill>
                  <a:latin typeface="Times New Roman" panose="02020603050405020304" pitchFamily="18" charset="0"/>
                  <a:ea typeface="楷体_GB2312"/>
                  <a:cs typeface="楷体_GB2312"/>
                </a:rPr>
                <a:t>冷接头</a:t>
              </a:r>
            </a:p>
          </p:txBody>
        </p:sp>
      </p:grpSp>
      <p:sp>
        <p:nvSpPr>
          <p:cNvPr id="40964" name="Text Box 36"/>
          <p:cNvSpPr txBox="1">
            <a:spLocks noChangeArrowheads="1"/>
          </p:cNvSpPr>
          <p:nvPr/>
        </p:nvSpPr>
        <p:spPr bwMode="auto">
          <a:xfrm>
            <a:off x="155340" y="1052514"/>
            <a:ext cx="6866173" cy="94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en-US" altLang="zh-CN" sz="2400" b="1" dirty="0">
                <a:solidFill>
                  <a:srgbClr val="0000FF"/>
                </a:solidFill>
                <a:latin typeface="Times New Roman" panose="02020603050405020304" pitchFamily="18" charset="0"/>
                <a:ea typeface="楷体_GB2312"/>
                <a:cs typeface="楷体_GB2312"/>
              </a:rPr>
              <a:t>   1.</a:t>
            </a:r>
            <a:r>
              <a:rPr kumimoji="1" lang="zh-CN" altLang="en-US" sz="2400" b="1" dirty="0">
                <a:solidFill>
                  <a:srgbClr val="0000FF"/>
                </a:solidFill>
                <a:latin typeface="Times New Roman" panose="02020603050405020304" pitchFamily="18" charset="0"/>
                <a:ea typeface="楷体_GB2312"/>
                <a:cs typeface="楷体_GB2312"/>
              </a:rPr>
              <a:t>温差电动势：</a:t>
            </a:r>
            <a:r>
              <a:rPr kumimoji="1" lang="zh-CN" altLang="en-US" sz="2400" b="1" dirty="0">
                <a:solidFill>
                  <a:schemeClr val="accent2"/>
                </a:solidFill>
                <a:latin typeface="Times New Roman" panose="02020603050405020304" pitchFamily="18" charset="0"/>
                <a:ea typeface="楷体_GB2312"/>
                <a:cs typeface="楷体_GB2312"/>
              </a:rPr>
              <a:t>两种金属接成一个回路若两个接头处的温度不同则回路中形成温差电动势。</a:t>
            </a:r>
          </a:p>
        </p:txBody>
      </p:sp>
      <p:sp>
        <p:nvSpPr>
          <p:cNvPr id="40965" name="Text Box 37"/>
          <p:cNvSpPr txBox="1">
            <a:spLocks noChangeArrowheads="1"/>
          </p:cNvSpPr>
          <p:nvPr/>
        </p:nvSpPr>
        <p:spPr bwMode="auto">
          <a:xfrm>
            <a:off x="492966" y="2396752"/>
            <a:ext cx="556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dirty="0">
                <a:solidFill>
                  <a:srgbClr val="0000FF"/>
                </a:solidFill>
                <a:latin typeface="Times New Roman" panose="02020603050405020304" pitchFamily="18" charset="0"/>
                <a:ea typeface="楷体_GB2312"/>
                <a:cs typeface="楷体_GB2312"/>
              </a:rPr>
              <a:t>2.  </a:t>
            </a:r>
            <a:r>
              <a:rPr kumimoji="1" lang="zh-CN" altLang="en-US" sz="2400" b="1" dirty="0">
                <a:solidFill>
                  <a:srgbClr val="0000FF"/>
                </a:solidFill>
                <a:latin typeface="Times New Roman" panose="02020603050405020304" pitchFamily="18" charset="0"/>
                <a:ea typeface="楷体_GB2312"/>
                <a:cs typeface="楷体_GB2312"/>
              </a:rPr>
              <a:t>温差电动势产生的原因：</a:t>
            </a:r>
          </a:p>
        </p:txBody>
      </p:sp>
      <p:sp>
        <p:nvSpPr>
          <p:cNvPr id="40966" name="Text Box 38"/>
          <p:cNvSpPr txBox="1">
            <a:spLocks noChangeArrowheads="1"/>
          </p:cNvSpPr>
          <p:nvPr/>
        </p:nvSpPr>
        <p:spPr bwMode="auto">
          <a:xfrm>
            <a:off x="528636" y="3269877"/>
            <a:ext cx="10067863"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en-US" altLang="zh-CN" sz="2400" b="1" dirty="0">
                <a:solidFill>
                  <a:schemeClr val="accent2"/>
                </a:solidFill>
                <a:latin typeface="Times New Roman" panose="02020603050405020304" pitchFamily="18" charset="0"/>
                <a:ea typeface="楷体_GB2312"/>
                <a:cs typeface="楷体_GB2312"/>
              </a:rPr>
              <a:t>1</a:t>
            </a:r>
            <a:r>
              <a:rPr kumimoji="1" lang="zh-CN" altLang="en-US" sz="2400" b="1" dirty="0">
                <a:solidFill>
                  <a:schemeClr val="accent2"/>
                </a:solidFill>
                <a:latin typeface="Times New Roman" panose="02020603050405020304" pitchFamily="18" charset="0"/>
                <a:ea typeface="楷体_GB2312"/>
                <a:cs typeface="楷体_GB2312"/>
              </a:rPr>
              <a:t>）在同种金属中温差形成自由电子的热扩散（汤姆孙</a:t>
            </a:r>
            <a:r>
              <a:rPr kumimoji="1" lang="zh-CN" altLang="en-US" sz="2400" b="1" dirty="0">
                <a:solidFill>
                  <a:schemeClr val="accent2"/>
                </a:solidFill>
                <a:latin typeface="Times New Roman" panose="02020603050405020304" pitchFamily="18" charset="0"/>
                <a:ea typeface="楷体_GB2312"/>
                <a:cs typeface="楷体_GB2312"/>
                <a:sym typeface="Symbol" panose="05050102010706020507" pitchFamily="18" charset="2"/>
              </a:rPr>
              <a:t></a:t>
            </a:r>
            <a:r>
              <a:rPr kumimoji="1" lang="en-US" altLang="zh-CN" sz="2400" b="1" dirty="0" err="1">
                <a:solidFill>
                  <a:schemeClr val="accent2"/>
                </a:solidFill>
                <a:latin typeface="Times New Roman" panose="02020603050405020304" pitchFamily="18" charset="0"/>
                <a:ea typeface="楷体_GB2312"/>
                <a:cs typeface="楷体_GB2312"/>
                <a:sym typeface="Symbol" panose="05050102010706020507" pitchFamily="18" charset="2"/>
              </a:rPr>
              <a:t>Thomon</a:t>
            </a:r>
            <a:r>
              <a:rPr kumimoji="1" lang="en-US" altLang="zh-CN" sz="2400" b="1" dirty="0">
                <a:solidFill>
                  <a:schemeClr val="accent2"/>
                </a:solidFill>
                <a:latin typeface="Times New Roman" panose="02020603050405020304" pitchFamily="18" charset="0"/>
                <a:ea typeface="楷体_GB2312"/>
                <a:cs typeface="楷体_GB2312"/>
                <a:sym typeface="Symbol" panose="05050102010706020507" pitchFamily="18" charset="2"/>
              </a:rPr>
              <a:t></a:t>
            </a:r>
            <a:r>
              <a:rPr kumimoji="1" lang="zh-CN" altLang="zh-CN" sz="2400" b="1" dirty="0">
                <a:solidFill>
                  <a:schemeClr val="accent2"/>
                </a:solidFill>
                <a:latin typeface="Times New Roman" panose="02020603050405020304" pitchFamily="18" charset="0"/>
                <a:ea typeface="楷体_GB2312"/>
                <a:cs typeface="楷体_GB2312"/>
                <a:sym typeface="Symbol" panose="05050102010706020507" pitchFamily="18" charset="2"/>
              </a:rPr>
              <a:t>电动势）</a:t>
            </a:r>
            <a:endParaRPr kumimoji="1" lang="zh-CN" altLang="en-US" sz="2400" b="1" dirty="0">
              <a:solidFill>
                <a:schemeClr val="accent2"/>
              </a:solidFill>
              <a:latin typeface="Times New Roman" panose="02020603050405020304" pitchFamily="18" charset="0"/>
              <a:ea typeface="楷体_GB2312"/>
              <a:cs typeface="楷体_GB2312"/>
              <a:sym typeface="Symbol" panose="05050102010706020507" pitchFamily="18" charset="2"/>
            </a:endParaRPr>
          </a:p>
        </p:txBody>
      </p:sp>
      <p:sp>
        <p:nvSpPr>
          <p:cNvPr id="40967" name="Text Box 39"/>
          <p:cNvSpPr txBox="1">
            <a:spLocks noChangeArrowheads="1"/>
          </p:cNvSpPr>
          <p:nvPr/>
        </p:nvSpPr>
        <p:spPr bwMode="auto">
          <a:xfrm>
            <a:off x="528635" y="4220698"/>
            <a:ext cx="10877949"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50000"/>
              </a:spcBef>
              <a:buFontTx/>
              <a:buNone/>
            </a:pPr>
            <a:r>
              <a:rPr kumimoji="1" lang="en-US" altLang="zh-CN" sz="2400" b="1" dirty="0">
                <a:solidFill>
                  <a:schemeClr val="accent2"/>
                </a:solidFill>
                <a:latin typeface="Times New Roman" panose="02020603050405020304" pitchFamily="18" charset="0"/>
                <a:ea typeface="楷体_GB2312"/>
                <a:cs typeface="楷体_GB2312"/>
              </a:rPr>
              <a:t>2</a:t>
            </a:r>
            <a:r>
              <a:rPr kumimoji="1" lang="zh-CN" altLang="en-US" sz="2400" b="1" dirty="0">
                <a:solidFill>
                  <a:schemeClr val="accent2"/>
                </a:solidFill>
                <a:latin typeface="Times New Roman" panose="02020603050405020304" pitchFamily="18" charset="0"/>
                <a:ea typeface="楷体_GB2312"/>
                <a:cs typeface="楷体_GB2312"/>
              </a:rPr>
              <a:t>）不同金属中由电子浓度不同在接头处产生与温度有关的扩散  （珀耳帖</a:t>
            </a:r>
            <a:r>
              <a:rPr kumimoji="1" lang="zh-CN" altLang="en-US" sz="2400" b="1" dirty="0">
                <a:solidFill>
                  <a:schemeClr val="accent2"/>
                </a:solidFill>
                <a:latin typeface="Times New Roman" panose="02020603050405020304" pitchFamily="18" charset="0"/>
                <a:ea typeface="楷体_GB2312"/>
                <a:cs typeface="楷体_GB2312"/>
                <a:sym typeface="Symbol" panose="05050102010706020507" pitchFamily="18" charset="2"/>
              </a:rPr>
              <a:t></a:t>
            </a:r>
            <a:r>
              <a:rPr kumimoji="1" lang="en-US" altLang="zh-CN" sz="2400" b="1" dirty="0">
                <a:solidFill>
                  <a:schemeClr val="accent2"/>
                </a:solidFill>
                <a:latin typeface="Times New Roman" panose="02020603050405020304" pitchFamily="18" charset="0"/>
                <a:ea typeface="楷体_GB2312"/>
                <a:cs typeface="楷体_GB2312"/>
                <a:sym typeface="Symbol" panose="05050102010706020507" pitchFamily="18" charset="2"/>
              </a:rPr>
              <a:t>Peltier</a:t>
            </a:r>
            <a:r>
              <a:rPr kumimoji="1" lang="zh-CN" altLang="zh-CN" sz="2400" b="1" dirty="0">
                <a:solidFill>
                  <a:schemeClr val="accent2"/>
                </a:solidFill>
                <a:latin typeface="Times New Roman" panose="02020603050405020304" pitchFamily="18" charset="0"/>
                <a:ea typeface="楷体_GB2312"/>
                <a:cs typeface="楷体_GB2312"/>
                <a:sym typeface="Symbol" panose="05050102010706020507" pitchFamily="18" charset="2"/>
              </a:rPr>
              <a:t>电动势）</a:t>
            </a:r>
            <a:endParaRPr kumimoji="1" lang="zh-CN" altLang="en-US" sz="2400" b="1" dirty="0">
              <a:solidFill>
                <a:schemeClr val="accent2"/>
              </a:solidFill>
              <a:latin typeface="Times New Roman" panose="02020603050405020304" pitchFamily="18" charset="0"/>
              <a:ea typeface="楷体_GB2312"/>
              <a:cs typeface="楷体_GB2312"/>
              <a:sym typeface="Symbol" panose="05050102010706020507" pitchFamily="18" charset="2"/>
            </a:endParaRPr>
          </a:p>
        </p:txBody>
      </p:sp>
      <p:sp>
        <p:nvSpPr>
          <p:cNvPr id="40968" name="Rectangle 40"/>
          <p:cNvSpPr>
            <a:spLocks noChangeArrowheads="1"/>
          </p:cNvSpPr>
          <p:nvPr/>
        </p:nvSpPr>
        <p:spPr bwMode="auto">
          <a:xfrm>
            <a:off x="6096000" y="5589588"/>
            <a:ext cx="1709738" cy="495300"/>
          </a:xfrm>
          <a:prstGeom prst="rect">
            <a:avLst/>
          </a:prstGeom>
          <a:solidFill>
            <a:schemeClr val="bg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0969" name="Rectangle 41"/>
          <p:cNvSpPr>
            <a:spLocks noChangeArrowheads="1"/>
          </p:cNvSpPr>
          <p:nvPr/>
        </p:nvSpPr>
        <p:spPr bwMode="auto">
          <a:xfrm>
            <a:off x="7805739" y="5589588"/>
            <a:ext cx="1709737" cy="495300"/>
          </a:xfrm>
          <a:prstGeom prst="rect">
            <a:avLst/>
          </a:prstGeom>
          <a:solidFill>
            <a:schemeClr val="bg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0970" name="Text Box 42"/>
          <p:cNvSpPr txBox="1">
            <a:spLocks noChangeArrowheads="1"/>
          </p:cNvSpPr>
          <p:nvPr/>
        </p:nvSpPr>
        <p:spPr bwMode="auto">
          <a:xfrm flipH="1">
            <a:off x="7896226" y="5678488"/>
            <a:ext cx="1082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a:t>
            </a:r>
            <a:r>
              <a:rPr lang="en-US" altLang="zh-CN" sz="1800"/>
              <a:t>B</a:t>
            </a:r>
          </a:p>
        </p:txBody>
      </p:sp>
      <p:sp>
        <p:nvSpPr>
          <p:cNvPr id="40971" name="Text Box 43"/>
          <p:cNvSpPr txBox="1">
            <a:spLocks noChangeArrowheads="1"/>
          </p:cNvSpPr>
          <p:nvPr/>
        </p:nvSpPr>
        <p:spPr bwMode="auto">
          <a:xfrm flipH="1">
            <a:off x="6635751" y="5678488"/>
            <a:ext cx="1082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A</a:t>
            </a:r>
            <a:r>
              <a:rPr lang="zh-CN" altLang="en-US" sz="1800"/>
              <a:t>＋＋</a:t>
            </a:r>
          </a:p>
        </p:txBody>
      </p:sp>
      <p:sp>
        <p:nvSpPr>
          <p:cNvPr id="40972" name="Line 44"/>
          <p:cNvSpPr>
            <a:spLocks noChangeShapeType="1"/>
          </p:cNvSpPr>
          <p:nvPr/>
        </p:nvSpPr>
        <p:spPr bwMode="auto">
          <a:xfrm>
            <a:off x="7535863" y="5724525"/>
            <a:ext cx="539750" cy="0"/>
          </a:xfrm>
          <a:prstGeom prst="line">
            <a:avLst/>
          </a:prstGeom>
          <a:noFill/>
          <a:ln w="12700" cap="sq">
            <a:solidFill>
              <a:srgbClr val="FF0000"/>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73" name="Line 45"/>
          <p:cNvSpPr>
            <a:spLocks noChangeShapeType="1"/>
          </p:cNvSpPr>
          <p:nvPr/>
        </p:nvSpPr>
        <p:spPr bwMode="auto">
          <a:xfrm flipH="1">
            <a:off x="7535863" y="5994400"/>
            <a:ext cx="495300" cy="0"/>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74" name="Text Box 46"/>
          <p:cNvSpPr txBox="1">
            <a:spLocks noChangeArrowheads="1"/>
          </p:cNvSpPr>
          <p:nvPr/>
        </p:nvSpPr>
        <p:spPr bwMode="auto">
          <a:xfrm>
            <a:off x="7716839" y="5364163"/>
            <a:ext cx="809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FF0000"/>
                </a:solidFill>
              </a:rPr>
              <a:t>E</a:t>
            </a:r>
          </a:p>
        </p:txBody>
      </p:sp>
      <p:sp>
        <p:nvSpPr>
          <p:cNvPr id="40975" name="Text Box 47"/>
          <p:cNvSpPr txBox="1">
            <a:spLocks noChangeArrowheads="1"/>
          </p:cNvSpPr>
          <p:nvPr/>
        </p:nvSpPr>
        <p:spPr bwMode="auto">
          <a:xfrm>
            <a:off x="7535864" y="6084888"/>
            <a:ext cx="765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0000FF"/>
                </a:solidFill>
              </a:rPr>
              <a:t>K</a:t>
            </a:r>
          </a:p>
        </p:txBody>
      </p:sp>
      <p:sp>
        <p:nvSpPr>
          <p:cNvPr id="40976" name="Text Box 48"/>
          <p:cNvSpPr txBox="1">
            <a:spLocks noChangeArrowheads="1"/>
          </p:cNvSpPr>
          <p:nvPr/>
        </p:nvSpPr>
        <p:spPr bwMode="auto">
          <a:xfrm>
            <a:off x="6861175" y="5273676"/>
            <a:ext cx="630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UA</a:t>
            </a:r>
          </a:p>
        </p:txBody>
      </p:sp>
      <p:sp>
        <p:nvSpPr>
          <p:cNvPr id="40977" name="Text Box 49"/>
          <p:cNvSpPr txBox="1">
            <a:spLocks noChangeArrowheads="1"/>
          </p:cNvSpPr>
          <p:nvPr/>
        </p:nvSpPr>
        <p:spPr bwMode="auto">
          <a:xfrm>
            <a:off x="8391525" y="5184776"/>
            <a:ext cx="630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UB</a:t>
            </a:r>
          </a:p>
        </p:txBody>
      </p:sp>
      <p:sp>
        <p:nvSpPr>
          <p:cNvPr id="40978" name="Line 50"/>
          <p:cNvSpPr>
            <a:spLocks noChangeShapeType="1"/>
          </p:cNvSpPr>
          <p:nvPr/>
        </p:nvSpPr>
        <p:spPr bwMode="auto">
          <a:xfrm>
            <a:off x="2630489" y="5815013"/>
            <a:ext cx="1216025"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79" name="Line 51"/>
          <p:cNvSpPr>
            <a:spLocks noChangeShapeType="1"/>
          </p:cNvSpPr>
          <p:nvPr/>
        </p:nvSpPr>
        <p:spPr bwMode="auto">
          <a:xfrm>
            <a:off x="3846514" y="6354763"/>
            <a:ext cx="674687" cy="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0" name="Line 52"/>
          <p:cNvSpPr>
            <a:spLocks noChangeShapeType="1"/>
          </p:cNvSpPr>
          <p:nvPr/>
        </p:nvSpPr>
        <p:spPr bwMode="auto">
          <a:xfrm>
            <a:off x="3846513" y="5815013"/>
            <a:ext cx="0" cy="539750"/>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1" name="Text Box 53"/>
          <p:cNvSpPr txBox="1">
            <a:spLocks noChangeArrowheads="1"/>
          </p:cNvSpPr>
          <p:nvPr/>
        </p:nvSpPr>
        <p:spPr bwMode="auto">
          <a:xfrm>
            <a:off x="2990850" y="5499101"/>
            <a:ext cx="630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UA</a:t>
            </a:r>
          </a:p>
        </p:txBody>
      </p:sp>
      <p:sp>
        <p:nvSpPr>
          <p:cNvPr id="40982" name="Text Box 54"/>
          <p:cNvSpPr txBox="1">
            <a:spLocks noChangeArrowheads="1"/>
          </p:cNvSpPr>
          <p:nvPr/>
        </p:nvSpPr>
        <p:spPr bwMode="auto">
          <a:xfrm>
            <a:off x="3935414" y="5949951"/>
            <a:ext cx="6302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UB</a:t>
            </a:r>
          </a:p>
        </p:txBody>
      </p:sp>
      <p:sp>
        <p:nvSpPr>
          <p:cNvPr id="40983" name="Line 55"/>
          <p:cNvSpPr>
            <a:spLocks noChangeShapeType="1"/>
          </p:cNvSpPr>
          <p:nvPr/>
        </p:nvSpPr>
        <p:spPr bwMode="auto">
          <a:xfrm flipV="1">
            <a:off x="2586038" y="5634038"/>
            <a:ext cx="0" cy="944562"/>
          </a:xfrm>
          <a:prstGeom prst="line">
            <a:avLst/>
          </a:prstGeom>
          <a:noFill/>
          <a:ln w="12700" cap="sq">
            <a:solidFill>
              <a:srgbClr val="0000FF"/>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4" name="Rectangle 56"/>
          <p:cNvSpPr>
            <a:spLocks noChangeArrowheads="1"/>
          </p:cNvSpPr>
          <p:nvPr/>
        </p:nvSpPr>
        <p:spPr bwMode="auto">
          <a:xfrm>
            <a:off x="1730376" y="5634038"/>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zh-CN" sz="2400" b="1">
                <a:solidFill>
                  <a:schemeClr val="accent2"/>
                </a:solidFill>
                <a:latin typeface="Times New Roman" panose="02020603050405020304" pitchFamily="18" charset="0"/>
                <a:ea typeface="楷体_GB2312"/>
                <a:cs typeface="楷体_GB2312"/>
                <a:sym typeface="Symbol" panose="05050102010706020507" pitchFamily="18" charset="2"/>
              </a:rPr>
              <a:t>电势</a:t>
            </a:r>
            <a:endParaRPr kumimoji="1" lang="zh-CN" altLang="en-US" sz="2400" b="1">
              <a:solidFill>
                <a:schemeClr val="accent2"/>
              </a:solidFill>
              <a:latin typeface="Times New Roman" panose="02020603050405020304" pitchFamily="18" charset="0"/>
              <a:ea typeface="楷体_GB2312"/>
              <a:cs typeface="楷体_GB2312"/>
              <a:sym typeface="Symbol" panose="05050102010706020507" pitchFamily="18" charset="2"/>
            </a:endParaRPr>
          </a:p>
        </p:txBody>
      </p:sp>
      <p:sp>
        <p:nvSpPr>
          <p:cNvPr id="40985" name="Text Box 57"/>
          <p:cNvSpPr txBox="1">
            <a:spLocks noChangeArrowheads="1"/>
          </p:cNvSpPr>
          <p:nvPr/>
        </p:nvSpPr>
        <p:spPr bwMode="auto">
          <a:xfrm>
            <a:off x="6635750" y="6308726"/>
            <a:ext cx="6302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nA</a:t>
            </a:r>
          </a:p>
        </p:txBody>
      </p:sp>
      <p:sp>
        <p:nvSpPr>
          <p:cNvPr id="40986" name="Text Box 58"/>
          <p:cNvSpPr txBox="1">
            <a:spLocks noChangeArrowheads="1"/>
          </p:cNvSpPr>
          <p:nvPr/>
        </p:nvSpPr>
        <p:spPr bwMode="auto">
          <a:xfrm>
            <a:off x="8482014" y="6264276"/>
            <a:ext cx="6302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nB</a:t>
            </a:r>
          </a:p>
        </p:txBody>
      </p:sp>
      <p:sp>
        <p:nvSpPr>
          <p:cNvPr id="40987" name="Text Box 59"/>
          <p:cNvSpPr txBox="1">
            <a:spLocks noChangeArrowheads="1"/>
          </p:cNvSpPr>
          <p:nvPr/>
        </p:nvSpPr>
        <p:spPr bwMode="auto">
          <a:xfrm>
            <a:off x="7535864" y="6354763"/>
            <a:ext cx="6302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&gt;</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0" y="24609"/>
            <a:ext cx="8229600" cy="858837"/>
          </a:xfrm>
        </p:spPr>
        <p:txBody>
          <a:bodyPr/>
          <a:lstStyle/>
          <a:p>
            <a:pPr eaLnBrk="1" hangingPunct="1"/>
            <a:r>
              <a:rPr kumimoji="1" lang="zh-CN" altLang="en-US" b="1" dirty="0">
                <a:solidFill>
                  <a:schemeClr val="accent2"/>
                </a:solidFill>
              </a:rPr>
              <a:t>珀耳帖</a:t>
            </a:r>
            <a:r>
              <a:rPr kumimoji="1" lang="zh-CN" altLang="en-US" b="1" dirty="0">
                <a:solidFill>
                  <a:schemeClr val="accent2"/>
                </a:solidFill>
                <a:sym typeface="Symbol" panose="05050102010706020507" pitchFamily="18" charset="2"/>
              </a:rPr>
              <a:t></a:t>
            </a:r>
            <a:r>
              <a:rPr kumimoji="1" lang="en-US" altLang="zh-CN" b="1" dirty="0">
                <a:solidFill>
                  <a:schemeClr val="accent2"/>
                </a:solidFill>
                <a:sym typeface="Symbol" panose="05050102010706020507" pitchFamily="18" charset="2"/>
              </a:rPr>
              <a:t>Peltier</a:t>
            </a:r>
            <a:r>
              <a:rPr kumimoji="1" lang="zh-CN" altLang="zh-CN" b="1" dirty="0">
                <a:solidFill>
                  <a:schemeClr val="accent2"/>
                </a:solidFill>
                <a:sym typeface="Symbol" panose="05050102010706020507" pitchFamily="18" charset="2"/>
              </a:rPr>
              <a:t>电动势</a:t>
            </a:r>
            <a:endParaRPr kumimoji="1" lang="zh-CN" altLang="en-US" b="1" dirty="0">
              <a:solidFill>
                <a:schemeClr val="accent2"/>
              </a:solidFill>
              <a:sym typeface="Symbol" panose="05050102010706020507" pitchFamily="18" charset="2"/>
            </a:endParaRPr>
          </a:p>
        </p:txBody>
      </p:sp>
      <p:sp>
        <p:nvSpPr>
          <p:cNvPr id="41987" name="Rectangle 3"/>
          <p:cNvSpPr>
            <a:spLocks noChangeArrowheads="1"/>
          </p:cNvSpPr>
          <p:nvPr/>
        </p:nvSpPr>
        <p:spPr bwMode="auto">
          <a:xfrm>
            <a:off x="3214725" y="1494046"/>
            <a:ext cx="5626100" cy="1755775"/>
          </a:xfrm>
          <a:prstGeom prst="rect">
            <a:avLst/>
          </a:prstGeom>
          <a:solidFill>
            <a:schemeClr val="bg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1988" name="Line 4"/>
          <p:cNvSpPr>
            <a:spLocks noChangeShapeType="1"/>
          </p:cNvSpPr>
          <p:nvPr/>
        </p:nvSpPr>
        <p:spPr bwMode="auto">
          <a:xfrm>
            <a:off x="6005550" y="1494046"/>
            <a:ext cx="0" cy="1755775"/>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1989" name="Text Box 5"/>
          <p:cNvSpPr txBox="1">
            <a:spLocks noChangeArrowheads="1"/>
          </p:cNvSpPr>
          <p:nvPr/>
        </p:nvSpPr>
        <p:spPr bwMode="auto">
          <a:xfrm>
            <a:off x="4114837" y="2079833"/>
            <a:ext cx="990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a:t>Bi</a:t>
            </a:r>
          </a:p>
        </p:txBody>
      </p:sp>
      <p:sp>
        <p:nvSpPr>
          <p:cNvPr id="41990" name="Text Box 6"/>
          <p:cNvSpPr txBox="1">
            <a:spLocks noChangeArrowheads="1"/>
          </p:cNvSpPr>
          <p:nvPr/>
        </p:nvSpPr>
        <p:spPr bwMode="auto">
          <a:xfrm>
            <a:off x="7175537" y="2124283"/>
            <a:ext cx="990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a:t>Sb</a:t>
            </a:r>
          </a:p>
        </p:txBody>
      </p:sp>
      <p:sp>
        <p:nvSpPr>
          <p:cNvPr id="41991" name="Oval 7" descr="蓝色面巾纸"/>
          <p:cNvSpPr>
            <a:spLocks noChangeArrowheads="1"/>
          </p:cNvSpPr>
          <p:nvPr/>
        </p:nvSpPr>
        <p:spPr bwMode="auto">
          <a:xfrm>
            <a:off x="5645187" y="1944895"/>
            <a:ext cx="719138" cy="900112"/>
          </a:xfrm>
          <a:prstGeom prst="ellipse">
            <a:avLst/>
          </a:prstGeom>
          <a:blipFill dpi="0" rotWithShape="1">
            <a:blip r:embed="rId3"/>
            <a:srcRect/>
            <a:tile tx="0" ty="0" sx="100000" sy="100000" flip="none" algn="tl"/>
          </a:blip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1992" name="Line 8"/>
          <p:cNvSpPr>
            <a:spLocks noChangeShapeType="1"/>
          </p:cNvSpPr>
          <p:nvPr/>
        </p:nvSpPr>
        <p:spPr bwMode="auto">
          <a:xfrm>
            <a:off x="3979900" y="3834020"/>
            <a:ext cx="360045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1993" name="Text Box 9"/>
          <p:cNvSpPr txBox="1">
            <a:spLocks noChangeArrowheads="1"/>
          </p:cNvSpPr>
          <p:nvPr/>
        </p:nvSpPr>
        <p:spPr bwMode="auto">
          <a:xfrm>
            <a:off x="7896263" y="3924508"/>
            <a:ext cx="12604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冰</a:t>
            </a:r>
          </a:p>
        </p:txBody>
      </p:sp>
      <p:sp>
        <p:nvSpPr>
          <p:cNvPr id="41994" name="Line 10"/>
          <p:cNvSpPr>
            <a:spLocks noChangeShapeType="1"/>
          </p:cNvSpPr>
          <p:nvPr/>
        </p:nvSpPr>
        <p:spPr bwMode="auto">
          <a:xfrm flipH="1">
            <a:off x="4025938" y="4329320"/>
            <a:ext cx="3554413"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1995" name="Text Box 11"/>
          <p:cNvSpPr txBox="1">
            <a:spLocks noChangeArrowheads="1"/>
          </p:cNvSpPr>
          <p:nvPr/>
        </p:nvSpPr>
        <p:spPr bwMode="auto">
          <a:xfrm>
            <a:off x="3305213" y="3880058"/>
            <a:ext cx="12604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水</a:t>
            </a:r>
          </a:p>
        </p:txBody>
      </p:sp>
      <p:sp>
        <p:nvSpPr>
          <p:cNvPr id="41996" name="Text Box 12"/>
          <p:cNvSpPr txBox="1">
            <a:spLocks noChangeArrowheads="1"/>
          </p:cNvSpPr>
          <p:nvPr/>
        </p:nvSpPr>
        <p:spPr bwMode="auto">
          <a:xfrm>
            <a:off x="5149888" y="3475245"/>
            <a:ext cx="12604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电流</a:t>
            </a:r>
          </a:p>
        </p:txBody>
      </p:sp>
      <p:sp>
        <p:nvSpPr>
          <p:cNvPr id="41997" name="Text Box 13"/>
          <p:cNvSpPr txBox="1">
            <a:spLocks noChangeArrowheads="1"/>
          </p:cNvSpPr>
          <p:nvPr/>
        </p:nvSpPr>
        <p:spPr bwMode="auto">
          <a:xfrm>
            <a:off x="2360651" y="4780170"/>
            <a:ext cx="12604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非静电力</a:t>
            </a:r>
          </a:p>
        </p:txBody>
      </p:sp>
      <p:sp>
        <p:nvSpPr>
          <p:cNvPr id="41998" name="Text Box 14"/>
          <p:cNvSpPr txBox="1">
            <a:spLocks noChangeArrowheads="1"/>
          </p:cNvSpPr>
          <p:nvPr/>
        </p:nvSpPr>
        <p:spPr bwMode="auto">
          <a:xfrm>
            <a:off x="4565687" y="4780170"/>
            <a:ext cx="16192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对电流做功</a:t>
            </a:r>
          </a:p>
        </p:txBody>
      </p:sp>
      <p:sp>
        <p:nvSpPr>
          <p:cNvPr id="41999" name="Line 15"/>
          <p:cNvSpPr>
            <a:spLocks noChangeShapeType="1"/>
          </p:cNvSpPr>
          <p:nvPr/>
        </p:nvSpPr>
        <p:spPr bwMode="auto">
          <a:xfrm>
            <a:off x="3395701" y="5005595"/>
            <a:ext cx="1169987"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2000" name="Line 16"/>
          <p:cNvSpPr>
            <a:spLocks noChangeShapeType="1"/>
          </p:cNvSpPr>
          <p:nvPr/>
        </p:nvSpPr>
        <p:spPr bwMode="auto">
          <a:xfrm flipV="1">
            <a:off x="5915063" y="4689683"/>
            <a:ext cx="1350963" cy="225425"/>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2001" name="Text Box 17"/>
          <p:cNvSpPr txBox="1">
            <a:spLocks noChangeArrowheads="1"/>
          </p:cNvSpPr>
          <p:nvPr/>
        </p:nvSpPr>
        <p:spPr bwMode="auto">
          <a:xfrm>
            <a:off x="7266026" y="4510295"/>
            <a:ext cx="765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正功</a:t>
            </a:r>
          </a:p>
        </p:txBody>
      </p:sp>
      <p:sp>
        <p:nvSpPr>
          <p:cNvPr id="42002" name="Line 18"/>
          <p:cNvSpPr>
            <a:spLocks noChangeShapeType="1"/>
          </p:cNvSpPr>
          <p:nvPr/>
        </p:nvSpPr>
        <p:spPr bwMode="auto">
          <a:xfrm>
            <a:off x="7896262" y="4689682"/>
            <a:ext cx="5842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2003" name="Text Box 19"/>
          <p:cNvSpPr txBox="1">
            <a:spLocks noChangeArrowheads="1"/>
          </p:cNvSpPr>
          <p:nvPr/>
        </p:nvSpPr>
        <p:spPr bwMode="auto">
          <a:xfrm>
            <a:off x="8526501" y="4510295"/>
            <a:ext cx="765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吸热</a:t>
            </a:r>
          </a:p>
        </p:txBody>
      </p:sp>
      <p:sp>
        <p:nvSpPr>
          <p:cNvPr id="42004" name="Line 20"/>
          <p:cNvSpPr>
            <a:spLocks noChangeShapeType="1"/>
          </p:cNvSpPr>
          <p:nvPr/>
        </p:nvSpPr>
        <p:spPr bwMode="auto">
          <a:xfrm>
            <a:off x="5870613" y="4959558"/>
            <a:ext cx="1439863" cy="269875"/>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2005" name="Text Box 21"/>
          <p:cNvSpPr txBox="1">
            <a:spLocks noChangeArrowheads="1"/>
          </p:cNvSpPr>
          <p:nvPr/>
        </p:nvSpPr>
        <p:spPr bwMode="auto">
          <a:xfrm>
            <a:off x="7310476" y="4959558"/>
            <a:ext cx="765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负功</a:t>
            </a:r>
          </a:p>
        </p:txBody>
      </p:sp>
      <p:sp>
        <p:nvSpPr>
          <p:cNvPr id="42006" name="Line 22"/>
          <p:cNvSpPr>
            <a:spLocks noChangeShapeType="1"/>
          </p:cNvSpPr>
          <p:nvPr/>
        </p:nvSpPr>
        <p:spPr bwMode="auto">
          <a:xfrm>
            <a:off x="7940712" y="5138945"/>
            <a:ext cx="584200" cy="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2007" name="Text Box 23"/>
          <p:cNvSpPr txBox="1">
            <a:spLocks noChangeArrowheads="1"/>
          </p:cNvSpPr>
          <p:nvPr/>
        </p:nvSpPr>
        <p:spPr bwMode="auto">
          <a:xfrm>
            <a:off x="8570951" y="4959558"/>
            <a:ext cx="765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放热</a:t>
            </a:r>
          </a:p>
        </p:txBody>
      </p:sp>
      <p:graphicFrame>
        <p:nvGraphicFramePr>
          <p:cNvPr id="42008" name="Object 24"/>
          <p:cNvGraphicFramePr>
            <a:graphicFrameLocks noGrp="1" noChangeAspect="1"/>
          </p:cNvGraphicFramePr>
          <p:nvPr>
            <p:ph idx="1"/>
            <p:extLst>
              <p:ext uri="{D42A27DB-BD31-4B8C-83A1-F6EECF244321}">
                <p14:modId xmlns:p14="http://schemas.microsoft.com/office/powerpoint/2010/main" val="1332136298"/>
              </p:ext>
            </p:extLst>
          </p:nvPr>
        </p:nvGraphicFramePr>
        <p:xfrm>
          <a:off x="1595475" y="2664033"/>
          <a:ext cx="1243012" cy="549275"/>
        </p:xfrm>
        <a:graphic>
          <a:graphicData uri="http://schemas.openxmlformats.org/presentationml/2006/ole">
            <mc:AlternateContent xmlns:mc="http://schemas.openxmlformats.org/markup-compatibility/2006">
              <mc:Choice xmlns:v="urn:schemas-microsoft-com:vml" Requires="v">
                <p:oleObj spid="_x0000_s42036" name="Equation" r:id="rId4" imgW="977900" imgH="431800" progId="Equation.DSMT4">
                  <p:embed/>
                </p:oleObj>
              </mc:Choice>
              <mc:Fallback>
                <p:oleObj name="Equation" r:id="rId4" imgW="977900" imgH="431800" progId="Equation.DSMT4">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5475" y="2664033"/>
                        <a:ext cx="1243012" cy="5492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9" name="AutoShape 25"/>
          <p:cNvSpPr>
            <a:spLocks noChangeArrowheads="1"/>
          </p:cNvSpPr>
          <p:nvPr/>
        </p:nvSpPr>
        <p:spPr bwMode="auto">
          <a:xfrm>
            <a:off x="1909801" y="5499307"/>
            <a:ext cx="1304925" cy="103505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2700" cap="sq">
            <a:solidFill>
              <a:schemeClr val="tx1"/>
            </a:solidFill>
            <a:miter lim="800000"/>
            <a:headEnd type="none" w="sm" len="sm"/>
            <a:tailEnd type="none" w="sm" len="sm"/>
          </a:ln>
        </p:spPr>
        <p:txBody>
          <a:bodyPr wrap="none" anchor="ctr"/>
          <a:lstStyle/>
          <a:p>
            <a:endParaRPr lang="zh-CN" altLang="en-US" sz="2000"/>
          </a:p>
        </p:txBody>
      </p:sp>
      <p:sp>
        <p:nvSpPr>
          <p:cNvPr id="42010" name="Line 26"/>
          <p:cNvSpPr>
            <a:spLocks noChangeShapeType="1"/>
          </p:cNvSpPr>
          <p:nvPr/>
        </p:nvSpPr>
        <p:spPr bwMode="auto">
          <a:xfrm>
            <a:off x="2540037" y="5499308"/>
            <a:ext cx="0" cy="271463"/>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2011" name="Line 27"/>
          <p:cNvSpPr>
            <a:spLocks noChangeShapeType="1"/>
          </p:cNvSpPr>
          <p:nvPr/>
        </p:nvSpPr>
        <p:spPr bwMode="auto">
          <a:xfrm flipH="1">
            <a:off x="2089188" y="6220032"/>
            <a:ext cx="225425" cy="13493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2012" name="Line 28"/>
          <p:cNvSpPr>
            <a:spLocks noChangeShapeType="1"/>
          </p:cNvSpPr>
          <p:nvPr/>
        </p:nvSpPr>
        <p:spPr bwMode="auto">
          <a:xfrm>
            <a:off x="2854363" y="6175582"/>
            <a:ext cx="269875" cy="134938"/>
          </a:xfrm>
          <a:prstGeom prst="line">
            <a:avLst/>
          </a:prstGeom>
          <a:noFill/>
          <a:ln w="127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sz="2000"/>
          </a:p>
        </p:txBody>
      </p:sp>
      <p:sp>
        <p:nvSpPr>
          <p:cNvPr id="42013" name="Text Box 29"/>
          <p:cNvSpPr txBox="1">
            <a:spLocks noChangeArrowheads="1"/>
          </p:cNvSpPr>
          <p:nvPr/>
        </p:nvSpPr>
        <p:spPr bwMode="auto">
          <a:xfrm>
            <a:off x="3395700" y="5634245"/>
            <a:ext cx="51292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同一温度下闭合回路的总电动势＝？</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010" name="Picture 2" descr="R197040-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226" y="503239"/>
            <a:ext cx="3171825"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3" descr="RF618718-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5513" y="3654425"/>
            <a:ext cx="42291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123033" y="98630"/>
            <a:ext cx="5465762" cy="528638"/>
          </a:xfrm>
          <a:prstGeom prst="rect">
            <a:avLst/>
          </a:prstGeom>
          <a:solidFill>
            <a:srgbClr val="FFFF99"/>
          </a:solidFill>
          <a:ln w="9525">
            <a:solidFill>
              <a:srgbClr val="CCFFFF"/>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ea typeface="楷体_GB2312"/>
                <a:cs typeface="楷体_GB2312"/>
              </a:rPr>
              <a:t>温差电现象</a:t>
            </a:r>
          </a:p>
        </p:txBody>
      </p:sp>
      <p:grpSp>
        <p:nvGrpSpPr>
          <p:cNvPr id="44035" name="Group 3"/>
          <p:cNvGrpSpPr>
            <a:grpSpLocks/>
          </p:cNvGrpSpPr>
          <p:nvPr/>
        </p:nvGrpSpPr>
        <p:grpSpPr bwMode="auto">
          <a:xfrm>
            <a:off x="6816726" y="3716338"/>
            <a:ext cx="2663825" cy="762000"/>
            <a:chOff x="3168" y="1104"/>
            <a:chExt cx="2064" cy="481"/>
          </a:xfrm>
        </p:grpSpPr>
        <p:sp>
          <p:nvSpPr>
            <p:cNvPr id="44071" name="Text Box 4"/>
            <p:cNvSpPr txBox="1">
              <a:spLocks noChangeArrowheads="1"/>
            </p:cNvSpPr>
            <p:nvPr/>
          </p:nvSpPr>
          <p:spPr bwMode="auto">
            <a:xfrm>
              <a:off x="3168" y="1296"/>
              <a:ext cx="206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olidFill>
                    <a:schemeClr val="accent2"/>
                  </a:solidFill>
                  <a:latin typeface="楷体_GB2312"/>
                  <a:ea typeface="楷体_GB2312"/>
                  <a:cs typeface="楷体_GB2312"/>
                </a:rPr>
                <a:t> </a:t>
              </a:r>
              <a:r>
                <a:rPr kumimoji="1" lang="zh-CN" altLang="en-US" sz="2400" b="1">
                  <a:solidFill>
                    <a:schemeClr val="accent2"/>
                  </a:solidFill>
                  <a:latin typeface="楷体_GB2312"/>
                  <a:ea typeface="楷体_GB2312"/>
                  <a:cs typeface="楷体_GB2312"/>
                </a:rPr>
                <a:t>一般</a:t>
              </a:r>
              <a:r>
                <a:rPr kumimoji="1" lang="zh-CN" altLang="en-US" sz="2400" b="1" i="1">
                  <a:solidFill>
                    <a:schemeClr val="accent2"/>
                  </a:solidFill>
                  <a:latin typeface="Times New Roman" panose="02020603050405020304" pitchFamily="18" charset="0"/>
                  <a:ea typeface="楷体_GB2312"/>
                  <a:cs typeface="楷体_GB2312"/>
                  <a:sym typeface="Symbol" panose="05050102010706020507" pitchFamily="18" charset="2"/>
                </a:rPr>
                <a:t></a:t>
              </a:r>
              <a:r>
                <a:rPr kumimoji="1" lang="zh-CN" altLang="en-US" sz="2400" b="1">
                  <a:solidFill>
                    <a:schemeClr val="accent2"/>
                  </a:solidFill>
                  <a:latin typeface="Times New Roman" panose="02020603050405020304" pitchFamily="18" charset="0"/>
                  <a:ea typeface="楷体_GB2312"/>
                  <a:cs typeface="楷体_GB2312"/>
                  <a:sym typeface="Symbol" panose="05050102010706020507" pitchFamily="18" charset="2"/>
                </a:rPr>
                <a:t> </a:t>
              </a:r>
              <a:r>
                <a:rPr kumimoji="1" lang="en-US" altLang="zh-CN" sz="2400" b="1">
                  <a:solidFill>
                    <a:schemeClr val="accent2"/>
                  </a:solidFill>
                  <a:latin typeface="Times New Roman" panose="02020603050405020304" pitchFamily="18" charset="0"/>
                  <a:ea typeface="楷体_GB2312"/>
                  <a:cs typeface="楷体_GB2312"/>
                  <a:sym typeface="Symbol" panose="05050102010706020507" pitchFamily="18" charset="2"/>
                </a:rPr>
                <a:t>mV/100 C</a:t>
              </a:r>
              <a:endParaRPr kumimoji="1" lang="en-US" altLang="zh-CN" sz="2400" b="1">
                <a:solidFill>
                  <a:schemeClr val="accent2"/>
                </a:solidFill>
                <a:latin typeface="Times New Roman" panose="02020603050405020304" pitchFamily="18" charset="0"/>
                <a:ea typeface="楷体_GB2312"/>
                <a:cs typeface="楷体_GB2312"/>
              </a:endParaRPr>
            </a:p>
          </p:txBody>
        </p:sp>
        <p:sp>
          <p:nvSpPr>
            <p:cNvPr id="44072" name="Text Box 5"/>
            <p:cNvSpPr txBox="1">
              <a:spLocks noChangeArrowheads="1"/>
            </p:cNvSpPr>
            <p:nvPr/>
          </p:nvSpPr>
          <p:spPr bwMode="auto">
            <a:xfrm>
              <a:off x="4812" y="1104"/>
              <a:ext cx="289"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3600" b="1">
                  <a:solidFill>
                    <a:schemeClr val="accent2"/>
                  </a:solidFill>
                  <a:latin typeface="楷体_GB2312"/>
                  <a:ea typeface="楷体_GB2312"/>
                  <a:cs typeface="楷体_GB2312"/>
                </a:rPr>
                <a:t>。</a:t>
              </a:r>
            </a:p>
          </p:txBody>
        </p:sp>
      </p:grpSp>
      <p:grpSp>
        <p:nvGrpSpPr>
          <p:cNvPr id="44036" name="Group 6"/>
          <p:cNvGrpSpPr>
            <a:grpSpLocks/>
          </p:cNvGrpSpPr>
          <p:nvPr/>
        </p:nvGrpSpPr>
        <p:grpSpPr bwMode="auto">
          <a:xfrm>
            <a:off x="6645276" y="908050"/>
            <a:ext cx="3698875" cy="2844400"/>
            <a:chOff x="2856" y="312"/>
            <a:chExt cx="2784" cy="2334"/>
          </a:xfrm>
        </p:grpSpPr>
        <p:grpSp>
          <p:nvGrpSpPr>
            <p:cNvPr id="44047" name="Group 7"/>
            <p:cNvGrpSpPr>
              <a:grpSpLocks/>
            </p:cNvGrpSpPr>
            <p:nvPr/>
          </p:nvGrpSpPr>
          <p:grpSpPr bwMode="auto">
            <a:xfrm>
              <a:off x="3008" y="512"/>
              <a:ext cx="445" cy="431"/>
              <a:chOff x="288" y="1368"/>
              <a:chExt cx="456" cy="384"/>
            </a:xfrm>
          </p:grpSpPr>
          <p:sp>
            <p:nvSpPr>
              <p:cNvPr id="44069" name="Rectangle 8"/>
              <p:cNvSpPr>
                <a:spLocks noChangeArrowheads="1"/>
              </p:cNvSpPr>
              <p:nvPr/>
            </p:nvSpPr>
            <p:spPr bwMode="auto">
              <a:xfrm>
                <a:off x="288" y="1368"/>
                <a:ext cx="408"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4070" name="Rectangle 9"/>
              <p:cNvSpPr>
                <a:spLocks noChangeArrowheads="1"/>
              </p:cNvSpPr>
              <p:nvPr/>
            </p:nvSpPr>
            <p:spPr bwMode="auto">
              <a:xfrm>
                <a:off x="600" y="1488"/>
                <a:ext cx="14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44048" name="Line 10"/>
            <p:cNvSpPr>
              <a:spLocks noChangeShapeType="1"/>
            </p:cNvSpPr>
            <p:nvPr/>
          </p:nvSpPr>
          <p:spPr bwMode="auto">
            <a:xfrm>
              <a:off x="3523" y="1401"/>
              <a:ext cx="0" cy="4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9" name="Line 11"/>
            <p:cNvSpPr>
              <a:spLocks noChangeShapeType="1"/>
            </p:cNvSpPr>
            <p:nvPr/>
          </p:nvSpPr>
          <p:spPr bwMode="auto">
            <a:xfrm>
              <a:off x="3523" y="1832"/>
              <a:ext cx="10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0" name="Line 12"/>
            <p:cNvSpPr>
              <a:spLocks noChangeShapeType="1"/>
            </p:cNvSpPr>
            <p:nvPr/>
          </p:nvSpPr>
          <p:spPr bwMode="auto">
            <a:xfrm>
              <a:off x="4599" y="1401"/>
              <a:ext cx="0" cy="43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1" name="Line 13"/>
            <p:cNvSpPr>
              <a:spLocks noChangeShapeType="1"/>
            </p:cNvSpPr>
            <p:nvPr/>
          </p:nvSpPr>
          <p:spPr bwMode="auto">
            <a:xfrm>
              <a:off x="3523" y="1509"/>
              <a:ext cx="1076"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2" name="Arc 14"/>
            <p:cNvSpPr>
              <a:spLocks/>
            </p:cNvSpPr>
            <p:nvPr/>
          </p:nvSpPr>
          <p:spPr bwMode="auto">
            <a:xfrm>
              <a:off x="3382" y="701"/>
              <a:ext cx="889" cy="1024"/>
            </a:xfrm>
            <a:custGeom>
              <a:avLst/>
              <a:gdLst>
                <a:gd name="T0" fmla="*/ 0 w 24225"/>
                <a:gd name="T1" fmla="*/ 0 h 21600"/>
                <a:gd name="T2" fmla="*/ 0 w 24225"/>
                <a:gd name="T3" fmla="*/ 0 h 21600"/>
                <a:gd name="T4" fmla="*/ 0 w 24225"/>
                <a:gd name="T5" fmla="*/ 0 h 21600"/>
                <a:gd name="T6" fmla="*/ 0 60000 65536"/>
                <a:gd name="T7" fmla="*/ 0 60000 65536"/>
                <a:gd name="T8" fmla="*/ 0 60000 65536"/>
                <a:gd name="T9" fmla="*/ 0 w 24225"/>
                <a:gd name="T10" fmla="*/ 0 h 21600"/>
                <a:gd name="T11" fmla="*/ 24225 w 24225"/>
                <a:gd name="T12" fmla="*/ 21600 h 21600"/>
              </a:gdLst>
              <a:ahLst/>
              <a:cxnLst>
                <a:cxn ang="T6">
                  <a:pos x="T0" y="T1"/>
                </a:cxn>
                <a:cxn ang="T7">
                  <a:pos x="T2" y="T3"/>
                </a:cxn>
                <a:cxn ang="T8">
                  <a:pos x="T4" y="T5"/>
                </a:cxn>
              </a:cxnLst>
              <a:rect l="T9" t="T10" r="T11" b="T12"/>
              <a:pathLst>
                <a:path w="24225" h="21600" fill="none" extrusionOk="0">
                  <a:moveTo>
                    <a:pt x="0" y="160"/>
                  </a:moveTo>
                  <a:cubicBezTo>
                    <a:pt x="870" y="53"/>
                    <a:pt x="1747" y="-1"/>
                    <a:pt x="2625" y="0"/>
                  </a:cubicBezTo>
                  <a:cubicBezTo>
                    <a:pt x="14554" y="0"/>
                    <a:pt x="24225" y="9670"/>
                    <a:pt x="24225" y="21600"/>
                  </a:cubicBezTo>
                </a:path>
                <a:path w="24225" h="21600" stroke="0" extrusionOk="0">
                  <a:moveTo>
                    <a:pt x="0" y="160"/>
                  </a:moveTo>
                  <a:cubicBezTo>
                    <a:pt x="870" y="53"/>
                    <a:pt x="1747" y="-1"/>
                    <a:pt x="2625" y="0"/>
                  </a:cubicBezTo>
                  <a:cubicBezTo>
                    <a:pt x="14554" y="0"/>
                    <a:pt x="24225" y="9670"/>
                    <a:pt x="24225" y="21600"/>
                  </a:cubicBezTo>
                  <a:lnTo>
                    <a:pt x="2625" y="21600"/>
                  </a:lnTo>
                  <a:lnTo>
                    <a:pt x="0" y="160"/>
                  </a:lnTo>
                  <a:close/>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4053" name="Arc 15"/>
            <p:cNvSpPr>
              <a:spLocks/>
            </p:cNvSpPr>
            <p:nvPr/>
          </p:nvSpPr>
          <p:spPr bwMode="auto">
            <a:xfrm>
              <a:off x="3336" y="701"/>
              <a:ext cx="608" cy="1024"/>
            </a:xfrm>
            <a:custGeom>
              <a:avLst/>
              <a:gdLst>
                <a:gd name="T0" fmla="*/ 0 w 24225"/>
                <a:gd name="T1" fmla="*/ 0 h 21600"/>
                <a:gd name="T2" fmla="*/ 0 w 24225"/>
                <a:gd name="T3" fmla="*/ 0 h 21600"/>
                <a:gd name="T4" fmla="*/ 0 w 24225"/>
                <a:gd name="T5" fmla="*/ 0 h 21600"/>
                <a:gd name="T6" fmla="*/ 0 60000 65536"/>
                <a:gd name="T7" fmla="*/ 0 60000 65536"/>
                <a:gd name="T8" fmla="*/ 0 60000 65536"/>
                <a:gd name="T9" fmla="*/ 0 w 24225"/>
                <a:gd name="T10" fmla="*/ 0 h 21600"/>
                <a:gd name="T11" fmla="*/ 24225 w 24225"/>
                <a:gd name="T12" fmla="*/ 21600 h 21600"/>
              </a:gdLst>
              <a:ahLst/>
              <a:cxnLst>
                <a:cxn ang="T6">
                  <a:pos x="T0" y="T1"/>
                </a:cxn>
                <a:cxn ang="T7">
                  <a:pos x="T2" y="T3"/>
                </a:cxn>
                <a:cxn ang="T8">
                  <a:pos x="T4" y="T5"/>
                </a:cxn>
              </a:cxnLst>
              <a:rect l="T9" t="T10" r="T11" b="T12"/>
              <a:pathLst>
                <a:path w="24225" h="21600" fill="none" extrusionOk="0">
                  <a:moveTo>
                    <a:pt x="0" y="160"/>
                  </a:moveTo>
                  <a:cubicBezTo>
                    <a:pt x="870" y="53"/>
                    <a:pt x="1747" y="-1"/>
                    <a:pt x="2625" y="0"/>
                  </a:cubicBezTo>
                  <a:cubicBezTo>
                    <a:pt x="14554" y="0"/>
                    <a:pt x="24225" y="9670"/>
                    <a:pt x="24225" y="21600"/>
                  </a:cubicBezTo>
                </a:path>
                <a:path w="24225" h="21600" stroke="0" extrusionOk="0">
                  <a:moveTo>
                    <a:pt x="0" y="160"/>
                  </a:moveTo>
                  <a:cubicBezTo>
                    <a:pt x="870" y="53"/>
                    <a:pt x="1747" y="-1"/>
                    <a:pt x="2625" y="0"/>
                  </a:cubicBezTo>
                  <a:cubicBezTo>
                    <a:pt x="14554" y="0"/>
                    <a:pt x="24225" y="9670"/>
                    <a:pt x="24225" y="21600"/>
                  </a:cubicBezTo>
                  <a:lnTo>
                    <a:pt x="2625" y="21600"/>
                  </a:lnTo>
                  <a:lnTo>
                    <a:pt x="0" y="16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4054" name="Text Box 16"/>
            <p:cNvSpPr txBox="1">
              <a:spLocks noChangeArrowheads="1"/>
            </p:cNvSpPr>
            <p:nvPr/>
          </p:nvSpPr>
          <p:spPr bwMode="auto">
            <a:xfrm>
              <a:off x="3827" y="1536"/>
              <a:ext cx="468"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a:solidFill>
                    <a:schemeClr val="accent2"/>
                  </a:solidFill>
                  <a:latin typeface="楷体_GB2312"/>
                  <a:ea typeface="楷体_GB2312"/>
                  <a:cs typeface="楷体_GB2312"/>
                  <a:sym typeface="Symbol" panose="05050102010706020507" pitchFamily="18" charset="2"/>
                </a:rPr>
                <a:t></a:t>
              </a:r>
              <a:endParaRPr kumimoji="1" lang="en-US" altLang="zh-CN" sz="2400">
                <a:solidFill>
                  <a:schemeClr val="accent2"/>
                </a:solidFill>
                <a:latin typeface="楷体_GB2312"/>
                <a:ea typeface="楷体_GB2312"/>
                <a:cs typeface="楷体_GB2312"/>
              </a:endParaRPr>
            </a:p>
          </p:txBody>
        </p:sp>
        <p:sp>
          <p:nvSpPr>
            <p:cNvPr id="44055" name="Text Box 17"/>
            <p:cNvSpPr txBox="1">
              <a:spLocks noChangeArrowheads="1"/>
            </p:cNvSpPr>
            <p:nvPr/>
          </p:nvSpPr>
          <p:spPr bwMode="auto">
            <a:xfrm>
              <a:off x="4166" y="1548"/>
              <a:ext cx="468"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a:solidFill>
                    <a:schemeClr val="accent2"/>
                  </a:solidFill>
                  <a:latin typeface="楷体_GB2312"/>
                  <a:ea typeface="楷体_GB2312"/>
                  <a:cs typeface="楷体_GB2312"/>
                  <a:sym typeface="Symbol" panose="05050102010706020507" pitchFamily="18" charset="2"/>
                </a:rPr>
                <a:t></a:t>
              </a:r>
              <a:endParaRPr kumimoji="1" lang="en-US" altLang="zh-CN" sz="2400">
                <a:solidFill>
                  <a:schemeClr val="accent2"/>
                </a:solidFill>
                <a:latin typeface="楷体_GB2312"/>
                <a:ea typeface="楷体_GB2312"/>
                <a:cs typeface="楷体_GB2312"/>
              </a:endParaRPr>
            </a:p>
          </p:txBody>
        </p:sp>
        <p:sp>
          <p:nvSpPr>
            <p:cNvPr id="44056" name="Text Box 18"/>
            <p:cNvSpPr txBox="1">
              <a:spLocks noChangeArrowheads="1"/>
            </p:cNvSpPr>
            <p:nvPr/>
          </p:nvSpPr>
          <p:spPr bwMode="auto">
            <a:xfrm>
              <a:off x="3230" y="553"/>
              <a:ext cx="468"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a:solidFill>
                    <a:schemeClr val="accent2"/>
                  </a:solidFill>
                  <a:latin typeface="楷体_GB2312"/>
                  <a:ea typeface="楷体_GB2312"/>
                  <a:cs typeface="楷体_GB2312"/>
                  <a:sym typeface="Symbol" panose="05050102010706020507" pitchFamily="18" charset="2"/>
                </a:rPr>
                <a:t></a:t>
              </a:r>
              <a:endParaRPr kumimoji="1" lang="en-US" altLang="zh-CN" sz="2400">
                <a:solidFill>
                  <a:schemeClr val="accent2"/>
                </a:solidFill>
                <a:latin typeface="楷体_GB2312"/>
                <a:ea typeface="楷体_GB2312"/>
                <a:cs typeface="楷体_GB2312"/>
              </a:endParaRPr>
            </a:p>
          </p:txBody>
        </p:sp>
        <p:sp>
          <p:nvSpPr>
            <p:cNvPr id="44057" name="Text Box 19"/>
            <p:cNvSpPr txBox="1">
              <a:spLocks noChangeArrowheads="1"/>
            </p:cNvSpPr>
            <p:nvPr/>
          </p:nvSpPr>
          <p:spPr bwMode="auto">
            <a:xfrm>
              <a:off x="3571" y="1478"/>
              <a:ext cx="374" cy="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solidFill>
                    <a:schemeClr val="accent2"/>
                  </a:solidFill>
                  <a:latin typeface="Times New Roman" panose="02020603050405020304" pitchFamily="18" charset="0"/>
                  <a:ea typeface="楷体_GB2312"/>
                  <a:cs typeface="楷体_GB2312"/>
                </a:rPr>
                <a:t>T</a:t>
              </a:r>
              <a:r>
                <a:rPr kumimoji="1" lang="en-US" altLang="zh-CN" sz="2800" b="1" baseline="-25000">
                  <a:solidFill>
                    <a:schemeClr val="accent2"/>
                  </a:solidFill>
                  <a:latin typeface="Times New Roman" panose="02020603050405020304" pitchFamily="18" charset="0"/>
                  <a:ea typeface="楷体_GB2312"/>
                  <a:cs typeface="楷体_GB2312"/>
                </a:rPr>
                <a:t>2</a:t>
              </a:r>
              <a:endParaRPr kumimoji="1" lang="en-US" altLang="zh-CN" sz="2800" b="1">
                <a:solidFill>
                  <a:schemeClr val="accent2"/>
                </a:solidFill>
                <a:latin typeface="Times New Roman" panose="02020603050405020304" pitchFamily="18" charset="0"/>
                <a:ea typeface="楷体_GB2312"/>
                <a:cs typeface="楷体_GB2312"/>
              </a:endParaRPr>
            </a:p>
          </p:txBody>
        </p:sp>
        <p:sp>
          <p:nvSpPr>
            <p:cNvPr id="44058" name="Text Box 20"/>
            <p:cNvSpPr txBox="1">
              <a:spLocks noChangeArrowheads="1"/>
            </p:cNvSpPr>
            <p:nvPr/>
          </p:nvSpPr>
          <p:spPr bwMode="auto">
            <a:xfrm>
              <a:off x="3008" y="513"/>
              <a:ext cx="374" cy="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solidFill>
                    <a:schemeClr val="accent2"/>
                  </a:solidFill>
                  <a:latin typeface="Times New Roman" panose="02020603050405020304" pitchFamily="18" charset="0"/>
                  <a:ea typeface="楷体_GB2312"/>
                  <a:cs typeface="楷体_GB2312"/>
                </a:rPr>
                <a:t>T</a:t>
              </a:r>
              <a:r>
                <a:rPr kumimoji="1" lang="en-US" altLang="zh-CN" sz="2800" b="1" baseline="-25000">
                  <a:solidFill>
                    <a:schemeClr val="accent2"/>
                  </a:solidFill>
                  <a:latin typeface="Times New Roman" panose="02020603050405020304" pitchFamily="18" charset="0"/>
                  <a:ea typeface="楷体_GB2312"/>
                  <a:cs typeface="楷体_GB2312"/>
                </a:rPr>
                <a:t>1</a:t>
              </a:r>
              <a:endParaRPr kumimoji="1" lang="en-US" altLang="zh-CN" sz="2800" b="1">
                <a:solidFill>
                  <a:schemeClr val="accent2"/>
                </a:solidFill>
                <a:latin typeface="Times New Roman" panose="02020603050405020304" pitchFamily="18" charset="0"/>
                <a:ea typeface="楷体_GB2312"/>
                <a:cs typeface="楷体_GB2312"/>
              </a:endParaRPr>
            </a:p>
          </p:txBody>
        </p:sp>
        <p:sp>
          <p:nvSpPr>
            <p:cNvPr id="44059" name="Text Box 21"/>
            <p:cNvSpPr txBox="1">
              <a:spLocks noChangeArrowheads="1"/>
            </p:cNvSpPr>
            <p:nvPr/>
          </p:nvSpPr>
          <p:spPr bwMode="auto">
            <a:xfrm>
              <a:off x="2856" y="989"/>
              <a:ext cx="795"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olidFill>
                    <a:schemeClr val="accent2"/>
                  </a:solidFill>
                  <a:latin typeface="楷体_GB2312"/>
                  <a:ea typeface="楷体_GB2312"/>
                  <a:cs typeface="楷体_GB2312"/>
                </a:rPr>
                <a:t>  </a:t>
              </a:r>
              <a:r>
                <a:rPr kumimoji="1" lang="zh-CN" altLang="en-US" sz="2000" b="1">
                  <a:solidFill>
                    <a:schemeClr val="accent2"/>
                  </a:solidFill>
                  <a:latin typeface="楷体_GB2312"/>
                  <a:ea typeface="楷体_GB2312"/>
                  <a:cs typeface="楷体_GB2312"/>
                </a:rPr>
                <a:t>待测</a:t>
              </a:r>
            </a:p>
          </p:txBody>
        </p:sp>
        <p:sp>
          <p:nvSpPr>
            <p:cNvPr id="44060" name="Text Box 22"/>
            <p:cNvSpPr txBox="1">
              <a:spLocks noChangeArrowheads="1"/>
            </p:cNvSpPr>
            <p:nvPr/>
          </p:nvSpPr>
          <p:spPr bwMode="auto">
            <a:xfrm>
              <a:off x="2998" y="1358"/>
              <a:ext cx="561" cy="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chemeClr val="accent2"/>
                  </a:solidFill>
                  <a:latin typeface="楷体_GB2312"/>
                  <a:ea typeface="楷体_GB2312"/>
                  <a:cs typeface="楷体_GB2312"/>
                </a:rPr>
                <a:t>已知恒温</a:t>
              </a:r>
            </a:p>
          </p:txBody>
        </p:sp>
        <p:sp>
          <p:nvSpPr>
            <p:cNvPr id="44061" name="Arc 23"/>
            <p:cNvSpPr>
              <a:spLocks/>
            </p:cNvSpPr>
            <p:nvPr/>
          </p:nvSpPr>
          <p:spPr bwMode="auto">
            <a:xfrm flipH="1">
              <a:off x="3944" y="486"/>
              <a:ext cx="1123" cy="11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3300"/>
              </a:solidFill>
              <a:round/>
              <a:headEnd type="arrow"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4062" name="Arc 24"/>
            <p:cNvSpPr>
              <a:spLocks/>
            </p:cNvSpPr>
            <p:nvPr/>
          </p:nvSpPr>
          <p:spPr bwMode="auto">
            <a:xfrm flipH="1">
              <a:off x="4271" y="863"/>
              <a:ext cx="796" cy="8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3300"/>
              </a:solidFill>
              <a:round/>
              <a:headEnd type="arrow"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4063" name="Text Box 25"/>
            <p:cNvSpPr txBox="1">
              <a:spLocks noChangeArrowheads="1"/>
            </p:cNvSpPr>
            <p:nvPr/>
          </p:nvSpPr>
          <p:spPr bwMode="auto">
            <a:xfrm>
              <a:off x="4891" y="1062"/>
              <a:ext cx="74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1800" b="1">
                  <a:solidFill>
                    <a:schemeClr val="accent2"/>
                  </a:solidFill>
                  <a:latin typeface="楷体_GB2312"/>
                  <a:ea typeface="楷体_GB2312"/>
                  <a:cs typeface="楷体_GB2312"/>
                </a:rPr>
                <a:t>（测</a:t>
              </a:r>
              <a:r>
                <a:rPr kumimoji="1" lang="zh-CN" altLang="en-US" sz="1800" b="1" i="1">
                  <a:solidFill>
                    <a:schemeClr val="accent2"/>
                  </a:solidFill>
                  <a:latin typeface="楷体_GB2312"/>
                  <a:ea typeface="楷体_GB2312"/>
                  <a:cs typeface="楷体_GB2312"/>
                  <a:sym typeface="Symbol" panose="05050102010706020507" pitchFamily="18" charset="2"/>
                </a:rPr>
                <a:t></a:t>
              </a:r>
              <a:r>
                <a:rPr kumimoji="1" lang="zh-CN" altLang="en-US" sz="1800" b="1">
                  <a:solidFill>
                    <a:schemeClr val="accent2"/>
                  </a:solidFill>
                  <a:latin typeface="楷体_GB2312"/>
                  <a:ea typeface="楷体_GB2312"/>
                  <a:cs typeface="楷体_GB2312"/>
                  <a:sym typeface="Symbol" panose="05050102010706020507" pitchFamily="18" charset="2"/>
                </a:rPr>
                <a:t>）</a:t>
              </a:r>
              <a:endParaRPr kumimoji="1" lang="zh-CN" altLang="en-US" sz="1800" b="1">
                <a:solidFill>
                  <a:schemeClr val="accent2"/>
                </a:solidFill>
                <a:latin typeface="楷体_GB2312"/>
                <a:ea typeface="楷体_GB2312"/>
                <a:cs typeface="楷体_GB2312"/>
              </a:endParaRPr>
            </a:p>
          </p:txBody>
        </p:sp>
        <p:sp>
          <p:nvSpPr>
            <p:cNvPr id="44064" name="Text Box 26"/>
            <p:cNvSpPr txBox="1">
              <a:spLocks noChangeArrowheads="1"/>
            </p:cNvSpPr>
            <p:nvPr/>
          </p:nvSpPr>
          <p:spPr bwMode="auto">
            <a:xfrm>
              <a:off x="5066" y="312"/>
              <a:ext cx="562" cy="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FontTx/>
                <a:buNone/>
              </a:pPr>
              <a:r>
                <a:rPr kumimoji="1" lang="zh-CN" altLang="en-US" sz="2400" b="1">
                  <a:solidFill>
                    <a:schemeClr val="accent2"/>
                  </a:solidFill>
                  <a:latin typeface="楷体_GB2312"/>
                  <a:ea typeface="楷体_GB2312"/>
                  <a:cs typeface="楷体_GB2312"/>
                </a:rPr>
                <a:t>电位差计</a:t>
              </a:r>
            </a:p>
          </p:txBody>
        </p:sp>
        <p:sp>
          <p:nvSpPr>
            <p:cNvPr id="44065" name="Rectangle 27"/>
            <p:cNvSpPr>
              <a:spLocks noChangeArrowheads="1"/>
            </p:cNvSpPr>
            <p:nvPr/>
          </p:nvSpPr>
          <p:spPr bwMode="auto">
            <a:xfrm>
              <a:off x="5067" y="337"/>
              <a:ext cx="561" cy="70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4066" name="Text Box 28"/>
            <p:cNvSpPr txBox="1">
              <a:spLocks noChangeArrowheads="1"/>
            </p:cNvSpPr>
            <p:nvPr/>
          </p:nvSpPr>
          <p:spPr bwMode="auto">
            <a:xfrm>
              <a:off x="3710" y="445"/>
              <a:ext cx="281"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olidFill>
                    <a:schemeClr val="accent2"/>
                  </a:solidFill>
                  <a:latin typeface="Times New Roman" panose="02020603050405020304" pitchFamily="18" charset="0"/>
                  <a:ea typeface="楷体_GB2312"/>
                  <a:cs typeface="楷体_GB2312"/>
                </a:rPr>
                <a:t>A</a:t>
              </a:r>
            </a:p>
          </p:txBody>
        </p:sp>
        <p:sp>
          <p:nvSpPr>
            <p:cNvPr id="44067" name="Text Box 29"/>
            <p:cNvSpPr txBox="1">
              <a:spLocks noChangeArrowheads="1"/>
            </p:cNvSpPr>
            <p:nvPr/>
          </p:nvSpPr>
          <p:spPr bwMode="auto">
            <a:xfrm>
              <a:off x="3511" y="849"/>
              <a:ext cx="281"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olidFill>
                    <a:schemeClr val="accent2"/>
                  </a:solidFill>
                  <a:latin typeface="Times New Roman" panose="02020603050405020304" pitchFamily="18" charset="0"/>
                  <a:ea typeface="楷体_GB2312"/>
                  <a:cs typeface="楷体_GB2312"/>
                </a:rPr>
                <a:t>B</a:t>
              </a:r>
            </a:p>
          </p:txBody>
        </p:sp>
        <p:sp>
          <p:nvSpPr>
            <p:cNvPr id="44068" name="Text Box 30"/>
            <p:cNvSpPr txBox="1">
              <a:spLocks noChangeArrowheads="1"/>
            </p:cNvSpPr>
            <p:nvPr/>
          </p:nvSpPr>
          <p:spPr bwMode="auto">
            <a:xfrm>
              <a:off x="4517" y="553"/>
              <a:ext cx="281"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olidFill>
                    <a:schemeClr val="accent2"/>
                  </a:solidFill>
                  <a:latin typeface="Times New Roman" panose="02020603050405020304" pitchFamily="18" charset="0"/>
                  <a:ea typeface="楷体_GB2312"/>
                  <a:cs typeface="楷体_GB2312"/>
                </a:rPr>
                <a:t>C</a:t>
              </a:r>
            </a:p>
          </p:txBody>
        </p:sp>
      </p:grpSp>
      <p:grpSp>
        <p:nvGrpSpPr>
          <p:cNvPr id="44037" name="Group 31"/>
          <p:cNvGrpSpPr>
            <a:grpSpLocks/>
          </p:cNvGrpSpPr>
          <p:nvPr/>
        </p:nvGrpSpPr>
        <p:grpSpPr bwMode="auto">
          <a:xfrm>
            <a:off x="5808663" y="4508501"/>
            <a:ext cx="4648200" cy="1414463"/>
            <a:chOff x="24" y="864"/>
            <a:chExt cx="2928" cy="891"/>
          </a:xfrm>
        </p:grpSpPr>
        <p:grpSp>
          <p:nvGrpSpPr>
            <p:cNvPr id="44042" name="Group 32"/>
            <p:cNvGrpSpPr>
              <a:grpSpLocks/>
            </p:cNvGrpSpPr>
            <p:nvPr/>
          </p:nvGrpSpPr>
          <p:grpSpPr bwMode="auto">
            <a:xfrm>
              <a:off x="288" y="864"/>
              <a:ext cx="2664" cy="581"/>
              <a:chOff x="2928" y="1332"/>
              <a:chExt cx="2664" cy="581"/>
            </a:xfrm>
          </p:grpSpPr>
          <p:sp>
            <p:nvSpPr>
              <p:cNvPr id="44045" name="Text Box 33"/>
              <p:cNvSpPr txBox="1">
                <a:spLocks noChangeArrowheads="1"/>
              </p:cNvSpPr>
              <p:nvPr/>
            </p:nvSpPr>
            <p:spPr bwMode="auto">
              <a:xfrm>
                <a:off x="2928" y="1548"/>
                <a:ext cx="266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b="1">
                    <a:solidFill>
                      <a:schemeClr val="accent2"/>
                    </a:solidFill>
                    <a:latin typeface="Times New Roman" panose="02020603050405020304" pitchFamily="18" charset="0"/>
                    <a:ea typeface="楷体_GB2312"/>
                    <a:cs typeface="楷体_GB2312"/>
                  </a:rPr>
                  <a:t>Bi—Sb</a:t>
                </a:r>
                <a:r>
                  <a:rPr kumimoji="1" lang="en-US" altLang="zh-CN">
                    <a:solidFill>
                      <a:schemeClr val="accent2"/>
                    </a:solidFill>
                    <a:latin typeface="Times New Roman" panose="02020603050405020304" pitchFamily="18" charset="0"/>
                    <a:ea typeface="楷体_GB2312"/>
                    <a:cs typeface="楷体_GB2312"/>
                  </a:rPr>
                  <a:t> </a:t>
                </a:r>
                <a:r>
                  <a:rPr kumimoji="1" lang="en-US" altLang="zh-CN" b="1" i="1">
                    <a:solidFill>
                      <a:schemeClr val="accent2"/>
                    </a:solidFill>
                    <a:latin typeface="Times New Roman" panose="02020603050405020304" pitchFamily="18" charset="0"/>
                    <a:ea typeface="楷体_GB2312"/>
                    <a:cs typeface="楷体_GB2312"/>
                    <a:sym typeface="Symbol" panose="05050102010706020507" pitchFamily="18" charset="2"/>
                  </a:rPr>
                  <a:t></a:t>
                </a:r>
                <a:r>
                  <a:rPr kumimoji="1" lang="en-US" altLang="zh-CN" b="1">
                    <a:solidFill>
                      <a:schemeClr val="accent2"/>
                    </a:solidFill>
                    <a:latin typeface="Times New Roman" panose="02020603050405020304" pitchFamily="18" charset="0"/>
                    <a:ea typeface="楷体_GB2312"/>
                    <a:cs typeface="楷体_GB2312"/>
                    <a:sym typeface="Symbol" panose="05050102010706020507" pitchFamily="18" charset="2"/>
                  </a:rPr>
                  <a:t> 10 </a:t>
                </a:r>
                <a:r>
                  <a:rPr kumimoji="1" lang="en-US" altLang="zh-CN" b="1" baseline="30000">
                    <a:solidFill>
                      <a:schemeClr val="accent2"/>
                    </a:solidFill>
                    <a:latin typeface="Times New Roman" panose="02020603050405020304" pitchFamily="18" charset="0"/>
                    <a:ea typeface="楷体_GB2312"/>
                    <a:cs typeface="楷体_GB2312"/>
                    <a:sym typeface="Symbol" panose="05050102010706020507" pitchFamily="18" charset="2"/>
                  </a:rPr>
                  <a:t>-2</a:t>
                </a:r>
                <a:r>
                  <a:rPr kumimoji="1" lang="en-US" altLang="zh-CN" b="1">
                    <a:solidFill>
                      <a:schemeClr val="accent2"/>
                    </a:solidFill>
                    <a:latin typeface="Times New Roman" panose="02020603050405020304" pitchFamily="18" charset="0"/>
                    <a:ea typeface="楷体_GB2312"/>
                    <a:cs typeface="楷体_GB2312"/>
                    <a:sym typeface="Symbol" panose="05050102010706020507" pitchFamily="18" charset="2"/>
                  </a:rPr>
                  <a:t>V/100 C</a:t>
                </a:r>
              </a:p>
            </p:txBody>
          </p:sp>
          <p:sp>
            <p:nvSpPr>
              <p:cNvPr id="44046" name="Text Box 34"/>
              <p:cNvSpPr txBox="1">
                <a:spLocks noChangeArrowheads="1"/>
              </p:cNvSpPr>
              <p:nvPr/>
            </p:nvSpPr>
            <p:spPr bwMode="auto">
              <a:xfrm>
                <a:off x="5172" y="1332"/>
                <a:ext cx="28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3600" b="1">
                    <a:solidFill>
                      <a:schemeClr val="accent2"/>
                    </a:solidFill>
                    <a:latin typeface="Times New Roman" panose="02020603050405020304" pitchFamily="18" charset="0"/>
                    <a:ea typeface="楷体_GB2312"/>
                    <a:cs typeface="楷体_GB2312"/>
                  </a:rPr>
                  <a:t>。</a:t>
                </a:r>
              </a:p>
            </p:txBody>
          </p:sp>
        </p:grpSp>
        <p:sp>
          <p:nvSpPr>
            <p:cNvPr id="44043" name="Text Box 35"/>
            <p:cNvSpPr txBox="1">
              <a:spLocks noChangeArrowheads="1"/>
            </p:cNvSpPr>
            <p:nvPr/>
          </p:nvSpPr>
          <p:spPr bwMode="auto">
            <a:xfrm>
              <a:off x="24" y="1428"/>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chemeClr val="accent2"/>
                  </a:solidFill>
                  <a:latin typeface="Times New Roman" panose="02020603050405020304" pitchFamily="18" charset="0"/>
                  <a:ea typeface="楷体_GB2312"/>
                  <a:cs typeface="楷体_GB2312"/>
                </a:rPr>
                <a:t>（铋）</a:t>
              </a:r>
            </a:p>
          </p:txBody>
        </p:sp>
        <p:sp>
          <p:nvSpPr>
            <p:cNvPr id="44044" name="Text Box 36"/>
            <p:cNvSpPr txBox="1">
              <a:spLocks noChangeArrowheads="1"/>
            </p:cNvSpPr>
            <p:nvPr/>
          </p:nvSpPr>
          <p:spPr bwMode="auto">
            <a:xfrm>
              <a:off x="624" y="1428"/>
              <a:ext cx="8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chemeClr val="accent2"/>
                  </a:solidFill>
                  <a:latin typeface="Times New Roman" panose="02020603050405020304" pitchFamily="18" charset="0"/>
                  <a:ea typeface="楷体_GB2312"/>
                  <a:cs typeface="楷体_GB2312"/>
                </a:rPr>
                <a:t>（锑）</a:t>
              </a:r>
            </a:p>
          </p:txBody>
        </p:sp>
      </p:grpSp>
      <p:sp>
        <p:nvSpPr>
          <p:cNvPr id="44038" name="Text Box 37"/>
          <p:cNvSpPr txBox="1">
            <a:spLocks noChangeArrowheads="1"/>
          </p:cNvSpPr>
          <p:nvPr/>
        </p:nvSpPr>
        <p:spPr bwMode="auto">
          <a:xfrm>
            <a:off x="243031" y="731314"/>
            <a:ext cx="4495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rgbClr val="0000FF"/>
                </a:solidFill>
                <a:latin typeface="Times New Roman" panose="02020603050405020304" pitchFamily="18" charset="0"/>
                <a:ea typeface="楷体_GB2312"/>
                <a:cs typeface="楷体_GB2312"/>
              </a:rPr>
              <a:t>温差电动势的应用</a:t>
            </a:r>
            <a:r>
              <a:rPr kumimoji="1" lang="en-US" altLang="zh-CN" sz="2400" b="1">
                <a:solidFill>
                  <a:srgbClr val="0000FF"/>
                </a:solidFill>
                <a:latin typeface="Times New Roman" panose="02020603050405020304" pitchFamily="18" charset="0"/>
                <a:ea typeface="楷体_GB2312"/>
                <a:cs typeface="楷体_GB2312"/>
              </a:rPr>
              <a:t>:</a:t>
            </a:r>
          </a:p>
          <a:p>
            <a:pPr eaLnBrk="1" hangingPunct="1">
              <a:spcBef>
                <a:spcPct val="50000"/>
              </a:spcBef>
              <a:buFontTx/>
              <a:buNone/>
            </a:pPr>
            <a:r>
              <a:rPr kumimoji="1" lang="en-US" altLang="zh-CN" sz="2400" b="1">
                <a:solidFill>
                  <a:schemeClr val="accent2"/>
                </a:solidFill>
                <a:latin typeface="Times New Roman" panose="02020603050405020304" pitchFamily="18" charset="0"/>
                <a:ea typeface="楷体_GB2312"/>
                <a:cs typeface="楷体_GB2312"/>
              </a:rPr>
              <a:t>1</a:t>
            </a:r>
            <a:r>
              <a:rPr kumimoji="1" lang="zh-CN" altLang="en-US" sz="2400" b="1">
                <a:solidFill>
                  <a:schemeClr val="accent2"/>
                </a:solidFill>
                <a:latin typeface="Times New Roman" panose="02020603050405020304" pitchFamily="18" charset="0"/>
                <a:ea typeface="楷体_GB2312"/>
                <a:cs typeface="楷体_GB2312"/>
              </a:rPr>
              <a:t>）</a:t>
            </a:r>
            <a:r>
              <a:rPr kumimoji="1" lang="zh-CN" altLang="en-US" sz="2400" b="1">
                <a:solidFill>
                  <a:schemeClr val="accent2"/>
                </a:solidFill>
                <a:latin typeface="楷体_GB2312"/>
                <a:ea typeface="楷体_GB2312"/>
                <a:cs typeface="楷体_GB2312"/>
              </a:rPr>
              <a:t>热电偶</a:t>
            </a:r>
          </a:p>
        </p:txBody>
      </p:sp>
      <p:sp>
        <p:nvSpPr>
          <p:cNvPr id="44039" name="Text Box 38"/>
          <p:cNvSpPr txBox="1">
            <a:spLocks noChangeArrowheads="1"/>
          </p:cNvSpPr>
          <p:nvPr/>
        </p:nvSpPr>
        <p:spPr bwMode="auto">
          <a:xfrm>
            <a:off x="601692" y="2024361"/>
            <a:ext cx="51212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latin typeface="楷体_GB2312"/>
                <a:ea typeface="楷体_GB2312"/>
                <a:cs typeface="楷体_GB2312"/>
              </a:rPr>
              <a:t>优点：</a:t>
            </a:r>
          </a:p>
          <a:p>
            <a:pPr eaLnBrk="1" hangingPunct="1">
              <a:spcBef>
                <a:spcPct val="50000"/>
              </a:spcBef>
              <a:buFontTx/>
              <a:buNone/>
            </a:pPr>
            <a:r>
              <a:rPr kumimoji="1" lang="zh-CN" altLang="en-US" sz="2400" b="1">
                <a:latin typeface="楷体_GB2312"/>
                <a:ea typeface="楷体_GB2312"/>
                <a:cs typeface="楷体_GB2312"/>
              </a:rPr>
              <a:t>▲热容小 灵敏度高</a:t>
            </a:r>
            <a:r>
              <a:rPr kumimoji="1" lang="en-US" altLang="zh-CN" sz="2400" b="1">
                <a:latin typeface="楷体_GB2312"/>
                <a:ea typeface="楷体_GB2312"/>
                <a:cs typeface="楷体_GB2312"/>
              </a:rPr>
              <a:t>(</a:t>
            </a:r>
            <a:r>
              <a:rPr kumimoji="1" lang="en-US" altLang="zh-CN" sz="2400" b="1">
                <a:solidFill>
                  <a:srgbClr val="FF0000"/>
                </a:solidFill>
                <a:latin typeface="Times New Roman" panose="02020603050405020304" pitchFamily="18" charset="0"/>
                <a:ea typeface="楷体_GB2312"/>
                <a:cs typeface="楷体_GB2312"/>
              </a:rPr>
              <a:t>10</a:t>
            </a:r>
            <a:r>
              <a:rPr kumimoji="1" lang="en-US" altLang="zh-CN" sz="2400" b="1" baseline="30000">
                <a:solidFill>
                  <a:srgbClr val="FF0000"/>
                </a:solidFill>
                <a:latin typeface="Times New Roman" panose="02020603050405020304" pitchFamily="18" charset="0"/>
                <a:ea typeface="楷体_GB2312"/>
                <a:cs typeface="楷体_GB2312"/>
              </a:rPr>
              <a:t>-3</a:t>
            </a:r>
            <a:r>
              <a:rPr kumimoji="1" lang="en-US" altLang="zh-CN" sz="2400" b="1" baseline="30000">
                <a:latin typeface="Times New Roman" panose="02020603050405020304" pitchFamily="18" charset="0"/>
                <a:ea typeface="楷体_GB2312"/>
                <a:cs typeface="楷体_GB2312"/>
              </a:rPr>
              <a:t>  0</a:t>
            </a:r>
            <a:r>
              <a:rPr kumimoji="1" lang="en-US" altLang="zh-CN" sz="2400" b="1">
                <a:latin typeface="Times New Roman" panose="02020603050405020304" pitchFamily="18" charset="0"/>
                <a:ea typeface="楷体_GB2312"/>
                <a:cs typeface="楷体_GB2312"/>
              </a:rPr>
              <a:t>C)</a:t>
            </a:r>
            <a:r>
              <a:rPr kumimoji="1" lang="en-US" altLang="zh-CN" sz="2400" b="1">
                <a:latin typeface="楷体_GB2312"/>
                <a:ea typeface="楷体_GB2312"/>
                <a:cs typeface="楷体_GB2312"/>
              </a:rPr>
              <a:t> </a:t>
            </a:r>
          </a:p>
          <a:p>
            <a:pPr eaLnBrk="1" hangingPunct="1">
              <a:spcBef>
                <a:spcPct val="50000"/>
              </a:spcBef>
              <a:buFontTx/>
              <a:buNone/>
            </a:pPr>
            <a:r>
              <a:rPr kumimoji="1" lang="en-US" altLang="zh-CN" sz="2400" b="1">
                <a:latin typeface="楷体_GB2312"/>
                <a:ea typeface="楷体_GB2312"/>
                <a:cs typeface="楷体_GB2312"/>
              </a:rPr>
              <a:t>▲</a:t>
            </a:r>
            <a:r>
              <a:rPr kumimoji="1" lang="zh-CN" altLang="en-US" sz="2400" b="1">
                <a:latin typeface="楷体_GB2312"/>
                <a:ea typeface="楷体_GB2312"/>
                <a:cs typeface="楷体_GB2312"/>
              </a:rPr>
              <a:t>可逐点测量 测小范围内温度变化</a:t>
            </a:r>
          </a:p>
          <a:p>
            <a:pPr eaLnBrk="1" hangingPunct="1">
              <a:spcBef>
                <a:spcPct val="50000"/>
              </a:spcBef>
              <a:buFontTx/>
              <a:buNone/>
            </a:pPr>
            <a:r>
              <a:rPr kumimoji="1" lang="zh-CN" altLang="en-US" sz="2400" b="1">
                <a:latin typeface="楷体_GB2312"/>
                <a:ea typeface="楷体_GB2312"/>
                <a:cs typeface="楷体_GB2312"/>
              </a:rPr>
              <a:t>▲测温范围大（</a:t>
            </a:r>
            <a:r>
              <a:rPr kumimoji="1" lang="en-US" altLang="zh-CN" sz="2400" b="1">
                <a:latin typeface="Times New Roman" panose="02020603050405020304" pitchFamily="18" charset="0"/>
                <a:ea typeface="楷体_GB2312"/>
                <a:cs typeface="楷体_GB2312"/>
              </a:rPr>
              <a:t>-200</a:t>
            </a:r>
            <a:r>
              <a:rPr kumimoji="1" lang="en-US" altLang="zh-CN" sz="2400" b="1" baseline="30000">
                <a:latin typeface="Times New Roman" panose="02020603050405020304" pitchFamily="18" charset="0"/>
                <a:ea typeface="楷体_GB2312"/>
                <a:cs typeface="楷体_GB2312"/>
              </a:rPr>
              <a:t>0</a:t>
            </a:r>
            <a:r>
              <a:rPr kumimoji="1" lang="en-US" altLang="zh-CN" sz="2400" b="1">
                <a:latin typeface="Times New Roman" panose="02020603050405020304" pitchFamily="18" charset="0"/>
                <a:ea typeface="楷体_GB2312"/>
                <a:cs typeface="楷体_GB2312"/>
              </a:rPr>
              <a:t>C—2000</a:t>
            </a:r>
            <a:r>
              <a:rPr kumimoji="1" lang="en-US" altLang="zh-CN" sz="2400" b="1" baseline="30000">
                <a:latin typeface="Times New Roman" panose="02020603050405020304" pitchFamily="18" charset="0"/>
                <a:ea typeface="楷体_GB2312"/>
                <a:cs typeface="楷体_GB2312"/>
              </a:rPr>
              <a:t>0</a:t>
            </a:r>
            <a:r>
              <a:rPr kumimoji="1" lang="en-US" altLang="zh-CN" sz="2400" b="1">
                <a:latin typeface="Times New Roman" panose="02020603050405020304" pitchFamily="18" charset="0"/>
                <a:ea typeface="楷体_GB2312"/>
                <a:cs typeface="楷体_GB2312"/>
              </a:rPr>
              <a:t>C</a:t>
            </a:r>
            <a:r>
              <a:rPr kumimoji="1" lang="zh-CN" altLang="en-US" sz="2400" b="1">
                <a:latin typeface="楷体_GB2312"/>
                <a:ea typeface="楷体_GB2312"/>
                <a:cs typeface="楷体_GB2312"/>
              </a:rPr>
              <a:t>） </a:t>
            </a:r>
          </a:p>
          <a:p>
            <a:pPr eaLnBrk="1" hangingPunct="1">
              <a:spcBef>
                <a:spcPct val="50000"/>
              </a:spcBef>
              <a:buFontTx/>
              <a:buNone/>
            </a:pPr>
            <a:r>
              <a:rPr kumimoji="1" lang="zh-CN" altLang="en-US" sz="2400" b="1">
                <a:latin typeface="楷体_GB2312"/>
                <a:ea typeface="楷体_GB2312"/>
                <a:cs typeface="楷体_GB2312"/>
              </a:rPr>
              <a:t>▲便于自动控制</a:t>
            </a:r>
          </a:p>
        </p:txBody>
      </p:sp>
      <p:graphicFrame>
        <p:nvGraphicFramePr>
          <p:cNvPr id="44040" name="Object 39"/>
          <p:cNvGraphicFramePr>
            <a:graphicFrameLocks noGrp="1" noChangeAspect="1"/>
          </p:cNvGraphicFramePr>
          <p:nvPr>
            <p:ph/>
            <p:extLst>
              <p:ext uri="{D42A27DB-BD31-4B8C-83A1-F6EECF244321}">
                <p14:modId xmlns:p14="http://schemas.microsoft.com/office/powerpoint/2010/main" val="4278350435"/>
              </p:ext>
            </p:extLst>
          </p:nvPr>
        </p:nvGraphicFramePr>
        <p:xfrm>
          <a:off x="1168428" y="4994574"/>
          <a:ext cx="2611438" cy="546100"/>
        </p:xfrm>
        <a:graphic>
          <a:graphicData uri="http://schemas.openxmlformats.org/presentationml/2006/ole">
            <mc:AlternateContent xmlns:mc="http://schemas.openxmlformats.org/markup-compatibility/2006">
              <mc:Choice xmlns:v="urn:schemas-microsoft-com:vml" Requires="v">
                <p:oleObj spid="_x0000_s44095" name="Equation" r:id="rId3" imgW="1091726" imgH="228501" progId="Equation.DSMT4">
                  <p:embed/>
                </p:oleObj>
              </mc:Choice>
              <mc:Fallback>
                <p:oleObj name="Equation" r:id="rId3" imgW="1091726" imgH="228501" progId="Equation.DSMT4">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8428" y="4994574"/>
                        <a:ext cx="2611438" cy="5461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1" name="Text Box 40"/>
          <p:cNvSpPr txBox="1">
            <a:spLocks noChangeArrowheads="1"/>
          </p:cNvSpPr>
          <p:nvPr/>
        </p:nvSpPr>
        <p:spPr bwMode="auto">
          <a:xfrm>
            <a:off x="1754217" y="5624812"/>
            <a:ext cx="175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塞贝克系数</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97826" y="109703"/>
            <a:ext cx="5465762" cy="528638"/>
          </a:xfrm>
          <a:prstGeom prst="rect">
            <a:avLst/>
          </a:prstGeom>
          <a:solidFill>
            <a:srgbClr val="FFFF99"/>
          </a:solidFill>
          <a:ln w="9525">
            <a:solidFill>
              <a:srgbClr val="CCFFFF"/>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ea typeface="楷体_GB2312"/>
                <a:cs typeface="楷体_GB2312"/>
              </a:rPr>
              <a:t>温差电现象</a:t>
            </a:r>
          </a:p>
        </p:txBody>
      </p:sp>
      <p:sp>
        <p:nvSpPr>
          <p:cNvPr id="45059" name="Rectangle 3"/>
          <p:cNvSpPr>
            <a:spLocks noChangeArrowheads="1"/>
          </p:cNvSpPr>
          <p:nvPr/>
        </p:nvSpPr>
        <p:spPr bwMode="auto">
          <a:xfrm>
            <a:off x="1955800" y="1243013"/>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ea typeface="楷体_GB2312"/>
                <a:cs typeface="楷体_GB2312"/>
              </a:rPr>
              <a:t>扫描热显微镜</a:t>
            </a:r>
          </a:p>
        </p:txBody>
      </p:sp>
      <p:grpSp>
        <p:nvGrpSpPr>
          <p:cNvPr id="45060" name="Group 4"/>
          <p:cNvGrpSpPr>
            <a:grpSpLocks/>
          </p:cNvGrpSpPr>
          <p:nvPr/>
        </p:nvGrpSpPr>
        <p:grpSpPr bwMode="auto">
          <a:xfrm>
            <a:off x="2636838" y="1916113"/>
            <a:ext cx="6699250" cy="4735512"/>
            <a:chOff x="864" y="592"/>
            <a:chExt cx="3732" cy="3657"/>
          </a:xfrm>
        </p:grpSpPr>
        <p:grpSp>
          <p:nvGrpSpPr>
            <p:cNvPr id="45061" name="Group 5"/>
            <p:cNvGrpSpPr>
              <a:grpSpLocks/>
            </p:cNvGrpSpPr>
            <p:nvPr/>
          </p:nvGrpSpPr>
          <p:grpSpPr bwMode="auto">
            <a:xfrm>
              <a:off x="864" y="592"/>
              <a:ext cx="3732" cy="3657"/>
              <a:chOff x="864" y="592"/>
              <a:chExt cx="3732" cy="3657"/>
            </a:xfrm>
          </p:grpSpPr>
          <p:sp>
            <p:nvSpPr>
              <p:cNvPr id="45063" name="Rectangle 6"/>
              <p:cNvSpPr>
                <a:spLocks noChangeArrowheads="1"/>
              </p:cNvSpPr>
              <p:nvPr/>
            </p:nvSpPr>
            <p:spPr bwMode="auto">
              <a:xfrm>
                <a:off x="2004" y="3848"/>
                <a:ext cx="103"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zh-CN" sz="2800" b="1">
                  <a:solidFill>
                    <a:srgbClr val="FF3300"/>
                  </a:solidFill>
                  <a:latin typeface="Times New Roman" panose="02020603050405020304" pitchFamily="18" charset="0"/>
                  <a:ea typeface="楷体_GB2312"/>
                  <a:cs typeface="楷体_GB2312"/>
                </a:endParaRPr>
              </a:p>
            </p:txBody>
          </p:sp>
          <p:pic>
            <p:nvPicPr>
              <p:cNvPr id="45064" name="Picture 7" descr="热探针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 y="592"/>
                <a:ext cx="3624" cy="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5" name="Text Box 8"/>
              <p:cNvSpPr txBox="1">
                <a:spLocks noChangeArrowheads="1"/>
              </p:cNvSpPr>
              <p:nvPr/>
            </p:nvSpPr>
            <p:spPr bwMode="auto">
              <a:xfrm>
                <a:off x="2256" y="648"/>
                <a:ext cx="1392"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latin typeface="Times New Roman" panose="02020603050405020304" pitchFamily="18" charset="0"/>
                  </a:rPr>
                  <a:t>压电控制装置</a:t>
                </a:r>
              </a:p>
            </p:txBody>
          </p:sp>
          <p:sp>
            <p:nvSpPr>
              <p:cNvPr id="45066" name="Text Box 9"/>
              <p:cNvSpPr txBox="1">
                <a:spLocks noChangeArrowheads="1"/>
              </p:cNvSpPr>
              <p:nvPr/>
            </p:nvSpPr>
            <p:spPr bwMode="auto">
              <a:xfrm>
                <a:off x="2832" y="1440"/>
                <a:ext cx="288"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rgbClr val="0000FF"/>
                    </a:solidFill>
                    <a:latin typeface="Times New Roman" panose="02020603050405020304" pitchFamily="18" charset="0"/>
                  </a:rPr>
                  <a:t>钨</a:t>
                </a:r>
              </a:p>
            </p:txBody>
          </p:sp>
          <p:sp>
            <p:nvSpPr>
              <p:cNvPr id="45067" name="Rectangle 10"/>
              <p:cNvSpPr>
                <a:spLocks noChangeArrowheads="1"/>
              </p:cNvSpPr>
              <p:nvPr/>
            </p:nvSpPr>
            <p:spPr bwMode="auto">
              <a:xfrm>
                <a:off x="3648" y="1872"/>
                <a:ext cx="96"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5068" name="Text Box 11"/>
              <p:cNvSpPr txBox="1">
                <a:spLocks noChangeArrowheads="1"/>
              </p:cNvSpPr>
              <p:nvPr/>
            </p:nvSpPr>
            <p:spPr bwMode="auto">
              <a:xfrm>
                <a:off x="3516" y="1800"/>
                <a:ext cx="288"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rgbClr val="FF3300"/>
                    </a:solidFill>
                    <a:latin typeface="Times New Roman" panose="02020603050405020304" pitchFamily="18" charset="0"/>
                  </a:rPr>
                  <a:t>镍</a:t>
                </a:r>
              </a:p>
            </p:txBody>
          </p:sp>
          <p:sp>
            <p:nvSpPr>
              <p:cNvPr id="45069" name="Text Box 12"/>
              <p:cNvSpPr txBox="1">
                <a:spLocks noChangeArrowheads="1"/>
              </p:cNvSpPr>
              <p:nvPr/>
            </p:nvSpPr>
            <p:spPr bwMode="auto">
              <a:xfrm>
                <a:off x="3456" y="2400"/>
                <a:ext cx="720"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latin typeface="Times New Roman" panose="02020603050405020304" pitchFamily="18" charset="0"/>
                  </a:rPr>
                  <a:t>绝缘体</a:t>
                </a:r>
              </a:p>
            </p:txBody>
          </p:sp>
          <p:sp>
            <p:nvSpPr>
              <p:cNvPr id="45070" name="Line 13"/>
              <p:cNvSpPr>
                <a:spLocks noChangeShapeType="1"/>
              </p:cNvSpPr>
              <p:nvPr/>
            </p:nvSpPr>
            <p:spPr bwMode="auto">
              <a:xfrm flipH="1">
                <a:off x="3096" y="2448"/>
                <a:ext cx="48" cy="192"/>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1" name="Text Box 14"/>
              <p:cNvSpPr txBox="1">
                <a:spLocks noChangeArrowheads="1"/>
              </p:cNvSpPr>
              <p:nvPr/>
            </p:nvSpPr>
            <p:spPr bwMode="auto">
              <a:xfrm>
                <a:off x="864" y="1572"/>
                <a:ext cx="1392" cy="3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rgbClr val="FF33CC"/>
                    </a:solidFill>
                    <a:latin typeface="Times New Roman" panose="02020603050405020304" pitchFamily="18" charset="0"/>
                  </a:rPr>
                  <a:t>通向电子装置</a:t>
                </a:r>
              </a:p>
            </p:txBody>
          </p:sp>
        </p:grpSp>
        <p:sp>
          <p:nvSpPr>
            <p:cNvPr id="45062" name="Text Box 15"/>
            <p:cNvSpPr txBox="1">
              <a:spLocks noChangeArrowheads="1"/>
            </p:cNvSpPr>
            <p:nvPr/>
          </p:nvSpPr>
          <p:spPr bwMode="auto">
            <a:xfrm>
              <a:off x="2100" y="3097"/>
              <a:ext cx="576" cy="40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rPr>
                <a:t>芯片</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0" y="143635"/>
            <a:ext cx="5465762" cy="528638"/>
          </a:xfrm>
          <a:prstGeom prst="rect">
            <a:avLst/>
          </a:prstGeom>
          <a:solidFill>
            <a:srgbClr val="FFFF99"/>
          </a:solidFill>
          <a:ln w="9525">
            <a:solidFill>
              <a:srgbClr val="CCFFFF"/>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rgbClr val="0000FF"/>
                </a:solidFill>
                <a:latin typeface="Times New Roman" panose="02020603050405020304" pitchFamily="18" charset="0"/>
                <a:ea typeface="楷体_GB2312"/>
                <a:cs typeface="楷体_GB2312"/>
              </a:rPr>
              <a:t>温差电现象</a:t>
            </a:r>
          </a:p>
        </p:txBody>
      </p:sp>
      <p:sp>
        <p:nvSpPr>
          <p:cNvPr id="46083" name="Text Box 3"/>
          <p:cNvSpPr txBox="1">
            <a:spLocks noChangeArrowheads="1"/>
          </p:cNvSpPr>
          <p:nvPr/>
        </p:nvSpPr>
        <p:spPr bwMode="auto">
          <a:xfrm>
            <a:off x="515379" y="953725"/>
            <a:ext cx="1102622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dirty="0">
                <a:solidFill>
                  <a:srgbClr val="0000CC"/>
                </a:solidFill>
                <a:latin typeface="Times New Roman" panose="02020603050405020304" pitchFamily="18" charset="0"/>
                <a:ea typeface="楷体_GB2312"/>
                <a:cs typeface="楷体_GB2312"/>
              </a:rPr>
              <a:t>扫描热显微镜简介</a:t>
            </a:r>
          </a:p>
          <a:p>
            <a:pPr eaLnBrk="1" hangingPunct="1">
              <a:spcBef>
                <a:spcPct val="50000"/>
              </a:spcBef>
            </a:pPr>
            <a:r>
              <a:rPr kumimoji="1" lang="zh-CN" altLang="en-US" sz="2400" b="1" dirty="0">
                <a:solidFill>
                  <a:srgbClr val="0000CC"/>
                </a:solidFill>
                <a:latin typeface="Times New Roman" panose="02020603050405020304" pitchFamily="18" charset="0"/>
                <a:ea typeface="楷体_GB2312"/>
                <a:cs typeface="楷体_GB2312"/>
              </a:rPr>
              <a:t>性能：</a:t>
            </a:r>
            <a:r>
              <a:rPr kumimoji="1" lang="zh-CN" altLang="en-US" sz="2400" b="1" dirty="0">
                <a:solidFill>
                  <a:srgbClr val="0000FF"/>
                </a:solidFill>
                <a:latin typeface="Times New Roman" panose="02020603050405020304" pitchFamily="18" charset="0"/>
                <a:ea typeface="楷体_GB2312"/>
                <a:cs typeface="楷体_GB2312"/>
              </a:rPr>
              <a:t>  </a:t>
            </a:r>
            <a:r>
              <a:rPr kumimoji="1" lang="zh-CN" altLang="en-US" sz="2400" b="1" dirty="0">
                <a:latin typeface="Times New Roman" panose="02020603050405020304" pitchFamily="18" charset="0"/>
                <a:ea typeface="楷体_GB2312"/>
                <a:cs typeface="楷体_GB2312"/>
              </a:rPr>
              <a:t>热探针针尖直径只有约</a:t>
            </a:r>
            <a:r>
              <a:rPr kumimoji="1" lang="en-US" altLang="zh-CN" sz="2400" b="1" dirty="0">
                <a:latin typeface="Times New Roman" panose="02020603050405020304" pitchFamily="18" charset="0"/>
                <a:ea typeface="楷体_GB2312"/>
                <a:cs typeface="楷体_GB2312"/>
              </a:rPr>
              <a:t>30nm</a:t>
            </a:r>
            <a:r>
              <a:rPr kumimoji="1" lang="zh-CN" altLang="en-US" sz="2400" b="1" dirty="0">
                <a:latin typeface="Times New Roman" panose="02020603050405020304" pitchFamily="18" charset="0"/>
                <a:ea typeface="楷体_GB2312"/>
                <a:cs typeface="楷体_GB2312"/>
              </a:rPr>
              <a:t>，可在数十纳米的尺度上，测出万分之一度的温度变化。</a:t>
            </a:r>
          </a:p>
          <a:p>
            <a:pPr eaLnBrk="1" hangingPunct="1">
              <a:spcBef>
                <a:spcPct val="50000"/>
              </a:spcBef>
            </a:pPr>
            <a:r>
              <a:rPr kumimoji="1" lang="zh-CN" altLang="en-US" sz="2400" b="1" dirty="0">
                <a:solidFill>
                  <a:srgbClr val="0000CC"/>
                </a:solidFill>
                <a:latin typeface="Times New Roman" panose="02020603050405020304" pitchFamily="18" charset="0"/>
                <a:ea typeface="楷体_GB2312"/>
                <a:cs typeface="楷体_GB2312"/>
              </a:rPr>
              <a:t>工作原理：</a:t>
            </a:r>
            <a:r>
              <a:rPr kumimoji="1" lang="zh-CN" altLang="en-US" sz="2400" b="1" dirty="0">
                <a:latin typeface="Times New Roman" panose="02020603050405020304" pitchFamily="18" charset="0"/>
                <a:ea typeface="楷体_GB2312"/>
                <a:cs typeface="楷体_GB2312"/>
              </a:rPr>
              <a:t>通电流使探针加热并接近试样表面</a:t>
            </a:r>
          </a:p>
          <a:p>
            <a:pPr eaLnBrk="1" hangingPunct="1">
              <a:spcBef>
                <a:spcPct val="50000"/>
              </a:spcBef>
              <a:buFontTx/>
              <a:buNone/>
            </a:pPr>
            <a:r>
              <a:rPr kumimoji="1" lang="zh-CN" altLang="en-US" sz="2400" b="1" dirty="0">
                <a:latin typeface="Times New Roman" panose="02020603050405020304" pitchFamily="18" charset="0"/>
                <a:ea typeface="楷体_GB2312"/>
                <a:cs typeface="楷体_GB2312"/>
              </a:rPr>
              <a:t>针尖和被测表面距离</a:t>
            </a:r>
            <a:r>
              <a:rPr kumimoji="1" lang="zh-CN" altLang="en-US" sz="2400" b="1" dirty="0">
                <a:latin typeface="Times New Roman" panose="02020603050405020304" pitchFamily="18" charset="0"/>
                <a:ea typeface="楷体_GB2312"/>
                <a:cs typeface="楷体_GB2312"/>
                <a:sym typeface="Symbol" panose="05050102010706020507" pitchFamily="18" charset="2"/>
              </a:rPr>
              <a:t>   </a:t>
            </a:r>
            <a:r>
              <a:rPr kumimoji="1" lang="zh-CN" altLang="en-US" sz="2400" b="1" dirty="0">
                <a:latin typeface="Times New Roman" panose="02020603050405020304" pitchFamily="18" charset="0"/>
                <a:ea typeface="楷体_GB2312"/>
                <a:cs typeface="楷体_GB2312"/>
              </a:rPr>
              <a:t>针尖散热</a:t>
            </a:r>
            <a:r>
              <a:rPr kumimoji="1" lang="zh-CN" altLang="en-US" sz="2400" b="1" dirty="0">
                <a:latin typeface="Times New Roman" panose="02020603050405020304" pitchFamily="18" charset="0"/>
                <a:ea typeface="楷体_GB2312"/>
                <a:cs typeface="楷体_GB2312"/>
                <a:sym typeface="Symbol" panose="05050102010706020507" pitchFamily="18" charset="2"/>
              </a:rPr>
              <a:t> 温度；</a:t>
            </a:r>
          </a:p>
          <a:p>
            <a:pPr eaLnBrk="1" hangingPunct="1">
              <a:spcBef>
                <a:spcPct val="50000"/>
              </a:spcBef>
              <a:buFontTx/>
              <a:buNone/>
            </a:pPr>
            <a:r>
              <a:rPr kumimoji="1" lang="zh-CN" altLang="en-US" sz="2400" b="1" dirty="0">
                <a:latin typeface="Times New Roman" panose="02020603050405020304" pitchFamily="18" charset="0"/>
                <a:ea typeface="楷体_GB2312"/>
                <a:cs typeface="楷体_GB2312"/>
              </a:rPr>
              <a:t>针尖和被测表面距离</a:t>
            </a:r>
            <a:r>
              <a:rPr kumimoji="1" lang="zh-CN" altLang="en-US" sz="2400" b="1" dirty="0">
                <a:latin typeface="Times New Roman" panose="02020603050405020304" pitchFamily="18" charset="0"/>
                <a:ea typeface="楷体_GB2312"/>
                <a:cs typeface="楷体_GB2312"/>
                <a:sym typeface="Symbol" panose="05050102010706020507" pitchFamily="18" charset="2"/>
              </a:rPr>
              <a:t> </a:t>
            </a:r>
            <a:r>
              <a:rPr kumimoji="1" lang="zh-CN" altLang="en-US" sz="2400" b="1" dirty="0">
                <a:latin typeface="Times New Roman" panose="02020603050405020304" pitchFamily="18" charset="0"/>
                <a:ea typeface="楷体_GB2312"/>
                <a:cs typeface="楷体_GB2312"/>
              </a:rPr>
              <a:t>针尖散热</a:t>
            </a:r>
            <a:r>
              <a:rPr kumimoji="1" lang="zh-CN" altLang="en-US" sz="2400" b="1" dirty="0">
                <a:latin typeface="Times New Roman" panose="02020603050405020304" pitchFamily="18" charset="0"/>
                <a:ea typeface="楷体_GB2312"/>
                <a:cs typeface="楷体_GB2312"/>
                <a:sym typeface="Symbol" panose="05050102010706020507" pitchFamily="18" charset="2"/>
              </a:rPr>
              <a:t></a:t>
            </a:r>
            <a:r>
              <a:rPr kumimoji="1" lang="zh-CN" altLang="en-US" sz="2400" b="1" dirty="0">
                <a:latin typeface="Times New Roman" panose="02020603050405020304" pitchFamily="18" charset="0"/>
                <a:ea typeface="楷体_GB2312"/>
                <a:cs typeface="楷体_GB2312"/>
              </a:rPr>
              <a:t> </a:t>
            </a:r>
            <a:r>
              <a:rPr kumimoji="1" lang="zh-CN" altLang="en-US" sz="2400" b="1" dirty="0">
                <a:latin typeface="Times New Roman" panose="02020603050405020304" pitchFamily="18" charset="0"/>
                <a:ea typeface="楷体_GB2312"/>
                <a:cs typeface="楷体_GB2312"/>
                <a:sym typeface="Symbol" panose="05050102010706020507" pitchFamily="18" charset="2"/>
              </a:rPr>
              <a:t>温度</a:t>
            </a:r>
          </a:p>
          <a:p>
            <a:pPr eaLnBrk="1" hangingPunct="1">
              <a:spcBef>
                <a:spcPct val="50000"/>
              </a:spcBef>
              <a:buFontTx/>
              <a:buNone/>
            </a:pPr>
            <a:r>
              <a:rPr kumimoji="1" lang="zh-CN" altLang="en-US" sz="2400" b="1" dirty="0">
                <a:latin typeface="Times New Roman" panose="02020603050405020304" pitchFamily="18" charset="0"/>
                <a:ea typeface="楷体_GB2312"/>
                <a:cs typeface="楷体_GB2312"/>
                <a:sym typeface="Symbol" panose="05050102010706020507" pitchFamily="18" charset="2"/>
              </a:rPr>
              <a:t>   由此可反映出探</a:t>
            </a:r>
            <a:r>
              <a:rPr kumimoji="1" lang="zh-CN" altLang="en-US" sz="2400" b="1" dirty="0">
                <a:latin typeface="Times New Roman" panose="02020603050405020304" pitchFamily="18" charset="0"/>
                <a:ea typeface="楷体_GB2312"/>
                <a:cs typeface="楷体_GB2312"/>
              </a:rPr>
              <a:t>针尖与试样表面间隙的大小。</a:t>
            </a:r>
          </a:p>
          <a:p>
            <a:pPr eaLnBrk="1" hangingPunct="1">
              <a:spcBef>
                <a:spcPct val="50000"/>
              </a:spcBef>
              <a:buFontTx/>
              <a:buNone/>
            </a:pPr>
            <a:r>
              <a:rPr kumimoji="1" lang="zh-CN" altLang="en-US" sz="2400" b="1" dirty="0">
                <a:latin typeface="Times New Roman" panose="02020603050405020304" pitchFamily="18" charset="0"/>
                <a:ea typeface="楷体_GB2312"/>
                <a:cs typeface="楷体_GB2312"/>
              </a:rPr>
              <a:t>当探针在试样表面上扫描时，就能测出试样表面的起伏状况。</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1524001" y="20156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47107" name="Picture 3" descr="http://www.coolsolar.com/gasweb/images/sciworld-1.jpg"/>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6726238" y="4149725"/>
            <a:ext cx="361950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8" name="Picture 4" descr="SolarHouse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5500" y="2393951"/>
            <a:ext cx="2205038"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5" descr="SolarHous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0689" y="233363"/>
            <a:ext cx="3195637"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6" descr="太阳能电池"/>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1042989"/>
            <a:ext cx="47625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1" name="Text Box 8"/>
          <p:cNvSpPr txBox="1">
            <a:spLocks noChangeArrowheads="1"/>
          </p:cNvSpPr>
          <p:nvPr/>
        </p:nvSpPr>
        <p:spPr bwMode="auto">
          <a:xfrm>
            <a:off x="2540001" y="5903913"/>
            <a:ext cx="24304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0.6V   </a:t>
            </a:r>
            <a:r>
              <a:rPr lang="en-US" altLang="zh-CN" sz="1800">
                <a:solidFill>
                  <a:srgbClr val="FF0000"/>
                </a:solidFill>
              </a:rPr>
              <a:t>5cm</a:t>
            </a:r>
            <a:r>
              <a:rPr lang="en-US" altLang="zh-CN" sz="1800" baseline="30000">
                <a:solidFill>
                  <a:srgbClr val="FF0000"/>
                </a:solidFill>
              </a:rPr>
              <a:t>2</a:t>
            </a:r>
            <a:r>
              <a:rPr lang="en-US" altLang="zh-CN" sz="1800">
                <a:solidFill>
                  <a:srgbClr val="FF0000"/>
                </a:solidFill>
              </a:rPr>
              <a:t> </a:t>
            </a:r>
            <a:r>
              <a:rPr lang="en-US" altLang="zh-CN" sz="1800"/>
              <a:t>   0.1A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9154" name="Picture 2" descr="060824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
            <a:ext cx="4625975"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5" name="Picture 3" descr="image0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0464" y="3743326"/>
            <a:ext cx="5437187"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6" name="Picture 4" descr="slr0103_p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0814" y="773114"/>
            <a:ext cx="3690937"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0365" y="5238"/>
            <a:ext cx="26590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800" b="1" dirty="0">
                <a:solidFill>
                  <a:srgbClr val="FF0000"/>
                </a:solidFill>
                <a:latin typeface="Arial Black" panose="020B0A04020102020204" pitchFamily="34" charset="0"/>
                <a:ea typeface="隶书" panose="02010509060101010101" pitchFamily="49" charset="-122"/>
              </a:rPr>
              <a:t>燃料电池</a:t>
            </a:r>
          </a:p>
        </p:txBody>
      </p:sp>
      <p:sp>
        <p:nvSpPr>
          <p:cNvPr id="50179" name="Text Box 4"/>
          <p:cNvSpPr txBox="1">
            <a:spLocks noChangeArrowheads="1"/>
          </p:cNvSpPr>
          <p:nvPr/>
        </p:nvSpPr>
        <p:spPr bwMode="auto">
          <a:xfrm>
            <a:off x="875419" y="835500"/>
            <a:ext cx="1075619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dirty="0">
                <a:solidFill>
                  <a:srgbClr val="0066FF"/>
                </a:solidFill>
                <a:latin typeface="黑体" panose="02010609060101010101" pitchFamily="49" charset="-122"/>
                <a:ea typeface="黑体" panose="02010609060101010101" pitchFamily="49" charset="-122"/>
              </a:rPr>
              <a:t>燃料电池是一种能够持续的通过发生在阳极和阴极的氧化还原反应将化学能转化为电能的能量转换装置。燃料电池与常规电池的区别在于，它工作时需要连续不断地向电池内输入燃料和氧化剂，只要持续供应，燃料电池就会不断提供电能。</a:t>
            </a:r>
            <a:endParaRPr lang="zh-CN" altLang="en-US" sz="2800" b="1" dirty="0">
              <a:solidFill>
                <a:srgbClr val="0066FF"/>
              </a:solidFill>
              <a:ea typeface=""/>
              <a:cs typeface=""/>
            </a:endParaRPr>
          </a:p>
        </p:txBody>
      </p:sp>
      <p:sp>
        <p:nvSpPr>
          <p:cNvPr id="50180" name="Rectangle 5"/>
          <p:cNvSpPr>
            <a:spLocks noChangeArrowheads="1"/>
          </p:cNvSpPr>
          <p:nvPr/>
        </p:nvSpPr>
        <p:spPr bwMode="auto">
          <a:xfrm>
            <a:off x="867616" y="3248980"/>
            <a:ext cx="1076399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根据工作温度</a:t>
            </a:r>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低温型、中温型和高温型三种。</a:t>
            </a:r>
            <a:endPar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spcBef>
                <a:spcPct val="50000"/>
              </a:spcBef>
              <a:buFontTx/>
              <a:buNone/>
            </a:pP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根据电解质的种类：碱性燃料电池(</a:t>
            </a:r>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AFC)、</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磷酸燃料电池(</a:t>
            </a:r>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PAFC)、</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熔融碳酸盐燃料电池(</a:t>
            </a:r>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MCFC)、</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固体氧化物燃料电池(</a:t>
            </a:r>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SOFC)</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和聚合物离子膜燃料电池(</a:t>
            </a:r>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PCMFC)。</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380216" y="98630"/>
            <a:ext cx="56991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800" b="1" dirty="0">
                <a:solidFill>
                  <a:srgbClr val="FF0000"/>
                </a:solidFill>
                <a:latin typeface="Arial Black" panose="020B0A04020102020204" pitchFamily="34" charset="0"/>
                <a:ea typeface="隶书" panose="02010509060101010101" pitchFamily="49" charset="-122"/>
              </a:rPr>
              <a:t>燃料电池的工作原理</a:t>
            </a:r>
            <a:endParaRPr lang="en-US" altLang="zh-CN" sz="4800" b="1" dirty="0">
              <a:solidFill>
                <a:srgbClr val="FF0000"/>
              </a:solidFill>
              <a:latin typeface="Arial Black" panose="020B0A04020102020204" pitchFamily="34" charset="0"/>
              <a:ea typeface="隶书" panose="02010509060101010101" pitchFamily="49" charset="-122"/>
            </a:endParaRPr>
          </a:p>
        </p:txBody>
      </p:sp>
      <p:sp>
        <p:nvSpPr>
          <p:cNvPr id="51203" name="Rectangle 5"/>
          <p:cNvSpPr>
            <a:spLocks noChangeArrowheads="1"/>
          </p:cNvSpPr>
          <p:nvPr/>
        </p:nvSpPr>
        <p:spPr bwMode="auto">
          <a:xfrm>
            <a:off x="6858000" y="1880185"/>
            <a:ext cx="4684703"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dirty="0">
                <a:solidFill>
                  <a:srgbClr val="0066FF"/>
                </a:solidFill>
                <a:latin typeface="黑体" panose="02010609060101010101" pitchFamily="49" charset="-122"/>
                <a:ea typeface="黑体" panose="02010609060101010101" pitchFamily="49" charset="-122"/>
              </a:rPr>
              <a:t>燃料电池由阳极、阴极和离子导电的电解质构成</a:t>
            </a:r>
            <a:endParaRPr lang="en-US" altLang="zh-CN" sz="2800" b="1" dirty="0">
              <a:solidFill>
                <a:srgbClr val="0066FF"/>
              </a:solidFill>
              <a:latin typeface="黑体" panose="02010609060101010101" pitchFamily="49" charset="-122"/>
              <a:ea typeface="黑体" panose="02010609060101010101" pitchFamily="49" charset="-122"/>
            </a:endParaRPr>
          </a:p>
          <a:p>
            <a:pPr eaLnBrk="1" hangingPunct="1">
              <a:spcBef>
                <a:spcPct val="50000"/>
              </a:spcBef>
              <a:buFontTx/>
              <a:buNone/>
            </a:pPr>
            <a:r>
              <a:rPr lang="zh-CN" altLang="en-US" sz="2800" b="1" dirty="0">
                <a:solidFill>
                  <a:srgbClr val="0066FF"/>
                </a:solidFill>
                <a:latin typeface="黑体" panose="02010609060101010101" pitchFamily="49" charset="-122"/>
                <a:ea typeface="黑体" panose="02010609060101010101" pitchFamily="49" charset="-122"/>
              </a:rPr>
              <a:t>其工作原理与普通电化学电池类似，燃料在阳极氧化，氧化剂在阴极还原，电子从阳极通过负载流向阴极构成电回路，产生电流。</a:t>
            </a:r>
          </a:p>
        </p:txBody>
      </p:sp>
      <p:pic>
        <p:nvPicPr>
          <p:cNvPr id="51204" name="Picture 4" descr="http://www.in-en.com/newenergy/UploadPic/2010-12/201012241426508012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297" y="1268760"/>
            <a:ext cx="5160962"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2226" name="Object 2"/>
          <p:cNvGraphicFramePr>
            <a:graphicFrameLocks noChangeAspect="1"/>
          </p:cNvGraphicFramePr>
          <p:nvPr>
            <p:extLst>
              <p:ext uri="{D42A27DB-BD31-4B8C-83A1-F6EECF244321}">
                <p14:modId xmlns:p14="http://schemas.microsoft.com/office/powerpoint/2010/main" val="3307179679"/>
              </p:ext>
            </p:extLst>
          </p:nvPr>
        </p:nvGraphicFramePr>
        <p:xfrm>
          <a:off x="740405" y="1141507"/>
          <a:ext cx="4624387" cy="4876800"/>
        </p:xfrm>
        <a:graphic>
          <a:graphicData uri="http://schemas.openxmlformats.org/presentationml/2006/ole">
            <mc:AlternateContent xmlns:mc="http://schemas.openxmlformats.org/markup-compatibility/2006">
              <mc:Choice xmlns:v="urn:schemas-microsoft-com:vml" Requires="v">
                <p:oleObj spid="_x0000_s52296" name="位图图像" r:id="rId3" imgW="3820058" imgH="4029637" progId="Paint.Picture">
                  <p:embed/>
                </p:oleObj>
              </mc:Choice>
              <mc:Fallback>
                <p:oleObj name="位图图像" r:id="rId3" imgW="3820058" imgH="4029637"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405" y="1141507"/>
                        <a:ext cx="4624387"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27" name="Rectangle 3"/>
          <p:cNvSpPr>
            <a:spLocks noChangeArrowheads="1"/>
          </p:cNvSpPr>
          <p:nvPr/>
        </p:nvSpPr>
        <p:spPr bwMode="auto">
          <a:xfrm>
            <a:off x="2438400" y="166688"/>
            <a:ext cx="45164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800" b="1">
                <a:solidFill>
                  <a:srgbClr val="FF0000"/>
                </a:solidFill>
                <a:latin typeface="Arial Black" panose="020B0A04020102020204" pitchFamily="34" charset="0"/>
                <a:ea typeface="隶书" panose="02010509060101010101" pitchFamily="49" charset="-122"/>
              </a:rPr>
              <a:t>质子膜燃料电池</a:t>
            </a:r>
            <a:endParaRPr lang="en-US" altLang="zh-CN" sz="4800" b="1">
              <a:solidFill>
                <a:srgbClr val="FF0000"/>
              </a:solidFill>
              <a:latin typeface="Arial Black" panose="020B0A04020102020204" pitchFamily="34" charset="0"/>
              <a:ea typeface="隶书" panose="02010509060101010101" pitchFamily="49" charset="-122"/>
            </a:endParaRPr>
          </a:p>
        </p:txBody>
      </p:sp>
      <p:graphicFrame>
        <p:nvGraphicFramePr>
          <p:cNvPr id="52228" name="Object 3"/>
          <p:cNvGraphicFramePr>
            <a:graphicFrameLocks noChangeAspect="1"/>
          </p:cNvGraphicFramePr>
          <p:nvPr/>
        </p:nvGraphicFramePr>
        <p:xfrm>
          <a:off x="5826125" y="1358900"/>
          <a:ext cx="4648200" cy="1303338"/>
        </p:xfrm>
        <a:graphic>
          <a:graphicData uri="http://schemas.openxmlformats.org/presentationml/2006/ole">
            <mc:AlternateContent xmlns:mc="http://schemas.openxmlformats.org/markup-compatibility/2006">
              <mc:Choice xmlns:v="urn:schemas-microsoft-com:vml" Requires="v">
                <p:oleObj spid="_x0000_s52297" name="Equation" r:id="rId5" imgW="2019300" imgH="584200" progId="Equation.3">
                  <p:embed/>
                </p:oleObj>
              </mc:Choice>
              <mc:Fallback>
                <p:oleObj name="Equation" r:id="rId5" imgW="2019300" imgH="584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6125" y="1358900"/>
                        <a:ext cx="4648200" cy="130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29" name="Object 4"/>
          <p:cNvGraphicFramePr>
            <a:graphicFrameLocks noChangeAspect="1"/>
          </p:cNvGraphicFramePr>
          <p:nvPr/>
        </p:nvGraphicFramePr>
        <p:xfrm>
          <a:off x="5240338" y="5094288"/>
          <a:ext cx="5281612" cy="869950"/>
        </p:xfrm>
        <a:graphic>
          <a:graphicData uri="http://schemas.openxmlformats.org/presentationml/2006/ole">
            <mc:AlternateContent xmlns:mc="http://schemas.openxmlformats.org/markup-compatibility/2006">
              <mc:Choice xmlns:v="urn:schemas-microsoft-com:vml" Requires="v">
                <p:oleObj spid="_x0000_s52298" name="Equation" r:id="rId7" imgW="2514600" imgH="393700" progId="Equation.DSMT4">
                  <p:embed/>
                </p:oleObj>
              </mc:Choice>
              <mc:Fallback>
                <p:oleObj name="Equation" r:id="rId7" imgW="2514600" imgH="3937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0338" y="5094288"/>
                        <a:ext cx="5281612" cy="86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algn="l" eaLnBrk="1" hangingPunct="1"/>
            <a:r>
              <a:rPr lang="zh-CN" altLang="en-US" dirty="0"/>
              <a:t>核能</a:t>
            </a:r>
          </a:p>
        </p:txBody>
      </p:sp>
      <p:sp>
        <p:nvSpPr>
          <p:cNvPr id="53251" name="Rectangle 3"/>
          <p:cNvSpPr>
            <a:spLocks noChangeArrowheads="1"/>
          </p:cNvSpPr>
          <p:nvPr/>
        </p:nvSpPr>
        <p:spPr bwMode="auto">
          <a:xfrm>
            <a:off x="7131034" y="1306605"/>
            <a:ext cx="3825875" cy="269875"/>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3252" name="AutoShape 4"/>
          <p:cNvSpPr>
            <a:spLocks noChangeArrowheads="1"/>
          </p:cNvSpPr>
          <p:nvPr/>
        </p:nvSpPr>
        <p:spPr bwMode="auto">
          <a:xfrm>
            <a:off x="7221521" y="2386105"/>
            <a:ext cx="3644900" cy="1304925"/>
          </a:xfrm>
          <a:prstGeom prst="bevel">
            <a:avLst>
              <a:gd name="adj" fmla="val 12500"/>
            </a:avLst>
          </a:prstGeom>
          <a:solidFill>
            <a:schemeClr val="bg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3253" name="Rectangle 5"/>
          <p:cNvSpPr>
            <a:spLocks noChangeArrowheads="1"/>
          </p:cNvSpPr>
          <p:nvPr/>
        </p:nvSpPr>
        <p:spPr bwMode="auto">
          <a:xfrm>
            <a:off x="8480408" y="2295617"/>
            <a:ext cx="1169988" cy="360362"/>
          </a:xfrm>
          <a:prstGeom prst="rect">
            <a:avLst/>
          </a:prstGeom>
          <a:solidFill>
            <a:schemeClr val="bg1"/>
          </a:solidFill>
          <a:ln w="12700" cap="sq">
            <a:solidFill>
              <a:schemeClr val="bg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3254" name="Oval 6"/>
          <p:cNvSpPr>
            <a:spLocks noChangeArrowheads="1"/>
          </p:cNvSpPr>
          <p:nvPr/>
        </p:nvSpPr>
        <p:spPr bwMode="auto">
          <a:xfrm>
            <a:off x="8615346" y="3195730"/>
            <a:ext cx="1035050" cy="315913"/>
          </a:xfrm>
          <a:prstGeom prst="ellipse">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3255" name="Line 7"/>
          <p:cNvSpPr>
            <a:spLocks noChangeShapeType="1"/>
          </p:cNvSpPr>
          <p:nvPr/>
        </p:nvSpPr>
        <p:spPr bwMode="auto">
          <a:xfrm flipV="1">
            <a:off x="8931258" y="1532029"/>
            <a:ext cx="495300" cy="15748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56" name="Line 8"/>
          <p:cNvSpPr>
            <a:spLocks noChangeShapeType="1"/>
          </p:cNvSpPr>
          <p:nvPr/>
        </p:nvSpPr>
        <p:spPr bwMode="auto">
          <a:xfrm flipH="1" flipV="1">
            <a:off x="8615347" y="1532029"/>
            <a:ext cx="585787" cy="1485900"/>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57" name="Line 9"/>
          <p:cNvSpPr>
            <a:spLocks noChangeShapeType="1"/>
          </p:cNvSpPr>
          <p:nvPr/>
        </p:nvSpPr>
        <p:spPr bwMode="auto">
          <a:xfrm flipV="1">
            <a:off x="9066196" y="1620930"/>
            <a:ext cx="0" cy="1439863"/>
          </a:xfrm>
          <a:prstGeom prst="line">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58" name="Text Box 10"/>
          <p:cNvSpPr txBox="1">
            <a:spLocks noChangeArrowheads="1"/>
          </p:cNvSpPr>
          <p:nvPr/>
        </p:nvSpPr>
        <p:spPr bwMode="auto">
          <a:xfrm>
            <a:off x="8345472" y="1260567"/>
            <a:ext cx="1304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t>＋＋＋＋</a:t>
            </a:r>
          </a:p>
        </p:txBody>
      </p:sp>
      <p:sp>
        <p:nvSpPr>
          <p:cNvPr id="53259" name="Text Box 11"/>
          <p:cNvSpPr txBox="1">
            <a:spLocks noChangeArrowheads="1"/>
          </p:cNvSpPr>
          <p:nvPr/>
        </p:nvSpPr>
        <p:spPr bwMode="auto">
          <a:xfrm>
            <a:off x="2124664" y="1163844"/>
            <a:ext cx="2339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t>放出</a:t>
            </a:r>
            <a:r>
              <a:rPr lang="el-GR" altLang="zh-CN" sz="2400" dirty="0">
                <a:latin typeface="宋体" panose="02010600030101010101" pitchFamily="2" charset="-122"/>
              </a:rPr>
              <a:t>α</a:t>
            </a:r>
            <a:r>
              <a:rPr lang="zh-CN" altLang="en-US" sz="2400" dirty="0">
                <a:latin typeface="宋体" panose="02010600030101010101" pitchFamily="2" charset="-122"/>
              </a:rPr>
              <a:t>粒子（</a:t>
            </a:r>
            <a:r>
              <a:rPr lang="en-US" altLang="zh-CN" sz="2400" dirty="0">
                <a:latin typeface="宋体" panose="02010600030101010101" pitchFamily="2" charset="-122"/>
              </a:rPr>
              <a:t>2e)</a:t>
            </a:r>
            <a:endParaRPr lang="el-GR" altLang="zh-CN" sz="2400" dirty="0">
              <a:latin typeface="宋体" panose="02010600030101010101" pitchFamily="2" charset="-122"/>
            </a:endParaRPr>
          </a:p>
        </p:txBody>
      </p:sp>
      <p:graphicFrame>
        <p:nvGraphicFramePr>
          <p:cNvPr id="53260" name="Object 12"/>
          <p:cNvGraphicFramePr>
            <a:graphicFrameLocks noGrp="1" noChangeAspect="1"/>
          </p:cNvGraphicFramePr>
          <p:nvPr>
            <p:ph idx="1"/>
            <p:extLst>
              <p:ext uri="{D42A27DB-BD31-4B8C-83A1-F6EECF244321}">
                <p14:modId xmlns:p14="http://schemas.microsoft.com/office/powerpoint/2010/main" val="3169336807"/>
              </p:ext>
            </p:extLst>
          </p:nvPr>
        </p:nvGraphicFramePr>
        <p:xfrm>
          <a:off x="2330450" y="1672386"/>
          <a:ext cx="2389098" cy="693082"/>
        </p:xfrm>
        <a:graphic>
          <a:graphicData uri="http://schemas.openxmlformats.org/presentationml/2006/ole">
            <mc:AlternateContent xmlns:mc="http://schemas.openxmlformats.org/markup-compatibility/2006">
              <mc:Choice xmlns:v="urn:schemas-microsoft-com:vml" Requires="v">
                <p:oleObj spid="_x0000_s53354" name="Equation" r:id="rId3" imgW="1358310" imgH="393529" progId="Equation.DSMT4">
                  <p:embed/>
                </p:oleObj>
              </mc:Choice>
              <mc:Fallback>
                <p:oleObj name="Equation" r:id="rId3" imgW="1358310" imgH="393529"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0450" y="1672386"/>
                        <a:ext cx="2389098" cy="693082"/>
                      </a:xfrm>
                      <a:prstGeom prst="rect">
                        <a:avLst/>
                      </a:prstGeom>
                      <a:solidFill>
                        <a:schemeClr val="bg1"/>
                      </a:solidFill>
                      <a:ln>
                        <a:noFill/>
                      </a:ln>
                      <a:effectLst/>
                    </p:spPr>
                  </p:pic>
                </p:oleObj>
              </mc:Fallback>
            </mc:AlternateContent>
          </a:graphicData>
        </a:graphic>
      </p:graphicFrame>
      <p:graphicFrame>
        <p:nvGraphicFramePr>
          <p:cNvPr id="53261" name="Object 13"/>
          <p:cNvGraphicFramePr>
            <a:graphicFrameLocks noChangeAspect="1"/>
          </p:cNvGraphicFramePr>
          <p:nvPr>
            <p:extLst>
              <p:ext uri="{D42A27DB-BD31-4B8C-83A1-F6EECF244321}">
                <p14:modId xmlns:p14="http://schemas.microsoft.com/office/powerpoint/2010/main" val="1998995903"/>
              </p:ext>
            </p:extLst>
          </p:nvPr>
        </p:nvGraphicFramePr>
        <p:xfrm>
          <a:off x="2000278" y="2386105"/>
          <a:ext cx="525435" cy="436471"/>
        </p:xfrm>
        <a:graphic>
          <a:graphicData uri="http://schemas.openxmlformats.org/presentationml/2006/ole">
            <mc:AlternateContent xmlns:mc="http://schemas.openxmlformats.org/markup-compatibility/2006">
              <mc:Choice xmlns:v="urn:schemas-microsoft-com:vml" Requires="v">
                <p:oleObj spid="_x0000_s53355" name="Equation" r:id="rId5" imgW="291973" imgH="241195" progId="Equation.DSMT4">
                  <p:embed/>
                </p:oleObj>
              </mc:Choice>
              <mc:Fallback>
                <p:oleObj name="Equation" r:id="rId5" imgW="291973" imgH="241195"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278" y="2386105"/>
                        <a:ext cx="525435" cy="436471"/>
                      </a:xfrm>
                      <a:prstGeom prst="rect">
                        <a:avLst/>
                      </a:prstGeom>
                      <a:solidFill>
                        <a:schemeClr val="bg1"/>
                      </a:solidFill>
                      <a:ln>
                        <a:noFill/>
                      </a:ln>
                      <a:effectLst/>
                    </p:spPr>
                  </p:pic>
                </p:oleObj>
              </mc:Fallback>
            </mc:AlternateContent>
          </a:graphicData>
        </a:graphic>
      </p:graphicFrame>
      <p:sp>
        <p:nvSpPr>
          <p:cNvPr id="53262" name="Text Box 14"/>
          <p:cNvSpPr txBox="1">
            <a:spLocks noChangeArrowheads="1"/>
          </p:cNvSpPr>
          <p:nvPr/>
        </p:nvSpPr>
        <p:spPr bwMode="auto">
          <a:xfrm>
            <a:off x="2540001" y="2528888"/>
            <a:ext cx="25209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t>:</a:t>
            </a:r>
            <a:r>
              <a:rPr lang="el-GR" altLang="zh-CN" sz="2400" dirty="0">
                <a:latin typeface="宋体" panose="02010600030101010101" pitchFamily="2" charset="-122"/>
              </a:rPr>
              <a:t>α</a:t>
            </a:r>
            <a:r>
              <a:rPr lang="zh-CN" altLang="en-US" sz="2400" dirty="0">
                <a:latin typeface="宋体" panose="02010600030101010101" pitchFamily="2" charset="-122"/>
              </a:rPr>
              <a:t>粒子动能</a:t>
            </a:r>
            <a:endParaRPr lang="el-GR" altLang="zh-CN" sz="2400" dirty="0">
              <a:latin typeface="宋体" panose="02010600030101010101" pitchFamily="2" charset="-122"/>
            </a:endParaRPr>
          </a:p>
        </p:txBody>
      </p:sp>
      <p:graphicFrame>
        <p:nvGraphicFramePr>
          <p:cNvPr id="53263" name="Object 15"/>
          <p:cNvGraphicFramePr>
            <a:graphicFrameLocks noChangeAspect="1"/>
          </p:cNvGraphicFramePr>
          <p:nvPr>
            <p:extLst>
              <p:ext uri="{D42A27DB-BD31-4B8C-83A1-F6EECF244321}">
                <p14:modId xmlns:p14="http://schemas.microsoft.com/office/powerpoint/2010/main" val="600521211"/>
              </p:ext>
            </p:extLst>
          </p:nvPr>
        </p:nvGraphicFramePr>
        <p:xfrm>
          <a:off x="1979401" y="2915119"/>
          <a:ext cx="3071363" cy="428625"/>
        </p:xfrm>
        <a:graphic>
          <a:graphicData uri="http://schemas.openxmlformats.org/presentationml/2006/ole">
            <mc:AlternateContent xmlns:mc="http://schemas.openxmlformats.org/markup-compatibility/2006">
              <mc:Choice xmlns:v="urn:schemas-microsoft-com:vml" Requires="v">
                <p:oleObj spid="_x0000_s53356" name="Equation" r:id="rId7" imgW="1739900" imgH="241300" progId="Equation.DSMT4">
                  <p:embed/>
                </p:oleObj>
              </mc:Choice>
              <mc:Fallback>
                <p:oleObj name="Equation" r:id="rId7" imgW="1739900" imgH="241300"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401" y="2915119"/>
                        <a:ext cx="3071363" cy="428625"/>
                      </a:xfrm>
                      <a:prstGeom prst="rect">
                        <a:avLst/>
                      </a:prstGeom>
                      <a:solidFill>
                        <a:schemeClr val="bg1"/>
                      </a:solidFill>
                      <a:ln>
                        <a:noFill/>
                      </a:ln>
                      <a:effectLst/>
                    </p:spPr>
                  </p:pic>
                </p:oleObj>
              </mc:Fallback>
            </mc:AlternateContent>
          </a:graphicData>
        </a:graphic>
      </p:graphicFrame>
      <p:sp>
        <p:nvSpPr>
          <p:cNvPr id="53264" name="Text Box 16"/>
          <p:cNvSpPr txBox="1">
            <a:spLocks noChangeArrowheads="1"/>
          </p:cNvSpPr>
          <p:nvPr/>
        </p:nvSpPr>
        <p:spPr bwMode="auto">
          <a:xfrm>
            <a:off x="-13247" y="3493750"/>
            <a:ext cx="67260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t>电路中电流</a:t>
            </a:r>
            <a:r>
              <a:rPr lang="en-US" altLang="zh-CN" sz="2400" dirty="0"/>
              <a:t>I</a:t>
            </a:r>
            <a:r>
              <a:rPr lang="zh-CN" altLang="en-US" sz="2400" dirty="0"/>
              <a:t>与电阻无关，与放射源的强度有关</a:t>
            </a:r>
            <a:endParaRPr lang="zh-CN" altLang="el-GR" sz="2400" dirty="0">
              <a:latin typeface="宋体" panose="02010600030101010101" pitchFamily="2" charset="-122"/>
            </a:endParaRPr>
          </a:p>
        </p:txBody>
      </p:sp>
      <p:graphicFrame>
        <p:nvGraphicFramePr>
          <p:cNvPr id="53265" name="Object 17"/>
          <p:cNvGraphicFramePr>
            <a:graphicFrameLocks noChangeAspect="1"/>
          </p:cNvGraphicFramePr>
          <p:nvPr>
            <p:extLst>
              <p:ext uri="{D42A27DB-BD31-4B8C-83A1-F6EECF244321}">
                <p14:modId xmlns:p14="http://schemas.microsoft.com/office/powerpoint/2010/main" val="4276886947"/>
              </p:ext>
            </p:extLst>
          </p:nvPr>
        </p:nvGraphicFramePr>
        <p:xfrm>
          <a:off x="609600" y="4296714"/>
          <a:ext cx="6163999" cy="718501"/>
        </p:xfrm>
        <a:graphic>
          <a:graphicData uri="http://schemas.openxmlformats.org/presentationml/2006/ole">
            <mc:AlternateContent xmlns:mc="http://schemas.openxmlformats.org/markup-compatibility/2006">
              <mc:Choice xmlns:v="urn:schemas-microsoft-com:vml" Requires="v">
                <p:oleObj spid="_x0000_s53357" name="Equation" r:id="rId9" imgW="1765300" imgH="203200" progId="Equation.DSMT4">
                  <p:embed/>
                </p:oleObj>
              </mc:Choice>
              <mc:Fallback>
                <p:oleObj name="Equation" r:id="rId9" imgW="1765300" imgH="203200" progId="Equation.DSMT4">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4296714"/>
                        <a:ext cx="6163999" cy="718501"/>
                      </a:xfrm>
                      <a:prstGeom prst="rect">
                        <a:avLst/>
                      </a:prstGeom>
                      <a:solidFill>
                        <a:schemeClr val="bg1"/>
                      </a:solidFill>
                      <a:ln>
                        <a:noFill/>
                      </a:ln>
                      <a:effec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774826" y="620713"/>
            <a:ext cx="8640763" cy="762000"/>
          </a:xfrm>
        </p:spPr>
        <p:txBody>
          <a:bodyPr/>
          <a:lstStyle/>
          <a:p>
            <a:pPr algn="l" eaLnBrk="1" hangingPunct="1"/>
            <a:r>
              <a:rPr lang="zh-CN" altLang="en-US" b="1" dirty="0">
                <a:ea typeface="华文中宋" panose="02010600040101010101" pitchFamily="2" charset="-122"/>
              </a:rPr>
              <a:t>稳恒电路计算   </a:t>
            </a:r>
            <a:endParaRPr lang="en-US" altLang="zh-CN" sz="3600" b="1" dirty="0"/>
          </a:p>
        </p:txBody>
      </p:sp>
      <p:sp>
        <p:nvSpPr>
          <p:cNvPr id="54275" name="Rectangle 3"/>
          <p:cNvSpPr>
            <a:spLocks noGrp="1" noChangeArrowheads="1"/>
          </p:cNvSpPr>
          <p:nvPr>
            <p:ph type="body" idx="1"/>
          </p:nvPr>
        </p:nvSpPr>
        <p:spPr>
          <a:xfrm>
            <a:off x="2135189" y="1773238"/>
            <a:ext cx="5183187" cy="609600"/>
          </a:xfrm>
        </p:spPr>
        <p:txBody>
          <a:bodyPr/>
          <a:lstStyle/>
          <a:p>
            <a:pPr eaLnBrk="1" hangingPunct="1"/>
            <a:r>
              <a:rPr lang="zh-CN" altLang="en-US" b="1">
                <a:ea typeface="华文中宋" panose="02010600040101010101" pitchFamily="2" charset="-122"/>
              </a:rPr>
              <a:t>直流电路的基本方程依据</a:t>
            </a:r>
          </a:p>
        </p:txBody>
      </p:sp>
      <p:graphicFrame>
        <p:nvGraphicFramePr>
          <p:cNvPr id="54276" name="Object 4"/>
          <p:cNvGraphicFramePr>
            <a:graphicFrameLocks noChangeAspect="1"/>
          </p:cNvGraphicFramePr>
          <p:nvPr/>
        </p:nvGraphicFramePr>
        <p:xfrm>
          <a:off x="3935414" y="2492376"/>
          <a:ext cx="3933825" cy="855663"/>
        </p:xfrm>
        <a:graphic>
          <a:graphicData uri="http://schemas.openxmlformats.org/presentationml/2006/ole">
            <mc:AlternateContent xmlns:mc="http://schemas.openxmlformats.org/markup-compatibility/2006">
              <mc:Choice xmlns:v="urn:schemas-microsoft-com:vml" Requires="v">
                <p:oleObj spid="_x0000_s54300" name="Equation" r:id="rId3" imgW="1752600" imgH="381000" progId="Equation.3">
                  <p:embed/>
                </p:oleObj>
              </mc:Choice>
              <mc:Fallback>
                <p:oleObj name="Equation" r:id="rId3" imgW="1752600" imgH="381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5414" y="2492376"/>
                        <a:ext cx="3933825" cy="855663"/>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7" name="Rectangle 5"/>
          <p:cNvSpPr>
            <a:spLocks noChangeArrowheads="1"/>
          </p:cNvSpPr>
          <p:nvPr/>
        </p:nvSpPr>
        <p:spPr bwMode="auto">
          <a:xfrm>
            <a:off x="425370" y="3485765"/>
            <a:ext cx="10891210" cy="2259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SzPct val="75000"/>
              <a:buFont typeface="Wingdings" panose="05000000000000000000" pitchFamily="2" charset="2"/>
              <a:buChar char="n"/>
            </a:pPr>
            <a:r>
              <a:rPr lang="zh-CN" altLang="en-US" b="1" dirty="0">
                <a:latin typeface="宋体" panose="02010600030101010101" pitchFamily="2" charset="-122"/>
                <a:ea typeface="华文中宋" panose="02010600040101010101" pitchFamily="2" charset="-122"/>
              </a:rPr>
              <a:t>元件最简单的联结方式为串联和并联</a:t>
            </a:r>
            <a:r>
              <a:rPr lang="zh-CN" altLang="en-US" sz="2800" b="1" dirty="0">
                <a:latin typeface="宋体" panose="02010600030101010101" pitchFamily="2" charset="-122"/>
                <a:ea typeface="华文中宋" panose="02010600040101010101" pitchFamily="2" charset="-122"/>
              </a:rPr>
              <a:t>；</a:t>
            </a:r>
          </a:p>
          <a:p>
            <a:pPr eaLnBrk="1" hangingPunct="1">
              <a:buClr>
                <a:schemeClr val="folHlink"/>
              </a:buClr>
              <a:buSzPct val="75000"/>
              <a:buFont typeface="Wingdings" panose="05000000000000000000" pitchFamily="2" charset="2"/>
              <a:buChar char="n"/>
            </a:pPr>
            <a:r>
              <a:rPr lang="zh-CN" altLang="en-US" b="1" dirty="0">
                <a:ea typeface="华文中宋" panose="02010600040101010101" pitchFamily="2" charset="-122"/>
              </a:rPr>
              <a:t>简单电路：</a:t>
            </a:r>
            <a:r>
              <a:rPr lang="zh-CN" altLang="en-US" b="1" dirty="0">
                <a:latin typeface="宋体" panose="02010600030101010101" pitchFamily="2" charset="-122"/>
                <a:ea typeface="华文中宋" panose="02010600040101010101" pitchFamily="2" charset="-122"/>
              </a:rPr>
              <a:t>能够通过运用元件串、并联的计算法将电路化为一个单回路</a:t>
            </a:r>
          </a:p>
          <a:p>
            <a:pPr eaLnBrk="1" hangingPunct="1">
              <a:buClr>
                <a:schemeClr val="folHlink"/>
              </a:buClr>
              <a:buSzPct val="75000"/>
              <a:buFont typeface="Wingdings" panose="05000000000000000000" pitchFamily="2" charset="2"/>
              <a:buChar char="n"/>
            </a:pPr>
            <a:r>
              <a:rPr lang="zh-CN" altLang="en-US" b="1" dirty="0">
                <a:latin typeface="宋体" panose="02010600030101010101" pitchFamily="2" charset="-122"/>
                <a:ea typeface="华文中宋" panose="02010600040101010101" pitchFamily="2" charset="-122"/>
              </a:rPr>
              <a:t>复杂电路：不能将元件的联结方式归并为串、并联的电路</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774826" y="404813"/>
            <a:ext cx="7273925" cy="762000"/>
          </a:xfrm>
        </p:spPr>
        <p:txBody>
          <a:bodyPr/>
          <a:lstStyle/>
          <a:p>
            <a:pPr algn="l" eaLnBrk="1" hangingPunct="1"/>
            <a:r>
              <a:rPr lang="zh-CN" altLang="en-US" b="1">
                <a:ea typeface="华文中宋" panose="02010600040101010101" pitchFamily="2" charset="-122"/>
              </a:rPr>
              <a:t>简单电路</a:t>
            </a:r>
            <a:endParaRPr lang="en-US" altLang="zh-CN" sz="3200" b="1">
              <a:latin typeface="Times New Roman" panose="02020603050405020304" pitchFamily="18" charset="0"/>
              <a:ea typeface="华文中宋" panose="02010600040101010101" pitchFamily="2" charset="-122"/>
            </a:endParaRPr>
          </a:p>
        </p:txBody>
      </p:sp>
      <p:pic>
        <p:nvPicPr>
          <p:cNvPr id="55299" name="Picture 4" descr="Ne5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3600" y="1295401"/>
            <a:ext cx="4267200"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0" name="Picture 5" descr="Ne52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43800" y="228601"/>
            <a:ext cx="2743200" cy="220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5301" name="Object 9"/>
          <p:cNvGraphicFramePr>
            <a:graphicFrameLocks noChangeAspect="1"/>
          </p:cNvGraphicFramePr>
          <p:nvPr/>
        </p:nvGraphicFramePr>
        <p:xfrm>
          <a:off x="2895600" y="2819400"/>
          <a:ext cx="3124200" cy="2224088"/>
        </p:xfrm>
        <a:graphic>
          <a:graphicData uri="http://schemas.openxmlformats.org/presentationml/2006/ole">
            <mc:AlternateContent xmlns:mc="http://schemas.openxmlformats.org/markup-compatibility/2006">
              <mc:Choice xmlns:v="urn:schemas-microsoft-com:vml" Requires="v">
                <p:oleObj spid="_x0000_s55349" name="Equation" r:id="rId5" imgW="1320227" imgH="939392" progId="Equation.3">
                  <p:embed/>
                </p:oleObj>
              </mc:Choice>
              <mc:Fallback>
                <p:oleObj name="Equation" r:id="rId5" imgW="1320227" imgH="939392"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2819400"/>
                        <a:ext cx="3124200" cy="2224088"/>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2" name="Object 10"/>
          <p:cNvGraphicFramePr>
            <a:graphicFrameLocks noChangeAspect="1"/>
          </p:cNvGraphicFramePr>
          <p:nvPr/>
        </p:nvGraphicFramePr>
        <p:xfrm>
          <a:off x="6629401" y="2667000"/>
          <a:ext cx="3756025" cy="3246438"/>
        </p:xfrm>
        <a:graphic>
          <a:graphicData uri="http://schemas.openxmlformats.org/presentationml/2006/ole">
            <mc:AlternateContent xmlns:mc="http://schemas.openxmlformats.org/markup-compatibility/2006">
              <mc:Choice xmlns:v="urn:schemas-microsoft-com:vml" Requires="v">
                <p:oleObj spid="_x0000_s55350" name="Equation" r:id="rId7" imgW="1587500" imgH="1371600" progId="Equation.3">
                  <p:embed/>
                </p:oleObj>
              </mc:Choice>
              <mc:Fallback>
                <p:oleObj name="Equation" r:id="rId7" imgW="1587500" imgH="13716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401" y="2667000"/>
                        <a:ext cx="3756025" cy="3246438"/>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3" name="AutoShape 12"/>
          <p:cNvSpPr>
            <a:spLocks/>
          </p:cNvSpPr>
          <p:nvPr/>
        </p:nvSpPr>
        <p:spPr bwMode="auto">
          <a:xfrm>
            <a:off x="1752601" y="5257800"/>
            <a:ext cx="1325563" cy="685800"/>
          </a:xfrm>
          <a:prstGeom prst="borderCallout2">
            <a:avLst>
              <a:gd name="adj1" fmla="val 16667"/>
              <a:gd name="adj2" fmla="val 105750"/>
              <a:gd name="adj3" fmla="val 16667"/>
              <a:gd name="adj4" fmla="val 105750"/>
              <a:gd name="adj5" fmla="val -33333"/>
              <a:gd name="adj6" fmla="val 139162"/>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t>高阻起主要作用</a:t>
            </a:r>
          </a:p>
        </p:txBody>
      </p:sp>
      <p:sp>
        <p:nvSpPr>
          <p:cNvPr id="55304" name="AutoShape 13"/>
          <p:cNvSpPr>
            <a:spLocks/>
          </p:cNvSpPr>
          <p:nvPr/>
        </p:nvSpPr>
        <p:spPr bwMode="auto">
          <a:xfrm>
            <a:off x="3810000" y="5486400"/>
            <a:ext cx="2286000" cy="465138"/>
          </a:xfrm>
          <a:prstGeom prst="borderCallout2">
            <a:avLst>
              <a:gd name="adj1" fmla="val 24574"/>
              <a:gd name="adj2" fmla="val 103333"/>
              <a:gd name="adj3" fmla="val 24574"/>
              <a:gd name="adj4" fmla="val 103333"/>
              <a:gd name="adj5" fmla="val 42662"/>
              <a:gd name="adj6" fmla="val 134028"/>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t>低阻起主要作用</a:t>
            </a:r>
            <a:endParaRPr lang="zh-CN" altLang="en-US" sz="1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9" name="Picture 5" descr="Ne5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8600" y="304801"/>
            <a:ext cx="2514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6" descr="Ne5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3800" y="3276600"/>
            <a:ext cx="289560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Text Box 7"/>
          <p:cNvSpPr txBox="1">
            <a:spLocks noChangeArrowheads="1"/>
          </p:cNvSpPr>
          <p:nvPr/>
        </p:nvSpPr>
        <p:spPr bwMode="auto">
          <a:xfrm>
            <a:off x="8305800" y="2667000"/>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b="1">
                <a:ea typeface="华文中宋" panose="02010600040101010101" pitchFamily="2" charset="-122"/>
              </a:rPr>
              <a:t>平衡电桥</a:t>
            </a:r>
          </a:p>
        </p:txBody>
      </p:sp>
      <p:sp>
        <p:nvSpPr>
          <p:cNvPr id="6153" name="Text Box 9"/>
          <p:cNvSpPr txBox="1">
            <a:spLocks noChangeArrowheads="1"/>
          </p:cNvSpPr>
          <p:nvPr/>
        </p:nvSpPr>
        <p:spPr bwMode="auto">
          <a:xfrm>
            <a:off x="7162800" y="5562600"/>
            <a:ext cx="350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b="1">
                <a:ea typeface="华文中宋" panose="02010600040101010101" pitchFamily="2" charset="-122"/>
              </a:rPr>
              <a:t>电势差计</a:t>
            </a:r>
            <a:r>
              <a:rPr lang="en-US" altLang="zh-CN" sz="1800" b="1">
                <a:latin typeface="Times New Roman" panose="02020603050405020304" pitchFamily="18" charset="0"/>
                <a:ea typeface="华文中宋" panose="02010600040101010101" pitchFamily="2" charset="-122"/>
              </a:rPr>
              <a:t>——</a:t>
            </a:r>
            <a:r>
              <a:rPr lang="zh-CN" altLang="en-US" sz="1800" b="1">
                <a:ea typeface="华文中宋" panose="02010600040101010101" pitchFamily="2" charset="-122"/>
              </a:rPr>
              <a:t>补偿电路</a:t>
            </a:r>
          </a:p>
        </p:txBody>
      </p:sp>
      <p:pic>
        <p:nvPicPr>
          <p:cNvPr id="6159" name="Picture 15" descr="Pict00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609600"/>
            <a:ext cx="2514600" cy="183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0" name="Picture 16" descr="Pict008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609600"/>
            <a:ext cx="2286000"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1" name="Picture 17" descr="Pict008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2667001"/>
            <a:ext cx="5486400"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62" name="Text Box 18"/>
          <p:cNvSpPr txBox="1">
            <a:spLocks noChangeArrowheads="1"/>
          </p:cNvSpPr>
          <p:nvPr/>
        </p:nvSpPr>
        <p:spPr bwMode="auto">
          <a:xfrm>
            <a:off x="2286000" y="4724400"/>
            <a:ext cx="4114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b="1">
                <a:ea typeface="华文中宋" panose="02010600040101010101" pitchFamily="2" charset="-122"/>
              </a:rPr>
              <a:t>等效</a:t>
            </a:r>
            <a:r>
              <a:rPr lang="en-US" altLang="zh-CN" sz="1800" b="1">
                <a:latin typeface="Times New Roman" panose="02020603050405020304" pitchFamily="18" charset="0"/>
                <a:ea typeface="华文中宋" panose="02010600040101010101" pitchFamily="2" charset="-122"/>
              </a:rPr>
              <a:t>——</a:t>
            </a:r>
            <a:r>
              <a:rPr lang="zh-CN" altLang="en-US" sz="1800" b="1">
                <a:ea typeface="华文中宋" panose="02010600040101010101" pitchFamily="2" charset="-122"/>
              </a:rPr>
              <a:t>简单电路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59"/>
                                        </p:tgtEl>
                                        <p:attrNameLst>
                                          <p:attrName>style.visibility</p:attrName>
                                        </p:attrNameLst>
                                      </p:cBhvr>
                                      <p:to>
                                        <p:strVal val="visible"/>
                                      </p:to>
                                    </p:set>
                                    <p:animEffect transition="in" filter="blinds(horizontal)">
                                      <p:cBhvr>
                                        <p:cTn id="7" dur="500"/>
                                        <p:tgtEl>
                                          <p:spTgt spid="61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60"/>
                                        </p:tgtEl>
                                        <p:attrNameLst>
                                          <p:attrName>style.visibility</p:attrName>
                                        </p:attrNameLst>
                                      </p:cBhvr>
                                      <p:to>
                                        <p:strVal val="visible"/>
                                      </p:to>
                                    </p:set>
                                    <p:animEffect transition="in" filter="blinds(horizontal)">
                                      <p:cBhvr>
                                        <p:cTn id="12" dur="500"/>
                                        <p:tgtEl>
                                          <p:spTgt spid="61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61"/>
                                        </p:tgtEl>
                                        <p:attrNameLst>
                                          <p:attrName>style.visibility</p:attrName>
                                        </p:attrNameLst>
                                      </p:cBhvr>
                                      <p:to>
                                        <p:strVal val="visible"/>
                                      </p:to>
                                    </p:set>
                                    <p:animEffect transition="in" filter="blinds(horizontal)">
                                      <p:cBhvr>
                                        <p:cTn id="17" dur="500"/>
                                        <p:tgtEl>
                                          <p:spTgt spid="61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62"/>
                                        </p:tgtEl>
                                        <p:attrNameLst>
                                          <p:attrName>style.visibility</p:attrName>
                                        </p:attrNameLst>
                                      </p:cBhvr>
                                      <p:to>
                                        <p:strVal val="visible"/>
                                      </p:to>
                                    </p:set>
                                    <p:animEffect transition="in" filter="blinds(horizontal)">
                                      <p:cBhvr>
                                        <p:cTn id="22" dur="500"/>
                                        <p:tgtEl>
                                          <p:spTgt spid="61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6149"/>
                                        </p:tgtEl>
                                        <p:attrNameLst>
                                          <p:attrName>style.visibility</p:attrName>
                                        </p:attrNameLst>
                                      </p:cBhvr>
                                      <p:to>
                                        <p:strVal val="visible"/>
                                      </p:to>
                                    </p:set>
                                    <p:anim calcmode="lin" valueType="num">
                                      <p:cBhvr additive="base">
                                        <p:cTn id="27" dur="500" fill="hold"/>
                                        <p:tgtEl>
                                          <p:spTgt spid="6149"/>
                                        </p:tgtEl>
                                        <p:attrNameLst>
                                          <p:attrName>ppt_x</p:attrName>
                                        </p:attrNameLst>
                                      </p:cBhvr>
                                      <p:tavLst>
                                        <p:tav tm="0">
                                          <p:val>
                                            <p:strVal val="1+#ppt_w/2"/>
                                          </p:val>
                                        </p:tav>
                                        <p:tav tm="100000">
                                          <p:val>
                                            <p:strVal val="#ppt_x"/>
                                          </p:val>
                                        </p:tav>
                                      </p:tavLst>
                                    </p:anim>
                                    <p:anim calcmode="lin" valueType="num">
                                      <p:cBhvr additive="base">
                                        <p:cTn id="28" dur="500" fill="hold"/>
                                        <p:tgtEl>
                                          <p:spTgt spid="6149"/>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6151"/>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6150"/>
                                        </p:tgtEl>
                                        <p:attrNameLst>
                                          <p:attrName>style.visibility</p:attrName>
                                        </p:attrNameLst>
                                      </p:cBhvr>
                                      <p:to>
                                        <p:strVal val="visible"/>
                                      </p:to>
                                    </p:set>
                                    <p:anim calcmode="lin" valueType="num">
                                      <p:cBhvr additive="base">
                                        <p:cTn id="37" dur="500" fill="hold"/>
                                        <p:tgtEl>
                                          <p:spTgt spid="6150"/>
                                        </p:tgtEl>
                                        <p:attrNameLst>
                                          <p:attrName>ppt_x</p:attrName>
                                        </p:attrNameLst>
                                      </p:cBhvr>
                                      <p:tavLst>
                                        <p:tav tm="0">
                                          <p:val>
                                            <p:strVal val="1+#ppt_w/2"/>
                                          </p:val>
                                        </p:tav>
                                        <p:tav tm="100000">
                                          <p:val>
                                            <p:strVal val="#ppt_x"/>
                                          </p:val>
                                        </p:tav>
                                      </p:tavLst>
                                    </p:anim>
                                    <p:anim calcmode="lin" valueType="num">
                                      <p:cBhvr additive="base">
                                        <p:cTn id="38" dur="500" fill="hold"/>
                                        <p:tgtEl>
                                          <p:spTgt spid="615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autoUpdateAnimBg="0"/>
      <p:bldP spid="6153" grpId="0" autoUpdateAnimBg="0"/>
      <p:bldP spid="6162"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992313" y="192089"/>
            <a:ext cx="8424862" cy="1431925"/>
          </a:xfrm>
        </p:spPr>
        <p:txBody>
          <a:bodyPr/>
          <a:lstStyle/>
          <a:p>
            <a:pPr algn="l" eaLnBrk="1" hangingPunct="1"/>
            <a:r>
              <a:rPr lang="zh-CN" altLang="en-US" b="1" dirty="0">
                <a:latin typeface="华文中宋" panose="02010600040101010101" pitchFamily="2" charset="-122"/>
                <a:ea typeface="华文中宋" panose="02010600040101010101" pitchFamily="2" charset="-122"/>
              </a:rPr>
              <a:t>复杂电路</a:t>
            </a:r>
            <a:r>
              <a:rPr lang="zh-CN" altLang="en-US" b="1" dirty="0">
                <a:latin typeface="Times New Roman" panose="02020603050405020304" pitchFamily="18" charset="0"/>
                <a:ea typeface="黑体" panose="02010609060101010101" pitchFamily="49" charset="-122"/>
              </a:rPr>
              <a:t>  </a:t>
            </a:r>
            <a:endParaRPr lang="en-US" altLang="zh-CN" sz="3600" dirty="0">
              <a:latin typeface="Times New Roman" panose="02020603050405020304" pitchFamily="18" charset="0"/>
            </a:endParaRPr>
          </a:p>
        </p:txBody>
      </p:sp>
      <p:sp>
        <p:nvSpPr>
          <p:cNvPr id="57347" name="Rectangle 3"/>
          <p:cNvSpPr>
            <a:spLocks noGrp="1" noChangeArrowheads="1"/>
          </p:cNvSpPr>
          <p:nvPr>
            <p:ph type="body" idx="1"/>
          </p:nvPr>
        </p:nvSpPr>
        <p:spPr/>
        <p:txBody>
          <a:bodyPr/>
          <a:lstStyle/>
          <a:p>
            <a:pPr eaLnBrk="1" hangingPunct="1"/>
            <a:r>
              <a:rPr lang="zh-CN" altLang="en-US" sz="2800" b="1" dirty="0">
                <a:latin typeface="华文中宋" panose="02010600040101010101" pitchFamily="2" charset="-122"/>
                <a:ea typeface="华文中宋" panose="02010600040101010101" pitchFamily="2" charset="-122"/>
              </a:rPr>
              <a:t>由多个电源和多个电阻</a:t>
            </a:r>
            <a:r>
              <a:rPr lang="zh-CN" altLang="en-US" sz="2800" b="1" dirty="0">
                <a:solidFill>
                  <a:srgbClr val="FF0000"/>
                </a:solidFill>
                <a:latin typeface="华文中宋" panose="02010600040101010101" pitchFamily="2" charset="-122"/>
                <a:ea typeface="华文中宋" panose="02010600040101010101" pitchFamily="2" charset="-122"/>
              </a:rPr>
              <a:t>复杂联接</a:t>
            </a:r>
            <a:r>
              <a:rPr lang="zh-CN" altLang="en-US" sz="2800" b="1" dirty="0">
                <a:latin typeface="华文中宋" panose="02010600040101010101" pitchFamily="2" charset="-122"/>
                <a:ea typeface="华文中宋" panose="02010600040101010101" pitchFamily="2" charset="-122"/>
              </a:rPr>
              <a:t>而成的电路，在一般情况下，这类电路</a:t>
            </a:r>
            <a:r>
              <a:rPr lang="zh-CN" altLang="en-US" sz="2800" b="1" dirty="0">
                <a:solidFill>
                  <a:srgbClr val="FF0000"/>
                </a:solidFill>
                <a:latin typeface="华文中宋" panose="02010600040101010101" pitchFamily="2" charset="-122"/>
                <a:ea typeface="华文中宋" panose="02010600040101010101" pitchFamily="2" charset="-122"/>
              </a:rPr>
              <a:t>不能用电阻串并联等效变换化简的</a:t>
            </a:r>
            <a:r>
              <a:rPr lang="zh-CN" altLang="en-US" sz="2800" b="1" dirty="0">
                <a:latin typeface="华文中宋" panose="02010600040101010101" pitchFamily="2" charset="-122"/>
                <a:ea typeface="华文中宋" panose="02010600040101010101" pitchFamily="2" charset="-122"/>
              </a:rPr>
              <a:t>电路</a:t>
            </a:r>
            <a:endParaRPr lang="zh-CN" altLang="en-US" sz="2800" dirty="0">
              <a:latin typeface="华文中宋" panose="02010600040101010101" pitchFamily="2" charset="-122"/>
              <a:ea typeface="华文中宋" panose="02010600040101010101" pitchFamily="2" charset="-122"/>
            </a:endParaRPr>
          </a:p>
          <a:p>
            <a:pPr eaLnBrk="1" hangingPunct="1"/>
            <a:r>
              <a:rPr lang="zh-CN" altLang="en-US" sz="2800" b="1" dirty="0">
                <a:latin typeface="华文中宋" panose="02010600040101010101" pitchFamily="2" charset="-122"/>
                <a:ea typeface="华文中宋" panose="02010600040101010101" pitchFamily="2" charset="-122"/>
              </a:rPr>
              <a:t>解复杂电路的方法： </a:t>
            </a:r>
          </a:p>
          <a:p>
            <a:pPr lvl="1" algn="just" eaLnBrk="1" hangingPunct="1"/>
            <a:r>
              <a:rPr lang="zh-CN" altLang="en-US" sz="2400" b="1" dirty="0">
                <a:latin typeface="华文中宋" panose="02010600040101010101" pitchFamily="2" charset="-122"/>
                <a:ea typeface="华文中宋" panose="02010600040101010101" pitchFamily="2" charset="-122"/>
              </a:rPr>
              <a:t>基尔霍夫电路定律；</a:t>
            </a:r>
            <a:endParaRPr lang="en-US" altLang="zh-CN" sz="2400" b="1" dirty="0">
              <a:latin typeface="Times New Roman" panose="02020603050405020304" pitchFamily="18" charset="0"/>
              <a:ea typeface="华文中宋" panose="02010600040101010101" pitchFamily="2" charset="-122"/>
            </a:endParaRPr>
          </a:p>
          <a:p>
            <a:pPr lvl="1" algn="just" eaLnBrk="1" hangingPunct="1"/>
            <a:r>
              <a:rPr lang="zh-CN" altLang="en-US" sz="2400" b="1" dirty="0">
                <a:latin typeface="华文中宋" panose="02010600040101010101" pitchFamily="2" charset="-122"/>
                <a:ea typeface="华文中宋" panose="02010600040101010101" pitchFamily="2" charset="-122"/>
              </a:rPr>
              <a:t>等效电源定理（即戴维南定理和诺顿定理</a:t>
            </a:r>
            <a:r>
              <a:rPr lang="en-US" altLang="zh-CN" sz="2400" b="1" dirty="0">
                <a:latin typeface="华文中宋" panose="02010600040101010101" pitchFamily="2" charset="-122"/>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a:p>
            <a:pPr lvl="1" algn="just" eaLnBrk="1" hangingPunct="1"/>
            <a:r>
              <a:rPr lang="zh-CN" altLang="en-US" sz="2400" b="1" dirty="0">
                <a:latin typeface="华文中宋" panose="02010600040101010101" pitchFamily="2" charset="-122"/>
                <a:ea typeface="华文中宋" panose="02010600040101010101" pitchFamily="2" charset="-122"/>
              </a:rPr>
              <a:t>叠加定理；</a:t>
            </a:r>
            <a:endParaRPr lang="en-US" altLang="zh-CN" sz="2400" b="1" dirty="0">
              <a:latin typeface="Times New Roman" panose="02020603050405020304" pitchFamily="18" charset="0"/>
              <a:ea typeface="华文中宋" panose="02010600040101010101" pitchFamily="2" charset="-122"/>
            </a:endParaRPr>
          </a:p>
          <a:p>
            <a:pPr lvl="1" algn="just" eaLnBrk="1" hangingPunct="1"/>
            <a:r>
              <a:rPr lang="zh-CN" altLang="en-US" sz="2400" b="1" dirty="0">
                <a:latin typeface="华文中宋" panose="02010600040101010101" pitchFamily="2" charset="-122"/>
                <a:ea typeface="华文中宋" panose="02010600040101010101" pitchFamily="2" charset="-122"/>
              </a:rPr>
              <a:t>等效变换等</a:t>
            </a:r>
            <a:endParaRPr lang="en-US" altLang="zh-CN" sz="2400" b="1" dirty="0">
              <a:latin typeface="Times New Roman" panose="02020603050405020304" pitchFamily="18" charset="0"/>
              <a:ea typeface="华文中宋" panose="02010600040101010101" pitchFamily="2" charset="-122"/>
            </a:endParaRPr>
          </a:p>
          <a:p>
            <a:pPr lvl="1" algn="just" eaLnBrk="1" hangingPunct="1"/>
            <a:r>
              <a:rPr lang="zh-CN" altLang="en-US" sz="2400" b="1" dirty="0">
                <a:latin typeface="华文中宋" panose="02010600040101010101" pitchFamily="2" charset="-122"/>
                <a:ea typeface="华文中宋" panose="02010600040101010101" pitchFamily="2" charset="-122"/>
              </a:rPr>
              <a:t>其它解电路的方法可参看电工学教材。</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p:cNvSpPr>
            <a:spLocks noGrp="1" noChangeArrowheads="1"/>
          </p:cNvSpPr>
          <p:nvPr>
            <p:ph type="title" sz="quarter"/>
          </p:nvPr>
        </p:nvSpPr>
        <p:spPr/>
        <p:txBody>
          <a:bodyPr/>
          <a:lstStyle/>
          <a:p>
            <a:pPr eaLnBrk="1" hangingPunct="1"/>
            <a:r>
              <a:rPr lang="zh-CN" altLang="en-US"/>
              <a:t>复杂电路</a:t>
            </a:r>
          </a:p>
        </p:txBody>
      </p:sp>
      <p:sp>
        <p:nvSpPr>
          <p:cNvPr id="58371" name="Text Box 3"/>
          <p:cNvSpPr txBox="1">
            <a:spLocks noChangeArrowheads="1"/>
          </p:cNvSpPr>
          <p:nvPr/>
        </p:nvSpPr>
        <p:spPr bwMode="auto">
          <a:xfrm>
            <a:off x="751231" y="1099567"/>
            <a:ext cx="5570193"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solidFill>
                  <a:srgbClr val="FF3300"/>
                </a:solidFill>
                <a:ea typeface="隶书" panose="02010509060101010101" pitchFamily="49" charset="-122"/>
              </a:rPr>
              <a:t>基本概念</a:t>
            </a:r>
          </a:p>
          <a:p>
            <a:pPr eaLnBrk="1" hangingPunct="1">
              <a:spcBef>
                <a:spcPct val="50000"/>
              </a:spcBef>
              <a:buFontTx/>
              <a:buNone/>
            </a:pPr>
            <a:r>
              <a:rPr lang="zh-CN" altLang="en-US" sz="2400" dirty="0">
                <a:solidFill>
                  <a:srgbClr val="0000CC"/>
                </a:solidFill>
              </a:rPr>
              <a:t>节点：三条或更多条支路的联接点</a:t>
            </a:r>
          </a:p>
          <a:p>
            <a:pPr eaLnBrk="1" hangingPunct="1">
              <a:spcBef>
                <a:spcPct val="50000"/>
              </a:spcBef>
              <a:buFontTx/>
              <a:buNone/>
            </a:pPr>
            <a:r>
              <a:rPr lang="zh-CN" altLang="en-US" sz="2400" dirty="0">
                <a:solidFill>
                  <a:srgbClr val="0000CC"/>
                </a:solidFill>
              </a:rPr>
              <a:t>支路：电源和电阻串联而成的通路</a:t>
            </a:r>
          </a:p>
          <a:p>
            <a:pPr eaLnBrk="1" hangingPunct="1">
              <a:spcBef>
                <a:spcPct val="50000"/>
              </a:spcBef>
              <a:buFontTx/>
              <a:buNone/>
            </a:pPr>
            <a:r>
              <a:rPr lang="zh-CN" altLang="en-US" sz="2400" dirty="0">
                <a:solidFill>
                  <a:srgbClr val="0000CC"/>
                </a:solidFill>
              </a:rPr>
              <a:t>回路：几条支路构成的闭合通路</a:t>
            </a:r>
          </a:p>
          <a:p>
            <a:pPr eaLnBrk="1" hangingPunct="1">
              <a:spcBef>
                <a:spcPct val="50000"/>
              </a:spcBef>
              <a:buFontTx/>
              <a:buNone/>
            </a:pPr>
            <a:endParaRPr lang="en-US" altLang="zh-CN" sz="2400" dirty="0">
              <a:solidFill>
                <a:srgbClr val="0000CC"/>
              </a:solidFill>
            </a:endParaRPr>
          </a:p>
        </p:txBody>
      </p:sp>
      <p:grpSp>
        <p:nvGrpSpPr>
          <p:cNvPr id="58372" name="Group 4"/>
          <p:cNvGrpSpPr>
            <a:grpSpLocks/>
          </p:cNvGrpSpPr>
          <p:nvPr/>
        </p:nvGrpSpPr>
        <p:grpSpPr bwMode="auto">
          <a:xfrm rot="-2977243">
            <a:off x="7994651" y="809626"/>
            <a:ext cx="215900" cy="1584325"/>
            <a:chOff x="4105" y="1049"/>
            <a:chExt cx="136" cy="998"/>
          </a:xfrm>
        </p:grpSpPr>
        <p:sp>
          <p:nvSpPr>
            <p:cNvPr id="58425" name="Line 5"/>
            <p:cNvSpPr>
              <a:spLocks noChangeShapeType="1"/>
            </p:cNvSpPr>
            <p:nvPr/>
          </p:nvSpPr>
          <p:spPr bwMode="auto">
            <a:xfrm>
              <a:off x="4184" y="1049"/>
              <a:ext cx="0" cy="9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6" name="Rectangle 6"/>
            <p:cNvSpPr>
              <a:spLocks noChangeArrowheads="1"/>
            </p:cNvSpPr>
            <p:nvPr/>
          </p:nvSpPr>
          <p:spPr bwMode="auto">
            <a:xfrm>
              <a:off x="4105" y="1344"/>
              <a:ext cx="136" cy="408"/>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58373" name="Group 7"/>
          <p:cNvGrpSpPr>
            <a:grpSpLocks/>
          </p:cNvGrpSpPr>
          <p:nvPr/>
        </p:nvGrpSpPr>
        <p:grpSpPr bwMode="auto">
          <a:xfrm>
            <a:off x="8570914" y="2079626"/>
            <a:ext cx="225425" cy="1439863"/>
            <a:chOff x="3702" y="1451"/>
            <a:chExt cx="142" cy="907"/>
          </a:xfrm>
        </p:grpSpPr>
        <p:sp>
          <p:nvSpPr>
            <p:cNvPr id="58423" name="Line 8"/>
            <p:cNvSpPr>
              <a:spLocks noChangeShapeType="1"/>
            </p:cNvSpPr>
            <p:nvPr/>
          </p:nvSpPr>
          <p:spPr bwMode="auto">
            <a:xfrm>
              <a:off x="3787" y="1451"/>
              <a:ext cx="0" cy="9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4" name="Rectangle 9"/>
            <p:cNvSpPr>
              <a:spLocks noChangeArrowheads="1"/>
            </p:cNvSpPr>
            <p:nvPr/>
          </p:nvSpPr>
          <p:spPr bwMode="auto">
            <a:xfrm>
              <a:off x="3702" y="1735"/>
              <a:ext cx="142" cy="4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58374" name="Group 10"/>
          <p:cNvGrpSpPr>
            <a:grpSpLocks/>
          </p:cNvGrpSpPr>
          <p:nvPr/>
        </p:nvGrpSpPr>
        <p:grpSpPr bwMode="auto">
          <a:xfrm rot="-8851729">
            <a:off x="8886826" y="188913"/>
            <a:ext cx="720725" cy="2070100"/>
            <a:chOff x="3560" y="1451"/>
            <a:chExt cx="454" cy="1304"/>
          </a:xfrm>
        </p:grpSpPr>
        <p:grpSp>
          <p:nvGrpSpPr>
            <p:cNvPr id="58416" name="Group 11"/>
            <p:cNvGrpSpPr>
              <a:grpSpLocks/>
            </p:cNvGrpSpPr>
            <p:nvPr/>
          </p:nvGrpSpPr>
          <p:grpSpPr bwMode="auto">
            <a:xfrm>
              <a:off x="3702" y="1451"/>
              <a:ext cx="142" cy="907"/>
              <a:chOff x="3702" y="1451"/>
              <a:chExt cx="142" cy="907"/>
            </a:xfrm>
          </p:grpSpPr>
          <p:sp>
            <p:nvSpPr>
              <p:cNvPr id="58421" name="Line 12"/>
              <p:cNvSpPr>
                <a:spLocks noChangeShapeType="1"/>
              </p:cNvSpPr>
              <p:nvPr/>
            </p:nvSpPr>
            <p:spPr bwMode="auto">
              <a:xfrm>
                <a:off x="3787" y="1451"/>
                <a:ext cx="0" cy="9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2" name="Rectangle 13"/>
              <p:cNvSpPr>
                <a:spLocks noChangeArrowheads="1"/>
              </p:cNvSpPr>
              <p:nvPr/>
            </p:nvSpPr>
            <p:spPr bwMode="auto">
              <a:xfrm>
                <a:off x="3702" y="1735"/>
                <a:ext cx="142" cy="4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58417" name="Group 14"/>
            <p:cNvGrpSpPr>
              <a:grpSpLocks/>
            </p:cNvGrpSpPr>
            <p:nvPr/>
          </p:nvGrpSpPr>
          <p:grpSpPr bwMode="auto">
            <a:xfrm>
              <a:off x="3560" y="2358"/>
              <a:ext cx="454" cy="397"/>
              <a:chOff x="4297" y="2217"/>
              <a:chExt cx="454" cy="397"/>
            </a:xfrm>
          </p:grpSpPr>
          <p:sp>
            <p:nvSpPr>
              <p:cNvPr id="58418" name="Line 15"/>
              <p:cNvSpPr>
                <a:spLocks noChangeShapeType="1"/>
              </p:cNvSpPr>
              <p:nvPr/>
            </p:nvSpPr>
            <p:spPr bwMode="auto">
              <a:xfrm>
                <a:off x="4297" y="2217"/>
                <a:ext cx="454"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9" name="Line 16"/>
              <p:cNvSpPr>
                <a:spLocks noChangeShapeType="1"/>
              </p:cNvSpPr>
              <p:nvPr/>
            </p:nvSpPr>
            <p:spPr bwMode="auto">
              <a:xfrm>
                <a:off x="4439" y="2330"/>
                <a:ext cx="17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0" name="Line 17"/>
              <p:cNvSpPr>
                <a:spLocks noChangeShapeType="1"/>
              </p:cNvSpPr>
              <p:nvPr/>
            </p:nvSpPr>
            <p:spPr bwMode="auto">
              <a:xfrm>
                <a:off x="4524" y="2330"/>
                <a:ext cx="0" cy="2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8375" name="Group 18"/>
          <p:cNvGrpSpPr>
            <a:grpSpLocks/>
          </p:cNvGrpSpPr>
          <p:nvPr/>
        </p:nvGrpSpPr>
        <p:grpSpPr bwMode="auto">
          <a:xfrm>
            <a:off x="8345489" y="3519489"/>
            <a:ext cx="720725" cy="630237"/>
            <a:chOff x="4297" y="2217"/>
            <a:chExt cx="454" cy="397"/>
          </a:xfrm>
        </p:grpSpPr>
        <p:sp>
          <p:nvSpPr>
            <p:cNvPr id="58413" name="Line 19"/>
            <p:cNvSpPr>
              <a:spLocks noChangeShapeType="1"/>
            </p:cNvSpPr>
            <p:nvPr/>
          </p:nvSpPr>
          <p:spPr bwMode="auto">
            <a:xfrm>
              <a:off x="4297" y="2217"/>
              <a:ext cx="454"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4" name="Line 20"/>
            <p:cNvSpPr>
              <a:spLocks noChangeShapeType="1"/>
            </p:cNvSpPr>
            <p:nvPr/>
          </p:nvSpPr>
          <p:spPr bwMode="auto">
            <a:xfrm>
              <a:off x="4439" y="2330"/>
              <a:ext cx="17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5" name="Line 21"/>
            <p:cNvSpPr>
              <a:spLocks noChangeShapeType="1"/>
            </p:cNvSpPr>
            <p:nvPr/>
          </p:nvSpPr>
          <p:spPr bwMode="auto">
            <a:xfrm>
              <a:off x="4524" y="2330"/>
              <a:ext cx="0" cy="2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376" name="Oval 22"/>
          <p:cNvSpPr>
            <a:spLocks noChangeArrowheads="1"/>
          </p:cNvSpPr>
          <p:nvPr/>
        </p:nvSpPr>
        <p:spPr bwMode="auto">
          <a:xfrm>
            <a:off x="8616950" y="1989139"/>
            <a:ext cx="179388" cy="179387"/>
          </a:xfrm>
          <a:prstGeom prst="ellipse">
            <a:avLst/>
          </a:prstGeom>
          <a:solidFill>
            <a:srgbClr val="FF33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8377" name="Line 23"/>
          <p:cNvSpPr>
            <a:spLocks noChangeShapeType="1"/>
          </p:cNvSpPr>
          <p:nvPr/>
        </p:nvSpPr>
        <p:spPr bwMode="auto">
          <a:xfrm>
            <a:off x="7491414" y="1042988"/>
            <a:ext cx="269875" cy="2714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78" name="Line 24"/>
          <p:cNvSpPr>
            <a:spLocks noChangeShapeType="1"/>
          </p:cNvSpPr>
          <p:nvPr/>
        </p:nvSpPr>
        <p:spPr bwMode="auto">
          <a:xfrm flipV="1">
            <a:off x="8705850" y="3833814"/>
            <a:ext cx="0" cy="26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79" name="Line 25"/>
          <p:cNvSpPr>
            <a:spLocks noChangeShapeType="1"/>
          </p:cNvSpPr>
          <p:nvPr/>
        </p:nvSpPr>
        <p:spPr bwMode="auto">
          <a:xfrm flipV="1">
            <a:off x="9605964" y="323851"/>
            <a:ext cx="225425"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0" name="Text Box 26"/>
          <p:cNvSpPr txBox="1">
            <a:spLocks noChangeArrowheads="1"/>
          </p:cNvSpPr>
          <p:nvPr/>
        </p:nvSpPr>
        <p:spPr bwMode="auto">
          <a:xfrm>
            <a:off x="7626350" y="81915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I</a:t>
            </a:r>
            <a:r>
              <a:rPr lang="en-US" altLang="zh-CN" sz="1800" baseline="-25000"/>
              <a:t>1</a:t>
            </a:r>
          </a:p>
        </p:txBody>
      </p:sp>
      <p:sp>
        <p:nvSpPr>
          <p:cNvPr id="58381" name="Text Box 27"/>
          <p:cNvSpPr txBox="1">
            <a:spLocks noChangeArrowheads="1"/>
          </p:cNvSpPr>
          <p:nvPr/>
        </p:nvSpPr>
        <p:spPr bwMode="auto">
          <a:xfrm>
            <a:off x="9786938" y="414338"/>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I</a:t>
            </a:r>
            <a:r>
              <a:rPr lang="en-US" altLang="zh-CN" sz="1800" baseline="-25000"/>
              <a:t>2</a:t>
            </a:r>
          </a:p>
        </p:txBody>
      </p:sp>
      <p:sp>
        <p:nvSpPr>
          <p:cNvPr id="58382" name="Text Box 28"/>
          <p:cNvSpPr txBox="1">
            <a:spLocks noChangeArrowheads="1"/>
          </p:cNvSpPr>
          <p:nvPr/>
        </p:nvSpPr>
        <p:spPr bwMode="auto">
          <a:xfrm>
            <a:off x="8751888" y="3878263"/>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pitchFamily="18" charset="0"/>
              </a:rPr>
              <a:t>I</a:t>
            </a:r>
            <a:r>
              <a:rPr lang="en-US" altLang="zh-CN" sz="1800" baseline="-25000"/>
              <a:t>3</a:t>
            </a:r>
          </a:p>
        </p:txBody>
      </p:sp>
      <p:sp>
        <p:nvSpPr>
          <p:cNvPr id="58383" name="Text Box 29"/>
          <p:cNvSpPr txBox="1">
            <a:spLocks noChangeArrowheads="1"/>
          </p:cNvSpPr>
          <p:nvPr/>
        </p:nvSpPr>
        <p:spPr bwMode="auto">
          <a:xfrm>
            <a:off x="8840788" y="1943101"/>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solidFill>
                  <a:srgbClr val="FF3300"/>
                </a:solidFill>
                <a:latin typeface="Times New Roman" panose="02020603050405020304" pitchFamily="18" charset="0"/>
              </a:rPr>
              <a:t>A</a:t>
            </a:r>
            <a:endParaRPr lang="en-US" altLang="zh-CN" sz="1800" baseline="-25000">
              <a:solidFill>
                <a:srgbClr val="FF3300"/>
              </a:solidFill>
            </a:endParaRPr>
          </a:p>
        </p:txBody>
      </p:sp>
      <p:grpSp>
        <p:nvGrpSpPr>
          <p:cNvPr id="58384" name="Group 30"/>
          <p:cNvGrpSpPr>
            <a:grpSpLocks/>
          </p:cNvGrpSpPr>
          <p:nvPr/>
        </p:nvGrpSpPr>
        <p:grpSpPr bwMode="auto">
          <a:xfrm rot="-5400000">
            <a:off x="4880770" y="5453858"/>
            <a:ext cx="720725" cy="630237"/>
            <a:chOff x="4297" y="2217"/>
            <a:chExt cx="454" cy="397"/>
          </a:xfrm>
        </p:grpSpPr>
        <p:sp>
          <p:nvSpPr>
            <p:cNvPr id="58410" name="Line 31"/>
            <p:cNvSpPr>
              <a:spLocks noChangeShapeType="1"/>
            </p:cNvSpPr>
            <p:nvPr/>
          </p:nvSpPr>
          <p:spPr bwMode="auto">
            <a:xfrm>
              <a:off x="4297" y="2217"/>
              <a:ext cx="454"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1" name="Line 32"/>
            <p:cNvSpPr>
              <a:spLocks noChangeShapeType="1"/>
            </p:cNvSpPr>
            <p:nvPr/>
          </p:nvSpPr>
          <p:spPr bwMode="auto">
            <a:xfrm>
              <a:off x="4439" y="2330"/>
              <a:ext cx="17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2" name="Line 33"/>
            <p:cNvSpPr>
              <a:spLocks noChangeShapeType="1"/>
            </p:cNvSpPr>
            <p:nvPr/>
          </p:nvSpPr>
          <p:spPr bwMode="auto">
            <a:xfrm>
              <a:off x="4524" y="2330"/>
              <a:ext cx="0" cy="2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385" name="Group 34"/>
          <p:cNvGrpSpPr>
            <a:grpSpLocks/>
          </p:cNvGrpSpPr>
          <p:nvPr/>
        </p:nvGrpSpPr>
        <p:grpSpPr bwMode="auto">
          <a:xfrm>
            <a:off x="5421314" y="4329113"/>
            <a:ext cx="225425" cy="1439862"/>
            <a:chOff x="3702" y="1451"/>
            <a:chExt cx="142" cy="907"/>
          </a:xfrm>
        </p:grpSpPr>
        <p:sp>
          <p:nvSpPr>
            <p:cNvPr id="58408" name="Line 35"/>
            <p:cNvSpPr>
              <a:spLocks noChangeShapeType="1"/>
            </p:cNvSpPr>
            <p:nvPr/>
          </p:nvSpPr>
          <p:spPr bwMode="auto">
            <a:xfrm>
              <a:off x="3787" y="1451"/>
              <a:ext cx="0" cy="9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9" name="Rectangle 36"/>
            <p:cNvSpPr>
              <a:spLocks noChangeArrowheads="1"/>
            </p:cNvSpPr>
            <p:nvPr/>
          </p:nvSpPr>
          <p:spPr bwMode="auto">
            <a:xfrm>
              <a:off x="3702" y="1735"/>
              <a:ext cx="142" cy="4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58386" name="Group 37"/>
          <p:cNvGrpSpPr>
            <a:grpSpLocks/>
          </p:cNvGrpSpPr>
          <p:nvPr/>
        </p:nvGrpSpPr>
        <p:grpSpPr bwMode="auto">
          <a:xfrm>
            <a:off x="3305176" y="4329113"/>
            <a:ext cx="225425" cy="1439862"/>
            <a:chOff x="3702" y="1451"/>
            <a:chExt cx="142" cy="907"/>
          </a:xfrm>
        </p:grpSpPr>
        <p:sp>
          <p:nvSpPr>
            <p:cNvPr id="58406" name="Line 38"/>
            <p:cNvSpPr>
              <a:spLocks noChangeShapeType="1"/>
            </p:cNvSpPr>
            <p:nvPr/>
          </p:nvSpPr>
          <p:spPr bwMode="auto">
            <a:xfrm>
              <a:off x="3787" y="1451"/>
              <a:ext cx="0" cy="9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7" name="Rectangle 39"/>
            <p:cNvSpPr>
              <a:spLocks noChangeArrowheads="1"/>
            </p:cNvSpPr>
            <p:nvPr/>
          </p:nvSpPr>
          <p:spPr bwMode="auto">
            <a:xfrm>
              <a:off x="3702" y="1735"/>
              <a:ext cx="142" cy="4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58387" name="Group 40"/>
          <p:cNvGrpSpPr>
            <a:grpSpLocks/>
          </p:cNvGrpSpPr>
          <p:nvPr/>
        </p:nvGrpSpPr>
        <p:grpSpPr bwMode="auto">
          <a:xfrm rot="-5400000">
            <a:off x="4047332" y="5071270"/>
            <a:ext cx="225425" cy="1439862"/>
            <a:chOff x="3702" y="1451"/>
            <a:chExt cx="142" cy="907"/>
          </a:xfrm>
        </p:grpSpPr>
        <p:sp>
          <p:nvSpPr>
            <p:cNvPr id="58404" name="Line 41"/>
            <p:cNvSpPr>
              <a:spLocks noChangeShapeType="1"/>
            </p:cNvSpPr>
            <p:nvPr/>
          </p:nvSpPr>
          <p:spPr bwMode="auto">
            <a:xfrm>
              <a:off x="3787" y="1451"/>
              <a:ext cx="0" cy="9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5" name="Rectangle 42"/>
            <p:cNvSpPr>
              <a:spLocks noChangeArrowheads="1"/>
            </p:cNvSpPr>
            <p:nvPr/>
          </p:nvSpPr>
          <p:spPr bwMode="auto">
            <a:xfrm>
              <a:off x="3702" y="1735"/>
              <a:ext cx="142" cy="4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58388" name="Group 43"/>
          <p:cNvGrpSpPr>
            <a:grpSpLocks/>
          </p:cNvGrpSpPr>
          <p:nvPr/>
        </p:nvGrpSpPr>
        <p:grpSpPr bwMode="auto">
          <a:xfrm rot="5400000" flipH="1">
            <a:off x="3394870" y="4013995"/>
            <a:ext cx="720725" cy="630237"/>
            <a:chOff x="4297" y="2217"/>
            <a:chExt cx="454" cy="397"/>
          </a:xfrm>
        </p:grpSpPr>
        <p:sp>
          <p:nvSpPr>
            <p:cNvPr id="58401" name="Line 44"/>
            <p:cNvSpPr>
              <a:spLocks noChangeShapeType="1"/>
            </p:cNvSpPr>
            <p:nvPr/>
          </p:nvSpPr>
          <p:spPr bwMode="auto">
            <a:xfrm>
              <a:off x="4297" y="2217"/>
              <a:ext cx="454"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2" name="Line 45"/>
            <p:cNvSpPr>
              <a:spLocks noChangeShapeType="1"/>
            </p:cNvSpPr>
            <p:nvPr/>
          </p:nvSpPr>
          <p:spPr bwMode="auto">
            <a:xfrm>
              <a:off x="4439" y="2330"/>
              <a:ext cx="17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3" name="Line 46"/>
            <p:cNvSpPr>
              <a:spLocks noChangeShapeType="1"/>
            </p:cNvSpPr>
            <p:nvPr/>
          </p:nvSpPr>
          <p:spPr bwMode="auto">
            <a:xfrm>
              <a:off x="4524" y="2330"/>
              <a:ext cx="0" cy="2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389" name="Line 47"/>
          <p:cNvSpPr>
            <a:spLocks noChangeShapeType="1"/>
          </p:cNvSpPr>
          <p:nvPr/>
        </p:nvSpPr>
        <p:spPr bwMode="auto">
          <a:xfrm flipH="1">
            <a:off x="4025900" y="4329113"/>
            <a:ext cx="15303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0" name="Line 48"/>
          <p:cNvSpPr>
            <a:spLocks noChangeShapeType="1"/>
          </p:cNvSpPr>
          <p:nvPr/>
        </p:nvSpPr>
        <p:spPr bwMode="auto">
          <a:xfrm flipH="1">
            <a:off x="2630489" y="5768975"/>
            <a:ext cx="809625" cy="450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1" name="Line 49"/>
          <p:cNvSpPr>
            <a:spLocks noChangeShapeType="1"/>
          </p:cNvSpPr>
          <p:nvPr/>
        </p:nvSpPr>
        <p:spPr bwMode="auto">
          <a:xfrm>
            <a:off x="5556250" y="5768975"/>
            <a:ext cx="674688" cy="539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2" name="Line 50"/>
          <p:cNvSpPr>
            <a:spLocks noChangeShapeType="1"/>
          </p:cNvSpPr>
          <p:nvPr/>
        </p:nvSpPr>
        <p:spPr bwMode="auto">
          <a:xfrm>
            <a:off x="2946401" y="3743325"/>
            <a:ext cx="493713" cy="5857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3" name="Line 51"/>
          <p:cNvSpPr>
            <a:spLocks noChangeShapeType="1"/>
          </p:cNvSpPr>
          <p:nvPr/>
        </p:nvSpPr>
        <p:spPr bwMode="auto">
          <a:xfrm flipV="1">
            <a:off x="5556250" y="3743325"/>
            <a:ext cx="539750" cy="5857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4" name="AutoShape 52"/>
          <p:cNvSpPr>
            <a:spLocks noChangeArrowheads="1"/>
          </p:cNvSpPr>
          <p:nvPr/>
        </p:nvSpPr>
        <p:spPr bwMode="auto">
          <a:xfrm>
            <a:off x="4251325" y="4643438"/>
            <a:ext cx="901700" cy="811212"/>
          </a:xfrm>
          <a:prstGeom prst="curvedLeftArrow">
            <a:avLst>
              <a:gd name="adj1" fmla="val 20000"/>
              <a:gd name="adj2" fmla="val 40000"/>
              <a:gd name="adj3" fmla="val 37052"/>
            </a:avLst>
          </a:prstGeom>
          <a:solidFill>
            <a:schemeClr val="accent1"/>
          </a:solidFill>
          <a:ln w="9525">
            <a:solidFill>
              <a:srgbClr val="FF33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8395" name="Line 53"/>
          <p:cNvSpPr>
            <a:spLocks noChangeShapeType="1"/>
          </p:cNvSpPr>
          <p:nvPr/>
        </p:nvSpPr>
        <p:spPr bwMode="auto">
          <a:xfrm>
            <a:off x="3440113" y="4329113"/>
            <a:ext cx="360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6" name="Line 54"/>
          <p:cNvSpPr>
            <a:spLocks noChangeShapeType="1"/>
          </p:cNvSpPr>
          <p:nvPr/>
        </p:nvSpPr>
        <p:spPr bwMode="auto">
          <a:xfrm>
            <a:off x="3440113" y="4419601"/>
            <a:ext cx="0" cy="31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7" name="Line 55"/>
          <p:cNvSpPr>
            <a:spLocks noChangeShapeType="1"/>
          </p:cNvSpPr>
          <p:nvPr/>
        </p:nvSpPr>
        <p:spPr bwMode="auto">
          <a:xfrm>
            <a:off x="5556250" y="4329113"/>
            <a:ext cx="0" cy="4048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8" name="Line 56"/>
          <p:cNvSpPr>
            <a:spLocks noChangeShapeType="1"/>
          </p:cNvSpPr>
          <p:nvPr/>
        </p:nvSpPr>
        <p:spPr bwMode="auto">
          <a:xfrm flipH="1">
            <a:off x="5240339" y="5768975"/>
            <a:ext cx="2698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9" name="Line 57"/>
          <p:cNvSpPr>
            <a:spLocks noChangeShapeType="1"/>
          </p:cNvSpPr>
          <p:nvPr/>
        </p:nvSpPr>
        <p:spPr bwMode="auto">
          <a:xfrm>
            <a:off x="6321426" y="2259013"/>
            <a:ext cx="1844675" cy="0"/>
          </a:xfrm>
          <a:prstGeom prst="line">
            <a:avLst/>
          </a:prstGeom>
          <a:noFill/>
          <a:ln w="762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400" name="AutoShape 58"/>
          <p:cNvSpPr>
            <a:spLocks noChangeArrowheads="1"/>
          </p:cNvSpPr>
          <p:nvPr/>
        </p:nvSpPr>
        <p:spPr bwMode="auto">
          <a:xfrm>
            <a:off x="5916613" y="3114675"/>
            <a:ext cx="2025650" cy="2070100"/>
          </a:xfrm>
          <a:prstGeom prst="curvedLeftArrow">
            <a:avLst>
              <a:gd name="adj1" fmla="val 20439"/>
              <a:gd name="adj2" fmla="val 40878"/>
              <a:gd name="adj3" fmla="val 33333"/>
            </a:avLst>
          </a:prstGeom>
          <a:solidFill>
            <a:srgbClr val="0000CC"/>
          </a:solidFill>
          <a:ln w="9525">
            <a:solidFill>
              <a:srgbClr val="FF33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335360" y="350836"/>
            <a:ext cx="8162925" cy="762000"/>
          </a:xfrm>
        </p:spPr>
        <p:txBody>
          <a:bodyPr/>
          <a:lstStyle/>
          <a:p>
            <a:pPr algn="l" eaLnBrk="1" hangingPunct="1"/>
            <a:r>
              <a:rPr lang="zh-CN" altLang="en-US" b="1" dirty="0">
                <a:solidFill>
                  <a:srgbClr val="000080"/>
                </a:solidFill>
                <a:latin typeface="华文中宋" panose="02010600040101010101" pitchFamily="2" charset="-122"/>
                <a:ea typeface="华文中宋" panose="02010600040101010101" pitchFamily="2" charset="-122"/>
              </a:rPr>
              <a:t>电路的典型问题</a:t>
            </a:r>
            <a:r>
              <a:rPr lang="zh-CN" altLang="en-US" b="1" dirty="0">
                <a:solidFill>
                  <a:srgbClr val="000080"/>
                </a:solidFill>
                <a:latin typeface="宋体" panose="02010600030101010101" pitchFamily="2" charset="-122"/>
              </a:rPr>
              <a:t>：</a:t>
            </a:r>
            <a:endParaRPr lang="zh-CN" altLang="en-US" b="1" dirty="0">
              <a:solidFill>
                <a:srgbClr val="000080"/>
              </a:solidFill>
              <a:latin typeface="华文中宋" panose="02010600040101010101" pitchFamily="2" charset="-122"/>
            </a:endParaRPr>
          </a:p>
        </p:txBody>
      </p:sp>
      <p:sp>
        <p:nvSpPr>
          <p:cNvPr id="12291" name="Rectangle 3"/>
          <p:cNvSpPr>
            <a:spLocks noGrp="1" noChangeArrowheads="1"/>
          </p:cNvSpPr>
          <p:nvPr>
            <p:ph type="body" idx="1"/>
          </p:nvPr>
        </p:nvSpPr>
        <p:spPr/>
        <p:txBody>
          <a:bodyPr/>
          <a:lstStyle/>
          <a:p>
            <a:pPr eaLnBrk="1" hangingPunct="1"/>
            <a:r>
              <a:rPr lang="zh-CN" altLang="en-US" b="1">
                <a:latin typeface="华文中宋" panose="02010600040101010101" pitchFamily="2" charset="-122"/>
                <a:ea typeface="华文中宋" panose="02010600040101010101" pitchFamily="2" charset="-122"/>
              </a:rPr>
              <a:t>已知全部电源的电动势、内阻和全部负载电阻，求每一条支路的电流； </a:t>
            </a:r>
          </a:p>
          <a:p>
            <a:pPr eaLnBrk="1" hangingPunct="1"/>
            <a:r>
              <a:rPr lang="zh-CN" altLang="en-US" b="1">
                <a:latin typeface="华文中宋" panose="02010600040101010101" pitchFamily="2" charset="-122"/>
                <a:ea typeface="华文中宋" panose="02010600040101010101" pitchFamily="2" charset="-122"/>
              </a:rPr>
              <a:t>已知某些支路的电流，求某些电阻或电动势。</a:t>
            </a:r>
          </a:p>
          <a:p>
            <a:pPr eaLnBrk="1" hangingPunct="1"/>
            <a:r>
              <a:rPr lang="zh-CN" altLang="en-US" b="1">
                <a:latin typeface="华文中宋" panose="02010600040101010101" pitchFamily="2" charset="-122"/>
                <a:ea typeface="华文中宋" panose="02010600040101010101" pitchFamily="2" charset="-122"/>
              </a:rPr>
              <a:t>基尔霍夫电路定理给出了把这些物理量联系起来的</a:t>
            </a:r>
            <a:r>
              <a:rPr lang="zh-CN" altLang="en-US" b="1">
                <a:solidFill>
                  <a:srgbClr val="000080"/>
                </a:solidFill>
                <a:latin typeface="华文中宋" panose="02010600040101010101" pitchFamily="2" charset="-122"/>
                <a:ea typeface="华文中宋" panose="02010600040101010101" pitchFamily="2" charset="-122"/>
              </a:rPr>
              <a:t>完备方程组</a:t>
            </a:r>
            <a:r>
              <a:rPr lang="zh-CN" altLang="en-US" b="1">
                <a:latin typeface="华文中宋" panose="02010600040101010101" pitchFamily="2" charset="-122"/>
                <a:ea typeface="华文中宋" panose="02010600040101010101" pitchFamily="2" charset="-122"/>
              </a:rPr>
              <a:t>，从而普遍地解决了电路的计算问题。</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blinds(horizontal)">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blinds(horizontal)">
                                      <p:cBhvr>
                                        <p:cTn id="17" dur="500"/>
                                        <p:tgtEl>
                                          <p:spTgt spid="122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000251" y="233363"/>
            <a:ext cx="8162925" cy="762000"/>
          </a:xfrm>
        </p:spPr>
        <p:txBody>
          <a:bodyPr/>
          <a:lstStyle/>
          <a:p>
            <a:pPr algn="l" eaLnBrk="1" hangingPunct="1"/>
            <a:r>
              <a:rPr lang="zh-CN" altLang="en-US" b="1" dirty="0">
                <a:latin typeface="华文中宋" panose="02010600040101010101" pitchFamily="2" charset="-122"/>
                <a:ea typeface="华文中宋" panose="02010600040101010101" pitchFamily="2" charset="-122"/>
              </a:rPr>
              <a:t>基尔霍夫第一定律</a:t>
            </a:r>
            <a:r>
              <a:rPr lang="zh-CN" altLang="en-US" dirty="0"/>
              <a:t> </a:t>
            </a:r>
          </a:p>
        </p:txBody>
      </p:sp>
      <p:sp>
        <p:nvSpPr>
          <p:cNvPr id="60419" name="Rectangle 3"/>
          <p:cNvSpPr>
            <a:spLocks noGrp="1" noChangeArrowheads="1"/>
          </p:cNvSpPr>
          <p:nvPr>
            <p:ph type="body" sz="half" idx="1"/>
          </p:nvPr>
        </p:nvSpPr>
        <p:spPr/>
        <p:txBody>
          <a:bodyPr/>
          <a:lstStyle/>
          <a:p>
            <a:pPr eaLnBrk="1" hangingPunct="1"/>
            <a:r>
              <a:rPr lang="zh-CN" altLang="en-US" sz="2400" b="1">
                <a:latin typeface="宋体" panose="02010600030101010101" pitchFamily="2" charset="-122"/>
                <a:ea typeface="华文中宋" panose="02010600040101010101" pitchFamily="2" charset="-122"/>
              </a:rPr>
              <a:t>规定</a:t>
            </a:r>
            <a:r>
              <a:rPr lang="zh-CN" altLang="en-US" sz="2400" b="1">
                <a:solidFill>
                  <a:schemeClr val="folHlink"/>
                </a:solidFill>
                <a:latin typeface="宋体" panose="02010600030101010101" pitchFamily="2" charset="-122"/>
                <a:ea typeface="华文中宋" panose="02010600040101010101" pitchFamily="2" charset="-122"/>
              </a:rPr>
              <a:t>流向</a:t>
            </a:r>
            <a:r>
              <a:rPr lang="zh-CN" altLang="en-US" sz="2400" b="1">
                <a:latin typeface="宋体" panose="02010600030101010101" pitchFamily="2" charset="-122"/>
                <a:ea typeface="华文中宋" panose="02010600040101010101" pitchFamily="2" charset="-122"/>
              </a:rPr>
              <a:t>节点的电流为</a:t>
            </a:r>
            <a:r>
              <a:rPr lang="zh-CN" altLang="en-US" sz="2400" b="1">
                <a:solidFill>
                  <a:schemeClr val="folHlink"/>
                </a:solidFill>
                <a:latin typeface="宋体" panose="02010600030101010101" pitchFamily="2" charset="-122"/>
                <a:ea typeface="华文中宋" panose="02010600040101010101" pitchFamily="2" charset="-122"/>
              </a:rPr>
              <a:t>负</a:t>
            </a:r>
            <a:r>
              <a:rPr lang="zh-CN" altLang="en-US" sz="2400" b="1">
                <a:latin typeface="宋体" panose="02010600030101010101" pitchFamily="2" charset="-122"/>
                <a:ea typeface="华文中宋" panose="02010600040101010101" pitchFamily="2" charset="-122"/>
              </a:rPr>
              <a:t>，从节点</a:t>
            </a:r>
            <a:r>
              <a:rPr lang="zh-CN" altLang="en-US" sz="2400" b="1">
                <a:solidFill>
                  <a:schemeClr val="folHlink"/>
                </a:solidFill>
                <a:latin typeface="宋体" panose="02010600030101010101" pitchFamily="2" charset="-122"/>
                <a:ea typeface="华文中宋" panose="02010600040101010101" pitchFamily="2" charset="-122"/>
              </a:rPr>
              <a:t>流出</a:t>
            </a:r>
            <a:r>
              <a:rPr lang="zh-CN" altLang="en-US" sz="2400" b="1">
                <a:latin typeface="宋体" panose="02010600030101010101" pitchFamily="2" charset="-122"/>
                <a:ea typeface="华文中宋" panose="02010600040101010101" pitchFamily="2" charset="-122"/>
              </a:rPr>
              <a:t>的电流为</a:t>
            </a:r>
            <a:r>
              <a:rPr lang="zh-CN" altLang="en-US" sz="2400" b="1">
                <a:solidFill>
                  <a:schemeClr val="folHlink"/>
                </a:solidFill>
                <a:latin typeface="宋体" panose="02010600030101010101" pitchFamily="2" charset="-122"/>
                <a:ea typeface="华文中宋" panose="02010600040101010101" pitchFamily="2" charset="-122"/>
              </a:rPr>
              <a:t>正</a:t>
            </a:r>
          </a:p>
          <a:p>
            <a:pPr eaLnBrk="1" hangingPunct="1"/>
            <a:r>
              <a:rPr lang="zh-CN" altLang="en-US" sz="2400" b="1">
                <a:latin typeface="华文中宋" panose="02010600040101010101" pitchFamily="2" charset="-122"/>
                <a:ea typeface="华文中宋" panose="02010600040101010101" pitchFamily="2" charset="-122"/>
              </a:rPr>
              <a:t>汇于节点的各支路电流强度的代数和为零</a:t>
            </a:r>
            <a:r>
              <a:rPr lang="zh-CN" altLang="en-US" sz="2400"/>
              <a:t> </a:t>
            </a:r>
          </a:p>
        </p:txBody>
      </p:sp>
      <p:graphicFrame>
        <p:nvGraphicFramePr>
          <p:cNvPr id="60420" name="Object 4"/>
          <p:cNvGraphicFramePr>
            <a:graphicFrameLocks noChangeAspect="1"/>
          </p:cNvGraphicFramePr>
          <p:nvPr/>
        </p:nvGraphicFramePr>
        <p:xfrm>
          <a:off x="3756026" y="4733926"/>
          <a:ext cx="2200275" cy="587375"/>
        </p:xfrm>
        <a:graphic>
          <a:graphicData uri="http://schemas.openxmlformats.org/presentationml/2006/ole">
            <mc:AlternateContent xmlns:mc="http://schemas.openxmlformats.org/markup-compatibility/2006">
              <mc:Choice xmlns:v="urn:schemas-microsoft-com:vml" Requires="v">
                <p:oleObj spid="_x0000_s60515" name="Equation" r:id="rId3" imgW="977476" imgH="253890" progId="Equation.3">
                  <p:embed/>
                </p:oleObj>
              </mc:Choice>
              <mc:Fallback>
                <p:oleObj name="Equation" r:id="rId3" imgW="977476" imgH="25389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6026" y="4733926"/>
                        <a:ext cx="2200275" cy="5873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1" name="Text Box 6"/>
          <p:cNvSpPr txBox="1">
            <a:spLocks noChangeArrowheads="1"/>
          </p:cNvSpPr>
          <p:nvPr/>
        </p:nvSpPr>
        <p:spPr bwMode="auto">
          <a:xfrm>
            <a:off x="2063750" y="5445125"/>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SzPct val="75000"/>
              <a:buFont typeface="Wingdings" panose="05000000000000000000" pitchFamily="2" charset="2"/>
              <a:buChar char="n"/>
            </a:pPr>
            <a:r>
              <a:rPr lang="zh-CN" altLang="en-US" sz="2800" b="1">
                <a:latin typeface="华文中宋" panose="02010600040101010101" pitchFamily="2" charset="-122"/>
                <a:ea typeface="华文中宋" panose="02010600040101010101" pitchFamily="2" charset="-122"/>
              </a:rPr>
              <a:t>若一个完整电路共有</a:t>
            </a:r>
            <a:r>
              <a:rPr lang="en-US" altLang="zh-CN" sz="2800" b="1">
                <a:latin typeface="华文中宋" panose="02010600040101010101" pitchFamily="2" charset="-122"/>
                <a:ea typeface="华文中宋" panose="02010600040101010101" pitchFamily="2" charset="-122"/>
              </a:rPr>
              <a:t>n</a:t>
            </a:r>
            <a:r>
              <a:rPr lang="zh-CN" altLang="en-US" sz="2800" b="1">
                <a:latin typeface="华文中宋" panose="02010600040101010101" pitchFamily="2" charset="-122"/>
                <a:ea typeface="华文中宋" panose="02010600040101010101" pitchFamily="2" charset="-122"/>
              </a:rPr>
              <a:t>个节点，则可以写出</a:t>
            </a:r>
            <a:r>
              <a:rPr lang="en-US" altLang="zh-CN" sz="2800" b="1">
                <a:latin typeface="华文中宋" panose="02010600040101010101" pitchFamily="2" charset="-122"/>
                <a:ea typeface="华文中宋" panose="02010600040101010101" pitchFamily="2" charset="-122"/>
              </a:rPr>
              <a:t>n-1</a:t>
            </a:r>
            <a:r>
              <a:rPr lang="zh-CN" altLang="en-US" sz="2800" b="1">
                <a:latin typeface="华文中宋" panose="02010600040101010101" pitchFamily="2" charset="-122"/>
                <a:ea typeface="华文中宋" panose="02010600040101010101" pitchFamily="2" charset="-122"/>
              </a:rPr>
              <a:t>个独立的节点方程</a:t>
            </a:r>
            <a:r>
              <a:rPr lang="en-US" altLang="zh-CN" sz="2800" b="1">
                <a:latin typeface="Times New Roman" panose="02020603050405020304" pitchFamily="18" charset="0"/>
                <a:ea typeface="华文中宋" panose="02010600040101010101" pitchFamily="2" charset="-122"/>
              </a:rPr>
              <a:t>——</a:t>
            </a:r>
            <a:r>
              <a:rPr lang="zh-CN" altLang="en-US" sz="2800" b="1">
                <a:solidFill>
                  <a:schemeClr val="tx2"/>
                </a:solidFill>
                <a:latin typeface="华文中宋" panose="02010600040101010101" pitchFamily="2" charset="-122"/>
                <a:ea typeface="华文中宋" panose="02010600040101010101" pitchFamily="2" charset="-122"/>
              </a:rPr>
              <a:t>基尔霍夫第一方程组  </a:t>
            </a:r>
          </a:p>
        </p:txBody>
      </p:sp>
      <p:graphicFrame>
        <p:nvGraphicFramePr>
          <p:cNvPr id="60422" name="Object 7"/>
          <p:cNvGraphicFramePr>
            <a:graphicFrameLocks noChangeAspect="1"/>
          </p:cNvGraphicFramePr>
          <p:nvPr/>
        </p:nvGraphicFramePr>
        <p:xfrm>
          <a:off x="2495550" y="3519489"/>
          <a:ext cx="1905000" cy="1004887"/>
        </p:xfrm>
        <a:graphic>
          <a:graphicData uri="http://schemas.openxmlformats.org/presentationml/2006/ole">
            <mc:AlternateContent xmlns:mc="http://schemas.openxmlformats.org/markup-compatibility/2006">
              <mc:Choice xmlns:v="urn:schemas-microsoft-com:vml" Requires="v">
                <p:oleObj spid="_x0000_s60516" r:id="rId5" imgW="723586" imgH="380835" progId="Equation.3">
                  <p:embed/>
                </p:oleObj>
              </mc:Choice>
              <mc:Fallback>
                <p:oleObj r:id="rId5" imgW="723586" imgH="38083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550" y="3519489"/>
                        <a:ext cx="1905000" cy="10048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0423" name="Picture 9" descr="Pict000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1775" y="2573339"/>
            <a:ext cx="1849438"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0424" name="Object 10"/>
          <p:cNvGraphicFramePr>
            <a:graphicFrameLocks noChangeAspect="1"/>
          </p:cNvGraphicFramePr>
          <p:nvPr/>
        </p:nvGraphicFramePr>
        <p:xfrm>
          <a:off x="6051551" y="2619375"/>
          <a:ext cx="1393825" cy="1557338"/>
        </p:xfrm>
        <a:graphic>
          <a:graphicData uri="http://schemas.openxmlformats.org/presentationml/2006/ole">
            <mc:AlternateContent xmlns:mc="http://schemas.openxmlformats.org/markup-compatibility/2006">
              <mc:Choice xmlns:v="urn:schemas-microsoft-com:vml" Requires="v">
                <p:oleObj spid="_x0000_s60517" name="位图图像" r:id="rId8" imgW="1724266" imgH="1924319" progId="Paint.Picture">
                  <p:embed/>
                </p:oleObj>
              </mc:Choice>
              <mc:Fallback>
                <p:oleObj name="位图图像" r:id="rId8" imgW="1724266" imgH="1924319" progId="Paint.Picture">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51551" y="2619375"/>
                        <a:ext cx="1393825" cy="155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425" name="Object 13"/>
          <p:cNvGraphicFramePr>
            <a:graphicFrameLocks noGrp="1" noChangeAspect="1"/>
          </p:cNvGraphicFramePr>
          <p:nvPr>
            <p:ph sz="half" idx="2"/>
          </p:nvPr>
        </p:nvGraphicFramePr>
        <p:xfrm>
          <a:off x="6545263" y="4778375"/>
          <a:ext cx="2519362" cy="566738"/>
        </p:xfrm>
        <a:graphic>
          <a:graphicData uri="http://schemas.openxmlformats.org/presentationml/2006/ole">
            <mc:AlternateContent xmlns:mc="http://schemas.openxmlformats.org/markup-compatibility/2006">
              <mc:Choice xmlns:v="urn:schemas-microsoft-com:vml" Requires="v">
                <p:oleObj spid="_x0000_s60518" name="公式" r:id="rId10" imgW="1016000" imgH="228600" progId="Equation.3">
                  <p:embed/>
                </p:oleObj>
              </mc:Choice>
              <mc:Fallback>
                <p:oleObj name="公式" r:id="rId10" imgW="1016000" imgH="22860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45263" y="4778375"/>
                        <a:ext cx="2519362" cy="56673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0426" name="Picture 4"/>
          <p:cNvPicPr>
            <a:picLocks noChangeAspect="1" noChangeArrowheads="1"/>
          </p:cNvPicPr>
          <p:nvPr/>
        </p:nvPicPr>
        <p:blipFill>
          <a:blip r:embed="rId12">
            <a:extLst>
              <a:ext uri="{28A0092B-C50C-407E-A947-70E740481C1C}">
                <a14:useLocalDpi xmlns:a14="http://schemas.microsoft.com/office/drawing/2010/main" val="0"/>
              </a:ext>
            </a:extLst>
          </a:blip>
          <a:srcRect r="5212" b="13765"/>
          <a:stretch>
            <a:fillRect/>
          </a:stretch>
        </p:blipFill>
        <p:spPr bwMode="auto">
          <a:xfrm>
            <a:off x="7356475" y="954088"/>
            <a:ext cx="29972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52020" y="188119"/>
            <a:ext cx="4767263" cy="762000"/>
          </a:xfrm>
        </p:spPr>
        <p:txBody>
          <a:bodyPr/>
          <a:lstStyle/>
          <a:p>
            <a:pPr eaLnBrk="1" hangingPunct="1"/>
            <a:r>
              <a:rPr lang="zh-CN" altLang="en-US" b="1" dirty="0">
                <a:latin typeface="华文中宋" panose="02010600040101010101" pitchFamily="2" charset="-122"/>
                <a:ea typeface="华文中宋" panose="02010600040101010101" pitchFamily="2" charset="-122"/>
              </a:rPr>
              <a:t>基尔霍夫第二定律</a:t>
            </a:r>
            <a:endParaRPr lang="zh-CN" altLang="en-US" dirty="0">
              <a:latin typeface="华文中宋" panose="02010600040101010101" pitchFamily="2" charset="-122"/>
              <a:ea typeface="华文中宋" panose="02010600040101010101" pitchFamily="2" charset="-122"/>
            </a:endParaRPr>
          </a:p>
        </p:txBody>
      </p:sp>
      <p:sp>
        <p:nvSpPr>
          <p:cNvPr id="61443" name="Rectangle 3"/>
          <p:cNvSpPr>
            <a:spLocks noGrp="1" noChangeArrowheads="1"/>
          </p:cNvSpPr>
          <p:nvPr>
            <p:ph type="body" idx="1"/>
          </p:nvPr>
        </p:nvSpPr>
        <p:spPr>
          <a:xfrm>
            <a:off x="1752600" y="990600"/>
            <a:ext cx="6934200" cy="1066800"/>
          </a:xfrm>
        </p:spPr>
        <p:txBody>
          <a:bodyPr/>
          <a:lstStyle/>
          <a:p>
            <a:pPr eaLnBrk="1" hangingPunct="1"/>
            <a:r>
              <a:rPr lang="zh-CN" altLang="en-US" b="1">
                <a:latin typeface="华文中宋" panose="02010600040101010101" pitchFamily="2" charset="-122"/>
                <a:ea typeface="华文中宋" panose="02010600040101010101" pitchFamily="2" charset="-122"/>
              </a:rPr>
              <a:t>沿回路环绕一周回到出发点，电势数值不变</a:t>
            </a:r>
          </a:p>
        </p:txBody>
      </p:sp>
      <p:sp>
        <p:nvSpPr>
          <p:cNvPr id="61444" name="Rectangle 5"/>
          <p:cNvSpPr>
            <a:spLocks noChangeArrowheads="1"/>
          </p:cNvSpPr>
          <p:nvPr/>
        </p:nvSpPr>
        <p:spPr bwMode="auto">
          <a:xfrm>
            <a:off x="5638800" y="316706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1445" name="Object 4"/>
          <p:cNvGraphicFramePr>
            <a:graphicFrameLocks noChangeAspect="1"/>
          </p:cNvGraphicFramePr>
          <p:nvPr/>
        </p:nvGraphicFramePr>
        <p:xfrm>
          <a:off x="2743200" y="1981200"/>
          <a:ext cx="1828800" cy="1049338"/>
        </p:xfrm>
        <a:graphic>
          <a:graphicData uri="http://schemas.openxmlformats.org/presentationml/2006/ole">
            <mc:AlternateContent xmlns:mc="http://schemas.openxmlformats.org/markup-compatibility/2006">
              <mc:Choice xmlns:v="urn:schemas-microsoft-com:vml" Requires="v">
                <p:oleObj spid="_x0000_s61517" r:id="rId3" imgW="685800" imgH="393700" progId="Equation.3">
                  <p:embed/>
                </p:oleObj>
              </mc:Choice>
              <mc:Fallback>
                <p:oleObj r:id="rId3" imgW="6858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981200"/>
                        <a:ext cx="18288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46" name="Text Box 6"/>
          <p:cNvSpPr txBox="1">
            <a:spLocks noChangeArrowheads="1"/>
          </p:cNvSpPr>
          <p:nvPr/>
        </p:nvSpPr>
        <p:spPr bwMode="auto">
          <a:xfrm>
            <a:off x="1752600" y="2743201"/>
            <a:ext cx="6705600" cy="331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folHlink"/>
              </a:buClr>
              <a:buSzPct val="75000"/>
              <a:buFont typeface="Wingdings" panose="05000000000000000000" pitchFamily="2" charset="2"/>
              <a:buChar char="n"/>
            </a:pPr>
            <a:r>
              <a:rPr lang="en-US" altLang="zh-CN" b="1">
                <a:latin typeface="华文中宋" panose="02010600040101010101" pitchFamily="2" charset="-122"/>
                <a:ea typeface="华文中宋" panose="02010600040101010101" pitchFamily="2" charset="-122"/>
              </a:rPr>
              <a:t> </a:t>
            </a:r>
            <a:r>
              <a:rPr lang="zh-CN" altLang="en-US" b="1">
                <a:latin typeface="华文中宋" panose="02010600040101010101" pitchFamily="2" charset="-122"/>
                <a:ea typeface="华文中宋" panose="02010600040101010101" pitchFamily="2" charset="-122"/>
              </a:rPr>
              <a:t>写方程的约定 </a:t>
            </a:r>
          </a:p>
          <a:p>
            <a:pPr lvl="1" eaLnBrk="1" hangingPunct="1">
              <a:buClr>
                <a:schemeClr val="folHlink"/>
              </a:buClr>
              <a:buSzPct val="75000"/>
              <a:buFont typeface="Wingdings" panose="05000000000000000000" pitchFamily="2" charset="2"/>
              <a:buChar char="n"/>
            </a:pPr>
            <a:r>
              <a:rPr lang="zh-CN" altLang="en-US" b="1">
                <a:latin typeface="华文中宋" panose="02010600040101010101" pitchFamily="2" charset="-122"/>
                <a:ea typeface="华文中宋" panose="02010600040101010101" pitchFamily="2" charset="-122"/>
              </a:rPr>
              <a:t>规定其绕行方向（可以任意规定）</a:t>
            </a:r>
          </a:p>
          <a:p>
            <a:pPr lvl="1" eaLnBrk="1" hangingPunct="1">
              <a:buClr>
                <a:schemeClr val="folHlink"/>
              </a:buClr>
              <a:buSzPct val="75000"/>
              <a:buFont typeface="Wingdings" panose="05000000000000000000" pitchFamily="2" charset="2"/>
              <a:buChar char="n"/>
            </a:pPr>
            <a:r>
              <a:rPr lang="zh-CN" altLang="en-US" b="1">
                <a:latin typeface="华文中宋" panose="02010600040101010101" pitchFamily="2" charset="-122"/>
                <a:ea typeface="华文中宋" panose="02010600040101010101" pitchFamily="2" charset="-122"/>
              </a:rPr>
              <a:t>标定一个电流方向</a:t>
            </a:r>
          </a:p>
          <a:p>
            <a:pPr lvl="2" eaLnBrk="1" hangingPunct="1">
              <a:buClr>
                <a:schemeClr val="folHlink"/>
              </a:buClr>
              <a:buSzPct val="75000"/>
              <a:buFont typeface="Wingdings" panose="05000000000000000000" pitchFamily="2" charset="2"/>
              <a:buChar char="n"/>
            </a:pPr>
            <a:r>
              <a:rPr lang="zh-CN" altLang="en-US" sz="1800" b="1">
                <a:latin typeface="华文中宋" panose="02010600040101010101" pitchFamily="2" charset="-122"/>
                <a:ea typeface="华文中宋" panose="02010600040101010101" pitchFamily="2" charset="-122"/>
              </a:rPr>
              <a:t>解出 </a:t>
            </a:r>
            <a:r>
              <a:rPr lang="en-US" altLang="zh-CN" sz="1800" b="1">
                <a:latin typeface="华文中宋" panose="02010600040101010101" pitchFamily="2" charset="-122"/>
                <a:ea typeface="华文中宋" panose="02010600040101010101" pitchFamily="2" charset="-122"/>
              </a:rPr>
              <a:t>I&gt;0</a:t>
            </a:r>
            <a:r>
              <a:rPr lang="zh-CN" altLang="en-US" sz="1800" b="1">
                <a:latin typeface="华文中宋" panose="02010600040101010101" pitchFamily="2" charset="-122"/>
                <a:ea typeface="华文中宋" panose="02010600040101010101" pitchFamily="2" charset="-122"/>
              </a:rPr>
              <a:t>，</a:t>
            </a:r>
            <a:r>
              <a:rPr lang="en-US" altLang="zh-CN" sz="1800" b="1">
                <a:latin typeface="Times New Roman" panose="02020603050405020304" pitchFamily="18" charset="0"/>
                <a:ea typeface="华文中宋" panose="02010600040101010101" pitchFamily="2" charset="-122"/>
              </a:rPr>
              <a:t>——</a:t>
            </a:r>
            <a:r>
              <a:rPr lang="zh-CN" altLang="en-US" sz="1800" b="1">
                <a:latin typeface="华文中宋" panose="02010600040101010101" pitchFamily="2" charset="-122"/>
                <a:ea typeface="华文中宋" panose="02010600040101010101" pitchFamily="2" charset="-122"/>
              </a:rPr>
              <a:t>实际电流与标定一致</a:t>
            </a:r>
          </a:p>
          <a:p>
            <a:pPr lvl="2" eaLnBrk="1" hangingPunct="1">
              <a:buClr>
                <a:schemeClr val="folHlink"/>
              </a:buClr>
              <a:buSzPct val="75000"/>
              <a:buFont typeface="Wingdings" panose="05000000000000000000" pitchFamily="2" charset="2"/>
              <a:buChar char="n"/>
            </a:pPr>
            <a:r>
              <a:rPr lang="zh-CN" altLang="en-US" sz="1800" b="1">
                <a:latin typeface="华文中宋" panose="02010600040101010101" pitchFamily="2" charset="-122"/>
                <a:ea typeface="华文中宋" panose="02010600040101010101" pitchFamily="2" charset="-122"/>
              </a:rPr>
              <a:t>解出 </a:t>
            </a:r>
            <a:r>
              <a:rPr lang="en-US" altLang="zh-CN" sz="1800" b="1">
                <a:latin typeface="华文中宋" panose="02010600040101010101" pitchFamily="2" charset="-122"/>
                <a:ea typeface="华文中宋" panose="02010600040101010101" pitchFamily="2" charset="-122"/>
              </a:rPr>
              <a:t>I&lt;0</a:t>
            </a:r>
            <a:r>
              <a:rPr lang="zh-CN" altLang="en-US" sz="1800" b="1">
                <a:latin typeface="华文中宋" panose="02010600040101010101" pitchFamily="2" charset="-122"/>
                <a:ea typeface="华文中宋" panose="02010600040101010101" pitchFamily="2" charset="-122"/>
              </a:rPr>
              <a:t>，</a:t>
            </a:r>
            <a:r>
              <a:rPr lang="en-US" altLang="zh-CN" sz="1800" b="1">
                <a:latin typeface="Times New Roman" panose="02020603050405020304" pitchFamily="18" charset="0"/>
                <a:ea typeface="华文中宋" panose="02010600040101010101" pitchFamily="2" charset="-122"/>
              </a:rPr>
              <a:t>——</a:t>
            </a:r>
            <a:r>
              <a:rPr lang="zh-CN" altLang="en-US" sz="1800" b="1">
                <a:latin typeface="华文中宋" panose="02010600040101010101" pitchFamily="2" charset="-122"/>
                <a:ea typeface="华文中宋" panose="02010600040101010101" pitchFamily="2" charset="-122"/>
              </a:rPr>
              <a:t>实际电流与标定相反</a:t>
            </a:r>
          </a:p>
          <a:p>
            <a:pPr lvl="1" eaLnBrk="1" hangingPunct="1">
              <a:buClr>
                <a:schemeClr val="folHlink"/>
              </a:buClr>
              <a:buSzPct val="75000"/>
              <a:buFont typeface="Wingdings" panose="05000000000000000000" pitchFamily="2" charset="2"/>
              <a:buChar char="n"/>
            </a:pPr>
            <a:r>
              <a:rPr lang="zh-CN" altLang="en-US" b="1">
                <a:latin typeface="华文中宋" panose="02010600040101010101" pitchFamily="2" charset="-122"/>
                <a:ea typeface="华文中宋" panose="02010600040101010101" pitchFamily="2" charset="-122"/>
              </a:rPr>
              <a:t>规定电势从高到低    电势降落为正，</a:t>
            </a:r>
          </a:p>
          <a:p>
            <a:pPr lvl="1" algn="just" eaLnBrk="1" hangingPunct="1">
              <a:buClr>
                <a:schemeClr val="folHlink"/>
              </a:buClr>
              <a:buSzPct val="75000"/>
              <a:buFont typeface="Wingdings" panose="05000000000000000000" pitchFamily="2" charset="2"/>
              <a:buNone/>
            </a:pPr>
            <a:r>
              <a:rPr lang="zh-CN" altLang="en-US" b="1">
                <a:latin typeface="华文中宋" panose="02010600040101010101" pitchFamily="2" charset="-122"/>
                <a:ea typeface="华文中宋" panose="02010600040101010101" pitchFamily="2" charset="-122"/>
              </a:rPr>
              <a:t>   电势从低到高      电势降落为负</a:t>
            </a:r>
            <a:endParaRPr lang="zh-CN" altLang="en-US" sz="3200" b="1">
              <a:latin typeface="华文中宋" panose="02010600040101010101" pitchFamily="2" charset="-122"/>
              <a:ea typeface="华文中宋" panose="02010600040101010101" pitchFamily="2" charset="-122"/>
            </a:endParaRPr>
          </a:p>
        </p:txBody>
      </p:sp>
      <p:sp>
        <p:nvSpPr>
          <p:cNvPr id="61447" name="Rectangle 8"/>
          <p:cNvSpPr>
            <a:spLocks noChangeArrowheads="1"/>
          </p:cNvSpPr>
          <p:nvPr/>
        </p:nvSpPr>
        <p:spPr bwMode="auto">
          <a:xfrm>
            <a:off x="5200650" y="3262313"/>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1448" name="Object 7"/>
          <p:cNvGraphicFramePr>
            <a:graphicFrameLocks noChangeAspect="1"/>
          </p:cNvGraphicFramePr>
          <p:nvPr/>
        </p:nvGraphicFramePr>
        <p:xfrm>
          <a:off x="4800600" y="1981200"/>
          <a:ext cx="4084638" cy="681038"/>
        </p:xfrm>
        <a:graphic>
          <a:graphicData uri="http://schemas.openxmlformats.org/presentationml/2006/ole">
            <mc:AlternateContent xmlns:mc="http://schemas.openxmlformats.org/markup-compatibility/2006">
              <mc:Choice xmlns:v="urn:schemas-microsoft-com:vml" Requires="v">
                <p:oleObj spid="_x0000_s61518" name="Equation" r:id="rId5" imgW="1574800" imgH="254000" progId="Equation.3">
                  <p:embed/>
                </p:oleObj>
              </mc:Choice>
              <mc:Fallback>
                <p:oleObj name="Equation" r:id="rId5" imgW="1574800" imgH="2540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1981200"/>
                        <a:ext cx="4084638"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49" name="AutoShape 9"/>
          <p:cNvSpPr>
            <a:spLocks/>
          </p:cNvSpPr>
          <p:nvPr/>
        </p:nvSpPr>
        <p:spPr bwMode="auto">
          <a:xfrm>
            <a:off x="8915400" y="228600"/>
            <a:ext cx="1752600" cy="1295400"/>
          </a:xfrm>
          <a:prstGeom prst="borderCallout2">
            <a:avLst>
              <a:gd name="adj1" fmla="val 8824"/>
              <a:gd name="adj2" fmla="val -4347"/>
              <a:gd name="adj3" fmla="val 8824"/>
              <a:gd name="adj4" fmla="val -53986"/>
              <a:gd name="adj5" fmla="val 137500"/>
              <a:gd name="adj6" fmla="val -10597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latin typeface="华文中宋" panose="02010600040101010101" pitchFamily="2" charset="-122"/>
                <a:ea typeface="华文中宋" panose="02010600040101010101" pitchFamily="2" charset="-122"/>
              </a:rPr>
              <a:t>基尔霍夫第二方程组，又叫回路电压方程</a:t>
            </a:r>
          </a:p>
        </p:txBody>
      </p:sp>
      <p:graphicFrame>
        <p:nvGraphicFramePr>
          <p:cNvPr id="61450" name="Object 11"/>
          <p:cNvGraphicFramePr>
            <a:graphicFrameLocks noChangeAspect="1"/>
          </p:cNvGraphicFramePr>
          <p:nvPr/>
        </p:nvGraphicFramePr>
        <p:xfrm>
          <a:off x="8153400" y="3200400"/>
          <a:ext cx="2286000" cy="2222500"/>
        </p:xfrm>
        <a:graphic>
          <a:graphicData uri="http://schemas.openxmlformats.org/presentationml/2006/ole">
            <mc:AlternateContent xmlns:mc="http://schemas.openxmlformats.org/markup-compatibility/2006">
              <mc:Choice xmlns:v="urn:schemas-microsoft-com:vml" Requires="v">
                <p:oleObj spid="_x0000_s61519" name="位图图像" r:id="rId7" imgW="2048161" imgH="1991003" progId="Paint.Picture">
                  <p:embed/>
                </p:oleObj>
              </mc:Choice>
              <mc:Fallback>
                <p:oleObj name="位图图像" r:id="rId7" imgW="2048161" imgH="1991003" progId="Paint.Picture">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53400" y="3200400"/>
                        <a:ext cx="2286000" cy="222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14690" y="101779"/>
            <a:ext cx="5638800" cy="762000"/>
          </a:xfrm>
        </p:spPr>
        <p:txBody>
          <a:bodyPr/>
          <a:lstStyle/>
          <a:p>
            <a:pPr eaLnBrk="1" hangingPunct="1"/>
            <a:r>
              <a:rPr lang="zh-CN" altLang="en-US" b="1" dirty="0">
                <a:latin typeface="华文中宋" panose="02010600040101010101" pitchFamily="2" charset="-122"/>
                <a:ea typeface="华文中宋" panose="02010600040101010101" pitchFamily="2" charset="-122"/>
              </a:rPr>
              <a:t>电势降落正负的写法</a:t>
            </a:r>
            <a:r>
              <a:rPr lang="zh-CN" altLang="en-US" dirty="0">
                <a:latin typeface="华文中宋" panose="02010600040101010101" pitchFamily="2" charset="-122"/>
                <a:ea typeface="华文中宋" panose="02010600040101010101" pitchFamily="2" charset="-122"/>
              </a:rPr>
              <a:t> </a:t>
            </a:r>
          </a:p>
        </p:txBody>
      </p:sp>
      <p:sp>
        <p:nvSpPr>
          <p:cNvPr id="62467" name="Rectangle 3"/>
          <p:cNvSpPr>
            <a:spLocks noGrp="1" noChangeArrowheads="1"/>
          </p:cNvSpPr>
          <p:nvPr>
            <p:ph type="body" idx="1"/>
          </p:nvPr>
        </p:nvSpPr>
        <p:spPr>
          <a:xfrm>
            <a:off x="290355" y="1295400"/>
            <a:ext cx="7634445" cy="1905000"/>
          </a:xfrm>
        </p:spPr>
        <p:txBody>
          <a:bodyPr/>
          <a:lstStyle/>
          <a:p>
            <a:pPr eaLnBrk="1" hangingPunct="1">
              <a:lnSpc>
                <a:spcPct val="90000"/>
              </a:lnSpc>
            </a:pPr>
            <a:r>
              <a:rPr lang="zh-CN" altLang="en-US" b="1" dirty="0">
                <a:solidFill>
                  <a:srgbClr val="000080"/>
                </a:solidFill>
                <a:latin typeface="华文中宋" panose="02010600040101010101" pitchFamily="2" charset="-122"/>
                <a:ea typeface="华文中宋" panose="02010600040101010101" pitchFamily="2" charset="-122"/>
              </a:rPr>
              <a:t>纯电阻</a:t>
            </a:r>
            <a:r>
              <a:rPr lang="zh-CN" altLang="en-US" b="1" dirty="0">
                <a:latin typeface="华文中宋" panose="02010600040101010101" pitchFamily="2" charset="-122"/>
                <a:ea typeface="华文中宋" panose="02010600040101010101" pitchFamily="2" charset="-122"/>
              </a:rPr>
              <a:t>元件：若电流方向与绕行方向相同，电势降落</a:t>
            </a:r>
            <a:r>
              <a:rPr lang="zh-CN" altLang="en-US" b="1" dirty="0">
                <a:solidFill>
                  <a:srgbClr val="660033"/>
                </a:solidFill>
                <a:latin typeface="华文中宋" panose="02010600040101010101" pitchFamily="2" charset="-122"/>
                <a:ea typeface="华文中宋" panose="02010600040101010101" pitchFamily="2" charset="-122"/>
              </a:rPr>
              <a:t>为正</a:t>
            </a:r>
            <a:r>
              <a:rPr lang="zh-CN" altLang="en-US" b="1" dirty="0">
                <a:latin typeface="华文中宋" panose="02010600040101010101" pitchFamily="2" charset="-122"/>
                <a:ea typeface="华文中宋" panose="02010600040101010101" pitchFamily="2" charset="-122"/>
              </a:rPr>
              <a:t>，若电流方向与绕行方向相反，电势降落</a:t>
            </a:r>
            <a:r>
              <a:rPr lang="zh-CN" altLang="en-US" b="1" dirty="0">
                <a:solidFill>
                  <a:srgbClr val="660033"/>
                </a:solidFill>
                <a:latin typeface="华文中宋" panose="02010600040101010101" pitchFamily="2" charset="-122"/>
                <a:ea typeface="华文中宋" panose="02010600040101010101" pitchFamily="2" charset="-122"/>
              </a:rPr>
              <a:t>为负</a:t>
            </a:r>
            <a:r>
              <a:rPr lang="zh-CN" altLang="en-US" b="1" dirty="0">
                <a:latin typeface="华文中宋" panose="02010600040101010101" pitchFamily="2" charset="-122"/>
                <a:ea typeface="华文中宋" panose="02010600040101010101" pitchFamily="2" charset="-122"/>
              </a:rPr>
              <a:t>；</a:t>
            </a:r>
            <a:r>
              <a:rPr lang="zh-CN" altLang="en-US" sz="2800" b="1" dirty="0">
                <a:latin typeface="华文中宋" panose="02010600040101010101" pitchFamily="2" charset="-122"/>
                <a:ea typeface="华文中宋" panose="02010600040101010101" pitchFamily="2" charset="-122"/>
              </a:rPr>
              <a:t> </a:t>
            </a:r>
          </a:p>
        </p:txBody>
      </p:sp>
      <p:graphicFrame>
        <p:nvGraphicFramePr>
          <p:cNvPr id="62468" name="Object 4"/>
          <p:cNvGraphicFramePr>
            <a:graphicFrameLocks noChangeAspect="1"/>
          </p:cNvGraphicFramePr>
          <p:nvPr/>
        </p:nvGraphicFramePr>
        <p:xfrm>
          <a:off x="7924800" y="533400"/>
          <a:ext cx="2286000" cy="2222500"/>
        </p:xfrm>
        <a:graphic>
          <a:graphicData uri="http://schemas.openxmlformats.org/presentationml/2006/ole">
            <mc:AlternateContent xmlns:mc="http://schemas.openxmlformats.org/markup-compatibility/2006">
              <mc:Choice xmlns:v="urn:schemas-microsoft-com:vml" Requires="v">
                <p:oleObj spid="_x0000_s62492" name="位图图像" r:id="rId3" imgW="2048161" imgH="1991003" progId="Paint.Picture">
                  <p:embed/>
                </p:oleObj>
              </mc:Choice>
              <mc:Fallback>
                <p:oleObj name="位图图像" r:id="rId3" imgW="2048161" imgH="1991003"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533400"/>
                        <a:ext cx="2286000" cy="222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69" name="Text Box 5"/>
          <p:cNvSpPr txBox="1">
            <a:spLocks noChangeArrowheads="1"/>
          </p:cNvSpPr>
          <p:nvPr/>
        </p:nvSpPr>
        <p:spPr bwMode="auto">
          <a:xfrm>
            <a:off x="560385" y="3187521"/>
            <a:ext cx="8001000" cy="2850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folHlink"/>
              </a:buClr>
              <a:buSzPct val="75000"/>
              <a:buFont typeface="Wingdings" panose="05000000000000000000" pitchFamily="2" charset="2"/>
              <a:buChar char="n"/>
            </a:pPr>
            <a:r>
              <a:rPr lang="zh-CN" altLang="en-US" b="1" dirty="0">
                <a:solidFill>
                  <a:srgbClr val="000080"/>
                </a:solidFill>
                <a:latin typeface="华文中宋" panose="02010600040101010101" pitchFamily="2" charset="-122"/>
                <a:ea typeface="华文中宋" panose="02010600040101010101" pitchFamily="2" charset="-122"/>
              </a:rPr>
              <a:t>理想电源</a:t>
            </a:r>
            <a:r>
              <a:rPr lang="zh-CN" altLang="en-US" b="1" dirty="0">
                <a:latin typeface="华文中宋" panose="02010600040101010101" pitchFamily="2" charset="-122"/>
                <a:ea typeface="华文中宋" panose="02010600040101010101" pitchFamily="2" charset="-122"/>
              </a:rPr>
              <a:t>：当电动势的</a:t>
            </a:r>
            <a:r>
              <a:rPr lang="zh-CN" altLang="en-US" b="1" dirty="0">
                <a:latin typeface="Times New Roman" panose="02020603050405020304" pitchFamily="18" charset="0"/>
                <a:ea typeface="华文中宋" panose="02010600040101010101" pitchFamily="2" charset="-122"/>
              </a:rPr>
              <a:t>“</a:t>
            </a:r>
            <a:r>
              <a:rPr lang="zh-CN" altLang="en-US" b="1" dirty="0">
                <a:latin typeface="华文中宋" panose="02010600040101010101" pitchFamily="2" charset="-122"/>
                <a:ea typeface="华文中宋" panose="02010600040101010101" pitchFamily="2" charset="-122"/>
              </a:rPr>
              <a:t>方向</a:t>
            </a:r>
            <a:r>
              <a:rPr lang="zh-CN" altLang="en-US" b="1" dirty="0">
                <a:latin typeface="Times New Roman" panose="02020603050405020304" pitchFamily="18" charset="0"/>
                <a:ea typeface="华文中宋" panose="02010600040101010101" pitchFamily="2" charset="-122"/>
              </a:rPr>
              <a:t>”</a:t>
            </a:r>
            <a:r>
              <a:rPr lang="zh-CN" altLang="en-US" b="1" dirty="0">
                <a:latin typeface="华文中宋" panose="02010600040101010101" pitchFamily="2" charset="-122"/>
                <a:ea typeface="华文中宋" panose="02010600040101010101" pitchFamily="2" charset="-122"/>
              </a:rPr>
              <a:t>（由电源内部负极指向正极）与绕行方向相同时</a:t>
            </a:r>
            <a:r>
              <a:rPr lang="zh-CN" altLang="en-US" b="1" dirty="0">
                <a:solidFill>
                  <a:srgbClr val="660033"/>
                </a:solidFill>
                <a:latin typeface="华文中宋" panose="02010600040101010101" pitchFamily="2" charset="-122"/>
                <a:ea typeface="华文中宋" panose="02010600040101010101" pitchFamily="2" charset="-122"/>
              </a:rPr>
              <a:t>为负</a:t>
            </a:r>
            <a:r>
              <a:rPr lang="zh-CN" altLang="en-US" b="1" dirty="0">
                <a:latin typeface="华文中宋" panose="02010600040101010101" pitchFamily="2" charset="-122"/>
                <a:ea typeface="华文中宋" panose="02010600040101010101" pitchFamily="2" charset="-122"/>
              </a:rPr>
              <a:t>，反之</a:t>
            </a:r>
            <a:r>
              <a:rPr lang="zh-CN" altLang="en-US" b="1" dirty="0">
                <a:solidFill>
                  <a:srgbClr val="660033"/>
                </a:solidFill>
                <a:latin typeface="华文中宋" panose="02010600040101010101" pitchFamily="2" charset="-122"/>
                <a:ea typeface="华文中宋" panose="02010600040101010101" pitchFamily="2" charset="-122"/>
              </a:rPr>
              <a:t>为正</a:t>
            </a:r>
            <a:r>
              <a:rPr lang="zh-CN" altLang="en-US" b="1" dirty="0">
                <a:latin typeface="华文中宋" panose="02010600040101010101" pitchFamily="2" charset="-122"/>
                <a:ea typeface="华文中宋" panose="02010600040101010101" pitchFamily="2" charset="-122"/>
              </a:rPr>
              <a:t>； </a:t>
            </a:r>
          </a:p>
          <a:p>
            <a:pPr eaLnBrk="1" hangingPunct="1">
              <a:lnSpc>
                <a:spcPct val="90000"/>
              </a:lnSpc>
              <a:buClr>
                <a:schemeClr val="folHlink"/>
              </a:buClr>
              <a:buSzPct val="75000"/>
              <a:buFont typeface="Wingdings" panose="05000000000000000000" pitchFamily="2" charset="2"/>
              <a:buChar char="n"/>
            </a:pPr>
            <a:r>
              <a:rPr lang="zh-CN" altLang="en-US" b="1" dirty="0">
                <a:solidFill>
                  <a:srgbClr val="000080"/>
                </a:solidFill>
                <a:latin typeface="华文中宋" panose="02010600040101010101" pitchFamily="2" charset="-122"/>
                <a:ea typeface="华文中宋" panose="02010600040101010101" pitchFamily="2" charset="-122"/>
              </a:rPr>
              <a:t>实际电源</a:t>
            </a:r>
            <a:r>
              <a:rPr lang="zh-CN" altLang="en-US" b="1" dirty="0">
                <a:latin typeface="华文中宋" panose="02010600040101010101" pitchFamily="2" charset="-122"/>
                <a:ea typeface="华文中宋" panose="02010600040101010101" pitchFamily="2" charset="-122"/>
              </a:rPr>
              <a:t>有</a:t>
            </a:r>
            <a:r>
              <a:rPr lang="zh-CN" altLang="en-US" b="1" dirty="0">
                <a:solidFill>
                  <a:srgbClr val="660033"/>
                </a:solidFill>
                <a:latin typeface="华文中宋" panose="02010600040101010101" pitchFamily="2" charset="-122"/>
                <a:ea typeface="华文中宋" panose="02010600040101010101" pitchFamily="2" charset="-122"/>
              </a:rPr>
              <a:t>内阻</a:t>
            </a:r>
            <a:r>
              <a:rPr lang="zh-CN" altLang="en-US" b="1" dirty="0">
                <a:latin typeface="华文中宋" panose="02010600040101010101" pitchFamily="2" charset="-122"/>
                <a:ea typeface="华文中宋" panose="02010600040101010101" pitchFamily="2" charset="-122"/>
              </a:rPr>
              <a:t>，可以把一个电源看成一个没有内阻的理想电源和一个纯电阻串联，然后按电阻和理想电源的规定分别写出 </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560385" y="228600"/>
            <a:ext cx="4233863" cy="762000"/>
          </a:xfrm>
        </p:spPr>
        <p:txBody>
          <a:bodyPr/>
          <a:lstStyle/>
          <a:p>
            <a:pPr eaLnBrk="1" hangingPunct="1"/>
            <a:r>
              <a:rPr lang="zh-CN" altLang="en-US" b="1" dirty="0">
                <a:latin typeface="华文中宋" panose="02010600040101010101" pitchFamily="2" charset="-122"/>
                <a:ea typeface="华文中宋" panose="02010600040101010101" pitchFamily="2" charset="-122"/>
              </a:rPr>
              <a:t>独立方程的个数</a:t>
            </a:r>
            <a:r>
              <a:rPr lang="zh-CN" altLang="en-US" dirty="0"/>
              <a:t> </a:t>
            </a:r>
          </a:p>
        </p:txBody>
      </p:sp>
      <p:sp>
        <p:nvSpPr>
          <p:cNvPr id="63491" name="Rectangle 3"/>
          <p:cNvSpPr>
            <a:spLocks noGrp="1" noChangeArrowheads="1"/>
          </p:cNvSpPr>
          <p:nvPr>
            <p:ph type="body" idx="1"/>
          </p:nvPr>
        </p:nvSpPr>
        <p:spPr>
          <a:xfrm>
            <a:off x="560385" y="1002958"/>
            <a:ext cx="11251250" cy="5410200"/>
          </a:xfrm>
        </p:spPr>
        <p:txBody>
          <a:bodyPr anchor="b"/>
          <a:lstStyle/>
          <a:p>
            <a:pPr eaLnBrk="1" hangingPunct="1"/>
            <a:r>
              <a:rPr lang="zh-CN" altLang="en-US" sz="2800" b="1" dirty="0">
                <a:solidFill>
                  <a:srgbClr val="000080"/>
                </a:solidFill>
                <a:latin typeface="华文中宋" panose="02010600040101010101" pitchFamily="2" charset="-122"/>
                <a:ea typeface="华文中宋" panose="02010600040101010101" pitchFamily="2" charset="-122"/>
              </a:rPr>
              <a:t>若整个电路可以化为</a:t>
            </a:r>
            <a:r>
              <a:rPr lang="zh-CN" altLang="en-US" sz="2800" b="1" dirty="0">
                <a:solidFill>
                  <a:srgbClr val="000099"/>
                </a:solidFill>
                <a:latin typeface="华文中宋" panose="02010600040101010101" pitchFamily="2" charset="-122"/>
                <a:ea typeface="华文中宋" panose="02010600040101010101" pitchFamily="2" charset="-122"/>
              </a:rPr>
              <a:t>平面电路 </a:t>
            </a:r>
          </a:p>
          <a:p>
            <a:pPr lvl="1" eaLnBrk="1" hangingPunct="1"/>
            <a:r>
              <a:rPr lang="zh-CN" altLang="en-US" sz="2400" b="1" dirty="0">
                <a:latin typeface="华文中宋" panose="02010600040101010101" pitchFamily="2" charset="-122"/>
                <a:ea typeface="华文中宋" panose="02010600040101010101" pitchFamily="2" charset="-122"/>
              </a:rPr>
              <a:t>所有的节点和支路都在一平面上而不存在支路相互跨越的情形</a:t>
            </a:r>
            <a:r>
              <a:rPr lang="en-US" altLang="zh-CN" sz="2400" b="1" dirty="0">
                <a:latin typeface="Times New Roman" panose="02020603050405020304" pitchFamily="18" charset="0"/>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可以把电路看成一张网络</a:t>
            </a:r>
          </a:p>
          <a:p>
            <a:pPr lvl="1" eaLnBrk="1" hangingPunct="1"/>
            <a:r>
              <a:rPr lang="zh-CN" altLang="en-US" sz="2400" b="1" dirty="0">
                <a:solidFill>
                  <a:srgbClr val="FF0000"/>
                </a:solidFill>
                <a:latin typeface="华文中宋" panose="02010600040101010101" pitchFamily="2" charset="-122"/>
                <a:ea typeface="华文中宋" panose="02010600040101010101" pitchFamily="2" charset="-122"/>
              </a:rPr>
              <a:t>网孔的数目就是独立回路的数目</a:t>
            </a:r>
          </a:p>
          <a:p>
            <a:pPr eaLnBrk="1" hangingPunct="1"/>
            <a:r>
              <a:rPr lang="zh-CN" altLang="en-US" sz="2800" b="1" dirty="0">
                <a:solidFill>
                  <a:srgbClr val="000080"/>
                </a:solidFill>
                <a:latin typeface="华文中宋" panose="02010600040101010101" pitchFamily="2" charset="-122"/>
                <a:ea typeface="华文中宋" panose="02010600040101010101" pitchFamily="2" charset="-122"/>
              </a:rPr>
              <a:t>若整个电路不能化为平面网络</a:t>
            </a:r>
          </a:p>
          <a:p>
            <a:pPr lvl="1" eaLnBrk="1" hangingPunct="1"/>
            <a:r>
              <a:rPr lang="zh-CN" altLang="en-US" sz="2400" b="1" dirty="0">
                <a:latin typeface="华文中宋" panose="02010600040101010101" pitchFamily="2" charset="-122"/>
                <a:ea typeface="华文中宋" panose="02010600040101010101" pitchFamily="2" charset="-122"/>
              </a:rPr>
              <a:t>网孔的概念不再适用 </a:t>
            </a:r>
          </a:p>
          <a:p>
            <a:pPr lvl="1" eaLnBrk="1" hangingPunct="1"/>
            <a:r>
              <a:rPr lang="zh-CN" altLang="en-US" sz="2400" b="1" dirty="0">
                <a:latin typeface="华文中宋" panose="02010600040101010101" pitchFamily="2" charset="-122"/>
                <a:ea typeface="华文中宋" panose="02010600040101010101" pitchFamily="2" charset="-122"/>
              </a:rPr>
              <a:t>独立回路个数的判据要依据图论中树图来建立 </a:t>
            </a:r>
          </a:p>
          <a:p>
            <a:pPr lvl="1" eaLnBrk="1" hangingPunct="1"/>
            <a:r>
              <a:rPr lang="zh-CN" altLang="en-US" sz="2400" b="1" dirty="0">
                <a:latin typeface="Times New Roman" panose="02020603050405020304" pitchFamily="18" charset="0"/>
                <a:ea typeface="华文中宋" panose="02010600040101010101" pitchFamily="2" charset="-122"/>
              </a:rPr>
              <a:t>其结论是：</a:t>
            </a:r>
            <a:r>
              <a:rPr lang="zh-CN" altLang="en-US" sz="2400" b="1" dirty="0">
                <a:solidFill>
                  <a:srgbClr val="FF0000"/>
                </a:solidFill>
                <a:latin typeface="Times New Roman" panose="02020603050405020304" pitchFamily="18" charset="0"/>
                <a:ea typeface="华文中宋" panose="02010600040101010101" pitchFamily="2" charset="-122"/>
              </a:rPr>
              <a:t>对于一个有</a:t>
            </a:r>
            <a:r>
              <a:rPr lang="en-US" altLang="zh-CN" sz="2400" b="1" i="1" dirty="0">
                <a:solidFill>
                  <a:srgbClr val="FF0000"/>
                </a:solidFill>
                <a:latin typeface="Times New Roman" panose="02020603050405020304" pitchFamily="18" charset="0"/>
                <a:ea typeface="华文中宋" panose="02010600040101010101" pitchFamily="2" charset="-122"/>
              </a:rPr>
              <a:t>n</a:t>
            </a:r>
            <a:r>
              <a:rPr lang="zh-CN" altLang="en-US" sz="2400" b="1" dirty="0">
                <a:solidFill>
                  <a:srgbClr val="FF0000"/>
                </a:solidFill>
                <a:latin typeface="Times New Roman" panose="02020603050405020304" pitchFamily="18" charset="0"/>
                <a:ea typeface="华文中宋" panose="02010600040101010101" pitchFamily="2" charset="-122"/>
              </a:rPr>
              <a:t>个节点</a:t>
            </a:r>
            <a:r>
              <a:rPr lang="en-US" altLang="zh-CN" sz="2400" b="1" i="1" dirty="0">
                <a:solidFill>
                  <a:srgbClr val="FF0000"/>
                </a:solidFill>
                <a:latin typeface="Times New Roman" panose="02020603050405020304" pitchFamily="18" charset="0"/>
                <a:ea typeface="华文中宋" panose="02010600040101010101" pitchFamily="2" charset="-122"/>
              </a:rPr>
              <a:t>P</a:t>
            </a:r>
            <a:r>
              <a:rPr lang="en-US" altLang="zh-CN" sz="2400" b="1" dirty="0">
                <a:solidFill>
                  <a:srgbClr val="FF0000"/>
                </a:solidFill>
                <a:latin typeface="Times New Roman" panose="02020603050405020304" pitchFamily="18" charset="0"/>
                <a:ea typeface="华文中宋" panose="02010600040101010101" pitchFamily="2" charset="-122"/>
              </a:rPr>
              <a:t> </a:t>
            </a:r>
            <a:r>
              <a:rPr lang="zh-CN" altLang="en-US" sz="2400" b="1" dirty="0">
                <a:solidFill>
                  <a:srgbClr val="FF0000"/>
                </a:solidFill>
                <a:latin typeface="Times New Roman" panose="02020603050405020304" pitchFamily="18" charset="0"/>
                <a:ea typeface="华文中宋" panose="02010600040101010101" pitchFamily="2" charset="-122"/>
              </a:rPr>
              <a:t>条支路的电路，共有  </a:t>
            </a:r>
            <a:r>
              <a:rPr lang="en-US" altLang="zh-CN" sz="2400" b="1" i="1" dirty="0">
                <a:solidFill>
                  <a:srgbClr val="FF0000"/>
                </a:solidFill>
                <a:latin typeface="Times New Roman" panose="02020603050405020304" pitchFamily="18" charset="0"/>
                <a:ea typeface="华文中宋" panose="02010600040101010101" pitchFamily="2" charset="-122"/>
              </a:rPr>
              <a:t>P-n+1</a:t>
            </a:r>
            <a:r>
              <a:rPr lang="zh-CN" altLang="en-US" sz="2400" b="1" dirty="0">
                <a:solidFill>
                  <a:srgbClr val="FF0000"/>
                </a:solidFill>
                <a:latin typeface="Times New Roman" panose="02020603050405020304" pitchFamily="18" charset="0"/>
                <a:ea typeface="华文中宋" panose="02010600040101010101" pitchFamily="2" charset="-122"/>
              </a:rPr>
              <a:t>个独立回路</a:t>
            </a:r>
          </a:p>
          <a:p>
            <a:pPr eaLnBrk="1" hangingPunct="1"/>
            <a:r>
              <a:rPr lang="zh-CN" altLang="en-US" sz="2800" b="1" dirty="0">
                <a:latin typeface="华文中宋" panose="02010600040101010101" pitchFamily="2" charset="-122"/>
                <a:ea typeface="华文中宋" panose="02010600040101010101" pitchFamily="2" charset="-122"/>
              </a:rPr>
              <a:t>节点电流方程 ＋回路电压方程构成完备方程组，</a:t>
            </a:r>
            <a:r>
              <a:rPr lang="zh-CN" altLang="en-US" sz="2800" b="1" dirty="0">
                <a:latin typeface="宋体" panose="02010600030101010101" pitchFamily="2" charset="-122"/>
                <a:ea typeface="华文中宋" panose="02010600040101010101" pitchFamily="2" charset="-122"/>
              </a:rPr>
              <a:t>可解，且解是唯一的，它原则上可解决任何直流电路问题</a:t>
            </a:r>
            <a:endParaRPr lang="zh-CN" altLang="en-US" sz="2800" b="1" dirty="0">
              <a:solidFill>
                <a:schemeClr val="folHlink"/>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4514" name="Picture 3"/>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r="7744" b="21841"/>
          <a:stretch>
            <a:fillRect/>
          </a:stretch>
        </p:blipFill>
        <p:spPr>
          <a:xfrm>
            <a:off x="1524000" y="1"/>
            <a:ext cx="2838450" cy="2168525"/>
          </a:xfrm>
          <a:noFill/>
        </p:spPr>
      </p:pic>
      <p:pic>
        <p:nvPicPr>
          <p:cNvPr id="64515"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970464" y="279400"/>
            <a:ext cx="4321175" cy="1163638"/>
          </a:xfrm>
          <a:noFill/>
        </p:spPr>
      </p:pic>
      <p:pic>
        <p:nvPicPr>
          <p:cNvPr id="64516" name="Picture 5"/>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465763" y="1808163"/>
            <a:ext cx="4248150" cy="1663700"/>
          </a:xfrm>
          <a:noFill/>
        </p:spPr>
      </p:pic>
      <p:pic>
        <p:nvPicPr>
          <p:cNvPr id="64517" name="Picture 4"/>
          <p:cNvPicPr>
            <a:picLocks noChangeAspect="1" noChangeArrowheads="1"/>
          </p:cNvPicPr>
          <p:nvPr/>
        </p:nvPicPr>
        <p:blipFill>
          <a:blip r:embed="rId5">
            <a:extLst>
              <a:ext uri="{28A0092B-C50C-407E-A947-70E740481C1C}">
                <a14:useLocalDpi xmlns:a14="http://schemas.microsoft.com/office/drawing/2010/main" val="0"/>
              </a:ext>
            </a:extLst>
          </a:blip>
          <a:srcRect l="6102" r="2208" b="15221"/>
          <a:stretch>
            <a:fillRect/>
          </a:stretch>
        </p:blipFill>
        <p:spPr bwMode="auto">
          <a:xfrm>
            <a:off x="1524000" y="3968751"/>
            <a:ext cx="353695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5276" y="3743325"/>
            <a:ext cx="2925763"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6125" y="5094289"/>
            <a:ext cx="202565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15062" y="570349"/>
            <a:ext cx="117463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17430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17430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17430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b="1" dirty="0">
                <a:latin typeface="Times New Roman" panose="02020603050405020304" pitchFamily="18" charset="0"/>
              </a:rPr>
              <a:t>例题</a:t>
            </a:r>
            <a:r>
              <a:rPr kumimoji="1" lang="zh-CN" altLang="en-US" sz="2400" dirty="0">
                <a:latin typeface="Times New Roman" panose="02020603050405020304" pitchFamily="18" charset="0"/>
              </a:rPr>
              <a:t>： 下图是一个电桥电路，其中</a:t>
            </a:r>
            <a:r>
              <a:rPr kumimoji="1" lang="en-US" altLang="zh-CN" sz="2400" dirty="0">
                <a:latin typeface="Times New Roman" panose="02020603050405020304" pitchFamily="18" charset="0"/>
              </a:rPr>
              <a:t>G</a:t>
            </a:r>
            <a:r>
              <a:rPr kumimoji="1" lang="zh-CN" altLang="en-US" sz="2400" dirty="0">
                <a:latin typeface="Times New Roman" panose="02020603050405020304" pitchFamily="18" charset="0"/>
              </a:rPr>
              <a:t>为检流计（内阻为</a:t>
            </a:r>
            <a:r>
              <a:rPr kumimoji="1" lang="en-US" altLang="zh-CN" sz="2400" dirty="0" err="1">
                <a:latin typeface="Times New Roman" panose="02020603050405020304" pitchFamily="18" charset="0"/>
              </a:rPr>
              <a:t>R</a:t>
            </a:r>
            <a:r>
              <a:rPr kumimoji="1" lang="en-US" altLang="zh-CN" sz="2400" baseline="-30000" dirty="0" err="1">
                <a:latin typeface="Times New Roman" panose="02020603050405020304" pitchFamily="18" charset="0"/>
              </a:rPr>
              <a:t>g</a:t>
            </a:r>
            <a:r>
              <a:rPr kumimoji="1" lang="zh-CN" altLang="en-US" sz="2400" dirty="0">
                <a:latin typeface="Times New Roman" panose="02020603050405020304" pitchFamily="18" charset="0"/>
              </a:rPr>
              <a:t>），求通过检流计的电流</a:t>
            </a:r>
            <a:r>
              <a:rPr kumimoji="1" lang="en-US" altLang="zh-CN" sz="2400" dirty="0">
                <a:latin typeface="Times New Roman" panose="02020603050405020304" pitchFamily="18" charset="0"/>
              </a:rPr>
              <a:t>I</a:t>
            </a:r>
            <a:r>
              <a:rPr kumimoji="1" lang="en-US" altLang="zh-CN" sz="2400" baseline="-30000" dirty="0">
                <a:latin typeface="Times New Roman" panose="02020603050405020304" pitchFamily="18" charset="0"/>
              </a:rPr>
              <a:t>g</a:t>
            </a:r>
            <a:r>
              <a:rPr kumimoji="1" lang="zh-CN" altLang="en-US" sz="2400" dirty="0">
                <a:latin typeface="Times New Roman" panose="02020603050405020304" pitchFamily="18" charset="0"/>
              </a:rPr>
              <a:t>与各臂阻值</a:t>
            </a:r>
            <a:r>
              <a:rPr kumimoji="1" lang="en-US" altLang="zh-CN" sz="2400" dirty="0">
                <a:latin typeface="Times New Roman" panose="02020603050405020304" pitchFamily="18" charset="0"/>
              </a:rPr>
              <a:t>R</a:t>
            </a:r>
            <a:r>
              <a:rPr kumimoji="1" lang="en-US" altLang="zh-CN" sz="2400" baseline="-30000" dirty="0">
                <a:latin typeface="Times New Roman" panose="02020603050405020304" pitchFamily="18" charset="0"/>
              </a:rPr>
              <a:t>1</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R</a:t>
            </a:r>
            <a:r>
              <a:rPr kumimoji="1" lang="en-US" altLang="zh-CN" sz="2400" baseline="-30000" dirty="0">
                <a:latin typeface="Times New Roman" panose="02020603050405020304" pitchFamily="18" charset="0"/>
              </a:rPr>
              <a:t>2</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R</a:t>
            </a:r>
            <a:r>
              <a:rPr kumimoji="1" lang="en-US" altLang="zh-CN" sz="2400" baseline="-30000" dirty="0">
                <a:latin typeface="Times New Roman" panose="02020603050405020304" pitchFamily="18" charset="0"/>
              </a:rPr>
              <a:t>3</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R</a:t>
            </a:r>
            <a:r>
              <a:rPr kumimoji="1" lang="en-US" altLang="zh-CN" sz="2400" baseline="-30000" dirty="0">
                <a:latin typeface="Times New Roman" panose="02020603050405020304" pitchFamily="18" charset="0"/>
              </a:rPr>
              <a:t>4</a:t>
            </a:r>
            <a:r>
              <a:rPr kumimoji="1" lang="zh-CN" altLang="en-US" sz="2400" dirty="0">
                <a:latin typeface="Times New Roman" panose="02020603050405020304" pitchFamily="18" charset="0"/>
              </a:rPr>
              <a:t>的关系（电源内阻可忽略，</a:t>
            </a:r>
            <a:r>
              <a:rPr kumimoji="1" lang="en-US" altLang="zh-CN" sz="2400" dirty="0">
                <a:latin typeface="仿宋_GB2312" pitchFamily="49" charset="-122"/>
              </a:rPr>
              <a:t>ε</a:t>
            </a:r>
            <a:r>
              <a:rPr kumimoji="1" lang="zh-CN" altLang="en-US" sz="2400" dirty="0">
                <a:latin typeface="Times New Roman" panose="02020603050405020304" pitchFamily="18" charset="0"/>
              </a:rPr>
              <a:t>为已知）。</a:t>
            </a:r>
          </a:p>
        </p:txBody>
      </p:sp>
      <p:grpSp>
        <p:nvGrpSpPr>
          <p:cNvPr id="65539" name="Group 3"/>
          <p:cNvGrpSpPr>
            <a:grpSpLocks/>
          </p:cNvGrpSpPr>
          <p:nvPr/>
        </p:nvGrpSpPr>
        <p:grpSpPr bwMode="auto">
          <a:xfrm>
            <a:off x="2225675" y="1719263"/>
            <a:ext cx="4648200" cy="3505200"/>
            <a:chOff x="1632" y="1872"/>
            <a:chExt cx="2928" cy="2208"/>
          </a:xfrm>
        </p:grpSpPr>
        <p:sp>
          <p:nvSpPr>
            <p:cNvPr id="65540" name="AutoShape 4"/>
            <p:cNvSpPr>
              <a:spLocks noChangeArrowheads="1"/>
            </p:cNvSpPr>
            <p:nvPr/>
          </p:nvSpPr>
          <p:spPr bwMode="auto">
            <a:xfrm>
              <a:off x="1632" y="1872"/>
              <a:ext cx="2928" cy="2208"/>
            </a:xfrm>
            <a:prstGeom prst="flowChartProcess">
              <a:avLst/>
            </a:prstGeom>
            <a:gradFill rotWithShape="0">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65541" name="Group 5"/>
            <p:cNvGrpSpPr>
              <a:grpSpLocks/>
            </p:cNvGrpSpPr>
            <p:nvPr/>
          </p:nvGrpSpPr>
          <p:grpSpPr bwMode="auto">
            <a:xfrm>
              <a:off x="1684" y="1920"/>
              <a:ext cx="2720" cy="1891"/>
              <a:chOff x="1440" y="0"/>
              <a:chExt cx="2800" cy="1872"/>
            </a:xfrm>
          </p:grpSpPr>
          <p:grpSp>
            <p:nvGrpSpPr>
              <p:cNvPr id="65542" name="Group 6"/>
              <p:cNvGrpSpPr>
                <a:grpSpLocks/>
              </p:cNvGrpSpPr>
              <p:nvPr/>
            </p:nvGrpSpPr>
            <p:grpSpPr bwMode="auto">
              <a:xfrm>
                <a:off x="1920" y="240"/>
                <a:ext cx="1824" cy="1632"/>
                <a:chOff x="4195" y="2376"/>
                <a:chExt cx="2729" cy="2808"/>
              </a:xfrm>
            </p:grpSpPr>
            <p:sp>
              <p:nvSpPr>
                <p:cNvPr id="65559" name="Line 7"/>
                <p:cNvSpPr>
                  <a:spLocks noChangeShapeType="1"/>
                </p:cNvSpPr>
                <p:nvPr/>
              </p:nvSpPr>
              <p:spPr bwMode="auto">
                <a:xfrm>
                  <a:off x="5468" y="4872"/>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5560" name="Group 8"/>
                <p:cNvGrpSpPr>
                  <a:grpSpLocks/>
                </p:cNvGrpSpPr>
                <p:nvPr/>
              </p:nvGrpSpPr>
              <p:grpSpPr bwMode="auto">
                <a:xfrm>
                  <a:off x="4195" y="2376"/>
                  <a:ext cx="2729" cy="2724"/>
                  <a:chOff x="4195" y="2376"/>
                  <a:chExt cx="2729" cy="2724"/>
                </a:xfrm>
              </p:grpSpPr>
              <p:sp>
                <p:nvSpPr>
                  <p:cNvPr id="65561" name="Line 9"/>
                  <p:cNvSpPr>
                    <a:spLocks noChangeShapeType="1"/>
                  </p:cNvSpPr>
                  <p:nvPr/>
                </p:nvSpPr>
                <p:spPr bwMode="auto">
                  <a:xfrm>
                    <a:off x="6820" y="3312"/>
                    <a:ext cx="0" cy="1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5562" name="Group 10"/>
                  <p:cNvGrpSpPr>
                    <a:grpSpLocks/>
                  </p:cNvGrpSpPr>
                  <p:nvPr/>
                </p:nvGrpSpPr>
                <p:grpSpPr bwMode="auto">
                  <a:xfrm>
                    <a:off x="4195" y="2376"/>
                    <a:ext cx="2729" cy="2724"/>
                    <a:chOff x="4195" y="2376"/>
                    <a:chExt cx="2729" cy="2724"/>
                  </a:xfrm>
                </p:grpSpPr>
                <p:sp>
                  <p:nvSpPr>
                    <p:cNvPr id="65563" name="Oval 11"/>
                    <p:cNvSpPr>
                      <a:spLocks noChangeArrowheads="1"/>
                    </p:cNvSpPr>
                    <p:nvPr/>
                  </p:nvSpPr>
                  <p:spPr bwMode="auto">
                    <a:xfrm>
                      <a:off x="5546" y="2376"/>
                      <a:ext cx="57" cy="57"/>
                    </a:xfrm>
                    <a:prstGeom prst="ellipse">
                      <a:avLst/>
                    </a:prstGeom>
                    <a:solidFill>
                      <a:srgbClr val="000000"/>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564" name="Oval 12"/>
                    <p:cNvSpPr>
                      <a:spLocks noChangeArrowheads="1"/>
                    </p:cNvSpPr>
                    <p:nvPr/>
                  </p:nvSpPr>
                  <p:spPr bwMode="auto">
                    <a:xfrm>
                      <a:off x="5555" y="4212"/>
                      <a:ext cx="57" cy="57"/>
                    </a:xfrm>
                    <a:prstGeom prst="ellipse">
                      <a:avLst/>
                    </a:prstGeom>
                    <a:solidFill>
                      <a:srgbClr val="000000"/>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565" name="Oval 13"/>
                    <p:cNvSpPr>
                      <a:spLocks noChangeArrowheads="1"/>
                    </p:cNvSpPr>
                    <p:nvPr/>
                  </p:nvSpPr>
                  <p:spPr bwMode="auto">
                    <a:xfrm>
                      <a:off x="4318" y="3282"/>
                      <a:ext cx="57" cy="57"/>
                    </a:xfrm>
                    <a:prstGeom prst="ellipse">
                      <a:avLst/>
                    </a:prstGeom>
                    <a:solidFill>
                      <a:srgbClr val="000000"/>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65566" name="Group 14"/>
                    <p:cNvGrpSpPr>
                      <a:grpSpLocks/>
                    </p:cNvGrpSpPr>
                    <p:nvPr/>
                  </p:nvGrpSpPr>
                  <p:grpSpPr bwMode="auto">
                    <a:xfrm>
                      <a:off x="4195" y="2376"/>
                      <a:ext cx="2729" cy="2724"/>
                      <a:chOff x="4195" y="2376"/>
                      <a:chExt cx="2729" cy="2724"/>
                    </a:xfrm>
                  </p:grpSpPr>
                  <p:sp>
                    <p:nvSpPr>
                      <p:cNvPr id="65567" name="Line 15"/>
                      <p:cNvSpPr>
                        <a:spLocks noChangeShapeType="1"/>
                      </p:cNvSpPr>
                      <p:nvPr/>
                    </p:nvSpPr>
                    <p:spPr bwMode="auto">
                      <a:xfrm flipV="1">
                        <a:off x="5580" y="3312"/>
                        <a:ext cx="1260" cy="9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5568" name="Group 16"/>
                      <p:cNvGrpSpPr>
                        <a:grpSpLocks/>
                      </p:cNvGrpSpPr>
                      <p:nvPr/>
                    </p:nvGrpSpPr>
                    <p:grpSpPr bwMode="auto">
                      <a:xfrm>
                        <a:off x="4195" y="2376"/>
                        <a:ext cx="2729" cy="2724"/>
                        <a:chOff x="4195" y="2376"/>
                        <a:chExt cx="2729" cy="2724"/>
                      </a:xfrm>
                    </p:grpSpPr>
                    <p:sp>
                      <p:nvSpPr>
                        <p:cNvPr id="65569" name="Oval 17"/>
                        <p:cNvSpPr>
                          <a:spLocks noChangeArrowheads="1"/>
                        </p:cNvSpPr>
                        <p:nvPr/>
                      </p:nvSpPr>
                      <p:spPr bwMode="auto">
                        <a:xfrm>
                          <a:off x="6778" y="3292"/>
                          <a:ext cx="57" cy="57"/>
                        </a:xfrm>
                        <a:prstGeom prst="ellipse">
                          <a:avLst/>
                        </a:prstGeom>
                        <a:solidFill>
                          <a:srgbClr val="000000"/>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570" name="Line 18"/>
                        <p:cNvSpPr>
                          <a:spLocks noChangeShapeType="1"/>
                        </p:cNvSpPr>
                        <p:nvPr/>
                      </p:nvSpPr>
                      <p:spPr bwMode="auto">
                        <a:xfrm>
                          <a:off x="5580" y="2376"/>
                          <a:ext cx="0" cy="18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1" name="Line 19"/>
                        <p:cNvSpPr>
                          <a:spLocks noChangeShapeType="1"/>
                        </p:cNvSpPr>
                        <p:nvPr/>
                      </p:nvSpPr>
                      <p:spPr bwMode="auto">
                        <a:xfrm>
                          <a:off x="5580" y="2376"/>
                          <a:ext cx="1260" cy="9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2" name="Line 20"/>
                        <p:cNvSpPr>
                          <a:spLocks noChangeShapeType="1"/>
                        </p:cNvSpPr>
                        <p:nvPr/>
                      </p:nvSpPr>
                      <p:spPr bwMode="auto">
                        <a:xfrm flipV="1">
                          <a:off x="4320" y="2376"/>
                          <a:ext cx="1260" cy="9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3" name="Line 21"/>
                        <p:cNvSpPr>
                          <a:spLocks noChangeShapeType="1"/>
                        </p:cNvSpPr>
                        <p:nvPr/>
                      </p:nvSpPr>
                      <p:spPr bwMode="auto">
                        <a:xfrm>
                          <a:off x="4320" y="3312"/>
                          <a:ext cx="1260" cy="9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4" name="Oval 22"/>
                        <p:cNvSpPr>
                          <a:spLocks noChangeArrowheads="1"/>
                        </p:cNvSpPr>
                        <p:nvPr/>
                      </p:nvSpPr>
                      <p:spPr bwMode="auto">
                        <a:xfrm>
                          <a:off x="5460" y="3196"/>
                          <a:ext cx="227" cy="227"/>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575" name="Line 23"/>
                        <p:cNvSpPr>
                          <a:spLocks noChangeShapeType="1"/>
                        </p:cNvSpPr>
                        <p:nvPr/>
                      </p:nvSpPr>
                      <p:spPr bwMode="auto">
                        <a:xfrm>
                          <a:off x="4320" y="3312"/>
                          <a:ext cx="0" cy="1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6" name="Line 24"/>
                        <p:cNvSpPr>
                          <a:spLocks noChangeShapeType="1"/>
                        </p:cNvSpPr>
                        <p:nvPr/>
                      </p:nvSpPr>
                      <p:spPr bwMode="auto">
                        <a:xfrm>
                          <a:off x="4317" y="5028"/>
                          <a:ext cx="1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7" name="Line 25"/>
                        <p:cNvSpPr>
                          <a:spLocks noChangeShapeType="1"/>
                        </p:cNvSpPr>
                        <p:nvPr/>
                      </p:nvSpPr>
                      <p:spPr bwMode="auto">
                        <a:xfrm flipH="1">
                          <a:off x="5616" y="5028"/>
                          <a:ext cx="119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8" name="Line 26"/>
                        <p:cNvSpPr>
                          <a:spLocks noChangeShapeType="1"/>
                        </p:cNvSpPr>
                        <p:nvPr/>
                      </p:nvSpPr>
                      <p:spPr bwMode="auto">
                        <a:xfrm>
                          <a:off x="5604" y="4944"/>
                          <a:ext cx="0" cy="1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9" name="Rectangle 27"/>
                        <p:cNvSpPr>
                          <a:spLocks noChangeArrowheads="1"/>
                        </p:cNvSpPr>
                        <p:nvPr/>
                      </p:nvSpPr>
                      <p:spPr bwMode="auto">
                        <a:xfrm rot="-2212194">
                          <a:off x="4720" y="2820"/>
                          <a:ext cx="397" cy="113"/>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580" name="Rectangle 28"/>
                        <p:cNvSpPr>
                          <a:spLocks noChangeArrowheads="1"/>
                        </p:cNvSpPr>
                        <p:nvPr/>
                      </p:nvSpPr>
                      <p:spPr bwMode="auto">
                        <a:xfrm rot="2355515">
                          <a:off x="4807" y="3772"/>
                          <a:ext cx="397" cy="113"/>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581" name="Rectangle 29"/>
                        <p:cNvSpPr>
                          <a:spLocks noChangeArrowheads="1"/>
                        </p:cNvSpPr>
                        <p:nvPr/>
                      </p:nvSpPr>
                      <p:spPr bwMode="auto">
                        <a:xfrm rot="-2177060">
                          <a:off x="6059" y="3688"/>
                          <a:ext cx="397" cy="113"/>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582" name="Rectangle 30"/>
                        <p:cNvSpPr>
                          <a:spLocks noChangeArrowheads="1"/>
                        </p:cNvSpPr>
                        <p:nvPr/>
                      </p:nvSpPr>
                      <p:spPr bwMode="auto">
                        <a:xfrm rot="2096269">
                          <a:off x="5988" y="2755"/>
                          <a:ext cx="397" cy="113"/>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5583" name="Line 31"/>
                        <p:cNvSpPr>
                          <a:spLocks noChangeShapeType="1"/>
                        </p:cNvSpPr>
                        <p:nvPr/>
                      </p:nvSpPr>
                      <p:spPr bwMode="auto">
                        <a:xfrm rot="-2158841">
                          <a:off x="4380" y="2880"/>
                          <a:ext cx="360" cy="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5584" name="Line 32"/>
                        <p:cNvSpPr>
                          <a:spLocks noChangeShapeType="1"/>
                        </p:cNvSpPr>
                        <p:nvPr/>
                      </p:nvSpPr>
                      <p:spPr bwMode="auto">
                        <a:xfrm rot="2277557">
                          <a:off x="5920" y="2548"/>
                          <a:ext cx="360" cy="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5585" name="Line 33"/>
                        <p:cNvSpPr>
                          <a:spLocks noChangeShapeType="1"/>
                        </p:cNvSpPr>
                        <p:nvPr/>
                      </p:nvSpPr>
                      <p:spPr bwMode="auto">
                        <a:xfrm rot="2113162">
                          <a:off x="4372" y="3604"/>
                          <a:ext cx="360" cy="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5586" name="Line 34"/>
                        <p:cNvSpPr>
                          <a:spLocks noChangeShapeType="1"/>
                        </p:cNvSpPr>
                        <p:nvPr/>
                      </p:nvSpPr>
                      <p:spPr bwMode="auto">
                        <a:xfrm rot="5400000">
                          <a:off x="5485" y="2840"/>
                          <a:ext cx="360" cy="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5587" name="Line 35"/>
                        <p:cNvSpPr>
                          <a:spLocks noChangeShapeType="1"/>
                        </p:cNvSpPr>
                        <p:nvPr/>
                      </p:nvSpPr>
                      <p:spPr bwMode="auto">
                        <a:xfrm rot="-2170085">
                          <a:off x="6452" y="3604"/>
                          <a:ext cx="360" cy="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5588" name="Line 36"/>
                        <p:cNvSpPr>
                          <a:spLocks noChangeShapeType="1"/>
                        </p:cNvSpPr>
                        <p:nvPr/>
                      </p:nvSpPr>
                      <p:spPr bwMode="auto">
                        <a:xfrm rot="5400000">
                          <a:off x="6744" y="4012"/>
                          <a:ext cx="360" cy="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5589" name="Line 37"/>
                        <p:cNvSpPr>
                          <a:spLocks noChangeShapeType="1"/>
                        </p:cNvSpPr>
                        <p:nvPr/>
                      </p:nvSpPr>
                      <p:spPr bwMode="auto">
                        <a:xfrm rot="-5400000">
                          <a:off x="4016" y="4360"/>
                          <a:ext cx="360" cy="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grpSp>
            </p:grpSp>
          </p:grpSp>
          <p:sp>
            <p:nvSpPr>
              <p:cNvPr id="65543" name="Text Box 38"/>
              <p:cNvSpPr txBox="1">
                <a:spLocks noChangeArrowheads="1"/>
              </p:cNvSpPr>
              <p:nvPr/>
            </p:nvSpPr>
            <p:spPr bwMode="auto">
              <a:xfrm>
                <a:off x="2736" y="681"/>
                <a:ext cx="19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a:latin typeface="Times New Roman" panose="02020603050405020304" pitchFamily="18" charset="0"/>
                  </a:rPr>
                  <a:t>G</a:t>
                </a:r>
              </a:p>
            </p:txBody>
          </p:sp>
          <p:graphicFrame>
            <p:nvGraphicFramePr>
              <p:cNvPr id="65544" name="Object 39"/>
              <p:cNvGraphicFramePr>
                <a:graphicFrameLocks noChangeAspect="1"/>
              </p:cNvGraphicFramePr>
              <p:nvPr/>
            </p:nvGraphicFramePr>
            <p:xfrm>
              <a:off x="3264" y="1104"/>
              <a:ext cx="240" cy="240"/>
            </p:xfrm>
            <a:graphic>
              <a:graphicData uri="http://schemas.openxmlformats.org/presentationml/2006/ole">
                <mc:AlternateContent xmlns:mc="http://schemas.openxmlformats.org/markup-compatibility/2006">
                  <mc:Choice xmlns:v="urn:schemas-microsoft-com:vml" Requires="v">
                    <p:oleObj spid="_x0000_s65832" name="Equation" r:id="rId3" imgW="241195" imgH="241195" progId="Equation.3">
                      <p:embed/>
                    </p:oleObj>
                  </mc:Choice>
                  <mc:Fallback>
                    <p:oleObj name="Equation" r:id="rId3" imgW="241195" imgH="241195"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1104"/>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5" name="Object 40"/>
              <p:cNvGraphicFramePr>
                <a:graphicFrameLocks noChangeAspect="1"/>
              </p:cNvGraphicFramePr>
              <p:nvPr/>
            </p:nvGraphicFramePr>
            <p:xfrm>
              <a:off x="3360" y="240"/>
              <a:ext cx="240" cy="240"/>
            </p:xfrm>
            <a:graphic>
              <a:graphicData uri="http://schemas.openxmlformats.org/presentationml/2006/ole">
                <mc:AlternateContent xmlns:mc="http://schemas.openxmlformats.org/markup-compatibility/2006">
                  <mc:Choice xmlns:v="urn:schemas-microsoft-com:vml" Requires="v">
                    <p:oleObj spid="_x0000_s65833" name="Equation" r:id="rId5" imgW="241195" imgH="241195" progId="Equation.3">
                      <p:embed/>
                    </p:oleObj>
                  </mc:Choice>
                  <mc:Fallback>
                    <p:oleObj name="Equation" r:id="rId5" imgW="241195" imgH="241195" progId="Equation.3">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0" y="240"/>
                            <a:ext cx="24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6" name="Object 41"/>
              <p:cNvGraphicFramePr>
                <a:graphicFrameLocks noChangeAspect="1"/>
              </p:cNvGraphicFramePr>
              <p:nvPr/>
            </p:nvGraphicFramePr>
            <p:xfrm>
              <a:off x="2208" y="1104"/>
              <a:ext cx="239" cy="240"/>
            </p:xfrm>
            <a:graphic>
              <a:graphicData uri="http://schemas.openxmlformats.org/presentationml/2006/ole">
                <mc:AlternateContent xmlns:mc="http://schemas.openxmlformats.org/markup-compatibility/2006">
                  <mc:Choice xmlns:v="urn:schemas-microsoft-com:vml" Requires="v">
                    <p:oleObj spid="_x0000_s65834" name="Equation" r:id="rId7" imgW="241195" imgH="241195" progId="Equation.3">
                      <p:embed/>
                    </p:oleObj>
                  </mc:Choice>
                  <mc:Fallback>
                    <p:oleObj name="Equation" r:id="rId7" imgW="241195" imgH="241195" progId="Equation.3">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8" y="1104"/>
                            <a:ext cx="239"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7" name="Object 42"/>
              <p:cNvGraphicFramePr>
                <a:graphicFrameLocks noChangeAspect="1"/>
              </p:cNvGraphicFramePr>
              <p:nvPr/>
            </p:nvGraphicFramePr>
            <p:xfrm>
              <a:off x="2208" y="192"/>
              <a:ext cx="227" cy="240"/>
            </p:xfrm>
            <a:graphic>
              <a:graphicData uri="http://schemas.openxmlformats.org/presentationml/2006/ole">
                <mc:AlternateContent xmlns:mc="http://schemas.openxmlformats.org/markup-compatibility/2006">
                  <mc:Choice xmlns:v="urn:schemas-microsoft-com:vml" Requires="v">
                    <p:oleObj spid="_x0000_s65835" name="Equation" r:id="rId9" imgW="228600" imgH="241300" progId="Equation.3">
                      <p:embed/>
                    </p:oleObj>
                  </mc:Choice>
                  <mc:Fallback>
                    <p:oleObj name="Equation" r:id="rId9" imgW="228600" imgH="241300" progId="Equation.3">
                      <p:embed/>
                      <p:pic>
                        <p:nvPicPr>
                          <p:cNvPr id="0" name="Object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8" y="192"/>
                            <a:ext cx="227"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8" name="Object 43"/>
              <p:cNvGraphicFramePr>
                <a:graphicFrameLocks noChangeAspect="1"/>
              </p:cNvGraphicFramePr>
              <p:nvPr/>
            </p:nvGraphicFramePr>
            <p:xfrm>
              <a:off x="2016" y="960"/>
              <a:ext cx="209" cy="248"/>
            </p:xfrm>
            <a:graphic>
              <a:graphicData uri="http://schemas.openxmlformats.org/presentationml/2006/ole">
                <mc:AlternateContent xmlns:mc="http://schemas.openxmlformats.org/markup-compatibility/2006">
                  <mc:Choice xmlns:v="urn:schemas-microsoft-com:vml" Requires="v">
                    <p:oleObj spid="_x0000_s65836" name="Equation" r:id="rId11" imgW="203112" imgH="241195" progId="Equation.3">
                      <p:embed/>
                    </p:oleObj>
                  </mc:Choice>
                  <mc:Fallback>
                    <p:oleObj name="Equation" r:id="rId11" imgW="203112" imgH="241195" progId="Equation.3">
                      <p:embed/>
                      <p:pic>
                        <p:nvPicPr>
                          <p:cNvPr id="0" name="Object 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16" y="960"/>
                            <a:ext cx="20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9" name="Object 44"/>
              <p:cNvGraphicFramePr>
                <a:graphicFrameLocks noChangeAspect="1"/>
              </p:cNvGraphicFramePr>
              <p:nvPr/>
            </p:nvGraphicFramePr>
            <p:xfrm>
              <a:off x="1872" y="528"/>
              <a:ext cx="196" cy="248"/>
            </p:xfrm>
            <a:graphic>
              <a:graphicData uri="http://schemas.openxmlformats.org/presentationml/2006/ole">
                <mc:AlternateContent xmlns:mc="http://schemas.openxmlformats.org/markup-compatibility/2006">
                  <mc:Choice xmlns:v="urn:schemas-microsoft-com:vml" Requires="v">
                    <p:oleObj spid="_x0000_s65837" name="Equation" r:id="rId13" imgW="190417" imgH="241195" progId="Equation.3">
                      <p:embed/>
                    </p:oleObj>
                  </mc:Choice>
                  <mc:Fallback>
                    <p:oleObj name="Equation" r:id="rId13" imgW="190417" imgH="241195" progId="Equation.3">
                      <p:embed/>
                      <p:pic>
                        <p:nvPicPr>
                          <p:cNvPr id="0" name="Object 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72" y="528"/>
                            <a:ext cx="196"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50" name="Object 45"/>
              <p:cNvGraphicFramePr>
                <a:graphicFrameLocks noChangeAspect="1"/>
              </p:cNvGraphicFramePr>
              <p:nvPr/>
            </p:nvGraphicFramePr>
            <p:xfrm>
              <a:off x="1440" y="1296"/>
              <a:ext cx="448" cy="213"/>
            </p:xfrm>
            <a:graphic>
              <a:graphicData uri="http://schemas.openxmlformats.org/presentationml/2006/ole">
                <mc:AlternateContent xmlns:mc="http://schemas.openxmlformats.org/markup-compatibility/2006">
                  <mc:Choice xmlns:v="urn:schemas-microsoft-com:vml" Requires="v">
                    <p:oleObj spid="_x0000_s65838" name="Equation" r:id="rId15" imgW="508000" imgH="241300" progId="Equation.3">
                      <p:embed/>
                    </p:oleObj>
                  </mc:Choice>
                  <mc:Fallback>
                    <p:oleObj name="Equation" r:id="rId15" imgW="508000" imgH="241300" progId="Equation.3">
                      <p:embed/>
                      <p:pic>
                        <p:nvPicPr>
                          <p:cNvPr id="0" name="Object 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40" y="1296"/>
                            <a:ext cx="44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51" name="Object 46"/>
              <p:cNvGraphicFramePr>
                <a:graphicFrameLocks noChangeAspect="1"/>
              </p:cNvGraphicFramePr>
              <p:nvPr/>
            </p:nvGraphicFramePr>
            <p:xfrm>
              <a:off x="3792" y="1056"/>
              <a:ext cx="448" cy="213"/>
            </p:xfrm>
            <a:graphic>
              <a:graphicData uri="http://schemas.openxmlformats.org/presentationml/2006/ole">
                <mc:AlternateContent xmlns:mc="http://schemas.openxmlformats.org/markup-compatibility/2006">
                  <mc:Choice xmlns:v="urn:schemas-microsoft-com:vml" Requires="v">
                    <p:oleObj spid="_x0000_s65839" name="Equation" r:id="rId17" imgW="508000" imgH="241300" progId="Equation.3">
                      <p:embed/>
                    </p:oleObj>
                  </mc:Choice>
                  <mc:Fallback>
                    <p:oleObj name="Equation" r:id="rId17" imgW="508000" imgH="241300" progId="Equation.3">
                      <p:embed/>
                      <p:pic>
                        <p:nvPicPr>
                          <p:cNvPr id="0" name="Object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92" y="1056"/>
                            <a:ext cx="44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52" name="Object 47"/>
              <p:cNvGraphicFramePr>
                <a:graphicFrameLocks noChangeAspect="1"/>
              </p:cNvGraphicFramePr>
              <p:nvPr/>
            </p:nvGraphicFramePr>
            <p:xfrm>
              <a:off x="2976" y="672"/>
              <a:ext cx="204" cy="240"/>
            </p:xfrm>
            <a:graphic>
              <a:graphicData uri="http://schemas.openxmlformats.org/presentationml/2006/ole">
                <mc:AlternateContent xmlns:mc="http://schemas.openxmlformats.org/markup-compatibility/2006">
                  <mc:Choice xmlns:v="urn:schemas-microsoft-com:vml" Requires="v">
                    <p:oleObj spid="_x0000_s65840" name="Equation" r:id="rId19" imgW="215713" imgH="253780" progId="Equation.3">
                      <p:embed/>
                    </p:oleObj>
                  </mc:Choice>
                  <mc:Fallback>
                    <p:oleObj name="Equation" r:id="rId19" imgW="215713" imgH="253780" progId="Equation.3">
                      <p:embed/>
                      <p:pic>
                        <p:nvPicPr>
                          <p:cNvPr id="0" name="Object 4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76" y="672"/>
                            <a:ext cx="20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53" name="Object 48"/>
              <p:cNvGraphicFramePr>
                <a:graphicFrameLocks noChangeAspect="1"/>
              </p:cNvGraphicFramePr>
              <p:nvPr/>
            </p:nvGraphicFramePr>
            <p:xfrm>
              <a:off x="2736" y="1504"/>
              <a:ext cx="210" cy="248"/>
            </p:xfrm>
            <a:graphic>
              <a:graphicData uri="http://schemas.openxmlformats.org/presentationml/2006/ole">
                <mc:AlternateContent xmlns:mc="http://schemas.openxmlformats.org/markup-compatibility/2006">
                  <mc:Choice xmlns:v="urn:schemas-microsoft-com:vml" Requires="v">
                    <p:oleObj spid="_x0000_s65841" name="Equation" r:id="rId21" imgW="139579" imgH="164957" progId="Equation.3">
                      <p:embed/>
                    </p:oleObj>
                  </mc:Choice>
                  <mc:Fallback>
                    <p:oleObj name="Equation" r:id="rId21" imgW="139579" imgH="164957" progId="Equation.3">
                      <p:embed/>
                      <p:pic>
                        <p:nvPicPr>
                          <p:cNvPr id="0" name="Object 4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36" y="1504"/>
                            <a:ext cx="210"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54" name="Text Box 49"/>
              <p:cNvSpPr txBox="1">
                <a:spLocks noChangeArrowheads="1"/>
              </p:cNvSpPr>
              <p:nvPr/>
            </p:nvSpPr>
            <p:spPr bwMode="auto">
              <a:xfrm>
                <a:off x="1723" y="720"/>
                <a:ext cx="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A</a:t>
                </a:r>
              </a:p>
            </p:txBody>
          </p:sp>
          <p:sp>
            <p:nvSpPr>
              <p:cNvPr id="65555" name="Text Box 50"/>
              <p:cNvSpPr txBox="1">
                <a:spLocks noChangeArrowheads="1"/>
              </p:cNvSpPr>
              <p:nvPr/>
            </p:nvSpPr>
            <p:spPr bwMode="auto">
              <a:xfrm>
                <a:off x="2726" y="0"/>
                <a:ext cx="2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B</a:t>
                </a:r>
              </a:p>
            </p:txBody>
          </p:sp>
          <p:sp>
            <p:nvSpPr>
              <p:cNvPr id="65556" name="Text Box 51"/>
              <p:cNvSpPr txBox="1">
                <a:spLocks noChangeArrowheads="1"/>
              </p:cNvSpPr>
              <p:nvPr/>
            </p:nvSpPr>
            <p:spPr bwMode="auto">
              <a:xfrm>
                <a:off x="3666" y="626"/>
                <a:ext cx="2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C</a:t>
                </a:r>
              </a:p>
            </p:txBody>
          </p:sp>
          <p:sp>
            <p:nvSpPr>
              <p:cNvPr id="65557" name="Text Box 52"/>
              <p:cNvSpPr txBox="1">
                <a:spLocks noChangeArrowheads="1"/>
              </p:cNvSpPr>
              <p:nvPr/>
            </p:nvSpPr>
            <p:spPr bwMode="auto">
              <a:xfrm>
                <a:off x="2726" y="1286"/>
                <a:ext cx="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D</a:t>
                </a:r>
              </a:p>
            </p:txBody>
          </p:sp>
          <p:graphicFrame>
            <p:nvGraphicFramePr>
              <p:cNvPr id="65558" name="Object 53"/>
              <p:cNvGraphicFramePr>
                <a:graphicFrameLocks noChangeAspect="1"/>
              </p:cNvGraphicFramePr>
              <p:nvPr/>
            </p:nvGraphicFramePr>
            <p:xfrm>
              <a:off x="2496" y="648"/>
              <a:ext cx="242" cy="336"/>
            </p:xfrm>
            <a:graphic>
              <a:graphicData uri="http://schemas.openxmlformats.org/presentationml/2006/ole">
                <mc:AlternateContent xmlns:mc="http://schemas.openxmlformats.org/markup-compatibility/2006">
                  <mc:Choice xmlns:v="urn:schemas-microsoft-com:vml" Requires="v">
                    <p:oleObj spid="_x0000_s65842" name="Equation" r:id="rId23" imgW="228501" imgH="317362" progId="Equation.3">
                      <p:embed/>
                    </p:oleObj>
                  </mc:Choice>
                  <mc:Fallback>
                    <p:oleObj name="Equation" r:id="rId23" imgW="228501" imgH="317362" progId="Equation.3">
                      <p:embed/>
                      <p:pic>
                        <p:nvPicPr>
                          <p:cNvPr id="0" name="Object 5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96" y="648"/>
                            <a:ext cx="242"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335360" y="684214"/>
            <a:ext cx="114312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17430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17430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17430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dirty="0">
                <a:latin typeface="宋体" panose="02010600030101010101" pitchFamily="2" charset="-122"/>
              </a:rPr>
              <a:t>解：标定各支路电流的方向如图，这里有</a:t>
            </a:r>
            <a:r>
              <a:rPr kumimoji="1" lang="en-US" altLang="zh-CN" sz="2400" dirty="0">
                <a:latin typeface="宋体" panose="02010600030101010101" pitchFamily="2" charset="-122"/>
              </a:rPr>
              <a:t>I</a:t>
            </a:r>
            <a:r>
              <a:rPr kumimoji="1" lang="en-US" altLang="zh-CN" sz="2400" baseline="-30000" dirty="0">
                <a:latin typeface="宋体" panose="02010600030101010101" pitchFamily="2" charset="-122"/>
              </a:rPr>
              <a:t>g</a:t>
            </a:r>
            <a:r>
              <a:rPr kumimoji="1" lang="zh-CN" altLang="en-US" sz="2400" dirty="0">
                <a:latin typeface="宋体" panose="02010600030101010101" pitchFamily="2" charset="-122"/>
              </a:rPr>
              <a:t>、</a:t>
            </a:r>
            <a:r>
              <a:rPr kumimoji="1" lang="en-US" altLang="zh-CN" sz="2400" dirty="0">
                <a:latin typeface="宋体" panose="02010600030101010101" pitchFamily="2" charset="-122"/>
              </a:rPr>
              <a:t>I</a:t>
            </a:r>
            <a:r>
              <a:rPr kumimoji="1" lang="en-US" altLang="zh-CN" sz="2400" baseline="-30000" dirty="0">
                <a:latin typeface="宋体" panose="02010600030101010101" pitchFamily="2" charset="-122"/>
              </a:rPr>
              <a:t>1</a:t>
            </a:r>
            <a:r>
              <a:rPr kumimoji="1" lang="zh-CN" altLang="en-US" sz="2400" dirty="0">
                <a:latin typeface="宋体" panose="02010600030101010101" pitchFamily="2" charset="-122"/>
              </a:rPr>
              <a:t>、</a:t>
            </a:r>
            <a:r>
              <a:rPr kumimoji="1" lang="en-US" altLang="zh-CN" sz="2400" dirty="0">
                <a:latin typeface="宋体" panose="02010600030101010101" pitchFamily="2" charset="-122"/>
              </a:rPr>
              <a:t>I</a:t>
            </a:r>
            <a:r>
              <a:rPr kumimoji="1" lang="en-US" altLang="zh-CN" sz="2400" baseline="-30000" dirty="0">
                <a:latin typeface="宋体" panose="02010600030101010101" pitchFamily="2" charset="-122"/>
              </a:rPr>
              <a:t>2</a:t>
            </a:r>
            <a:r>
              <a:rPr kumimoji="1" lang="zh-CN" altLang="en-US" sz="2400" dirty="0">
                <a:latin typeface="宋体" panose="02010600030101010101" pitchFamily="2" charset="-122"/>
              </a:rPr>
              <a:t>三个未知变量，我们相应的列出三个方程来：（所谓“桥”指的就是对角线</a:t>
            </a:r>
            <a:r>
              <a:rPr kumimoji="1" lang="en-US" altLang="zh-CN" sz="2400" dirty="0">
                <a:latin typeface="宋体" panose="02010600030101010101" pitchFamily="2" charset="-122"/>
              </a:rPr>
              <a:t>BD</a:t>
            </a:r>
            <a:r>
              <a:rPr kumimoji="1" lang="zh-CN" altLang="en-US" sz="2400" dirty="0">
                <a:latin typeface="宋体" panose="02010600030101010101" pitchFamily="2" charset="-122"/>
              </a:rPr>
              <a:t>）</a:t>
            </a:r>
          </a:p>
        </p:txBody>
      </p:sp>
      <p:grpSp>
        <p:nvGrpSpPr>
          <p:cNvPr id="66563" name="Group 3"/>
          <p:cNvGrpSpPr>
            <a:grpSpLocks/>
          </p:cNvGrpSpPr>
          <p:nvPr/>
        </p:nvGrpSpPr>
        <p:grpSpPr bwMode="auto">
          <a:xfrm>
            <a:off x="920425" y="1857788"/>
            <a:ext cx="6390710" cy="2286000"/>
            <a:chOff x="1392" y="1728"/>
            <a:chExt cx="3648" cy="1440"/>
          </a:xfrm>
        </p:grpSpPr>
        <p:sp>
          <p:nvSpPr>
            <p:cNvPr id="37894" name="AutoShape 4"/>
            <p:cNvSpPr>
              <a:spLocks noChangeArrowheads="1"/>
            </p:cNvSpPr>
            <p:nvPr/>
          </p:nvSpPr>
          <p:spPr bwMode="auto">
            <a:xfrm>
              <a:off x="1392" y="1728"/>
              <a:ext cx="3648" cy="1440"/>
            </a:xfrm>
            <a:prstGeom prst="flowChartProcess">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eaLnBrk="1" hangingPunct="1">
                <a:defRPr/>
              </a:pPr>
              <a:endParaRPr lang="zh-CN" altLang="en-US"/>
            </a:p>
          </p:txBody>
        </p:sp>
        <p:graphicFrame>
          <p:nvGraphicFramePr>
            <p:cNvPr id="66566" name="Object 5"/>
            <p:cNvGraphicFramePr>
              <a:graphicFrameLocks noChangeAspect="1"/>
            </p:cNvGraphicFramePr>
            <p:nvPr/>
          </p:nvGraphicFramePr>
          <p:xfrm>
            <a:off x="1488" y="1856"/>
            <a:ext cx="3531" cy="1264"/>
          </p:xfrm>
          <a:graphic>
            <a:graphicData uri="http://schemas.openxmlformats.org/presentationml/2006/ole">
              <mc:AlternateContent xmlns:mc="http://schemas.openxmlformats.org/markup-compatibility/2006">
                <mc:Choice xmlns:v="urn:schemas-microsoft-com:vml" Requires="v">
                  <p:oleObj spid="_x0000_s66589" name="Equation" r:id="rId3" imgW="3657600" imgH="1282700" progId="Equation.3">
                    <p:embed/>
                  </p:oleObj>
                </mc:Choice>
                <mc:Fallback>
                  <p:oleObj name="Equation" r:id="rId3" imgW="3657600" imgH="1282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856"/>
                          <a:ext cx="3531" cy="1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6564" name="Rectangle 6"/>
          <p:cNvSpPr>
            <a:spLocks noChangeArrowheads="1"/>
          </p:cNvSpPr>
          <p:nvPr/>
        </p:nvSpPr>
        <p:spPr bwMode="auto">
          <a:xfrm>
            <a:off x="2514600" y="3821113"/>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br>
              <a:rPr kumimoji="1" lang="en-US" altLang="zh-CN" sz="1000">
                <a:latin typeface="Times New Roman" panose="02020603050405020304" pitchFamily="18" charset="0"/>
              </a:rPr>
            </a:br>
            <a:endParaRPr kumimoji="1" lang="en-US" altLang="zh-CN" sz="2400">
              <a:latin typeface="Times New Roman" panose="02020603050405020304" pitchFamily="18"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7586" name="Group 2"/>
          <p:cNvGrpSpPr>
            <a:grpSpLocks/>
          </p:cNvGrpSpPr>
          <p:nvPr/>
        </p:nvGrpSpPr>
        <p:grpSpPr bwMode="auto">
          <a:xfrm>
            <a:off x="2181225" y="414338"/>
            <a:ext cx="8153400" cy="5943600"/>
            <a:chOff x="624" y="576"/>
            <a:chExt cx="5136" cy="3744"/>
          </a:xfrm>
        </p:grpSpPr>
        <p:sp>
          <p:nvSpPr>
            <p:cNvPr id="38919" name="AutoShape 3"/>
            <p:cNvSpPr>
              <a:spLocks noChangeArrowheads="1"/>
            </p:cNvSpPr>
            <p:nvPr/>
          </p:nvSpPr>
          <p:spPr bwMode="auto">
            <a:xfrm>
              <a:off x="815" y="576"/>
              <a:ext cx="4945" cy="3744"/>
            </a:xfrm>
            <a:prstGeom prst="flowChartProcess">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eaLnBrk="1" hangingPunct="1">
                <a:defRPr/>
              </a:pPr>
              <a:endParaRPr lang="zh-CN" altLang="en-US"/>
            </a:p>
          </p:txBody>
        </p:sp>
        <p:sp>
          <p:nvSpPr>
            <p:cNvPr id="38920" name="Rectangle 4"/>
            <p:cNvSpPr>
              <a:spLocks noChangeArrowheads="1"/>
            </p:cNvSpPr>
            <p:nvPr/>
          </p:nvSpPr>
          <p:spPr bwMode="auto">
            <a:xfrm>
              <a:off x="624" y="1091"/>
              <a:ext cx="1460" cy="52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p>
              <a:pPr indent="355600" algn="just" eaLnBrk="1" hangingPunct="1">
                <a:tabLst>
                  <a:tab pos="1743075" algn="l"/>
                </a:tabLst>
                <a:defRPr/>
              </a:pPr>
              <a:r>
                <a:rPr kumimoji="1" lang="zh-CN" altLang="en-US" sz="2400">
                  <a:latin typeface="Times New Roman" pitchFamily="18" charset="0"/>
                </a:rPr>
                <a:t>整理后得到：</a:t>
              </a:r>
            </a:p>
            <a:p>
              <a:pPr indent="355600">
                <a:tabLst>
                  <a:tab pos="1743075" algn="l"/>
                </a:tabLst>
                <a:defRPr/>
              </a:pPr>
              <a:endParaRPr kumimoji="1" lang="en-US" altLang="zh-CN" sz="2400">
                <a:latin typeface="Times New Roman" pitchFamily="18" charset="0"/>
              </a:endParaRPr>
            </a:p>
          </p:txBody>
        </p:sp>
        <p:graphicFrame>
          <p:nvGraphicFramePr>
            <p:cNvPr id="67589" name="Object 5"/>
            <p:cNvGraphicFramePr>
              <a:graphicFrameLocks noChangeAspect="1"/>
            </p:cNvGraphicFramePr>
            <p:nvPr/>
          </p:nvGraphicFramePr>
          <p:xfrm>
            <a:off x="2087" y="576"/>
            <a:ext cx="2815" cy="1329"/>
          </p:xfrm>
          <a:graphic>
            <a:graphicData uri="http://schemas.openxmlformats.org/presentationml/2006/ole">
              <mc:AlternateContent xmlns:mc="http://schemas.openxmlformats.org/markup-compatibility/2006">
                <mc:Choice xmlns:v="urn:schemas-microsoft-com:vml" Requires="v">
                  <p:oleObj spid="_x0000_s67682" name="Equation" r:id="rId3" imgW="2603500" imgH="1244600" progId="Equation.3">
                    <p:embed/>
                  </p:oleObj>
                </mc:Choice>
                <mc:Fallback>
                  <p:oleObj name="Equation" r:id="rId3" imgW="2603500" imgH="1244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7" y="576"/>
                          <a:ext cx="2815" cy="1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0" name="Object 6"/>
            <p:cNvGraphicFramePr>
              <a:graphicFrameLocks noChangeAspect="1"/>
            </p:cNvGraphicFramePr>
            <p:nvPr/>
          </p:nvGraphicFramePr>
          <p:xfrm>
            <a:off x="2087" y="1840"/>
            <a:ext cx="753" cy="561"/>
          </p:xfrm>
          <a:graphic>
            <a:graphicData uri="http://schemas.openxmlformats.org/presentationml/2006/ole">
              <mc:AlternateContent xmlns:mc="http://schemas.openxmlformats.org/markup-compatibility/2006">
                <mc:Choice xmlns:v="urn:schemas-microsoft-com:vml" Requires="v">
                  <p:oleObj spid="_x0000_s67683" r:id="rId5" imgW="545863" imgH="418918" progId="Equation.3">
                    <p:embed/>
                  </p:oleObj>
                </mc:Choice>
                <mc:Fallback>
                  <p:oleObj r:id="rId5" imgW="545863" imgH="418918"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7" y="1840"/>
                          <a:ext cx="753"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1" name="Rectangle 7"/>
            <p:cNvSpPr>
              <a:spLocks noChangeArrowheads="1"/>
            </p:cNvSpPr>
            <p:nvPr/>
          </p:nvSpPr>
          <p:spPr bwMode="auto">
            <a:xfrm>
              <a:off x="815" y="2598"/>
              <a:ext cx="961" cy="52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p>
              <a:pPr indent="355600" algn="just" eaLnBrk="1" hangingPunct="1">
                <a:tabLst>
                  <a:tab pos="1743075" algn="l"/>
                </a:tabLst>
                <a:defRPr/>
              </a:pPr>
              <a:r>
                <a:rPr kumimoji="1" lang="zh-CN" altLang="en-US" sz="2400">
                  <a:latin typeface="Times New Roman" pitchFamily="18" charset="0"/>
                </a:rPr>
                <a:t>其中：  </a:t>
              </a:r>
            </a:p>
            <a:p>
              <a:pPr indent="355600">
                <a:tabLst>
                  <a:tab pos="1743075" algn="l"/>
                </a:tabLst>
                <a:defRPr/>
              </a:pPr>
              <a:endParaRPr kumimoji="1" lang="en-US" altLang="zh-CN" sz="2400">
                <a:latin typeface="Times New Roman" pitchFamily="18" charset="0"/>
              </a:endParaRPr>
            </a:p>
          </p:txBody>
        </p:sp>
        <p:graphicFrame>
          <p:nvGraphicFramePr>
            <p:cNvPr id="67592" name="Object 8"/>
            <p:cNvGraphicFramePr>
              <a:graphicFrameLocks noChangeAspect="1"/>
            </p:cNvGraphicFramePr>
            <p:nvPr/>
          </p:nvGraphicFramePr>
          <p:xfrm>
            <a:off x="1710" y="2338"/>
            <a:ext cx="3344" cy="856"/>
          </p:xfrm>
          <a:graphic>
            <a:graphicData uri="http://schemas.openxmlformats.org/presentationml/2006/ole">
              <mc:AlternateContent xmlns:mc="http://schemas.openxmlformats.org/markup-compatibility/2006">
                <mc:Choice xmlns:v="urn:schemas-microsoft-com:vml" Requires="v">
                  <p:oleObj spid="_x0000_s67684" r:id="rId7" imgW="2298700" imgH="711200" progId="Equation.3">
                    <p:embed/>
                  </p:oleObj>
                </mc:Choice>
                <mc:Fallback>
                  <p:oleObj r:id="rId7" imgW="2298700" imgH="711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0" y="2338"/>
                          <a:ext cx="3344" cy="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3" name="Object 9"/>
            <p:cNvGraphicFramePr>
              <a:graphicFrameLocks noChangeAspect="1"/>
            </p:cNvGraphicFramePr>
            <p:nvPr/>
          </p:nvGraphicFramePr>
          <p:xfrm>
            <a:off x="1616" y="3288"/>
            <a:ext cx="3861" cy="942"/>
          </p:xfrm>
          <a:graphic>
            <a:graphicData uri="http://schemas.openxmlformats.org/presentationml/2006/ole">
              <mc:AlternateContent xmlns:mc="http://schemas.openxmlformats.org/markup-compatibility/2006">
                <mc:Choice xmlns:v="urn:schemas-microsoft-com:vml" Requires="v">
                  <p:oleObj spid="_x0000_s67685" r:id="rId9" imgW="2641600" imgH="711200" progId="Equation.3">
                    <p:embed/>
                  </p:oleObj>
                </mc:Choice>
                <mc:Fallback>
                  <p:oleObj r:id="rId9" imgW="2641600" imgH="7112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6" y="3288"/>
                          <a:ext cx="3861" cy="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2315580" y="1043735"/>
            <a:ext cx="9728946"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17430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17430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17430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dirty="0">
                <a:latin typeface="Times New Roman" panose="02020603050405020304" pitchFamily="18" charset="0"/>
              </a:rPr>
              <a:t>由此可知，当</a:t>
            </a:r>
            <a:r>
              <a:rPr kumimoji="1" lang="en-US" altLang="zh-CN" sz="2400" dirty="0">
                <a:latin typeface="Times New Roman" panose="02020603050405020304" pitchFamily="18" charset="0"/>
              </a:rPr>
              <a:t>R</a:t>
            </a:r>
            <a:r>
              <a:rPr kumimoji="1" lang="en-US" altLang="zh-CN" sz="2400" baseline="-30000" dirty="0">
                <a:latin typeface="Times New Roman" panose="02020603050405020304" pitchFamily="18" charset="0"/>
              </a:rPr>
              <a:t>2</a:t>
            </a:r>
            <a:r>
              <a:rPr kumimoji="1" lang="en-US" altLang="zh-CN" sz="2400" dirty="0">
                <a:latin typeface="Times New Roman" panose="02020603050405020304" pitchFamily="18" charset="0"/>
              </a:rPr>
              <a:t>R</a:t>
            </a:r>
            <a:r>
              <a:rPr kumimoji="1" lang="en-US" altLang="zh-CN" sz="2400" baseline="-30000" dirty="0">
                <a:latin typeface="Times New Roman" panose="02020603050405020304" pitchFamily="18" charset="0"/>
              </a:rPr>
              <a:t>3</a:t>
            </a:r>
            <a:r>
              <a:rPr kumimoji="1" lang="en-US" altLang="zh-CN" sz="2400" dirty="0">
                <a:latin typeface="Times New Roman" panose="02020603050405020304" pitchFamily="18" charset="0"/>
              </a:rPr>
              <a:t>-R</a:t>
            </a:r>
            <a:r>
              <a:rPr kumimoji="1" lang="en-US" altLang="zh-CN" sz="2400" baseline="-30000" dirty="0">
                <a:latin typeface="Times New Roman" panose="02020603050405020304" pitchFamily="18" charset="0"/>
              </a:rPr>
              <a:t>1</a:t>
            </a:r>
            <a:r>
              <a:rPr kumimoji="1" lang="en-US" altLang="zh-CN" sz="2400" dirty="0">
                <a:latin typeface="Times New Roman" panose="02020603050405020304" pitchFamily="18" charset="0"/>
              </a:rPr>
              <a:t>R</a:t>
            </a:r>
            <a:r>
              <a:rPr kumimoji="1" lang="en-US" altLang="zh-CN" sz="2400" baseline="-30000" dirty="0">
                <a:latin typeface="Times New Roman" panose="02020603050405020304" pitchFamily="18" charset="0"/>
              </a:rPr>
              <a:t>4</a:t>
            </a:r>
            <a:r>
              <a:rPr kumimoji="1" lang="en-US" altLang="zh-CN" sz="2400" dirty="0">
                <a:latin typeface="Times New Roman" panose="02020603050405020304" pitchFamily="18" charset="0"/>
              </a:rPr>
              <a:t>=0</a:t>
            </a:r>
            <a:r>
              <a:rPr kumimoji="1" lang="zh-CN" altLang="en-US" sz="2400" dirty="0">
                <a:latin typeface="Times New Roman" panose="02020603050405020304" pitchFamily="18" charset="0"/>
              </a:rPr>
              <a:t>时</a:t>
            </a:r>
          </a:p>
          <a:p>
            <a:pPr algn="just">
              <a:spcBef>
                <a:spcPct val="0"/>
              </a:spcBef>
              <a:buFontTx/>
              <a:buNone/>
            </a:pPr>
            <a:endParaRPr kumimoji="1" lang="zh-CN" altLang="en-US" sz="2400" dirty="0">
              <a:latin typeface="Times New Roman" panose="02020603050405020304" pitchFamily="18" charset="0"/>
            </a:endParaRPr>
          </a:p>
          <a:p>
            <a:pPr algn="just">
              <a:spcBef>
                <a:spcPct val="0"/>
              </a:spcBef>
              <a:buFontTx/>
              <a:buNone/>
            </a:pPr>
            <a:r>
              <a:rPr kumimoji="1" lang="zh-CN" altLang="en-US" sz="2400" dirty="0">
                <a:latin typeface="Times New Roman" panose="02020603050405020304" pitchFamily="18" charset="0"/>
              </a:rPr>
              <a:t>即：                      时，</a:t>
            </a:r>
            <a:r>
              <a:rPr kumimoji="1" lang="en-US" altLang="zh-CN" sz="2400" dirty="0">
                <a:latin typeface="Times New Roman" panose="02020603050405020304" pitchFamily="18" charset="0"/>
              </a:rPr>
              <a:t>I</a:t>
            </a:r>
            <a:r>
              <a:rPr kumimoji="1" lang="en-US" altLang="zh-CN" sz="2400" baseline="-30000" dirty="0">
                <a:latin typeface="Times New Roman" panose="02020603050405020304" pitchFamily="18" charset="0"/>
              </a:rPr>
              <a:t>g</a:t>
            </a:r>
            <a:r>
              <a:rPr kumimoji="1" lang="en-US" altLang="zh-CN" sz="2400" dirty="0">
                <a:latin typeface="Times New Roman" panose="02020603050405020304" pitchFamily="18" charset="0"/>
              </a:rPr>
              <a:t>=0</a:t>
            </a:r>
            <a:r>
              <a:rPr kumimoji="1" lang="zh-CN" altLang="en-US" sz="2400" dirty="0">
                <a:latin typeface="Times New Roman" panose="02020603050405020304" pitchFamily="18" charset="0"/>
              </a:rPr>
              <a:t>，电桥平衡；反之，当电桥</a:t>
            </a:r>
          </a:p>
          <a:p>
            <a:pPr algn="just">
              <a:spcBef>
                <a:spcPct val="0"/>
              </a:spcBef>
              <a:buFontTx/>
              <a:buNone/>
            </a:pPr>
            <a:endParaRPr kumimoji="1" lang="zh-CN" altLang="en-US" sz="2400" dirty="0">
              <a:latin typeface="Times New Roman" panose="02020603050405020304" pitchFamily="18" charset="0"/>
            </a:endParaRPr>
          </a:p>
          <a:p>
            <a:pPr algn="just">
              <a:spcBef>
                <a:spcPct val="0"/>
              </a:spcBef>
              <a:buFontTx/>
              <a:buNone/>
            </a:pPr>
            <a:r>
              <a:rPr kumimoji="1" lang="zh-CN" altLang="en-US" sz="2400" dirty="0">
                <a:latin typeface="Times New Roman" panose="02020603050405020304" pitchFamily="18" charset="0"/>
              </a:rPr>
              <a:t>平衡时，</a:t>
            </a:r>
            <a:r>
              <a:rPr kumimoji="1" lang="en-US" altLang="zh-CN" sz="2400" dirty="0">
                <a:latin typeface="Times New Roman" panose="02020603050405020304" pitchFamily="18" charset="0"/>
              </a:rPr>
              <a:t>I</a:t>
            </a:r>
            <a:r>
              <a:rPr kumimoji="1" lang="en-US" altLang="zh-CN" sz="2400" baseline="-30000" dirty="0">
                <a:latin typeface="Times New Roman" panose="02020603050405020304" pitchFamily="18" charset="0"/>
              </a:rPr>
              <a:t>g</a:t>
            </a:r>
            <a:r>
              <a:rPr kumimoji="1" lang="en-US" altLang="zh-CN" sz="2400" dirty="0">
                <a:latin typeface="Times New Roman" panose="02020603050405020304" pitchFamily="18" charset="0"/>
              </a:rPr>
              <a:t>=0</a:t>
            </a:r>
            <a:r>
              <a:rPr kumimoji="1" lang="zh-CN" altLang="en-US" sz="2400" dirty="0">
                <a:latin typeface="Times New Roman" panose="02020603050405020304" pitchFamily="18" charset="0"/>
              </a:rPr>
              <a:t>，因此上式是电桥平衡的充要条件。</a:t>
            </a:r>
          </a:p>
          <a:p>
            <a:pPr algn="just">
              <a:spcBef>
                <a:spcPct val="0"/>
              </a:spcBef>
              <a:buFontTx/>
              <a:buNone/>
            </a:pPr>
            <a:r>
              <a:rPr kumimoji="1" lang="zh-CN" altLang="en-US" sz="2400" dirty="0">
                <a:latin typeface="Times New Roman" panose="02020603050405020304" pitchFamily="18" charset="0"/>
              </a:rPr>
              <a:t>用平衡电桥测量电阻时，误差的来源主要有二：</a:t>
            </a:r>
          </a:p>
          <a:p>
            <a:pPr algn="just">
              <a:spcBef>
                <a:spcPct val="0"/>
              </a:spcBef>
              <a:buFontTx/>
              <a:buNone/>
            </a:pP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1</a:t>
            </a:r>
            <a:r>
              <a:rPr kumimoji="1" lang="zh-CN" altLang="en-US" sz="2400" dirty="0">
                <a:latin typeface="Times New Roman" panose="02020603050405020304" pitchFamily="18" charset="0"/>
              </a:rPr>
              <a:t>）检流计不够灵敏带来的误差；</a:t>
            </a:r>
          </a:p>
          <a:p>
            <a:pPr algn="just">
              <a:spcBef>
                <a:spcPct val="0"/>
              </a:spcBef>
              <a:buFontTx/>
              <a:buNone/>
            </a:pP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2</a:t>
            </a:r>
            <a:r>
              <a:rPr kumimoji="1" lang="zh-CN" altLang="en-US" sz="2400" dirty="0">
                <a:latin typeface="Times New Roman" panose="02020603050405020304" pitchFamily="18" charset="0"/>
              </a:rPr>
              <a:t>）其他电阻不够准确引起的误差。</a:t>
            </a:r>
          </a:p>
          <a:p>
            <a:pPr algn="just">
              <a:spcBef>
                <a:spcPct val="0"/>
              </a:spcBef>
              <a:buFontTx/>
              <a:buNone/>
            </a:pPr>
            <a:r>
              <a:rPr kumimoji="1" lang="zh-CN" altLang="en-US" sz="2400" dirty="0">
                <a:latin typeface="Times New Roman" panose="02020603050405020304" pitchFamily="18" charset="0"/>
              </a:rPr>
              <a:t>因此，从误差的来源看，只要检流计和电阻选得合适，用这种方法测电阻可以有很高的准确度。</a:t>
            </a:r>
          </a:p>
        </p:txBody>
      </p:sp>
      <p:grpSp>
        <p:nvGrpSpPr>
          <p:cNvPr id="68611" name="Group 3"/>
          <p:cNvGrpSpPr>
            <a:grpSpLocks/>
          </p:cNvGrpSpPr>
          <p:nvPr/>
        </p:nvGrpSpPr>
        <p:grpSpPr bwMode="auto">
          <a:xfrm>
            <a:off x="2900363" y="1493838"/>
            <a:ext cx="1676400" cy="914400"/>
            <a:chOff x="3600" y="3456"/>
            <a:chExt cx="1056" cy="576"/>
          </a:xfrm>
        </p:grpSpPr>
        <p:sp>
          <p:nvSpPr>
            <p:cNvPr id="39941" name="AutoShape 4"/>
            <p:cNvSpPr>
              <a:spLocks noChangeArrowheads="1"/>
            </p:cNvSpPr>
            <p:nvPr/>
          </p:nvSpPr>
          <p:spPr bwMode="auto">
            <a:xfrm>
              <a:off x="3600" y="3456"/>
              <a:ext cx="1056" cy="576"/>
            </a:xfrm>
            <a:prstGeom prst="flowChartProcess">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eaLnBrk="1" hangingPunct="1">
                <a:defRPr/>
              </a:pPr>
              <a:endParaRPr lang="zh-CN" altLang="en-US"/>
            </a:p>
          </p:txBody>
        </p:sp>
        <p:graphicFrame>
          <p:nvGraphicFramePr>
            <p:cNvPr id="68613" name="Object 5"/>
            <p:cNvGraphicFramePr>
              <a:graphicFrameLocks noChangeAspect="1"/>
            </p:cNvGraphicFramePr>
            <p:nvPr/>
          </p:nvGraphicFramePr>
          <p:xfrm>
            <a:off x="3696" y="3456"/>
            <a:ext cx="912" cy="576"/>
          </p:xfrm>
          <a:graphic>
            <a:graphicData uri="http://schemas.openxmlformats.org/presentationml/2006/ole">
              <mc:AlternateContent xmlns:mc="http://schemas.openxmlformats.org/markup-compatibility/2006">
                <mc:Choice xmlns:v="urn:schemas-microsoft-com:vml" Requires="v">
                  <p:oleObj spid="_x0000_s68636" r:id="rId3" imgW="571252" imgH="431613" progId="Equation.3">
                    <p:embed/>
                  </p:oleObj>
                </mc:Choice>
                <mc:Fallback>
                  <p:oleObj r:id="rId3" imgW="571252" imgH="431613"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 y="3456"/>
                          <a:ext cx="91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9634" name="Group 2"/>
          <p:cNvGrpSpPr>
            <a:grpSpLocks/>
          </p:cNvGrpSpPr>
          <p:nvPr/>
        </p:nvGrpSpPr>
        <p:grpSpPr bwMode="auto">
          <a:xfrm>
            <a:off x="8958371" y="205924"/>
            <a:ext cx="3105150" cy="3125509"/>
            <a:chOff x="8595" y="12097"/>
            <a:chExt cx="3594" cy="3531"/>
          </a:xfrm>
        </p:grpSpPr>
        <p:sp>
          <p:nvSpPr>
            <p:cNvPr id="69662" name="Text Box 3"/>
            <p:cNvSpPr txBox="1">
              <a:spLocks noChangeArrowheads="1"/>
            </p:cNvSpPr>
            <p:nvPr/>
          </p:nvSpPr>
          <p:spPr bwMode="auto">
            <a:xfrm>
              <a:off x="9602" y="15160"/>
              <a:ext cx="25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600">
                  <a:latin typeface="Times New Roman" panose="02020603050405020304" pitchFamily="18" charset="0"/>
                </a:rPr>
                <a:t>非平衡电桥</a:t>
              </a:r>
              <a:endParaRPr lang="zh-CN" altLang="en-US" sz="1600"/>
            </a:p>
          </p:txBody>
        </p:sp>
        <p:graphicFrame>
          <p:nvGraphicFramePr>
            <p:cNvPr id="69663" name="Object 16"/>
            <p:cNvGraphicFramePr>
              <a:graphicFrameLocks noChangeAspect="1"/>
            </p:cNvGraphicFramePr>
            <p:nvPr>
              <p:extLst>
                <p:ext uri="{D42A27DB-BD31-4B8C-83A1-F6EECF244321}">
                  <p14:modId xmlns:p14="http://schemas.microsoft.com/office/powerpoint/2010/main" val="1052820018"/>
                </p:ext>
              </p:extLst>
            </p:nvPr>
          </p:nvGraphicFramePr>
          <p:xfrm>
            <a:off x="8595" y="12097"/>
            <a:ext cx="3594" cy="3089"/>
          </p:xfrm>
          <a:graphic>
            <a:graphicData uri="http://schemas.openxmlformats.org/presentationml/2006/ole">
              <mc:AlternateContent xmlns:mc="http://schemas.openxmlformats.org/markup-compatibility/2006">
                <mc:Choice xmlns:v="urn:schemas-microsoft-com:vml" Requires="v">
                  <p:oleObj spid="_x0000_s69994" r:id="rId3" imgW="4519138" imgH="3238078" progId="">
                    <p:embed/>
                  </p:oleObj>
                </mc:Choice>
                <mc:Fallback>
                  <p:oleObj r:id="rId3" imgW="4519138" imgH="3238078" progId="">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5" y="12097"/>
                          <a:ext cx="3594" cy="3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9635" name="Text Box 5"/>
          <p:cNvSpPr txBox="1">
            <a:spLocks noChangeArrowheads="1"/>
          </p:cNvSpPr>
          <p:nvPr/>
        </p:nvSpPr>
        <p:spPr bwMode="auto">
          <a:xfrm>
            <a:off x="335360" y="458788"/>
            <a:ext cx="814665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dirty="0">
                <a:solidFill>
                  <a:srgbClr val="FF0000"/>
                </a:solidFill>
                <a:latin typeface="Times New Roman" panose="02020603050405020304" pitchFamily="18" charset="0"/>
                <a:cs typeface="Times New Roman" panose="02020603050405020304" pitchFamily="18" charset="0"/>
              </a:rPr>
              <a:t>如果将平衡电桥中的待测电阻换成电阻型传感器，当外界条件</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如温度、压力、形变等</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改变时，传感器阻值会有相应变化，</a:t>
            </a:r>
            <a:r>
              <a:rPr lang="en-US" altLang="zh-CN" sz="2000" dirty="0">
                <a:solidFill>
                  <a:srgbClr val="FF0000"/>
                </a:solidFill>
                <a:latin typeface="Times New Roman" panose="02020603050405020304" pitchFamily="18" charset="0"/>
                <a:cs typeface="Times New Roman" panose="02020603050405020304" pitchFamily="18" charset="0"/>
              </a:rPr>
              <a:t>B</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D</a:t>
            </a:r>
            <a:r>
              <a:rPr lang="zh-CN" altLang="en-US" sz="2000" dirty="0">
                <a:solidFill>
                  <a:srgbClr val="FF0000"/>
                </a:solidFill>
                <a:latin typeface="Times New Roman" panose="02020603050405020304" pitchFamily="18" charset="0"/>
                <a:cs typeface="Times New Roman" panose="02020603050405020304" pitchFamily="18" charset="0"/>
              </a:rPr>
              <a:t>两端电势不再相等，这时电桥处于非平衡状态。假设</a:t>
            </a:r>
            <a:r>
              <a:rPr lang="en-US" altLang="zh-CN" sz="2000" dirty="0">
                <a:solidFill>
                  <a:srgbClr val="FF0000"/>
                </a:solidFill>
                <a:latin typeface="Times New Roman" panose="02020603050405020304" pitchFamily="18" charset="0"/>
                <a:cs typeface="Times New Roman" panose="02020603050405020304" pitchFamily="18" charset="0"/>
              </a:rPr>
              <a:t>B</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D</a:t>
            </a:r>
            <a:r>
              <a:rPr lang="zh-CN" altLang="en-US" sz="2000" dirty="0">
                <a:solidFill>
                  <a:srgbClr val="FF0000"/>
                </a:solidFill>
                <a:latin typeface="Times New Roman" panose="02020603050405020304" pitchFamily="18" charset="0"/>
                <a:cs typeface="Times New Roman" panose="02020603050405020304" pitchFamily="18" charset="0"/>
              </a:rPr>
              <a:t>之间有一负载电阻</a:t>
            </a:r>
            <a:r>
              <a:rPr lang="en-US" altLang="zh-CN" sz="2000" dirty="0" err="1">
                <a:solidFill>
                  <a:srgbClr val="FF0000"/>
                </a:solidFill>
                <a:latin typeface="Times New Roman" panose="02020603050405020304" pitchFamily="18" charset="0"/>
                <a:cs typeface="Times New Roman" panose="02020603050405020304" pitchFamily="18" charset="0"/>
              </a:rPr>
              <a:t>Rg</a:t>
            </a:r>
            <a:r>
              <a:rPr lang="zh-CN" altLang="en-US" sz="2000" dirty="0">
                <a:solidFill>
                  <a:srgbClr val="FF0000"/>
                </a:solidFill>
                <a:latin typeface="Times New Roman" panose="02020603050405020304" pitchFamily="18" charset="0"/>
                <a:cs typeface="Times New Roman" panose="02020603050405020304" pitchFamily="18" charset="0"/>
              </a:rPr>
              <a:t>，其输出电压。如果使</a:t>
            </a:r>
            <a:r>
              <a:rPr lang="en-US" altLang="zh-CN" sz="2000" dirty="0">
                <a:solidFill>
                  <a:srgbClr val="FF0000"/>
                </a:solidFill>
                <a:latin typeface="Times New Roman" panose="02020603050405020304" pitchFamily="18" charset="0"/>
                <a:cs typeface="Times New Roman" panose="02020603050405020304" pitchFamily="18" charset="0"/>
              </a:rPr>
              <a:t>R1</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R2</a:t>
            </a:r>
            <a:r>
              <a:rPr lang="zh-CN" altLang="en-US" sz="2000" dirty="0">
                <a:solidFill>
                  <a:srgbClr val="FF0000"/>
                </a:solidFill>
                <a:latin typeface="Times New Roman" panose="02020603050405020304" pitchFamily="18" charset="0"/>
                <a:cs typeface="Times New Roman" panose="02020603050405020304" pitchFamily="18" charset="0"/>
              </a:rPr>
              <a:t>和</a:t>
            </a:r>
            <a:r>
              <a:rPr lang="en-US" altLang="zh-CN" sz="2000" dirty="0">
                <a:solidFill>
                  <a:srgbClr val="FF0000"/>
                </a:solidFill>
                <a:latin typeface="Times New Roman" panose="02020603050405020304" pitchFamily="18" charset="0"/>
                <a:cs typeface="Times New Roman" panose="02020603050405020304" pitchFamily="18" charset="0"/>
              </a:rPr>
              <a:t>R3</a:t>
            </a:r>
            <a:r>
              <a:rPr lang="zh-CN" altLang="en-US" sz="2000" dirty="0">
                <a:solidFill>
                  <a:srgbClr val="FF0000"/>
                </a:solidFill>
                <a:latin typeface="Times New Roman" panose="02020603050405020304" pitchFamily="18" charset="0"/>
                <a:cs typeface="Times New Roman" panose="02020603050405020304" pitchFamily="18" charset="0"/>
              </a:rPr>
              <a:t>保持不变，那么</a:t>
            </a:r>
            <a:r>
              <a:rPr lang="en-US" altLang="zh-CN" sz="2000" dirty="0">
                <a:solidFill>
                  <a:srgbClr val="FF0000"/>
                </a:solidFill>
                <a:latin typeface="Times New Roman" panose="02020603050405020304" pitchFamily="18" charset="0"/>
                <a:cs typeface="Times New Roman" panose="02020603050405020304" pitchFamily="18" charset="0"/>
              </a:rPr>
              <a:t>Rx</a:t>
            </a:r>
            <a:r>
              <a:rPr lang="zh-CN" altLang="en-US" sz="2000" dirty="0">
                <a:solidFill>
                  <a:srgbClr val="FF0000"/>
                </a:solidFill>
                <a:latin typeface="Times New Roman" panose="02020603050405020304" pitchFamily="18" charset="0"/>
                <a:cs typeface="Times New Roman" panose="02020603050405020304" pitchFamily="18" charset="0"/>
              </a:rPr>
              <a:t>变化时</a:t>
            </a:r>
            <a:r>
              <a:rPr lang="en-US" altLang="zh-CN" sz="2000" dirty="0">
                <a:solidFill>
                  <a:srgbClr val="FF0000"/>
                </a:solidFill>
                <a:latin typeface="Times New Roman" panose="02020603050405020304" pitchFamily="18" charset="0"/>
                <a:cs typeface="Times New Roman" panose="02020603050405020304" pitchFamily="18" charset="0"/>
              </a:rPr>
              <a:t>Ug</a:t>
            </a:r>
            <a:r>
              <a:rPr lang="zh-CN" altLang="en-US" sz="2000" dirty="0">
                <a:solidFill>
                  <a:srgbClr val="FF0000"/>
                </a:solidFill>
                <a:latin typeface="Times New Roman" panose="02020603050405020304" pitchFamily="18" charset="0"/>
                <a:cs typeface="Times New Roman" panose="02020603050405020304" pitchFamily="18" charset="0"/>
              </a:rPr>
              <a:t>也会发生变化。根据</a:t>
            </a:r>
            <a:r>
              <a:rPr lang="en-US" altLang="zh-CN" sz="2000" dirty="0">
                <a:solidFill>
                  <a:srgbClr val="FF0000"/>
                </a:solidFill>
                <a:latin typeface="Times New Roman" panose="02020603050405020304" pitchFamily="18" charset="0"/>
                <a:cs typeface="Times New Roman" panose="02020603050405020304" pitchFamily="18" charset="0"/>
              </a:rPr>
              <a:t>Ug</a:t>
            </a:r>
            <a:r>
              <a:rPr lang="zh-CN" altLang="en-US" sz="2000" dirty="0">
                <a:solidFill>
                  <a:srgbClr val="FF0000"/>
                </a:solidFill>
                <a:latin typeface="Times New Roman" panose="02020603050405020304" pitchFamily="18" charset="0"/>
                <a:cs typeface="Times New Roman" panose="02020603050405020304" pitchFamily="18" charset="0"/>
              </a:rPr>
              <a:t>与</a:t>
            </a:r>
            <a:r>
              <a:rPr lang="en-US" altLang="zh-CN" sz="2000" dirty="0">
                <a:solidFill>
                  <a:srgbClr val="FF0000"/>
                </a:solidFill>
                <a:latin typeface="Times New Roman" panose="02020603050405020304" pitchFamily="18" charset="0"/>
                <a:cs typeface="Times New Roman" panose="02020603050405020304" pitchFamily="18" charset="0"/>
              </a:rPr>
              <a:t>Rx</a:t>
            </a:r>
            <a:r>
              <a:rPr lang="zh-CN" altLang="en-US" sz="2000" dirty="0">
                <a:solidFill>
                  <a:srgbClr val="FF0000"/>
                </a:solidFill>
                <a:latin typeface="Times New Roman" panose="02020603050405020304" pitchFamily="18" charset="0"/>
                <a:cs typeface="Times New Roman" panose="02020603050405020304" pitchFamily="18" charset="0"/>
              </a:rPr>
              <a:t>的函数关系，通过检测桥路的非平衡电压</a:t>
            </a:r>
            <a:r>
              <a:rPr lang="en-US" altLang="zh-CN" sz="2000" dirty="0">
                <a:solidFill>
                  <a:srgbClr val="FF0000"/>
                </a:solidFill>
                <a:latin typeface="Times New Roman" panose="02020603050405020304" pitchFamily="18" charset="0"/>
                <a:cs typeface="Times New Roman" panose="02020603050405020304" pitchFamily="18" charset="0"/>
              </a:rPr>
              <a:t>Ug</a:t>
            </a:r>
            <a:r>
              <a:rPr lang="zh-CN" altLang="en-US" sz="2000" dirty="0">
                <a:solidFill>
                  <a:srgbClr val="FF0000"/>
                </a:solidFill>
                <a:latin typeface="Times New Roman" panose="02020603050405020304" pitchFamily="18" charset="0"/>
                <a:cs typeface="Times New Roman" panose="02020603050405020304" pitchFamily="18" charset="0"/>
              </a:rPr>
              <a:t>，能反映出桥臂电阻</a:t>
            </a:r>
            <a:r>
              <a:rPr lang="en-US" altLang="zh-CN" sz="2000" dirty="0">
                <a:solidFill>
                  <a:srgbClr val="FF0000"/>
                </a:solidFill>
                <a:latin typeface="Times New Roman" panose="02020603050405020304" pitchFamily="18" charset="0"/>
                <a:cs typeface="Times New Roman" panose="02020603050405020304" pitchFamily="18" charset="0"/>
              </a:rPr>
              <a:t>Rx</a:t>
            </a:r>
            <a:r>
              <a:rPr lang="zh-CN" altLang="en-US" sz="2000" dirty="0">
                <a:solidFill>
                  <a:srgbClr val="FF0000"/>
                </a:solidFill>
                <a:latin typeface="Times New Roman" panose="02020603050405020304" pitchFamily="18" charset="0"/>
                <a:cs typeface="Times New Roman" panose="02020603050405020304" pitchFamily="18" charset="0"/>
              </a:rPr>
              <a:t>的微小变化，测量外界物理量的变化，这就是非平衡电桥工作的基本原理。</a:t>
            </a:r>
            <a:r>
              <a:rPr lang="zh-CN" altLang="en-US" sz="2000" dirty="0">
                <a:solidFill>
                  <a:srgbClr val="FF0000"/>
                </a:solidFill>
                <a:latin typeface="Times New Roman" panose="02020603050405020304" pitchFamily="18" charset="0"/>
              </a:rPr>
              <a:t> </a:t>
            </a:r>
          </a:p>
        </p:txBody>
      </p:sp>
      <p:graphicFrame>
        <p:nvGraphicFramePr>
          <p:cNvPr id="69636" name="Object 2"/>
          <p:cNvGraphicFramePr>
            <a:graphicFrameLocks noChangeAspect="1"/>
          </p:cNvGraphicFramePr>
          <p:nvPr/>
        </p:nvGraphicFramePr>
        <p:xfrm>
          <a:off x="1820864" y="3924300"/>
          <a:ext cx="7019925" cy="744538"/>
        </p:xfrm>
        <a:graphic>
          <a:graphicData uri="http://schemas.openxmlformats.org/presentationml/2006/ole">
            <mc:AlternateContent xmlns:mc="http://schemas.openxmlformats.org/markup-compatibility/2006">
              <mc:Choice xmlns:v="urn:schemas-microsoft-com:vml" Requires="v">
                <p:oleObj spid="_x0000_s69995" name="Equation" r:id="rId5" imgW="4216400" imgH="444500" progId="Equation.DSMT4">
                  <p:embed/>
                </p:oleObj>
              </mc:Choice>
              <mc:Fallback>
                <p:oleObj name="Equation" r:id="rId5" imgW="4216400" imgH="4445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0864" y="3924300"/>
                        <a:ext cx="7019925"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37" name="Object 3"/>
          <p:cNvGraphicFramePr>
            <a:graphicFrameLocks noChangeAspect="1"/>
          </p:cNvGraphicFramePr>
          <p:nvPr/>
        </p:nvGraphicFramePr>
        <p:xfrm>
          <a:off x="1865313" y="2894013"/>
          <a:ext cx="944562" cy="400050"/>
        </p:xfrm>
        <a:graphic>
          <a:graphicData uri="http://schemas.openxmlformats.org/presentationml/2006/ole">
            <mc:AlternateContent xmlns:mc="http://schemas.openxmlformats.org/markup-compatibility/2006">
              <mc:Choice xmlns:v="urn:schemas-microsoft-com:vml" Requires="v">
                <p:oleObj spid="_x0000_s69996" name="Equation" r:id="rId7" imgW="558558" imgH="241195" progId="Equation.DSMT4">
                  <p:embed/>
                </p:oleObj>
              </mc:Choice>
              <mc:Fallback>
                <p:oleObj name="Equation" r:id="rId7" imgW="558558" imgH="241195"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5313" y="2894013"/>
                        <a:ext cx="944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38" name="Rectangle 8"/>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39" name="Object 4"/>
          <p:cNvGraphicFramePr>
            <a:graphicFrameLocks noChangeAspect="1"/>
          </p:cNvGraphicFramePr>
          <p:nvPr/>
        </p:nvGraphicFramePr>
        <p:xfrm>
          <a:off x="3035300" y="2843213"/>
          <a:ext cx="946150" cy="525462"/>
        </p:xfrm>
        <a:graphic>
          <a:graphicData uri="http://schemas.openxmlformats.org/presentationml/2006/ole">
            <mc:AlternateContent xmlns:mc="http://schemas.openxmlformats.org/markup-compatibility/2006">
              <mc:Choice xmlns:v="urn:schemas-microsoft-com:vml" Requires="v">
                <p:oleObj spid="_x0000_s69997" name="Equation" r:id="rId9" imgW="431613" imgH="241195" progId="Equation.DSMT4">
                  <p:embed/>
                </p:oleObj>
              </mc:Choice>
              <mc:Fallback>
                <p:oleObj name="Equation" r:id="rId9" imgW="431613" imgH="241195"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35300" y="2843213"/>
                        <a:ext cx="9461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0" name="Object 5"/>
          <p:cNvGraphicFramePr>
            <a:graphicFrameLocks noChangeAspect="1"/>
          </p:cNvGraphicFramePr>
          <p:nvPr/>
        </p:nvGraphicFramePr>
        <p:xfrm>
          <a:off x="4287839" y="2889250"/>
          <a:ext cx="1050925" cy="400050"/>
        </p:xfrm>
        <a:graphic>
          <a:graphicData uri="http://schemas.openxmlformats.org/presentationml/2006/ole">
            <mc:AlternateContent xmlns:mc="http://schemas.openxmlformats.org/markup-compatibility/2006">
              <mc:Choice xmlns:v="urn:schemas-microsoft-com:vml" Requires="v">
                <p:oleObj spid="_x0000_s69998" name="Equation" r:id="rId11" imgW="622030" imgH="241195" progId="Equation.DSMT4">
                  <p:embed/>
                </p:oleObj>
              </mc:Choice>
              <mc:Fallback>
                <p:oleObj name="Equation" r:id="rId11" imgW="622030" imgH="241195"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87839" y="2889250"/>
                        <a:ext cx="1050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1" name="Object 6"/>
          <p:cNvGraphicFramePr>
            <a:graphicFrameLocks noChangeAspect="1"/>
          </p:cNvGraphicFramePr>
          <p:nvPr/>
        </p:nvGraphicFramePr>
        <p:xfrm>
          <a:off x="4025900" y="3338513"/>
          <a:ext cx="433388" cy="495300"/>
        </p:xfrm>
        <a:graphic>
          <a:graphicData uri="http://schemas.openxmlformats.org/presentationml/2006/ole">
            <mc:AlternateContent xmlns:mc="http://schemas.openxmlformats.org/markup-compatibility/2006">
              <mc:Choice xmlns:v="urn:schemas-microsoft-com:vml" Requires="v">
                <p:oleObj spid="_x0000_s69999" name="Equation" r:id="rId13" imgW="203112" imgH="228501" progId="Equation.DSMT4">
                  <p:embed/>
                </p:oleObj>
              </mc:Choice>
              <mc:Fallback>
                <p:oleObj name="Equation" r:id="rId13" imgW="203112" imgH="228501"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25900" y="3338513"/>
                        <a:ext cx="43338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2" name="Object 7"/>
          <p:cNvGraphicFramePr>
            <a:graphicFrameLocks noChangeAspect="1"/>
          </p:cNvGraphicFramePr>
          <p:nvPr/>
        </p:nvGraphicFramePr>
        <p:xfrm>
          <a:off x="6096000" y="3384550"/>
          <a:ext cx="395288" cy="452438"/>
        </p:xfrm>
        <a:graphic>
          <a:graphicData uri="http://schemas.openxmlformats.org/presentationml/2006/ole">
            <mc:AlternateContent xmlns:mc="http://schemas.openxmlformats.org/markup-compatibility/2006">
              <mc:Choice xmlns:v="urn:schemas-microsoft-com:vml" Requires="v">
                <p:oleObj spid="_x0000_s70000" name="Equation" r:id="rId15" imgW="203112" imgH="228501" progId="Equation.DSMT4">
                  <p:embed/>
                </p:oleObj>
              </mc:Choice>
              <mc:Fallback>
                <p:oleObj name="Equation" r:id="rId15" imgW="203112" imgH="228501" progId="Equation.DSMT4">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0" y="3384550"/>
                        <a:ext cx="3952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3" name="Rectangle 13"/>
          <p:cNvSpPr>
            <a:spLocks noChangeArrowheads="1"/>
          </p:cNvSpPr>
          <p:nvPr/>
        </p:nvSpPr>
        <p:spPr bwMode="auto">
          <a:xfrm>
            <a:off x="1730376" y="3384550"/>
            <a:ext cx="2225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a:latin typeface="Times New Roman" panose="02020603050405020304" pitchFamily="18" charset="0"/>
                <a:cs typeface="Times New Roman" panose="02020603050405020304" pitchFamily="18" charset="0"/>
              </a:rPr>
              <a:t>设</a:t>
            </a:r>
            <a:r>
              <a:rPr lang="en-US" altLang="zh-CN" sz="1600">
                <a:latin typeface="Times New Roman" panose="02020603050405020304" pitchFamily="18" charset="0"/>
                <a:cs typeface="Times New Roman" panose="02020603050405020304" pitchFamily="18" charset="0"/>
              </a:rPr>
              <a:t>ABC</a:t>
            </a:r>
            <a:r>
              <a:rPr lang="zh-CN" altLang="en-US" sz="1600">
                <a:latin typeface="Times New Roman" panose="02020603050405020304" pitchFamily="18" charset="0"/>
                <a:cs typeface="Times New Roman" panose="02020603050405020304" pitchFamily="18" charset="0"/>
              </a:rPr>
              <a:t>半桥的电压降为</a:t>
            </a:r>
            <a:endParaRPr lang="zh-CN" altLang="en-US" sz="1600"/>
          </a:p>
        </p:txBody>
      </p:sp>
      <p:sp>
        <p:nvSpPr>
          <p:cNvPr id="69644" name="Rectangle 14"/>
          <p:cNvSpPr>
            <a:spLocks noChangeArrowheads="1"/>
          </p:cNvSpPr>
          <p:nvPr/>
        </p:nvSpPr>
        <p:spPr bwMode="auto">
          <a:xfrm>
            <a:off x="4700589" y="3416300"/>
            <a:ext cx="17097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a:latin typeface="Times New Roman" panose="02020603050405020304" pitchFamily="18" charset="0"/>
                <a:cs typeface="Times New Roman" panose="02020603050405020304" pitchFamily="18" charset="0"/>
              </a:rPr>
              <a:t>，输出电压为</a:t>
            </a:r>
            <a:endParaRPr lang="zh-CN" altLang="en-US" sz="1600"/>
          </a:p>
        </p:txBody>
      </p:sp>
      <p:sp>
        <p:nvSpPr>
          <p:cNvPr id="69645" name="Rectangle 15"/>
          <p:cNvSpPr>
            <a:spLocks noChangeArrowheads="1"/>
          </p:cNvSpPr>
          <p:nvPr/>
        </p:nvSpPr>
        <p:spPr bwMode="auto">
          <a:xfrm>
            <a:off x="5365750" y="3787775"/>
            <a:ext cx="215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900"/>
              <a:t> </a:t>
            </a:r>
            <a:endParaRPr lang="en-US" altLang="zh-CN" sz="1800"/>
          </a:p>
        </p:txBody>
      </p:sp>
      <p:sp>
        <p:nvSpPr>
          <p:cNvPr id="69646" name="Rectangle 16"/>
          <p:cNvSpPr>
            <a:spLocks noChangeArrowheads="1"/>
          </p:cNvSpPr>
          <p:nvPr/>
        </p:nvSpPr>
        <p:spPr bwMode="auto">
          <a:xfrm>
            <a:off x="1524001" y="3130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47" name="Object 8"/>
          <p:cNvGraphicFramePr>
            <a:graphicFrameLocks noChangeAspect="1"/>
          </p:cNvGraphicFramePr>
          <p:nvPr/>
        </p:nvGraphicFramePr>
        <p:xfrm>
          <a:off x="1865313" y="4868864"/>
          <a:ext cx="1439862" cy="415925"/>
        </p:xfrm>
        <a:graphic>
          <a:graphicData uri="http://schemas.openxmlformats.org/presentationml/2006/ole">
            <mc:AlternateContent xmlns:mc="http://schemas.openxmlformats.org/markup-compatibility/2006">
              <mc:Choice xmlns:v="urn:schemas-microsoft-com:vml" Requires="v">
                <p:oleObj spid="_x0000_s70001" name="Equation" r:id="rId17" imgW="787400" imgH="228600" progId="Equation.DSMT4">
                  <p:embed/>
                </p:oleObj>
              </mc:Choice>
              <mc:Fallback>
                <p:oleObj name="Equation" r:id="rId17" imgW="787400" imgH="228600" progId="Equation.DSMT4">
                  <p:embed/>
                  <p:pic>
                    <p:nvPicPr>
                      <p:cNvPr id="0" name="Object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65313" y="4868864"/>
                        <a:ext cx="14398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8" name="Rectangle 18"/>
          <p:cNvSpPr>
            <a:spLocks noChangeArrowheads="1"/>
          </p:cNvSpPr>
          <p:nvPr/>
        </p:nvSpPr>
        <p:spPr bwMode="auto">
          <a:xfrm>
            <a:off x="1524001" y="3130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49" name="Object 9"/>
          <p:cNvGraphicFramePr>
            <a:graphicFrameLocks noChangeAspect="1"/>
          </p:cNvGraphicFramePr>
          <p:nvPr/>
        </p:nvGraphicFramePr>
        <p:xfrm>
          <a:off x="3890963" y="4914901"/>
          <a:ext cx="1439862" cy="334963"/>
        </p:xfrm>
        <a:graphic>
          <a:graphicData uri="http://schemas.openxmlformats.org/presentationml/2006/ole">
            <mc:AlternateContent xmlns:mc="http://schemas.openxmlformats.org/markup-compatibility/2006">
              <mc:Choice xmlns:v="urn:schemas-microsoft-com:vml" Requires="v">
                <p:oleObj spid="_x0000_s70002" name="Equation" r:id="rId19" imgW="977900" imgH="228600" progId="Equation.DSMT4">
                  <p:embed/>
                </p:oleObj>
              </mc:Choice>
              <mc:Fallback>
                <p:oleObj name="Equation" r:id="rId19" imgW="977900" imgH="228600" progId="Equation.DSMT4">
                  <p:embed/>
                  <p:pic>
                    <p:nvPicPr>
                      <p:cNvPr id="0" name="Object 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90963" y="4914901"/>
                        <a:ext cx="14398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50" name="Rectangle 20"/>
          <p:cNvSpPr>
            <a:spLocks noChangeArrowheads="1"/>
          </p:cNvSpPr>
          <p:nvPr/>
        </p:nvSpPr>
        <p:spPr bwMode="auto">
          <a:xfrm>
            <a:off x="1524001" y="30204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51" name="Object 10"/>
          <p:cNvGraphicFramePr>
            <a:graphicFrameLocks noChangeAspect="1"/>
          </p:cNvGraphicFramePr>
          <p:nvPr/>
        </p:nvGraphicFramePr>
        <p:xfrm>
          <a:off x="1820863" y="5408614"/>
          <a:ext cx="3960812" cy="765175"/>
        </p:xfrm>
        <a:graphic>
          <a:graphicData uri="http://schemas.openxmlformats.org/presentationml/2006/ole">
            <mc:AlternateContent xmlns:mc="http://schemas.openxmlformats.org/markup-compatibility/2006">
              <mc:Choice xmlns:v="urn:schemas-microsoft-com:vml" Requires="v">
                <p:oleObj spid="_x0000_s70003" name="Equation" r:id="rId21" imgW="2311400" imgH="444500" progId="Equation.DSMT4">
                  <p:embed/>
                </p:oleObj>
              </mc:Choice>
              <mc:Fallback>
                <p:oleObj name="Equation" r:id="rId21" imgW="2311400" imgH="444500" progId="Equation.DSMT4">
                  <p:embed/>
                  <p:pic>
                    <p:nvPicPr>
                      <p:cNvPr id="0" name="Object 1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820863" y="5408614"/>
                        <a:ext cx="3960812"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52" name="Rectangle 22"/>
          <p:cNvSpPr>
            <a:spLocks noChangeArrowheads="1"/>
          </p:cNvSpPr>
          <p:nvPr/>
        </p:nvSpPr>
        <p:spPr bwMode="auto">
          <a:xfrm>
            <a:off x="1524001" y="3134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53" name="Object 11"/>
          <p:cNvGraphicFramePr>
            <a:graphicFrameLocks noChangeAspect="1"/>
          </p:cNvGraphicFramePr>
          <p:nvPr/>
        </p:nvGraphicFramePr>
        <p:xfrm>
          <a:off x="5961064" y="5049839"/>
          <a:ext cx="2020887" cy="390525"/>
        </p:xfrm>
        <a:graphic>
          <a:graphicData uri="http://schemas.openxmlformats.org/presentationml/2006/ole">
            <mc:AlternateContent xmlns:mc="http://schemas.openxmlformats.org/markup-compatibility/2006">
              <mc:Choice xmlns:v="urn:schemas-microsoft-com:vml" Requires="v">
                <p:oleObj spid="_x0000_s70004" name="Equation" r:id="rId23" imgW="1206500" imgH="228600" progId="Equation.DSMT4">
                  <p:embed/>
                </p:oleObj>
              </mc:Choice>
              <mc:Fallback>
                <p:oleObj name="Equation" r:id="rId23" imgW="1206500" imgH="228600" progId="Equation.DSMT4">
                  <p:embed/>
                  <p:pic>
                    <p:nvPicPr>
                      <p:cNvPr id="0" name="Object 1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961064" y="5049839"/>
                        <a:ext cx="202088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54" name="Rectangle 24"/>
          <p:cNvSpPr>
            <a:spLocks noChangeArrowheads="1"/>
          </p:cNvSpPr>
          <p:nvPr/>
        </p:nvSpPr>
        <p:spPr bwMode="auto">
          <a:xfrm>
            <a:off x="1524001" y="3130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55" name="Object 12"/>
          <p:cNvGraphicFramePr>
            <a:graphicFrameLocks noChangeAspect="1"/>
          </p:cNvGraphicFramePr>
          <p:nvPr/>
        </p:nvGraphicFramePr>
        <p:xfrm>
          <a:off x="8482014" y="5003800"/>
          <a:ext cx="1349375" cy="400050"/>
        </p:xfrm>
        <a:graphic>
          <a:graphicData uri="http://schemas.openxmlformats.org/presentationml/2006/ole">
            <mc:AlternateContent xmlns:mc="http://schemas.openxmlformats.org/markup-compatibility/2006">
              <mc:Choice xmlns:v="urn:schemas-microsoft-com:vml" Requires="v">
                <p:oleObj spid="_x0000_s70005" name="Equation" r:id="rId25" imgW="774364" imgH="228501" progId="Equation.DSMT4">
                  <p:embed/>
                </p:oleObj>
              </mc:Choice>
              <mc:Fallback>
                <p:oleObj name="Equation" r:id="rId25" imgW="774364" imgH="228501" progId="Equation.DSMT4">
                  <p:embed/>
                  <p:pic>
                    <p:nvPicPr>
                      <p:cNvPr id="0" name="Object 1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482014" y="5003800"/>
                        <a:ext cx="1349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56" name="Rectangle 26"/>
          <p:cNvSpPr>
            <a:spLocks noChangeArrowheads="1"/>
          </p:cNvSpPr>
          <p:nvPr/>
        </p:nvSpPr>
        <p:spPr bwMode="auto">
          <a:xfrm>
            <a:off x="1524001" y="30347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57" name="Object 13"/>
          <p:cNvGraphicFramePr>
            <a:graphicFrameLocks noChangeAspect="1"/>
          </p:cNvGraphicFramePr>
          <p:nvPr/>
        </p:nvGraphicFramePr>
        <p:xfrm>
          <a:off x="6230939" y="5678488"/>
          <a:ext cx="2700337" cy="635000"/>
        </p:xfrm>
        <a:graphic>
          <a:graphicData uri="http://schemas.openxmlformats.org/presentationml/2006/ole">
            <mc:AlternateContent xmlns:mc="http://schemas.openxmlformats.org/markup-compatibility/2006">
              <mc:Choice xmlns:v="urn:schemas-microsoft-com:vml" Requires="v">
                <p:oleObj spid="_x0000_s70006" name="Equation" r:id="rId27" imgW="1778000" imgH="419100" progId="Equation.DSMT4">
                  <p:embed/>
                </p:oleObj>
              </mc:Choice>
              <mc:Fallback>
                <p:oleObj name="Equation" r:id="rId27" imgW="1778000" imgH="419100" progId="Equation.DSMT4">
                  <p:embed/>
                  <p:pic>
                    <p:nvPicPr>
                      <p:cNvPr id="0" name="Object 1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230939" y="5678488"/>
                        <a:ext cx="2700337"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58" name="Rectangle 28"/>
          <p:cNvSpPr>
            <a:spLocks noChangeArrowheads="1"/>
          </p:cNvSpPr>
          <p:nvPr/>
        </p:nvSpPr>
        <p:spPr bwMode="auto">
          <a:xfrm>
            <a:off x="1524001" y="31538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59" name="Object 14"/>
          <p:cNvGraphicFramePr>
            <a:graphicFrameLocks noChangeAspect="1"/>
          </p:cNvGraphicFramePr>
          <p:nvPr/>
        </p:nvGraphicFramePr>
        <p:xfrm>
          <a:off x="2090738" y="6308725"/>
          <a:ext cx="811212" cy="342900"/>
        </p:xfrm>
        <a:graphic>
          <a:graphicData uri="http://schemas.openxmlformats.org/presentationml/2006/ole">
            <mc:AlternateContent xmlns:mc="http://schemas.openxmlformats.org/markup-compatibility/2006">
              <mc:Choice xmlns:v="urn:schemas-microsoft-com:vml" Requires="v">
                <p:oleObj spid="_x0000_s70007" name="Equation" r:id="rId29" imgW="431425" imgH="177646" progId="Equation.DSMT4">
                  <p:embed/>
                </p:oleObj>
              </mc:Choice>
              <mc:Fallback>
                <p:oleObj name="Equation" r:id="rId29" imgW="431425" imgH="177646" progId="Equation.DSMT4">
                  <p:embed/>
                  <p:pic>
                    <p:nvPicPr>
                      <p:cNvPr id="0" name="Object 1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090738" y="6308725"/>
                        <a:ext cx="8112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60" name="Rectangle 30"/>
          <p:cNvSpPr>
            <a:spLocks noChangeArrowheads="1"/>
          </p:cNvSpPr>
          <p:nvPr/>
        </p:nvSpPr>
        <p:spPr bwMode="auto">
          <a:xfrm>
            <a:off x="1524001" y="30300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69661" name="Object 15"/>
          <p:cNvGraphicFramePr>
            <a:graphicFrameLocks noChangeAspect="1"/>
          </p:cNvGraphicFramePr>
          <p:nvPr/>
        </p:nvGraphicFramePr>
        <p:xfrm>
          <a:off x="3575051" y="6264275"/>
          <a:ext cx="1216025" cy="488950"/>
        </p:xfrm>
        <a:graphic>
          <a:graphicData uri="http://schemas.openxmlformats.org/presentationml/2006/ole">
            <mc:AlternateContent xmlns:mc="http://schemas.openxmlformats.org/markup-compatibility/2006">
              <mc:Choice xmlns:v="urn:schemas-microsoft-com:vml" Requires="v">
                <p:oleObj spid="_x0000_s70008" name="Equation" r:id="rId31" imgW="1066800" imgH="431800" progId="Equation.DSMT4">
                  <p:embed/>
                </p:oleObj>
              </mc:Choice>
              <mc:Fallback>
                <p:oleObj name="Equation" r:id="rId31" imgW="1066800" imgH="431800" progId="Equation.DSMT4">
                  <p:embed/>
                  <p:pic>
                    <p:nvPicPr>
                      <p:cNvPr id="0" name="Object 1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575051" y="6264275"/>
                        <a:ext cx="12160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2090738" y="549276"/>
            <a:ext cx="8235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17430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17430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17430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b="1">
                <a:latin typeface="Times New Roman" panose="02020603050405020304" pitchFamily="18" charset="0"/>
              </a:rPr>
              <a:t>例题</a:t>
            </a:r>
            <a:r>
              <a:rPr kumimoji="1" lang="zh-CN" altLang="en-US" sz="2400">
                <a:latin typeface="Times New Roman" panose="02020603050405020304" pitchFamily="18" charset="0"/>
              </a:rPr>
              <a:t>：下图是电位差计的原理图，求待测电池的电动势</a:t>
            </a:r>
            <a:r>
              <a:rPr kumimoji="1" lang="en-US" altLang="zh-CN" sz="2400">
                <a:latin typeface="仿宋_GB2312" pitchFamily="49" charset="-122"/>
              </a:rPr>
              <a:t>ε</a:t>
            </a:r>
            <a:r>
              <a:rPr kumimoji="1" lang="en-US" altLang="zh-CN" sz="2400" baseline="-30000">
                <a:latin typeface="Times New Roman" panose="02020603050405020304" pitchFamily="18" charset="0"/>
              </a:rPr>
              <a:t>X</a:t>
            </a:r>
            <a:r>
              <a:rPr kumimoji="1" lang="zh-CN" altLang="en-US" sz="2400" baseline="-30000">
                <a:latin typeface="Times New Roman" panose="02020603050405020304" pitchFamily="18" charset="0"/>
              </a:rPr>
              <a:t>。</a:t>
            </a:r>
            <a:endParaRPr kumimoji="1" lang="zh-CN" altLang="en-US" sz="2400">
              <a:latin typeface="Times New Roman" panose="02020603050405020304" pitchFamily="18" charset="0"/>
            </a:endParaRPr>
          </a:p>
        </p:txBody>
      </p:sp>
      <p:grpSp>
        <p:nvGrpSpPr>
          <p:cNvPr id="70659" name="Group 3"/>
          <p:cNvGrpSpPr>
            <a:grpSpLocks/>
          </p:cNvGrpSpPr>
          <p:nvPr/>
        </p:nvGrpSpPr>
        <p:grpSpPr bwMode="auto">
          <a:xfrm>
            <a:off x="3216275" y="1628775"/>
            <a:ext cx="5715000" cy="2743200"/>
            <a:chOff x="1536" y="1824"/>
            <a:chExt cx="3600" cy="1728"/>
          </a:xfrm>
        </p:grpSpPr>
        <p:sp>
          <p:nvSpPr>
            <p:cNvPr id="38920" name="AutoShape 4"/>
            <p:cNvSpPr>
              <a:spLocks noChangeArrowheads="1"/>
            </p:cNvSpPr>
            <p:nvPr/>
          </p:nvSpPr>
          <p:spPr bwMode="auto">
            <a:xfrm>
              <a:off x="1536" y="1872"/>
              <a:ext cx="3600" cy="1680"/>
            </a:xfrm>
            <a:prstGeom prst="flowChartProcess">
              <a:avLst/>
            </a:prstGeom>
            <a:ln>
              <a:headEnd/>
              <a:tailEnd/>
            </a:ln>
          </p:spPr>
          <p:style>
            <a:lnRef idx="2">
              <a:schemeClr val="accent3"/>
            </a:lnRef>
            <a:fillRef idx="1">
              <a:schemeClr val="lt1"/>
            </a:fillRef>
            <a:effectRef idx="0">
              <a:schemeClr val="accent3"/>
            </a:effectRef>
            <a:fontRef idx="minor">
              <a:schemeClr val="dk1"/>
            </a:fontRef>
          </p:style>
          <p:txBody>
            <a:bodyPr wrap="none" anchor="ctr"/>
            <a:lstStyle/>
            <a:p>
              <a:pPr eaLnBrk="1" hangingPunct="1">
                <a:defRPr/>
              </a:pPr>
              <a:endParaRPr lang="zh-CN" altLang="en-US"/>
            </a:p>
          </p:txBody>
        </p:sp>
        <p:sp>
          <p:nvSpPr>
            <p:cNvPr id="70661" name="Line 5"/>
            <p:cNvSpPr>
              <a:spLocks noChangeShapeType="1"/>
            </p:cNvSpPr>
            <p:nvPr/>
          </p:nvSpPr>
          <p:spPr bwMode="auto">
            <a:xfrm>
              <a:off x="1757" y="2083"/>
              <a:ext cx="0" cy="10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2" name="Line 6"/>
            <p:cNvSpPr>
              <a:spLocks noChangeShapeType="1"/>
            </p:cNvSpPr>
            <p:nvPr/>
          </p:nvSpPr>
          <p:spPr bwMode="auto">
            <a:xfrm>
              <a:off x="1757" y="3119"/>
              <a:ext cx="3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3" name="Line 7"/>
            <p:cNvSpPr>
              <a:spLocks noChangeShapeType="1"/>
            </p:cNvSpPr>
            <p:nvPr/>
          </p:nvSpPr>
          <p:spPr bwMode="auto">
            <a:xfrm>
              <a:off x="2137" y="2975"/>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4" name="Line 8"/>
            <p:cNvSpPr>
              <a:spLocks noChangeShapeType="1"/>
            </p:cNvSpPr>
            <p:nvPr/>
          </p:nvSpPr>
          <p:spPr bwMode="auto">
            <a:xfrm>
              <a:off x="2220" y="3032"/>
              <a:ext cx="0" cy="1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5" name="Line 9"/>
            <p:cNvSpPr>
              <a:spLocks noChangeShapeType="1"/>
            </p:cNvSpPr>
            <p:nvPr/>
          </p:nvSpPr>
          <p:spPr bwMode="auto">
            <a:xfrm>
              <a:off x="2232" y="3119"/>
              <a:ext cx="3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6" name="Line 10"/>
            <p:cNvSpPr>
              <a:spLocks noChangeShapeType="1"/>
            </p:cNvSpPr>
            <p:nvPr/>
          </p:nvSpPr>
          <p:spPr bwMode="auto">
            <a:xfrm flipV="1">
              <a:off x="2564" y="2716"/>
              <a:ext cx="0" cy="4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7" name="Oval 11"/>
            <p:cNvSpPr>
              <a:spLocks noChangeArrowheads="1"/>
            </p:cNvSpPr>
            <p:nvPr/>
          </p:nvSpPr>
          <p:spPr bwMode="auto">
            <a:xfrm>
              <a:off x="2448" y="2504"/>
              <a:ext cx="240" cy="22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a:t>
              </a:r>
            </a:p>
          </p:txBody>
        </p:sp>
        <p:sp>
          <p:nvSpPr>
            <p:cNvPr id="70668" name="Text Box 12"/>
            <p:cNvSpPr txBox="1">
              <a:spLocks noChangeArrowheads="1"/>
            </p:cNvSpPr>
            <p:nvPr/>
          </p:nvSpPr>
          <p:spPr bwMode="auto">
            <a:xfrm>
              <a:off x="2433" y="247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G</a:t>
              </a:r>
            </a:p>
          </p:txBody>
        </p:sp>
        <p:sp>
          <p:nvSpPr>
            <p:cNvPr id="70669" name="Line 13"/>
            <p:cNvSpPr>
              <a:spLocks noChangeShapeType="1"/>
            </p:cNvSpPr>
            <p:nvPr/>
          </p:nvSpPr>
          <p:spPr bwMode="auto">
            <a:xfrm>
              <a:off x="1757" y="2083"/>
              <a:ext cx="3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0" name="Line 14"/>
            <p:cNvSpPr>
              <a:spLocks noChangeShapeType="1"/>
            </p:cNvSpPr>
            <p:nvPr/>
          </p:nvSpPr>
          <p:spPr bwMode="auto">
            <a:xfrm>
              <a:off x="2149" y="1968"/>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1" name="Line 15"/>
            <p:cNvSpPr>
              <a:spLocks noChangeShapeType="1"/>
            </p:cNvSpPr>
            <p:nvPr/>
          </p:nvSpPr>
          <p:spPr bwMode="auto">
            <a:xfrm>
              <a:off x="2232" y="1997"/>
              <a:ext cx="0" cy="1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2" name="Line 16"/>
            <p:cNvSpPr>
              <a:spLocks noChangeShapeType="1"/>
            </p:cNvSpPr>
            <p:nvPr/>
          </p:nvSpPr>
          <p:spPr bwMode="auto">
            <a:xfrm flipV="1">
              <a:off x="2564" y="2083"/>
              <a:ext cx="0" cy="4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3" name="Line 17"/>
            <p:cNvSpPr>
              <a:spLocks noChangeShapeType="1"/>
            </p:cNvSpPr>
            <p:nvPr/>
          </p:nvSpPr>
          <p:spPr bwMode="auto">
            <a:xfrm>
              <a:off x="2232" y="2083"/>
              <a:ext cx="3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4" name="Text Box 18"/>
            <p:cNvSpPr txBox="1">
              <a:spLocks noChangeArrowheads="1"/>
            </p:cNvSpPr>
            <p:nvPr/>
          </p:nvSpPr>
          <p:spPr bwMode="auto">
            <a:xfrm>
              <a:off x="2027" y="3176"/>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(a)</a:t>
              </a:r>
            </a:p>
          </p:txBody>
        </p:sp>
        <p:graphicFrame>
          <p:nvGraphicFramePr>
            <p:cNvPr id="70675" name="Object 19"/>
            <p:cNvGraphicFramePr>
              <a:graphicFrameLocks noChangeAspect="1"/>
            </p:cNvGraphicFramePr>
            <p:nvPr/>
          </p:nvGraphicFramePr>
          <p:xfrm>
            <a:off x="2068" y="2678"/>
            <a:ext cx="262" cy="354"/>
          </p:xfrm>
          <a:graphic>
            <a:graphicData uri="http://schemas.openxmlformats.org/presentationml/2006/ole">
              <mc:AlternateContent xmlns:mc="http://schemas.openxmlformats.org/markup-compatibility/2006">
                <mc:Choice xmlns:v="urn:schemas-microsoft-com:vml" Requires="v">
                  <p:oleObj spid="_x0000_s70793" name="Equation" r:id="rId3" imgW="215713" imgH="241091" progId="Equation.3">
                    <p:embed/>
                  </p:oleObj>
                </mc:Choice>
                <mc:Fallback>
                  <p:oleObj name="Equation" r:id="rId3" imgW="215713" imgH="241091"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8" y="2678"/>
                          <a:ext cx="262"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6" name="Object 20"/>
            <p:cNvGraphicFramePr>
              <a:graphicFrameLocks noChangeAspect="1"/>
            </p:cNvGraphicFramePr>
            <p:nvPr/>
          </p:nvGraphicFramePr>
          <p:xfrm>
            <a:off x="2069" y="2131"/>
            <a:ext cx="246" cy="355"/>
          </p:xfrm>
          <a:graphic>
            <a:graphicData uri="http://schemas.openxmlformats.org/presentationml/2006/ole">
              <mc:AlternateContent xmlns:mc="http://schemas.openxmlformats.org/markup-compatibility/2006">
                <mc:Choice xmlns:v="urn:schemas-microsoft-com:vml" Requires="v">
                  <p:oleObj spid="_x0000_s70794" name="Equation" r:id="rId5" imgW="203112" imgH="241195" progId="Equation.3">
                    <p:embed/>
                  </p:oleObj>
                </mc:Choice>
                <mc:Fallback>
                  <p:oleObj name="Equation" r:id="rId5" imgW="203112" imgH="241195"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9" y="2131"/>
                          <a:ext cx="246"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77" name="Line 21"/>
            <p:cNvSpPr>
              <a:spLocks noChangeShapeType="1"/>
            </p:cNvSpPr>
            <p:nvPr/>
          </p:nvSpPr>
          <p:spPr bwMode="auto">
            <a:xfrm flipV="1">
              <a:off x="2116" y="1968"/>
              <a:ext cx="190" cy="17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78" name="Line 22"/>
            <p:cNvSpPr>
              <a:spLocks noChangeShapeType="1"/>
            </p:cNvSpPr>
            <p:nvPr/>
          </p:nvSpPr>
          <p:spPr bwMode="auto">
            <a:xfrm>
              <a:off x="3493" y="2228"/>
              <a:ext cx="0" cy="9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79" name="Line 23"/>
            <p:cNvSpPr>
              <a:spLocks noChangeShapeType="1"/>
            </p:cNvSpPr>
            <p:nvPr/>
          </p:nvSpPr>
          <p:spPr bwMode="auto">
            <a:xfrm>
              <a:off x="3493" y="3135"/>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0" name="Line 24"/>
            <p:cNvSpPr>
              <a:spLocks noChangeShapeType="1"/>
            </p:cNvSpPr>
            <p:nvPr/>
          </p:nvSpPr>
          <p:spPr bwMode="auto">
            <a:xfrm>
              <a:off x="3793" y="3009"/>
              <a:ext cx="0" cy="2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1" name="Line 25"/>
            <p:cNvSpPr>
              <a:spLocks noChangeShapeType="1"/>
            </p:cNvSpPr>
            <p:nvPr/>
          </p:nvSpPr>
          <p:spPr bwMode="auto">
            <a:xfrm>
              <a:off x="3858" y="3060"/>
              <a:ext cx="0" cy="1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2" name="Line 26"/>
            <p:cNvSpPr>
              <a:spLocks noChangeShapeType="1"/>
            </p:cNvSpPr>
            <p:nvPr/>
          </p:nvSpPr>
          <p:spPr bwMode="auto">
            <a:xfrm>
              <a:off x="3868" y="3135"/>
              <a:ext cx="2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3" name="Oval 27"/>
            <p:cNvSpPr>
              <a:spLocks noChangeArrowheads="1"/>
            </p:cNvSpPr>
            <p:nvPr/>
          </p:nvSpPr>
          <p:spPr bwMode="auto">
            <a:xfrm>
              <a:off x="4014" y="2796"/>
              <a:ext cx="198"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0684" name="Text Box 28"/>
            <p:cNvSpPr txBox="1">
              <a:spLocks noChangeArrowheads="1"/>
            </p:cNvSpPr>
            <p:nvPr/>
          </p:nvSpPr>
          <p:spPr bwMode="auto">
            <a:xfrm>
              <a:off x="3992" y="275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G</a:t>
              </a:r>
            </a:p>
          </p:txBody>
        </p:sp>
        <p:sp>
          <p:nvSpPr>
            <p:cNvPr id="70685" name="Line 29"/>
            <p:cNvSpPr>
              <a:spLocks noChangeShapeType="1"/>
            </p:cNvSpPr>
            <p:nvPr/>
          </p:nvSpPr>
          <p:spPr bwMode="auto">
            <a:xfrm>
              <a:off x="3493" y="2228"/>
              <a:ext cx="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6" name="Line 30"/>
            <p:cNvSpPr>
              <a:spLocks noChangeShapeType="1"/>
            </p:cNvSpPr>
            <p:nvPr/>
          </p:nvSpPr>
          <p:spPr bwMode="auto">
            <a:xfrm>
              <a:off x="3802" y="2127"/>
              <a:ext cx="0" cy="2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7" name="Line 31"/>
            <p:cNvSpPr>
              <a:spLocks noChangeShapeType="1"/>
            </p:cNvSpPr>
            <p:nvPr/>
          </p:nvSpPr>
          <p:spPr bwMode="auto">
            <a:xfrm>
              <a:off x="3868" y="2152"/>
              <a:ext cx="0" cy="1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88" name="Line 32"/>
            <p:cNvSpPr>
              <a:spLocks noChangeShapeType="1"/>
            </p:cNvSpPr>
            <p:nvPr/>
          </p:nvSpPr>
          <p:spPr bwMode="auto">
            <a:xfrm>
              <a:off x="3868" y="2228"/>
              <a:ext cx="2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0689" name="Object 33"/>
            <p:cNvGraphicFramePr>
              <a:graphicFrameLocks noChangeAspect="1"/>
            </p:cNvGraphicFramePr>
            <p:nvPr/>
          </p:nvGraphicFramePr>
          <p:xfrm>
            <a:off x="3738" y="2749"/>
            <a:ext cx="207" cy="311"/>
          </p:xfrm>
          <a:graphic>
            <a:graphicData uri="http://schemas.openxmlformats.org/presentationml/2006/ole">
              <mc:AlternateContent xmlns:mc="http://schemas.openxmlformats.org/markup-compatibility/2006">
                <mc:Choice xmlns:v="urn:schemas-microsoft-com:vml" Requires="v">
                  <p:oleObj spid="_x0000_s70795" name="Equation" r:id="rId7" imgW="215713" imgH="241091" progId="Equation.3">
                    <p:embed/>
                  </p:oleObj>
                </mc:Choice>
                <mc:Fallback>
                  <p:oleObj name="Equation" r:id="rId7" imgW="215713" imgH="241091"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8" y="2749"/>
                          <a:ext cx="207"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90" name="Object 34"/>
            <p:cNvGraphicFramePr>
              <a:graphicFrameLocks noChangeAspect="1"/>
            </p:cNvGraphicFramePr>
            <p:nvPr/>
          </p:nvGraphicFramePr>
          <p:xfrm>
            <a:off x="3767" y="1824"/>
            <a:ext cx="194" cy="345"/>
          </p:xfrm>
          <a:graphic>
            <a:graphicData uri="http://schemas.openxmlformats.org/presentationml/2006/ole">
              <mc:AlternateContent xmlns:mc="http://schemas.openxmlformats.org/markup-compatibility/2006">
                <mc:Choice xmlns:v="urn:schemas-microsoft-com:vml" Requires="v">
                  <p:oleObj spid="_x0000_s70796" name="Equation" r:id="rId9" imgW="203024" imgH="266469" progId="Equation.3">
                    <p:embed/>
                  </p:oleObj>
                </mc:Choice>
                <mc:Fallback>
                  <p:oleObj name="Equation" r:id="rId9" imgW="203024" imgH="266469" progId="Equation.3">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7" y="1824"/>
                          <a:ext cx="194"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91" name="Line 35"/>
            <p:cNvSpPr>
              <a:spLocks noChangeShapeType="1"/>
            </p:cNvSpPr>
            <p:nvPr/>
          </p:nvSpPr>
          <p:spPr bwMode="auto">
            <a:xfrm flipV="1">
              <a:off x="4114" y="2984"/>
              <a:ext cx="0" cy="1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2" name="Rectangle 36"/>
            <p:cNvSpPr>
              <a:spLocks noChangeArrowheads="1"/>
            </p:cNvSpPr>
            <p:nvPr/>
          </p:nvSpPr>
          <p:spPr bwMode="auto">
            <a:xfrm>
              <a:off x="3598" y="2631"/>
              <a:ext cx="1088" cy="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0693" name="Line 37"/>
            <p:cNvSpPr>
              <a:spLocks noChangeShapeType="1"/>
            </p:cNvSpPr>
            <p:nvPr/>
          </p:nvSpPr>
          <p:spPr bwMode="auto">
            <a:xfrm>
              <a:off x="3495" y="2656"/>
              <a:ext cx="1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4" name="Line 38"/>
            <p:cNvSpPr>
              <a:spLocks noChangeShapeType="1"/>
            </p:cNvSpPr>
            <p:nvPr/>
          </p:nvSpPr>
          <p:spPr bwMode="auto">
            <a:xfrm>
              <a:off x="4695" y="2656"/>
              <a:ext cx="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5" name="Rectangle 39"/>
            <p:cNvSpPr>
              <a:spLocks noChangeArrowheads="1"/>
            </p:cNvSpPr>
            <p:nvPr/>
          </p:nvSpPr>
          <p:spPr bwMode="auto">
            <a:xfrm>
              <a:off x="4123" y="2177"/>
              <a:ext cx="263" cy="1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0696" name="Line 40"/>
            <p:cNvSpPr>
              <a:spLocks noChangeShapeType="1"/>
            </p:cNvSpPr>
            <p:nvPr/>
          </p:nvSpPr>
          <p:spPr bwMode="auto">
            <a:xfrm>
              <a:off x="4395" y="2228"/>
              <a:ext cx="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7" name="Line 41"/>
            <p:cNvSpPr>
              <a:spLocks noChangeShapeType="1"/>
            </p:cNvSpPr>
            <p:nvPr/>
          </p:nvSpPr>
          <p:spPr bwMode="auto">
            <a:xfrm>
              <a:off x="4798" y="2228"/>
              <a:ext cx="0" cy="4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98" name="Line 42"/>
            <p:cNvSpPr>
              <a:spLocks noChangeShapeType="1"/>
            </p:cNvSpPr>
            <p:nvPr/>
          </p:nvSpPr>
          <p:spPr bwMode="auto">
            <a:xfrm flipV="1">
              <a:off x="4151" y="2026"/>
              <a:ext cx="263" cy="35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699" name="Text Box 43"/>
            <p:cNvSpPr txBox="1">
              <a:spLocks noChangeArrowheads="1"/>
            </p:cNvSpPr>
            <p:nvPr/>
          </p:nvSpPr>
          <p:spPr bwMode="auto">
            <a:xfrm>
              <a:off x="3299" y="2517"/>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A</a:t>
              </a:r>
            </a:p>
          </p:txBody>
        </p:sp>
        <p:sp>
          <p:nvSpPr>
            <p:cNvPr id="70700" name="Text Box 44"/>
            <p:cNvSpPr txBox="1">
              <a:spLocks noChangeArrowheads="1"/>
            </p:cNvSpPr>
            <p:nvPr/>
          </p:nvSpPr>
          <p:spPr bwMode="auto">
            <a:xfrm>
              <a:off x="4761" y="247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B</a:t>
              </a:r>
            </a:p>
          </p:txBody>
        </p:sp>
        <p:sp>
          <p:nvSpPr>
            <p:cNvPr id="70701" name="Text Box 45"/>
            <p:cNvSpPr txBox="1">
              <a:spLocks noChangeArrowheads="1"/>
            </p:cNvSpPr>
            <p:nvPr/>
          </p:nvSpPr>
          <p:spPr bwMode="auto">
            <a:xfrm>
              <a:off x="4236" y="237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C</a:t>
              </a:r>
            </a:p>
          </p:txBody>
        </p:sp>
        <p:sp>
          <p:nvSpPr>
            <p:cNvPr id="70702" name="Text Box 46"/>
            <p:cNvSpPr txBox="1">
              <a:spLocks noChangeArrowheads="1"/>
            </p:cNvSpPr>
            <p:nvPr/>
          </p:nvSpPr>
          <p:spPr bwMode="auto">
            <a:xfrm>
              <a:off x="4159" y="1874"/>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R</a:t>
              </a:r>
            </a:p>
          </p:txBody>
        </p:sp>
        <p:sp>
          <p:nvSpPr>
            <p:cNvPr id="70703" name="Freeform 47"/>
            <p:cNvSpPr>
              <a:spLocks/>
            </p:cNvSpPr>
            <p:nvPr/>
          </p:nvSpPr>
          <p:spPr bwMode="auto">
            <a:xfrm>
              <a:off x="4163" y="2681"/>
              <a:ext cx="253" cy="119"/>
            </a:xfrm>
            <a:custGeom>
              <a:avLst/>
              <a:gdLst>
                <a:gd name="T0" fmla="*/ 0 w 324"/>
                <a:gd name="T1" fmla="*/ 221 h 113"/>
                <a:gd name="T2" fmla="*/ 5 w 324"/>
                <a:gd name="T3" fmla="*/ 0 h 113"/>
                <a:gd name="T4" fmla="*/ 0 60000 65536"/>
                <a:gd name="T5" fmla="*/ 0 60000 65536"/>
                <a:gd name="T6" fmla="*/ 0 w 324"/>
                <a:gd name="T7" fmla="*/ 0 h 113"/>
                <a:gd name="T8" fmla="*/ 324 w 324"/>
                <a:gd name="T9" fmla="*/ 113 h 113"/>
              </a:gdLst>
              <a:ahLst/>
              <a:cxnLst>
                <a:cxn ang="T4">
                  <a:pos x="T0" y="T1"/>
                </a:cxn>
                <a:cxn ang="T5">
                  <a:pos x="T2" y="T3"/>
                </a:cxn>
              </a:cxnLst>
              <a:rect l="T6" t="T7" r="T8" b="T9"/>
              <a:pathLst>
                <a:path w="324" h="113">
                  <a:moveTo>
                    <a:pt x="0" y="96"/>
                  </a:moveTo>
                  <a:cubicBezTo>
                    <a:pt x="95" y="90"/>
                    <a:pt x="267" y="113"/>
                    <a:pt x="324"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704" name="Text Box 48"/>
            <p:cNvSpPr txBox="1">
              <a:spLocks noChangeArrowheads="1"/>
            </p:cNvSpPr>
            <p:nvPr/>
          </p:nvSpPr>
          <p:spPr bwMode="auto">
            <a:xfrm>
              <a:off x="3960" y="314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(b)</a:t>
              </a: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200345" y="1223755"/>
            <a:ext cx="11566285"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55600">
              <a:spcBef>
                <a:spcPct val="20000"/>
              </a:spcBef>
              <a:buChar char="•"/>
              <a:tabLst>
                <a:tab pos="17430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17430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17430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dirty="0">
                <a:latin typeface="宋体" panose="02010600030101010101" pitchFamily="2" charset="-122"/>
              </a:rPr>
              <a:t>[</a:t>
            </a:r>
            <a:r>
              <a:rPr kumimoji="1" lang="zh-CN" altLang="en-US" dirty="0">
                <a:latin typeface="宋体" panose="02010600030101010101" pitchFamily="2" charset="-122"/>
              </a:rPr>
              <a:t>分析</a:t>
            </a:r>
            <a:r>
              <a:rPr kumimoji="1" lang="en-US" altLang="zh-CN" dirty="0">
                <a:latin typeface="宋体" panose="02010600030101010101" pitchFamily="2" charset="-122"/>
              </a:rPr>
              <a:t>]</a:t>
            </a:r>
            <a:r>
              <a:rPr kumimoji="1" lang="zh-CN" altLang="en-US" dirty="0">
                <a:latin typeface="宋体" panose="02010600030101010101" pitchFamily="2" charset="-122"/>
              </a:rPr>
              <a:t>：电位差计</a:t>
            </a:r>
            <a:r>
              <a:rPr kumimoji="1" lang="en-US" altLang="zh-CN" dirty="0">
                <a:latin typeface="宋体" panose="02010600030101010101" pitchFamily="2" charset="-122"/>
              </a:rPr>
              <a:t>:</a:t>
            </a:r>
            <a:r>
              <a:rPr kumimoji="1" lang="zh-CN" altLang="en-US" dirty="0">
                <a:latin typeface="宋体" panose="02010600030101010101" pitchFamily="2" charset="-122"/>
              </a:rPr>
              <a:t>准确测量电源电动势的仪器、电压、电流和电阻。</a:t>
            </a:r>
          </a:p>
          <a:p>
            <a:pPr algn="just">
              <a:spcBef>
                <a:spcPct val="0"/>
              </a:spcBef>
              <a:buFontTx/>
              <a:buNone/>
            </a:pPr>
            <a:r>
              <a:rPr kumimoji="1" lang="zh-CN" altLang="en-US" dirty="0">
                <a:latin typeface="宋体" panose="02010600030101010101" pitchFamily="2" charset="-122"/>
              </a:rPr>
              <a:t>伏特计测量电源电动势：不准确。</a:t>
            </a:r>
            <a:endParaRPr kumimoji="1" lang="en-US" altLang="zh-CN" dirty="0">
              <a:latin typeface="宋体" panose="02010600030101010101" pitchFamily="2" charset="-122"/>
            </a:endParaRPr>
          </a:p>
          <a:p>
            <a:pPr algn="just">
              <a:spcBef>
                <a:spcPct val="0"/>
              </a:spcBef>
              <a:buFontTx/>
              <a:buNone/>
            </a:pPr>
            <a:r>
              <a:rPr kumimoji="1" lang="zh-CN" altLang="en-US" dirty="0">
                <a:latin typeface="宋体" panose="02010600030101010101" pitchFamily="2" charset="-122"/>
              </a:rPr>
              <a:t>准确测量方法：在没有任何电流通过该电源的情况下测定它的路端电压。</a:t>
            </a:r>
            <a:endParaRPr kumimoji="1" lang="en-US" altLang="zh-CN" dirty="0">
              <a:latin typeface="宋体" panose="02010600030101010101" pitchFamily="2" charset="-122"/>
            </a:endParaRPr>
          </a:p>
          <a:p>
            <a:pPr algn="just">
              <a:spcBef>
                <a:spcPct val="0"/>
              </a:spcBef>
              <a:buFontTx/>
              <a:buNone/>
            </a:pPr>
            <a:r>
              <a:rPr kumimoji="1" lang="zh-CN" altLang="en-US" b="1" dirty="0">
                <a:latin typeface="宋体" panose="02010600030101010101" pitchFamily="2" charset="-122"/>
              </a:rPr>
              <a:t>补偿法：</a:t>
            </a:r>
            <a:r>
              <a:rPr kumimoji="1" lang="zh-CN" altLang="en-US" dirty="0">
                <a:latin typeface="宋体" panose="02010600030101010101" pitchFamily="2" charset="-122"/>
              </a:rPr>
              <a:t>当调节电动势</a:t>
            </a:r>
            <a:r>
              <a:rPr kumimoji="1" lang="en-US" altLang="zh-CN" dirty="0">
                <a:latin typeface="宋体" panose="02010600030101010101" pitchFamily="2" charset="-122"/>
              </a:rPr>
              <a:t>ε</a:t>
            </a:r>
            <a:r>
              <a:rPr kumimoji="1" lang="en-US" altLang="zh-CN" baseline="-30000" dirty="0">
                <a:latin typeface="宋体" panose="02010600030101010101" pitchFamily="2" charset="-122"/>
              </a:rPr>
              <a:t>0</a:t>
            </a:r>
            <a:r>
              <a:rPr kumimoji="1" lang="zh-CN" altLang="en-US" dirty="0">
                <a:latin typeface="宋体" panose="02010600030101010101" pitchFamily="2" charset="-122"/>
              </a:rPr>
              <a:t>的大小，使检流计的指针不偏转时，得</a:t>
            </a:r>
            <a:r>
              <a:rPr kumimoji="1" lang="en-US" altLang="zh-CN" dirty="0" err="1">
                <a:latin typeface="宋体" panose="02010600030101010101" pitchFamily="2" charset="-122"/>
              </a:rPr>
              <a:t>ε</a:t>
            </a:r>
            <a:r>
              <a:rPr kumimoji="1" lang="en-US" altLang="zh-CN" baseline="-30000" dirty="0" err="1">
                <a:latin typeface="宋体" panose="02010600030101010101" pitchFamily="2" charset="-122"/>
              </a:rPr>
              <a:t>X</a:t>
            </a:r>
            <a:r>
              <a:rPr kumimoji="1" lang="en-US" altLang="zh-CN" dirty="0">
                <a:latin typeface="宋体" panose="02010600030101010101" pitchFamily="2" charset="-122"/>
              </a:rPr>
              <a:t>=ε</a:t>
            </a:r>
            <a:r>
              <a:rPr kumimoji="1" lang="en-US" altLang="zh-CN" baseline="-30000" dirty="0">
                <a:latin typeface="宋体" panose="02010600030101010101" pitchFamily="2" charset="-122"/>
              </a:rPr>
              <a:t>0</a:t>
            </a:r>
            <a:r>
              <a:rPr kumimoji="1" lang="zh-CN" altLang="en-US" dirty="0">
                <a:latin typeface="宋体" panose="02010600030101010101" pitchFamily="2" charset="-122"/>
              </a:rPr>
              <a:t>，这时，我们称电路达到平衡，知道了平衡状态下</a:t>
            </a:r>
            <a:r>
              <a:rPr kumimoji="1" lang="en-US" altLang="zh-CN" dirty="0">
                <a:latin typeface="宋体" panose="02010600030101010101" pitchFamily="2" charset="-122"/>
              </a:rPr>
              <a:t>ε</a:t>
            </a:r>
            <a:r>
              <a:rPr kumimoji="1" lang="en-US" altLang="zh-CN" baseline="-30000" dirty="0">
                <a:latin typeface="宋体" panose="02010600030101010101" pitchFamily="2" charset="-122"/>
              </a:rPr>
              <a:t>0</a:t>
            </a:r>
            <a:r>
              <a:rPr kumimoji="1" lang="zh-CN" altLang="en-US" dirty="0">
                <a:latin typeface="宋体" panose="02010600030101010101" pitchFamily="2" charset="-122"/>
              </a:rPr>
              <a:t>的大小，就可以测定</a:t>
            </a:r>
            <a:r>
              <a:rPr kumimoji="1" lang="en-US" altLang="zh-CN" dirty="0" err="1">
                <a:latin typeface="宋体" panose="02010600030101010101" pitchFamily="2" charset="-122"/>
              </a:rPr>
              <a:t>ε</a:t>
            </a:r>
            <a:r>
              <a:rPr kumimoji="1" lang="en-US" altLang="zh-CN" baseline="-30000" dirty="0" err="1">
                <a:latin typeface="宋体" panose="02010600030101010101" pitchFamily="2" charset="-122"/>
              </a:rPr>
              <a:t>x</a:t>
            </a:r>
            <a:endParaRPr kumimoji="1" lang="en-US" altLang="zh-CN" dirty="0">
              <a:latin typeface="宋体" panose="02010600030101010101" pitchFamily="2"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515380" y="819150"/>
            <a:ext cx="1134126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17430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17430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17430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800" b="1" dirty="0">
                <a:latin typeface="宋体" panose="02010600030101010101" pitchFamily="2" charset="-122"/>
              </a:rPr>
              <a:t>辅助回路：</a:t>
            </a:r>
            <a:r>
              <a:rPr kumimoji="1" lang="zh-CN" altLang="en-US" sz="2800" dirty="0">
                <a:latin typeface="宋体" panose="02010600030101010101" pitchFamily="2" charset="-122"/>
              </a:rPr>
              <a:t>供电电源</a:t>
            </a:r>
            <a:r>
              <a:rPr kumimoji="1" lang="en-US" altLang="zh-CN" sz="2800" dirty="0">
                <a:latin typeface="宋体" panose="02010600030101010101" pitchFamily="2" charset="-122"/>
              </a:rPr>
              <a:t>ε</a:t>
            </a:r>
            <a:r>
              <a:rPr kumimoji="1" lang="zh-CN" altLang="en-US" sz="2800" dirty="0">
                <a:latin typeface="宋体" panose="02010600030101010101" pitchFamily="2" charset="-122"/>
              </a:rPr>
              <a:t>、制流电阻</a:t>
            </a:r>
            <a:r>
              <a:rPr kumimoji="1" lang="en-US" altLang="zh-CN" sz="2800" dirty="0">
                <a:latin typeface="宋体" panose="02010600030101010101" pitchFamily="2" charset="-122"/>
              </a:rPr>
              <a:t>R</a:t>
            </a:r>
            <a:r>
              <a:rPr kumimoji="1" lang="zh-CN" altLang="en-US" sz="2800" dirty="0">
                <a:latin typeface="宋体" panose="02010600030101010101" pitchFamily="2" charset="-122"/>
              </a:rPr>
              <a:t>和电阻</a:t>
            </a:r>
            <a:r>
              <a:rPr kumimoji="1" lang="en-US" altLang="zh-CN" sz="2800" dirty="0">
                <a:latin typeface="宋体" panose="02010600030101010101" pitchFamily="2" charset="-122"/>
              </a:rPr>
              <a:t>AB</a:t>
            </a:r>
            <a:r>
              <a:rPr kumimoji="1" lang="zh-CN" altLang="en-US" sz="2800" dirty="0">
                <a:latin typeface="宋体" panose="02010600030101010101" pitchFamily="2" charset="-122"/>
              </a:rPr>
              <a:t>所组成的回路。</a:t>
            </a:r>
            <a:endParaRPr kumimoji="1" lang="en-US" altLang="zh-CN" sz="2800" dirty="0">
              <a:latin typeface="宋体" panose="02010600030101010101" pitchFamily="2" charset="-122"/>
            </a:endParaRPr>
          </a:p>
          <a:p>
            <a:pPr algn="just" eaLnBrk="1" hangingPunct="1">
              <a:spcBef>
                <a:spcPct val="0"/>
              </a:spcBef>
              <a:buFontTx/>
              <a:buNone/>
            </a:pPr>
            <a:endParaRPr kumimoji="1" lang="en-US" altLang="zh-CN" sz="2800" dirty="0">
              <a:latin typeface="宋体" panose="02010600030101010101" pitchFamily="2" charset="-122"/>
            </a:endParaRPr>
          </a:p>
          <a:p>
            <a:pPr algn="just" eaLnBrk="1" hangingPunct="1">
              <a:spcBef>
                <a:spcPct val="0"/>
              </a:spcBef>
              <a:buFontTx/>
              <a:buNone/>
            </a:pPr>
            <a:r>
              <a:rPr kumimoji="1" lang="en-US" altLang="zh-CN" sz="2800" dirty="0">
                <a:latin typeface="宋体" panose="02010600030101010101" pitchFamily="2" charset="-122"/>
              </a:rPr>
              <a:t>U</a:t>
            </a:r>
            <a:r>
              <a:rPr kumimoji="1" lang="en-US" altLang="zh-CN" sz="2800" baseline="-30000" dirty="0">
                <a:latin typeface="宋体" panose="02010600030101010101" pitchFamily="2" charset="-122"/>
              </a:rPr>
              <a:t>AC</a:t>
            </a:r>
            <a:r>
              <a:rPr kumimoji="1" lang="zh-CN" altLang="en-US" sz="2800" dirty="0">
                <a:latin typeface="宋体" panose="02010600030101010101" pitchFamily="2" charset="-122"/>
              </a:rPr>
              <a:t>：代替可调电动势</a:t>
            </a:r>
            <a:r>
              <a:rPr kumimoji="1" lang="en-US" altLang="zh-CN" sz="2800" dirty="0">
                <a:latin typeface="宋体" panose="02010600030101010101" pitchFamily="2" charset="-122"/>
              </a:rPr>
              <a:t>ε</a:t>
            </a:r>
            <a:r>
              <a:rPr kumimoji="1" lang="en-US" altLang="zh-CN" sz="2800" baseline="-30000" dirty="0">
                <a:latin typeface="宋体" panose="02010600030101010101" pitchFamily="2" charset="-122"/>
              </a:rPr>
              <a:t>0</a:t>
            </a:r>
            <a:r>
              <a:rPr kumimoji="1" lang="zh-CN" altLang="en-US" sz="2800" dirty="0">
                <a:latin typeface="宋体" panose="02010600030101010101" pitchFamily="2" charset="-122"/>
              </a:rPr>
              <a:t>。</a:t>
            </a:r>
            <a:endParaRPr kumimoji="1" lang="en-US" altLang="zh-CN" sz="2800" dirty="0">
              <a:latin typeface="宋体" panose="02010600030101010101" pitchFamily="2" charset="-122"/>
            </a:endParaRPr>
          </a:p>
          <a:p>
            <a:pPr algn="just" eaLnBrk="1" hangingPunct="1">
              <a:spcBef>
                <a:spcPct val="0"/>
              </a:spcBef>
              <a:buFontTx/>
              <a:buNone/>
            </a:pPr>
            <a:r>
              <a:rPr kumimoji="1" lang="zh-CN" altLang="en-US" sz="2800" b="1" dirty="0">
                <a:latin typeface="宋体" panose="02010600030101010101" pitchFamily="2" charset="-122"/>
              </a:rPr>
              <a:t>补偿回路：</a:t>
            </a:r>
            <a:r>
              <a:rPr kumimoji="1" lang="en-US" altLang="zh-CN" sz="2800" dirty="0" err="1">
                <a:latin typeface="宋体" panose="02010600030101010101" pitchFamily="2" charset="-122"/>
              </a:rPr>
              <a:t>Aε</a:t>
            </a:r>
            <a:r>
              <a:rPr kumimoji="1" lang="en-US" altLang="zh-CN" sz="2800" baseline="-30000" dirty="0" err="1">
                <a:latin typeface="宋体" panose="02010600030101010101" pitchFamily="2" charset="-122"/>
              </a:rPr>
              <a:t>X</a:t>
            </a:r>
            <a:r>
              <a:rPr kumimoji="1" lang="en-US" altLang="zh-CN" sz="2800" dirty="0" err="1">
                <a:latin typeface="宋体" panose="02010600030101010101" pitchFamily="2" charset="-122"/>
              </a:rPr>
              <a:t>GC</a:t>
            </a:r>
            <a:r>
              <a:rPr kumimoji="1" lang="zh-CN" altLang="en-US" sz="2800" dirty="0">
                <a:latin typeface="宋体" panose="02010600030101010101" pitchFamily="2" charset="-122"/>
              </a:rPr>
              <a:t>一段支路。</a:t>
            </a:r>
            <a:r>
              <a:rPr kumimoji="1" lang="en-US" altLang="zh-CN" sz="2800" dirty="0">
                <a:latin typeface="宋体" panose="02010600030101010101" pitchFamily="2" charset="-122"/>
              </a:rPr>
              <a:t>G</a:t>
            </a:r>
            <a:r>
              <a:rPr kumimoji="1" lang="zh-CN" altLang="en-US" sz="2800" dirty="0">
                <a:latin typeface="宋体" panose="02010600030101010101" pitchFamily="2" charset="-122"/>
              </a:rPr>
              <a:t>的指针不发生偏转，这时</a:t>
            </a:r>
            <a:r>
              <a:rPr kumimoji="1" lang="en-US" altLang="zh-CN" sz="2800" dirty="0" err="1">
                <a:latin typeface="宋体" panose="02010600030101010101" pitchFamily="2" charset="-122"/>
              </a:rPr>
              <a:t>ε</a:t>
            </a:r>
            <a:r>
              <a:rPr kumimoji="1" lang="en-US" altLang="zh-CN" sz="2800" baseline="-30000" dirty="0" err="1">
                <a:latin typeface="宋体" panose="02010600030101010101" pitchFamily="2" charset="-122"/>
              </a:rPr>
              <a:t>x</a:t>
            </a:r>
            <a:r>
              <a:rPr kumimoji="1" lang="en-US" altLang="zh-CN" sz="2800" dirty="0">
                <a:latin typeface="宋体" panose="02010600030101010101" pitchFamily="2" charset="-122"/>
              </a:rPr>
              <a:t>=U</a:t>
            </a:r>
            <a:r>
              <a:rPr kumimoji="1" lang="en-US" altLang="zh-CN" sz="2800" baseline="-30000" dirty="0">
                <a:latin typeface="宋体" panose="02010600030101010101" pitchFamily="2" charset="-122"/>
              </a:rPr>
              <a:t>AC</a:t>
            </a:r>
            <a:r>
              <a:rPr kumimoji="1" lang="en-US" altLang="zh-CN" sz="2800" dirty="0">
                <a:latin typeface="宋体" panose="02010600030101010101" pitchFamily="2" charset="-122"/>
              </a:rPr>
              <a:t>=IR</a:t>
            </a:r>
            <a:r>
              <a:rPr kumimoji="1" lang="en-US" altLang="zh-CN" sz="2800" baseline="-30000" dirty="0">
                <a:latin typeface="宋体" panose="02010600030101010101" pitchFamily="2" charset="-122"/>
              </a:rPr>
              <a:t>AC</a:t>
            </a:r>
            <a:r>
              <a:rPr kumimoji="1" lang="en-US" altLang="zh-CN" sz="2800" dirty="0">
                <a:latin typeface="宋体" panose="02010600030101010101" pitchFamily="2" charset="-122"/>
              </a:rPr>
              <a:t>, I</a:t>
            </a:r>
            <a:r>
              <a:rPr kumimoji="1" lang="zh-CN" altLang="en-US" sz="2800" dirty="0">
                <a:latin typeface="宋体" panose="02010600030101010101" pitchFamily="2" charset="-122"/>
              </a:rPr>
              <a:t>表示流过滑线电阻</a:t>
            </a:r>
            <a:r>
              <a:rPr kumimoji="1" lang="en-US" altLang="zh-CN" sz="2800" dirty="0">
                <a:latin typeface="宋体" panose="02010600030101010101" pitchFamily="2" charset="-122"/>
              </a:rPr>
              <a:t>AB</a:t>
            </a:r>
            <a:r>
              <a:rPr kumimoji="1" lang="zh-CN" altLang="en-US" sz="2800" dirty="0">
                <a:latin typeface="宋体" panose="02010600030101010101" pitchFamily="2" charset="-122"/>
              </a:rPr>
              <a:t>的电流，通常叫做辅助回路的</a:t>
            </a:r>
            <a:r>
              <a:rPr kumimoji="1" lang="zh-CN" altLang="en-US" sz="2800" b="1" dirty="0">
                <a:latin typeface="宋体" panose="02010600030101010101" pitchFamily="2" charset="-122"/>
              </a:rPr>
              <a:t>工作电流</a:t>
            </a:r>
            <a:r>
              <a:rPr kumimoji="1" lang="zh-CN" altLang="en-US" sz="2800" dirty="0">
                <a:latin typeface="宋体" panose="02010600030101010101" pitchFamily="2" charset="-122"/>
              </a:rPr>
              <a:t>。 </a:t>
            </a:r>
          </a:p>
          <a:p>
            <a:pPr algn="just" eaLnBrk="1" hangingPunct="1">
              <a:spcBef>
                <a:spcPct val="0"/>
              </a:spcBef>
              <a:buFontTx/>
              <a:buNone/>
            </a:pPr>
            <a:endParaRPr kumimoji="1" lang="en-US" altLang="zh-CN" sz="2800" dirty="0">
              <a:latin typeface="宋体" panose="02010600030101010101" pitchFamily="2" charset="-122"/>
            </a:endParaRPr>
          </a:p>
          <a:p>
            <a:pPr algn="just" eaLnBrk="1" hangingPunct="1">
              <a:spcBef>
                <a:spcPct val="0"/>
              </a:spcBef>
              <a:buFontTx/>
              <a:buNone/>
            </a:pPr>
            <a:r>
              <a:rPr kumimoji="1" lang="zh-CN" altLang="en-US" sz="2800" dirty="0">
                <a:latin typeface="宋体" panose="02010600030101010101" pitchFamily="2" charset="-122"/>
              </a:rPr>
              <a:t>准确测定电动势</a:t>
            </a:r>
            <a:r>
              <a:rPr kumimoji="1" lang="en-US" altLang="zh-CN" sz="2800" dirty="0" err="1">
                <a:latin typeface="宋体" panose="02010600030101010101" pitchFamily="2" charset="-122"/>
              </a:rPr>
              <a:t>ε</a:t>
            </a:r>
            <a:r>
              <a:rPr kumimoji="1" lang="en-US" altLang="zh-CN" sz="2800" baseline="-30000" dirty="0" err="1">
                <a:latin typeface="宋体" panose="02010600030101010101" pitchFamily="2" charset="-122"/>
              </a:rPr>
              <a:t>x</a:t>
            </a:r>
            <a:r>
              <a:rPr kumimoji="1" lang="zh-CN" altLang="en-US" sz="2800" dirty="0">
                <a:latin typeface="宋体" panose="02010600030101010101" pitchFamily="2" charset="-122"/>
              </a:rPr>
              <a:t>：准确测定平衡时</a:t>
            </a:r>
            <a:r>
              <a:rPr kumimoji="1" lang="en-US" altLang="zh-CN" sz="2800" dirty="0">
                <a:latin typeface="宋体" panose="02010600030101010101" pitchFamily="2" charset="-122"/>
              </a:rPr>
              <a:t>AC</a:t>
            </a:r>
            <a:r>
              <a:rPr kumimoji="1" lang="zh-CN" altLang="en-US" sz="2800" dirty="0">
                <a:latin typeface="宋体" panose="02010600030101010101" pitchFamily="2" charset="-122"/>
              </a:rPr>
              <a:t>一段的电阻</a:t>
            </a:r>
            <a:r>
              <a:rPr kumimoji="1" lang="en-US" altLang="zh-CN" sz="2800" dirty="0">
                <a:latin typeface="宋体" panose="02010600030101010101" pitchFamily="2" charset="-122"/>
              </a:rPr>
              <a:t>R</a:t>
            </a:r>
            <a:r>
              <a:rPr kumimoji="1" lang="en-US" altLang="zh-CN" sz="2800" baseline="-30000" dirty="0">
                <a:latin typeface="宋体" panose="02010600030101010101" pitchFamily="2" charset="-122"/>
              </a:rPr>
              <a:t>AC</a:t>
            </a:r>
            <a:r>
              <a:rPr kumimoji="1" lang="zh-CN" altLang="en-US" sz="2800" dirty="0">
                <a:latin typeface="宋体" panose="02010600030101010101" pitchFamily="2" charset="-122"/>
              </a:rPr>
              <a:t>和辅助回路的工作电流</a:t>
            </a:r>
            <a:r>
              <a:rPr kumimoji="1" lang="en-US" altLang="zh-CN" sz="2800" dirty="0">
                <a:latin typeface="宋体" panose="02010600030101010101" pitchFamily="2" charset="-122"/>
              </a:rPr>
              <a:t>I</a:t>
            </a:r>
            <a:r>
              <a:rPr kumimoji="1" lang="zh-CN" altLang="en-US" sz="2800" dirty="0">
                <a:latin typeface="宋体" panose="02010600030101010101" pitchFamily="2" charset="-122"/>
              </a:rPr>
              <a:t>。 </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335360" y="490359"/>
            <a:ext cx="1098122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tabLst>
                <a:tab pos="17430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17430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17430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sz="2400" dirty="0">
                <a:latin typeface="宋体" panose="02010600030101010101" pitchFamily="2" charset="-122"/>
              </a:rPr>
              <a:t>    </a:t>
            </a:r>
            <a:r>
              <a:rPr kumimoji="1" lang="zh-CN" altLang="en-US" sz="2400" dirty="0">
                <a:latin typeface="宋体" panose="02010600030101010101" pitchFamily="2" charset="-122"/>
              </a:rPr>
              <a:t>在实际的电位差计中，校准和测量采用的是同一个电路，如图（</a:t>
            </a:r>
            <a:r>
              <a:rPr kumimoji="1" lang="en-US" altLang="zh-CN" sz="2400" dirty="0">
                <a:latin typeface="宋体" panose="02010600030101010101" pitchFamily="2" charset="-122"/>
              </a:rPr>
              <a:t>C</a:t>
            </a:r>
            <a:r>
              <a:rPr kumimoji="1" lang="zh-CN" altLang="en-US" sz="2400" dirty="0">
                <a:latin typeface="宋体" panose="02010600030101010101" pitchFamily="2" charset="-122"/>
              </a:rPr>
              <a:t>）所示，图中</a:t>
            </a:r>
            <a:r>
              <a:rPr kumimoji="1" lang="en-US" altLang="zh-CN" sz="2400" dirty="0" err="1">
                <a:latin typeface="宋体" panose="02010600030101010101" pitchFamily="2" charset="-122"/>
              </a:rPr>
              <a:t>ε</a:t>
            </a:r>
            <a:r>
              <a:rPr kumimoji="1" lang="en-US" altLang="zh-CN" sz="2400" baseline="-30000" dirty="0" err="1">
                <a:latin typeface="宋体" panose="02010600030101010101" pitchFamily="2" charset="-122"/>
              </a:rPr>
              <a:t>S</a:t>
            </a:r>
            <a:r>
              <a:rPr kumimoji="1" lang="zh-CN" altLang="en-US" sz="2400" dirty="0">
                <a:latin typeface="宋体" panose="02010600030101010101" pitchFamily="2" charset="-122"/>
              </a:rPr>
              <a:t>是标准电池，它的电动势是很稳定的，而且准确地已知（镉汞电池的电动势是</a:t>
            </a:r>
            <a:r>
              <a:rPr kumimoji="1" lang="en-US" altLang="zh-CN" sz="2400" dirty="0">
                <a:latin typeface="宋体" panose="02010600030101010101" pitchFamily="2" charset="-122"/>
              </a:rPr>
              <a:t>1.0186</a:t>
            </a:r>
            <a:r>
              <a:rPr kumimoji="1" lang="zh-CN" altLang="en-US" sz="2400" dirty="0">
                <a:latin typeface="宋体" panose="02010600030101010101" pitchFamily="2" charset="-122"/>
              </a:rPr>
              <a:t>伏）。校准时</a:t>
            </a:r>
            <a:r>
              <a:rPr kumimoji="1" lang="en-US" altLang="zh-CN" sz="2400" dirty="0">
                <a:latin typeface="宋体" panose="02010600030101010101" pitchFamily="2" charset="-122"/>
              </a:rPr>
              <a:t>K</a:t>
            </a:r>
            <a:r>
              <a:rPr kumimoji="1" lang="zh-CN" altLang="en-US" sz="2400" dirty="0">
                <a:latin typeface="宋体" panose="02010600030101010101" pitchFamily="2" charset="-122"/>
              </a:rPr>
              <a:t>拨到位置“</a:t>
            </a:r>
            <a:r>
              <a:rPr kumimoji="1" lang="en-US" altLang="zh-CN" sz="2400" dirty="0">
                <a:latin typeface="宋体" panose="02010600030101010101" pitchFamily="2" charset="-122"/>
              </a:rPr>
              <a:t>1”</a:t>
            </a:r>
            <a:r>
              <a:rPr kumimoji="1" lang="zh-CN" altLang="en-US" sz="2400" dirty="0">
                <a:latin typeface="宋体" panose="02010600030101010101" pitchFamily="2" charset="-122"/>
              </a:rPr>
              <a:t>，测量时</a:t>
            </a:r>
            <a:r>
              <a:rPr kumimoji="1" lang="en-US" altLang="zh-CN" sz="2400" dirty="0">
                <a:latin typeface="宋体" panose="02010600030101010101" pitchFamily="2" charset="-122"/>
              </a:rPr>
              <a:t>K</a:t>
            </a:r>
            <a:r>
              <a:rPr kumimoji="1" lang="zh-CN" altLang="en-US" sz="2400" dirty="0">
                <a:latin typeface="宋体" panose="02010600030101010101" pitchFamily="2" charset="-122"/>
              </a:rPr>
              <a:t>拨到位置“</a:t>
            </a:r>
            <a:r>
              <a:rPr kumimoji="1" lang="en-US" altLang="zh-CN" sz="2400" dirty="0">
                <a:latin typeface="宋体" panose="02010600030101010101" pitchFamily="2" charset="-122"/>
              </a:rPr>
              <a:t>2”</a:t>
            </a:r>
            <a:r>
              <a:rPr kumimoji="1" lang="zh-CN" altLang="en-US" sz="2400" dirty="0">
                <a:latin typeface="宋体" panose="02010600030101010101" pitchFamily="2" charset="-122"/>
              </a:rPr>
              <a:t>。        </a:t>
            </a:r>
          </a:p>
        </p:txBody>
      </p:sp>
      <p:grpSp>
        <p:nvGrpSpPr>
          <p:cNvPr id="73731" name="Group 3"/>
          <p:cNvGrpSpPr>
            <a:grpSpLocks/>
          </p:cNvGrpSpPr>
          <p:nvPr/>
        </p:nvGrpSpPr>
        <p:grpSpPr bwMode="auto">
          <a:xfrm>
            <a:off x="7986210" y="2319618"/>
            <a:ext cx="2971800" cy="2819400"/>
            <a:chOff x="3696" y="2400"/>
            <a:chExt cx="1872" cy="1776"/>
          </a:xfrm>
        </p:grpSpPr>
        <p:sp>
          <p:nvSpPr>
            <p:cNvPr id="73733" name="AutoShape 4"/>
            <p:cNvSpPr>
              <a:spLocks noChangeArrowheads="1"/>
            </p:cNvSpPr>
            <p:nvPr/>
          </p:nvSpPr>
          <p:spPr bwMode="auto">
            <a:xfrm>
              <a:off x="3696" y="2400"/>
              <a:ext cx="1872" cy="1776"/>
            </a:xfrm>
            <a:prstGeom prst="flowChartProcess">
              <a:avLst/>
            </a:prstGeom>
            <a:gradFill rotWithShape="0">
              <a:gsLst>
                <a:gs pos="0">
                  <a:srgbClr val="5E9EFF"/>
                </a:gs>
                <a:gs pos="39999">
                  <a:srgbClr val="85C2FF"/>
                </a:gs>
                <a:gs pos="70000">
                  <a:srgbClr val="C4D6EB"/>
                </a:gs>
                <a:gs pos="100000">
                  <a:srgbClr val="FFEBF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3734" name="Line 5"/>
            <p:cNvSpPr>
              <a:spLocks noChangeShapeType="1"/>
            </p:cNvSpPr>
            <p:nvPr/>
          </p:nvSpPr>
          <p:spPr bwMode="auto">
            <a:xfrm>
              <a:off x="4111" y="3755"/>
              <a:ext cx="2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5" name="Line 6"/>
            <p:cNvSpPr>
              <a:spLocks noChangeShapeType="1"/>
            </p:cNvSpPr>
            <p:nvPr/>
          </p:nvSpPr>
          <p:spPr bwMode="auto">
            <a:xfrm>
              <a:off x="4441" y="3702"/>
              <a:ext cx="0"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6" name="Line 7"/>
            <p:cNvSpPr>
              <a:spLocks noChangeShapeType="1"/>
            </p:cNvSpPr>
            <p:nvPr/>
          </p:nvSpPr>
          <p:spPr bwMode="auto">
            <a:xfrm>
              <a:off x="4450" y="3755"/>
              <a:ext cx="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7" name="Oval 8"/>
            <p:cNvSpPr>
              <a:spLocks noChangeArrowheads="1"/>
            </p:cNvSpPr>
            <p:nvPr/>
          </p:nvSpPr>
          <p:spPr bwMode="auto">
            <a:xfrm>
              <a:off x="4944" y="3267"/>
              <a:ext cx="136" cy="1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3738" name="Text Box 9"/>
            <p:cNvSpPr txBox="1">
              <a:spLocks noChangeArrowheads="1"/>
            </p:cNvSpPr>
            <p:nvPr/>
          </p:nvSpPr>
          <p:spPr bwMode="auto">
            <a:xfrm>
              <a:off x="4916" y="3252"/>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a:latin typeface="Times New Roman" panose="02020603050405020304" pitchFamily="18" charset="0"/>
                </a:rPr>
                <a:t>G</a:t>
              </a:r>
            </a:p>
          </p:txBody>
        </p:sp>
        <p:sp>
          <p:nvSpPr>
            <p:cNvPr id="73739" name="Line 10"/>
            <p:cNvSpPr>
              <a:spLocks noChangeShapeType="1"/>
            </p:cNvSpPr>
            <p:nvPr/>
          </p:nvSpPr>
          <p:spPr bwMode="auto">
            <a:xfrm>
              <a:off x="4111" y="2761"/>
              <a:ext cx="2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0" name="Line 11"/>
            <p:cNvSpPr>
              <a:spLocks noChangeShapeType="1"/>
            </p:cNvSpPr>
            <p:nvPr/>
          </p:nvSpPr>
          <p:spPr bwMode="auto">
            <a:xfrm>
              <a:off x="4382" y="3311"/>
              <a:ext cx="0"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1" name="Line 12"/>
            <p:cNvSpPr>
              <a:spLocks noChangeShapeType="1"/>
            </p:cNvSpPr>
            <p:nvPr/>
          </p:nvSpPr>
          <p:spPr bwMode="auto">
            <a:xfrm>
              <a:off x="4441" y="3338"/>
              <a:ext cx="0"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2" name="Line 13"/>
            <p:cNvSpPr>
              <a:spLocks noChangeShapeType="1"/>
            </p:cNvSpPr>
            <p:nvPr/>
          </p:nvSpPr>
          <p:spPr bwMode="auto">
            <a:xfrm>
              <a:off x="4450" y="2761"/>
              <a:ext cx="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3743" name="Object 14"/>
            <p:cNvGraphicFramePr>
              <a:graphicFrameLocks noChangeAspect="1"/>
            </p:cNvGraphicFramePr>
            <p:nvPr/>
          </p:nvGraphicFramePr>
          <p:xfrm>
            <a:off x="4333" y="3790"/>
            <a:ext cx="188" cy="219"/>
          </p:xfrm>
          <a:graphic>
            <a:graphicData uri="http://schemas.openxmlformats.org/presentationml/2006/ole">
              <mc:AlternateContent xmlns:mc="http://schemas.openxmlformats.org/markup-compatibility/2006">
                <mc:Choice xmlns:v="urn:schemas-microsoft-com:vml" Requires="v">
                  <p:oleObj spid="_x0000_s73893" name="Equation" r:id="rId3" imgW="215713" imgH="241091" progId="Equation.3">
                    <p:embed/>
                  </p:oleObj>
                </mc:Choice>
                <mc:Fallback>
                  <p:oleObj name="Equation" r:id="rId3" imgW="215713" imgH="241091"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3" y="3790"/>
                          <a:ext cx="188"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44" name="Line 15"/>
            <p:cNvSpPr>
              <a:spLocks noChangeShapeType="1"/>
            </p:cNvSpPr>
            <p:nvPr/>
          </p:nvSpPr>
          <p:spPr bwMode="auto">
            <a:xfrm flipV="1">
              <a:off x="4673" y="3648"/>
              <a:ext cx="0" cy="1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5" name="Rectangle 16"/>
            <p:cNvSpPr>
              <a:spLocks noChangeArrowheads="1"/>
            </p:cNvSpPr>
            <p:nvPr/>
          </p:nvSpPr>
          <p:spPr bwMode="auto">
            <a:xfrm>
              <a:off x="4206" y="3045"/>
              <a:ext cx="984" cy="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3746" name="Line 17"/>
            <p:cNvSpPr>
              <a:spLocks noChangeShapeType="1"/>
            </p:cNvSpPr>
            <p:nvPr/>
          </p:nvSpPr>
          <p:spPr bwMode="auto">
            <a:xfrm>
              <a:off x="4113" y="3063"/>
              <a:ext cx="1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7" name="Line 18"/>
            <p:cNvSpPr>
              <a:spLocks noChangeShapeType="1"/>
            </p:cNvSpPr>
            <p:nvPr/>
          </p:nvSpPr>
          <p:spPr bwMode="auto">
            <a:xfrm>
              <a:off x="5198" y="3063"/>
              <a:ext cx="1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8" name="Rectangle 19"/>
            <p:cNvSpPr>
              <a:spLocks noChangeArrowheads="1"/>
            </p:cNvSpPr>
            <p:nvPr/>
          </p:nvSpPr>
          <p:spPr bwMode="auto">
            <a:xfrm>
              <a:off x="4681" y="2726"/>
              <a:ext cx="238" cy="7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3749" name="Line 20"/>
            <p:cNvSpPr>
              <a:spLocks noChangeShapeType="1"/>
            </p:cNvSpPr>
            <p:nvPr/>
          </p:nvSpPr>
          <p:spPr bwMode="auto">
            <a:xfrm>
              <a:off x="4927" y="2761"/>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0" name="Line 21"/>
            <p:cNvSpPr>
              <a:spLocks noChangeShapeType="1"/>
            </p:cNvSpPr>
            <p:nvPr/>
          </p:nvSpPr>
          <p:spPr bwMode="auto">
            <a:xfrm>
              <a:off x="5292" y="2761"/>
              <a:ext cx="0" cy="3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1" name="Line 22"/>
            <p:cNvSpPr>
              <a:spLocks noChangeShapeType="1"/>
            </p:cNvSpPr>
            <p:nvPr/>
          </p:nvSpPr>
          <p:spPr bwMode="auto">
            <a:xfrm flipV="1">
              <a:off x="4706" y="2619"/>
              <a:ext cx="238" cy="24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2" name="Text Box 23"/>
            <p:cNvSpPr txBox="1">
              <a:spLocks noChangeArrowheads="1"/>
            </p:cNvSpPr>
            <p:nvPr/>
          </p:nvSpPr>
          <p:spPr bwMode="auto">
            <a:xfrm>
              <a:off x="3888" y="2928"/>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A</a:t>
              </a:r>
            </a:p>
          </p:txBody>
        </p:sp>
        <p:sp>
          <p:nvSpPr>
            <p:cNvPr id="73753" name="Text Box 24"/>
            <p:cNvSpPr txBox="1">
              <a:spLocks noChangeArrowheads="1"/>
            </p:cNvSpPr>
            <p:nvPr/>
          </p:nvSpPr>
          <p:spPr bwMode="auto">
            <a:xfrm>
              <a:off x="5247" y="2940"/>
              <a:ext cx="24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B</a:t>
              </a:r>
            </a:p>
          </p:txBody>
        </p:sp>
        <p:sp>
          <p:nvSpPr>
            <p:cNvPr id="73754" name="Text Box 25"/>
            <p:cNvSpPr txBox="1">
              <a:spLocks noChangeArrowheads="1"/>
            </p:cNvSpPr>
            <p:nvPr/>
          </p:nvSpPr>
          <p:spPr bwMode="auto">
            <a:xfrm>
              <a:off x="4715" y="2808"/>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C</a:t>
              </a:r>
            </a:p>
          </p:txBody>
        </p:sp>
        <p:sp>
          <p:nvSpPr>
            <p:cNvPr id="73755" name="Text Box 26"/>
            <p:cNvSpPr txBox="1">
              <a:spLocks noChangeArrowheads="1"/>
            </p:cNvSpPr>
            <p:nvPr/>
          </p:nvSpPr>
          <p:spPr bwMode="auto">
            <a:xfrm>
              <a:off x="4701" y="2546"/>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R</a:t>
              </a:r>
            </a:p>
          </p:txBody>
        </p:sp>
        <p:sp>
          <p:nvSpPr>
            <p:cNvPr id="73756" name="Line 27"/>
            <p:cNvSpPr>
              <a:spLocks noChangeShapeType="1"/>
            </p:cNvSpPr>
            <p:nvPr/>
          </p:nvSpPr>
          <p:spPr bwMode="auto">
            <a:xfrm>
              <a:off x="4393" y="3675"/>
              <a:ext cx="0" cy="1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7" name="Line 28"/>
            <p:cNvSpPr>
              <a:spLocks noChangeShapeType="1"/>
            </p:cNvSpPr>
            <p:nvPr/>
          </p:nvSpPr>
          <p:spPr bwMode="auto">
            <a:xfrm>
              <a:off x="4113" y="2761"/>
              <a:ext cx="0" cy="9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8" name="Line 29"/>
            <p:cNvSpPr>
              <a:spLocks noChangeShapeType="1"/>
            </p:cNvSpPr>
            <p:nvPr/>
          </p:nvSpPr>
          <p:spPr bwMode="auto">
            <a:xfrm>
              <a:off x="4113" y="3400"/>
              <a:ext cx="2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9" name="Line 30"/>
            <p:cNvSpPr>
              <a:spLocks noChangeShapeType="1"/>
            </p:cNvSpPr>
            <p:nvPr/>
          </p:nvSpPr>
          <p:spPr bwMode="auto">
            <a:xfrm>
              <a:off x="4435" y="3406"/>
              <a:ext cx="2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0" name="Line 31"/>
            <p:cNvSpPr>
              <a:spLocks noChangeShapeType="1"/>
            </p:cNvSpPr>
            <p:nvPr/>
          </p:nvSpPr>
          <p:spPr bwMode="auto">
            <a:xfrm>
              <a:off x="4673" y="3400"/>
              <a:ext cx="0"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1" name="Text Box 32"/>
            <p:cNvSpPr txBox="1">
              <a:spLocks noChangeArrowheads="1"/>
            </p:cNvSpPr>
            <p:nvPr/>
          </p:nvSpPr>
          <p:spPr bwMode="auto">
            <a:xfrm>
              <a:off x="4538" y="3324"/>
              <a:ext cx="43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rPr>
                <a:t>。</a:t>
              </a:r>
            </a:p>
          </p:txBody>
        </p:sp>
        <p:sp>
          <p:nvSpPr>
            <p:cNvPr id="73762" name="Rectangle 33"/>
            <p:cNvSpPr>
              <a:spLocks noChangeArrowheads="1"/>
            </p:cNvSpPr>
            <p:nvPr/>
          </p:nvSpPr>
          <p:spPr bwMode="auto">
            <a:xfrm>
              <a:off x="4712" y="3240"/>
              <a:ext cx="43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rPr>
                <a:t>。</a:t>
              </a:r>
            </a:p>
          </p:txBody>
        </p:sp>
        <p:sp>
          <p:nvSpPr>
            <p:cNvPr id="73763" name="Rectangle 34"/>
            <p:cNvSpPr>
              <a:spLocks noChangeArrowheads="1"/>
            </p:cNvSpPr>
            <p:nvPr/>
          </p:nvSpPr>
          <p:spPr bwMode="auto">
            <a:xfrm>
              <a:off x="4524" y="3206"/>
              <a:ext cx="43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rPr>
                <a:t>。</a:t>
              </a:r>
            </a:p>
          </p:txBody>
        </p:sp>
        <p:sp>
          <p:nvSpPr>
            <p:cNvPr id="73764" name="Freeform 35"/>
            <p:cNvSpPr>
              <a:spLocks/>
            </p:cNvSpPr>
            <p:nvPr/>
          </p:nvSpPr>
          <p:spPr bwMode="auto">
            <a:xfrm>
              <a:off x="4834" y="3063"/>
              <a:ext cx="161" cy="204"/>
            </a:xfrm>
            <a:custGeom>
              <a:avLst/>
              <a:gdLst>
                <a:gd name="T0" fmla="*/ 1 w 228"/>
                <a:gd name="T1" fmla="*/ 2 h 276"/>
                <a:gd name="T2" fmla="*/ 1 w 228"/>
                <a:gd name="T3" fmla="*/ 2 h 276"/>
                <a:gd name="T4" fmla="*/ 1 w 228"/>
                <a:gd name="T5" fmla="*/ 1 h 276"/>
                <a:gd name="T6" fmla="*/ 0 w 228"/>
                <a:gd name="T7" fmla="*/ 0 h 276"/>
                <a:gd name="T8" fmla="*/ 0 60000 65536"/>
                <a:gd name="T9" fmla="*/ 0 60000 65536"/>
                <a:gd name="T10" fmla="*/ 0 60000 65536"/>
                <a:gd name="T11" fmla="*/ 0 60000 65536"/>
                <a:gd name="T12" fmla="*/ 0 w 228"/>
                <a:gd name="T13" fmla="*/ 0 h 276"/>
                <a:gd name="T14" fmla="*/ 228 w 228"/>
                <a:gd name="T15" fmla="*/ 276 h 276"/>
              </a:gdLst>
              <a:ahLst/>
              <a:cxnLst>
                <a:cxn ang="T8">
                  <a:pos x="T0" y="T1"/>
                </a:cxn>
                <a:cxn ang="T9">
                  <a:pos x="T2" y="T3"/>
                </a:cxn>
                <a:cxn ang="T10">
                  <a:pos x="T4" y="T5"/>
                </a:cxn>
                <a:cxn ang="T11">
                  <a:pos x="T6" y="T7"/>
                </a:cxn>
              </a:cxnLst>
              <a:rect l="T12" t="T13" r="T14" b="T15"/>
              <a:pathLst>
                <a:path w="228" h="276">
                  <a:moveTo>
                    <a:pt x="228" y="276"/>
                  </a:moveTo>
                  <a:cubicBezTo>
                    <a:pt x="201" y="262"/>
                    <a:pt x="170" y="255"/>
                    <a:pt x="144" y="240"/>
                  </a:cubicBezTo>
                  <a:cubicBezTo>
                    <a:pt x="114" y="223"/>
                    <a:pt x="89" y="199"/>
                    <a:pt x="60" y="180"/>
                  </a:cubicBezTo>
                  <a:cubicBezTo>
                    <a:pt x="24" y="126"/>
                    <a:pt x="0" y="65"/>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65" name="Text Box 36"/>
            <p:cNvSpPr txBox="1">
              <a:spLocks noChangeArrowheads="1"/>
            </p:cNvSpPr>
            <p:nvPr/>
          </p:nvSpPr>
          <p:spPr bwMode="auto">
            <a:xfrm>
              <a:off x="4456" y="334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1</a:t>
              </a:r>
            </a:p>
          </p:txBody>
        </p:sp>
        <p:sp>
          <p:nvSpPr>
            <p:cNvPr id="73766" name="Text Box 37"/>
            <p:cNvSpPr txBox="1">
              <a:spLocks noChangeArrowheads="1"/>
            </p:cNvSpPr>
            <p:nvPr/>
          </p:nvSpPr>
          <p:spPr bwMode="auto">
            <a:xfrm>
              <a:off x="4464" y="35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2</a:t>
              </a:r>
            </a:p>
          </p:txBody>
        </p:sp>
        <p:sp>
          <p:nvSpPr>
            <p:cNvPr id="73767" name="Freeform 38"/>
            <p:cNvSpPr>
              <a:spLocks/>
            </p:cNvSpPr>
            <p:nvPr/>
          </p:nvSpPr>
          <p:spPr bwMode="auto">
            <a:xfrm>
              <a:off x="4868" y="3406"/>
              <a:ext cx="154" cy="160"/>
            </a:xfrm>
            <a:custGeom>
              <a:avLst/>
              <a:gdLst>
                <a:gd name="T0" fmla="*/ 0 w 218"/>
                <a:gd name="T1" fmla="*/ 1 h 216"/>
                <a:gd name="T2" fmla="*/ 1 w 218"/>
                <a:gd name="T3" fmla="*/ 1 h 216"/>
                <a:gd name="T4" fmla="*/ 1 w 218"/>
                <a:gd name="T5" fmla="*/ 1 h 216"/>
                <a:gd name="T6" fmla="*/ 1 w 218"/>
                <a:gd name="T7" fmla="*/ 1 h 216"/>
                <a:gd name="T8" fmla="*/ 0 60000 65536"/>
                <a:gd name="T9" fmla="*/ 0 60000 65536"/>
                <a:gd name="T10" fmla="*/ 0 60000 65536"/>
                <a:gd name="T11" fmla="*/ 0 60000 65536"/>
                <a:gd name="T12" fmla="*/ 0 w 218"/>
                <a:gd name="T13" fmla="*/ 0 h 216"/>
                <a:gd name="T14" fmla="*/ 218 w 218"/>
                <a:gd name="T15" fmla="*/ 216 h 216"/>
              </a:gdLst>
              <a:ahLst/>
              <a:cxnLst>
                <a:cxn ang="T8">
                  <a:pos x="T0" y="T1"/>
                </a:cxn>
                <a:cxn ang="T9">
                  <a:pos x="T2" y="T3"/>
                </a:cxn>
                <a:cxn ang="T10">
                  <a:pos x="T4" y="T5"/>
                </a:cxn>
                <a:cxn ang="T11">
                  <a:pos x="T6" y="T7"/>
                </a:cxn>
              </a:cxnLst>
              <a:rect l="T12" t="T13" r="T14" b="T15"/>
              <a:pathLst>
                <a:path w="218" h="216">
                  <a:moveTo>
                    <a:pt x="0" y="196"/>
                  </a:moveTo>
                  <a:cubicBezTo>
                    <a:pt x="61" y="216"/>
                    <a:pt x="115" y="208"/>
                    <a:pt x="168" y="172"/>
                  </a:cubicBezTo>
                  <a:cubicBezTo>
                    <a:pt x="172" y="141"/>
                    <a:pt x="175" y="86"/>
                    <a:pt x="192" y="52"/>
                  </a:cubicBezTo>
                  <a:cubicBezTo>
                    <a:pt x="218" y="0"/>
                    <a:pt x="216" y="34"/>
                    <a:pt x="216" y="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68" name="Text Box 39"/>
            <p:cNvSpPr txBox="1">
              <a:spLocks noChangeArrowheads="1"/>
            </p:cNvSpPr>
            <p:nvPr/>
          </p:nvSpPr>
          <p:spPr bwMode="auto">
            <a:xfrm>
              <a:off x="4764" y="354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K</a:t>
              </a:r>
            </a:p>
          </p:txBody>
        </p:sp>
        <p:sp>
          <p:nvSpPr>
            <p:cNvPr id="73769" name="Line 40"/>
            <p:cNvSpPr>
              <a:spLocks noChangeShapeType="1"/>
            </p:cNvSpPr>
            <p:nvPr/>
          </p:nvSpPr>
          <p:spPr bwMode="auto">
            <a:xfrm flipH="1">
              <a:off x="4673" y="3542"/>
              <a:ext cx="13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3770" name="Object 41"/>
            <p:cNvGraphicFramePr>
              <a:graphicFrameLocks noChangeAspect="1"/>
            </p:cNvGraphicFramePr>
            <p:nvPr/>
          </p:nvGraphicFramePr>
          <p:xfrm>
            <a:off x="4364" y="2448"/>
            <a:ext cx="176" cy="242"/>
          </p:xfrm>
          <a:graphic>
            <a:graphicData uri="http://schemas.openxmlformats.org/presentationml/2006/ole">
              <mc:AlternateContent xmlns:mc="http://schemas.openxmlformats.org/markup-compatibility/2006">
                <mc:Choice xmlns:v="urn:schemas-microsoft-com:vml" Requires="v">
                  <p:oleObj spid="_x0000_s73894" name="Equation" r:id="rId5" imgW="203024" imgH="266469" progId="Equation.3">
                    <p:embed/>
                  </p:oleObj>
                </mc:Choice>
                <mc:Fallback>
                  <p:oleObj name="Equation" r:id="rId5" imgW="203024" imgH="266469" progId="Equation.3">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4" y="2448"/>
                          <a:ext cx="176"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71" name="Object 42"/>
            <p:cNvGraphicFramePr>
              <a:graphicFrameLocks noChangeAspect="1"/>
            </p:cNvGraphicFramePr>
            <p:nvPr/>
          </p:nvGraphicFramePr>
          <p:xfrm>
            <a:off x="4333" y="3081"/>
            <a:ext cx="176" cy="218"/>
          </p:xfrm>
          <a:graphic>
            <a:graphicData uri="http://schemas.openxmlformats.org/presentationml/2006/ole">
              <mc:AlternateContent xmlns:mc="http://schemas.openxmlformats.org/markup-compatibility/2006">
                <mc:Choice xmlns:v="urn:schemas-microsoft-com:vml" Requires="v">
                  <p:oleObj spid="_x0000_s73895" name="Equation" r:id="rId7" imgW="203112" imgH="241195" progId="Equation.3">
                    <p:embed/>
                  </p:oleObj>
                </mc:Choice>
                <mc:Fallback>
                  <p:oleObj name="Equation" r:id="rId7" imgW="203112" imgH="241195" progId="Equation.3">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33" y="3081"/>
                          <a:ext cx="176"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72" name="Line 43"/>
            <p:cNvSpPr>
              <a:spLocks noChangeShapeType="1"/>
            </p:cNvSpPr>
            <p:nvPr/>
          </p:nvSpPr>
          <p:spPr bwMode="auto">
            <a:xfrm>
              <a:off x="4384" y="2673"/>
              <a:ext cx="0" cy="1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3" name="Line 44"/>
            <p:cNvSpPr>
              <a:spLocks noChangeShapeType="1"/>
            </p:cNvSpPr>
            <p:nvPr/>
          </p:nvSpPr>
          <p:spPr bwMode="auto">
            <a:xfrm>
              <a:off x="4444" y="2699"/>
              <a:ext cx="0" cy="1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4" name="Text Box 45"/>
            <p:cNvSpPr txBox="1">
              <a:spLocks noChangeArrowheads="1"/>
            </p:cNvSpPr>
            <p:nvPr/>
          </p:nvSpPr>
          <p:spPr bwMode="auto">
            <a:xfrm>
              <a:off x="4615" y="3888"/>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(c)</a:t>
              </a:r>
            </a:p>
          </p:txBody>
        </p:sp>
        <p:sp>
          <p:nvSpPr>
            <p:cNvPr id="73775" name="Line 46"/>
            <p:cNvSpPr>
              <a:spLocks noChangeShapeType="1"/>
            </p:cNvSpPr>
            <p:nvPr/>
          </p:nvSpPr>
          <p:spPr bwMode="auto">
            <a:xfrm>
              <a:off x="4028" y="2767"/>
              <a:ext cx="0" cy="2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76" name="Line 47"/>
            <p:cNvSpPr>
              <a:spLocks noChangeShapeType="1"/>
            </p:cNvSpPr>
            <p:nvPr/>
          </p:nvSpPr>
          <p:spPr bwMode="auto">
            <a:xfrm>
              <a:off x="4032" y="3216"/>
              <a:ext cx="0" cy="2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77" name="Line 48"/>
            <p:cNvSpPr>
              <a:spLocks noChangeShapeType="1"/>
            </p:cNvSpPr>
            <p:nvPr/>
          </p:nvSpPr>
          <p:spPr bwMode="auto">
            <a:xfrm>
              <a:off x="4232" y="2980"/>
              <a:ext cx="27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78" name="Text Box 49"/>
            <p:cNvSpPr txBox="1">
              <a:spLocks noChangeArrowheads="1"/>
            </p:cNvSpPr>
            <p:nvPr/>
          </p:nvSpPr>
          <p:spPr bwMode="auto">
            <a:xfrm>
              <a:off x="4476" y="2796"/>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I</a:t>
              </a:r>
            </a:p>
          </p:txBody>
        </p:sp>
        <p:sp>
          <p:nvSpPr>
            <p:cNvPr id="73779" name="Text Box 50"/>
            <p:cNvSpPr txBox="1">
              <a:spLocks noChangeArrowheads="1"/>
            </p:cNvSpPr>
            <p:nvPr/>
          </p:nvSpPr>
          <p:spPr bwMode="auto">
            <a:xfrm>
              <a:off x="3803" y="2726"/>
              <a:ext cx="25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I</a:t>
              </a:r>
              <a:r>
                <a:rPr kumimoji="1" lang="en-US" altLang="zh-CN" sz="1800">
                  <a:latin typeface="Times New Roman" panose="02020603050405020304" pitchFamily="18" charset="0"/>
                </a:rPr>
                <a:t>1</a:t>
              </a:r>
            </a:p>
          </p:txBody>
        </p:sp>
        <p:sp>
          <p:nvSpPr>
            <p:cNvPr id="73780" name="Text Box 51"/>
            <p:cNvSpPr txBox="1">
              <a:spLocks noChangeArrowheads="1"/>
            </p:cNvSpPr>
            <p:nvPr/>
          </p:nvSpPr>
          <p:spPr bwMode="auto">
            <a:xfrm>
              <a:off x="3792" y="3168"/>
              <a:ext cx="2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a:latin typeface="Times New Roman" panose="02020603050405020304" pitchFamily="18" charset="0"/>
                </a:rPr>
                <a:t>I</a:t>
              </a:r>
              <a:r>
                <a:rPr kumimoji="1" lang="en-US" altLang="zh-CN" sz="2000">
                  <a:latin typeface="Times New Roman" panose="02020603050405020304" pitchFamily="18" charset="0"/>
                </a:rPr>
                <a:t>2</a:t>
              </a:r>
            </a:p>
          </p:txBody>
        </p:sp>
        <p:graphicFrame>
          <p:nvGraphicFramePr>
            <p:cNvPr id="73781" name="Object 52"/>
            <p:cNvGraphicFramePr>
              <a:graphicFrameLocks noChangeAspect="1"/>
            </p:cNvGraphicFramePr>
            <p:nvPr/>
          </p:nvGraphicFramePr>
          <p:xfrm>
            <a:off x="4498" y="3066"/>
            <a:ext cx="175" cy="231"/>
          </p:xfrm>
          <a:graphic>
            <a:graphicData uri="http://schemas.openxmlformats.org/presentationml/2006/ole">
              <mc:AlternateContent xmlns:mc="http://schemas.openxmlformats.org/markup-compatibility/2006">
                <mc:Choice xmlns:v="urn:schemas-microsoft-com:vml" Requires="v">
                  <p:oleObj spid="_x0000_s73896" name="Equation" r:id="rId9" imgW="190417" imgH="241195" progId="Equation.3">
                    <p:embed/>
                  </p:oleObj>
                </mc:Choice>
                <mc:Fallback>
                  <p:oleObj name="Equation" r:id="rId9" imgW="190417" imgH="241195" progId="Equation.3">
                    <p:embed/>
                    <p:pic>
                      <p:nvPicPr>
                        <p:cNvPr id="0" name="Object 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8" y="3066"/>
                          <a:ext cx="17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82" name="Object 53"/>
            <p:cNvGraphicFramePr>
              <a:graphicFrameLocks noChangeAspect="1"/>
            </p:cNvGraphicFramePr>
            <p:nvPr/>
          </p:nvGraphicFramePr>
          <p:xfrm>
            <a:off x="4498" y="3775"/>
            <a:ext cx="175" cy="232"/>
          </p:xfrm>
          <a:graphic>
            <a:graphicData uri="http://schemas.openxmlformats.org/presentationml/2006/ole">
              <mc:AlternateContent xmlns:mc="http://schemas.openxmlformats.org/markup-compatibility/2006">
                <mc:Choice xmlns:v="urn:schemas-microsoft-com:vml" Requires="v">
                  <p:oleObj spid="_x0000_s73897" name="Equation" r:id="rId11" imgW="190417" imgH="241195" progId="Equation.3">
                    <p:embed/>
                  </p:oleObj>
                </mc:Choice>
                <mc:Fallback>
                  <p:oleObj name="Equation" r:id="rId11" imgW="190417" imgH="241195" progId="Equation.3">
                    <p:embed/>
                    <p:pic>
                      <p:nvPicPr>
                        <p:cNvPr id="0" name="Object 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98" y="3775"/>
                          <a:ext cx="175"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732" name="Rectangle 54"/>
          <p:cNvSpPr>
            <a:spLocks noChangeArrowheads="1"/>
          </p:cNvSpPr>
          <p:nvPr/>
        </p:nvSpPr>
        <p:spPr bwMode="auto">
          <a:xfrm>
            <a:off x="605389" y="2670403"/>
            <a:ext cx="672835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dirty="0">
                <a:latin typeface="宋体" panose="02010600030101010101" pitchFamily="2" charset="-122"/>
              </a:rPr>
              <a:t>校准时，即把标准电池接入补偿回路。把滑动接头</a:t>
            </a:r>
            <a:r>
              <a:rPr kumimoji="1" lang="en-US" altLang="zh-CN" sz="2400" dirty="0">
                <a:latin typeface="宋体" panose="02010600030101010101" pitchFamily="2" charset="-122"/>
              </a:rPr>
              <a:t>C</a:t>
            </a:r>
            <a:r>
              <a:rPr kumimoji="1" lang="zh-CN" altLang="en-US" sz="2400" dirty="0">
                <a:latin typeface="宋体" panose="02010600030101010101" pitchFamily="2" charset="-122"/>
              </a:rPr>
              <a:t>拔到对应于标准电池电动势熟知的位置上，观察检流计</a:t>
            </a:r>
            <a:r>
              <a:rPr kumimoji="1" lang="en-US" altLang="zh-CN" sz="2400" dirty="0">
                <a:latin typeface="宋体" panose="02010600030101010101" pitchFamily="2" charset="-122"/>
              </a:rPr>
              <a:t>G</a:t>
            </a:r>
            <a:r>
              <a:rPr kumimoji="1" lang="zh-CN" altLang="en-US" sz="2400" dirty="0">
                <a:latin typeface="宋体" panose="02010600030101010101" pitchFamily="2" charset="-122"/>
              </a:rPr>
              <a:t>的指针有无偏转。如果检流计</a:t>
            </a:r>
            <a:r>
              <a:rPr kumimoji="1" lang="en-US" altLang="zh-CN" sz="2400" dirty="0">
                <a:latin typeface="宋体" panose="02010600030101010101" pitchFamily="2" charset="-122"/>
              </a:rPr>
              <a:t>G</a:t>
            </a:r>
            <a:r>
              <a:rPr kumimoji="1" lang="zh-CN" altLang="en-US" sz="2400" dirty="0">
                <a:latin typeface="宋体" panose="02010600030101010101" pitchFamily="2" charset="-122"/>
              </a:rPr>
              <a:t>的指针有偏转，则表明这时工作电流</a:t>
            </a:r>
            <a:r>
              <a:rPr kumimoji="1" lang="en-US" altLang="zh-CN" sz="2400" dirty="0">
                <a:latin typeface="宋体" panose="02010600030101010101" pitchFamily="2" charset="-122"/>
              </a:rPr>
              <a:t>I</a:t>
            </a:r>
            <a:r>
              <a:rPr kumimoji="1" lang="zh-CN" altLang="en-US" sz="2400" dirty="0">
                <a:latin typeface="宋体" panose="02010600030101010101" pitchFamily="2" charset="-122"/>
              </a:rPr>
              <a:t>偏离标定值。</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335360" y="773114"/>
            <a:ext cx="11386265" cy="443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55600">
              <a:spcBef>
                <a:spcPct val="20000"/>
              </a:spcBef>
              <a:buChar char="•"/>
              <a:tabLst>
                <a:tab pos="17430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17430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17430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17430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174307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kumimoji="1" lang="en-US" altLang="zh-CN" sz="2400" dirty="0">
                <a:latin typeface="宋体" panose="02010600030101010101" pitchFamily="2" charset="-122"/>
              </a:rPr>
              <a:t>  </a:t>
            </a:r>
            <a:r>
              <a:rPr kumimoji="1" lang="zh-CN" altLang="en-US" sz="2400" dirty="0">
                <a:latin typeface="宋体" panose="02010600030101010101" pitchFamily="2" charset="-122"/>
              </a:rPr>
              <a:t>于是，调节制流电阻</a:t>
            </a:r>
            <a:r>
              <a:rPr kumimoji="1" lang="en-US" altLang="zh-CN" sz="2400" dirty="0">
                <a:latin typeface="宋体" panose="02010600030101010101" pitchFamily="2" charset="-122"/>
              </a:rPr>
              <a:t>R,</a:t>
            </a:r>
            <a:r>
              <a:rPr kumimoji="1" lang="zh-CN" altLang="en-US" sz="2400" dirty="0">
                <a:latin typeface="宋体" panose="02010600030101010101" pitchFamily="2" charset="-122"/>
              </a:rPr>
              <a:t>直到检流计</a:t>
            </a:r>
            <a:r>
              <a:rPr kumimoji="1" lang="en-US" altLang="zh-CN" sz="2400" dirty="0">
                <a:latin typeface="宋体" panose="02010600030101010101" pitchFamily="2" charset="-122"/>
              </a:rPr>
              <a:t>G</a:t>
            </a:r>
            <a:r>
              <a:rPr kumimoji="1" lang="zh-CN" altLang="en-US" sz="2400" dirty="0">
                <a:latin typeface="宋体" panose="02010600030101010101" pitchFamily="2" charset="-122"/>
              </a:rPr>
              <a:t>的指针没有偏转，即电流达到平衡。这时，工作电流准确地达到标定值，校准工作就完成了。</a:t>
            </a:r>
          </a:p>
          <a:p>
            <a:pPr algn="just" eaLnBrk="1" hangingPunct="1">
              <a:lnSpc>
                <a:spcPct val="150000"/>
              </a:lnSpc>
              <a:spcBef>
                <a:spcPct val="0"/>
              </a:spcBef>
              <a:buFontTx/>
              <a:buNone/>
            </a:pPr>
            <a:r>
              <a:rPr kumimoji="1" lang="zh-CN" altLang="en-US" sz="2400" dirty="0">
                <a:latin typeface="宋体" panose="02010600030101010101" pitchFamily="2" charset="-122"/>
              </a:rPr>
              <a:t>  测量时，即把待测电源接入补偿回路。这时不应再动制流电阻</a:t>
            </a:r>
            <a:r>
              <a:rPr kumimoji="1" lang="en-US" altLang="zh-CN" sz="2400" dirty="0">
                <a:latin typeface="宋体" panose="02010600030101010101" pitchFamily="2" charset="-122"/>
              </a:rPr>
              <a:t>R,</a:t>
            </a:r>
            <a:r>
              <a:rPr kumimoji="1" lang="zh-CN" altLang="en-US" sz="2400" dirty="0">
                <a:latin typeface="宋体" panose="02010600030101010101" pitchFamily="2" charset="-122"/>
              </a:rPr>
              <a:t>而只需拨动滑动接头</a:t>
            </a:r>
            <a:r>
              <a:rPr kumimoji="1" lang="en-US" altLang="zh-CN" sz="2400" dirty="0">
                <a:latin typeface="宋体" panose="02010600030101010101" pitchFamily="2" charset="-122"/>
              </a:rPr>
              <a:t>C</a:t>
            </a:r>
            <a:r>
              <a:rPr kumimoji="1" lang="zh-CN" altLang="en-US" sz="2400" dirty="0">
                <a:latin typeface="宋体" panose="02010600030101010101" pitchFamily="2" charset="-122"/>
              </a:rPr>
              <a:t>，找到平衡位置，就可以从仪器的面板上直接读出待测电动势的数值。</a:t>
            </a:r>
          </a:p>
          <a:p>
            <a:pPr algn="just" eaLnBrk="1" hangingPunct="1">
              <a:lnSpc>
                <a:spcPct val="150000"/>
              </a:lnSpc>
              <a:spcBef>
                <a:spcPct val="0"/>
              </a:spcBef>
              <a:buFontTx/>
              <a:buNone/>
            </a:pPr>
            <a:r>
              <a:rPr kumimoji="1" lang="zh-CN" altLang="en-US" sz="2400" dirty="0">
                <a:latin typeface="宋体" panose="02010600030101010101" pitchFamily="2" charset="-122"/>
              </a:rPr>
              <a:t>  总结上面所说，使用电位差计时，总是先校准后测量，不论校准或测量，所根据的都是同样的补偿原理。</a:t>
            </a:r>
          </a:p>
          <a:p>
            <a:pPr algn="just" eaLnBrk="1" hangingPunct="1">
              <a:lnSpc>
                <a:spcPct val="150000"/>
              </a:lnSpc>
              <a:spcBef>
                <a:spcPct val="0"/>
              </a:spcBef>
              <a:buFontTx/>
              <a:buNone/>
            </a:pPr>
            <a:r>
              <a:rPr kumimoji="1" lang="zh-CN" altLang="en-US" sz="2400" dirty="0">
                <a:latin typeface="宋体" panose="02010600030101010101" pitchFamily="2" charset="-122"/>
              </a:rPr>
              <a:t>  用电位差计测量电源电动势，要求标准电阻的阻值和标准电池的电动势都很准确，如果再选用高灵敏度的检流计，那么测量结果就可以有很高的准确度。</a:t>
            </a:r>
          </a:p>
        </p:txBody>
      </p:sp>
      <p:graphicFrame>
        <p:nvGraphicFramePr>
          <p:cNvPr id="74755" name="Object 3"/>
          <p:cNvGraphicFramePr>
            <a:graphicFrameLocks noChangeAspect="1"/>
          </p:cNvGraphicFramePr>
          <p:nvPr/>
        </p:nvGraphicFramePr>
        <p:xfrm>
          <a:off x="1524000" y="3641726"/>
          <a:ext cx="114300" cy="219075"/>
        </p:xfrm>
        <a:graphic>
          <a:graphicData uri="http://schemas.openxmlformats.org/presentationml/2006/ole">
            <mc:AlternateContent xmlns:mc="http://schemas.openxmlformats.org/markup-compatibility/2006">
              <mc:Choice xmlns:v="urn:schemas-microsoft-com:vml" Requires="v">
                <p:oleObj spid="_x0000_s74778" r:id="rId3" imgW="114151" imgH="215619" progId="Equation.3">
                  <p:embed/>
                </p:oleObj>
              </mc:Choice>
              <mc:Fallback>
                <p:oleObj r:id="rId3"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641726"/>
                        <a:ext cx="11430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698930" y="1403545"/>
            <a:ext cx="4698233" cy="2467254"/>
          </a:xfrm>
          <a:prstGeom prst="rect">
            <a:avLst/>
          </a:prstGeom>
        </p:spPr>
      </p:pic>
      <p:graphicFrame>
        <p:nvGraphicFramePr>
          <p:cNvPr id="8" name="对象 7"/>
          <p:cNvGraphicFramePr>
            <a:graphicFrameLocks noChangeAspect="1"/>
          </p:cNvGraphicFramePr>
          <p:nvPr/>
        </p:nvGraphicFramePr>
        <p:xfrm>
          <a:off x="1111946" y="5247553"/>
          <a:ext cx="2731920" cy="807698"/>
        </p:xfrm>
        <a:graphic>
          <a:graphicData uri="http://schemas.openxmlformats.org/presentationml/2006/ole">
            <mc:AlternateContent xmlns:mc="http://schemas.openxmlformats.org/markup-compatibility/2006">
              <mc:Choice xmlns:v="urn:schemas-microsoft-com:vml" Requires="v">
                <p:oleObj spid="_x0000_s76804" name="Equation" r:id="rId5" imgW="35052000" imgH="10363200" progId="Equation.DSMT4">
                  <p:embed/>
                </p:oleObj>
              </mc:Choice>
              <mc:Fallback>
                <p:oleObj name="Equation" r:id="rId5" imgW="35052000" imgH="10363200" progId="Equation.DSMT4">
                  <p:embed/>
                  <p:pic>
                    <p:nvPicPr>
                      <p:cNvPr id="8" name="对象 7"/>
                      <p:cNvPicPr/>
                      <p:nvPr/>
                    </p:nvPicPr>
                    <p:blipFill>
                      <a:blip r:embed="rId6"/>
                      <a:stretch>
                        <a:fillRect/>
                      </a:stretch>
                    </p:blipFill>
                    <p:spPr>
                      <a:xfrm>
                        <a:off x="1111946" y="5247553"/>
                        <a:ext cx="2731920" cy="807698"/>
                      </a:xfrm>
                      <a:prstGeom prst="rect">
                        <a:avLst/>
                      </a:prstGeom>
                    </p:spPr>
                  </p:pic>
                </p:oleObj>
              </mc:Fallback>
            </mc:AlternateContent>
          </a:graphicData>
        </a:graphic>
      </p:graphicFrame>
      <p:pic>
        <p:nvPicPr>
          <p:cNvPr id="9" name="图片 8"/>
          <p:cNvPicPr>
            <a:picLocks noChangeAspect="1"/>
          </p:cNvPicPr>
          <p:nvPr/>
        </p:nvPicPr>
        <p:blipFill>
          <a:blip r:embed="rId7"/>
          <a:stretch>
            <a:fillRect/>
          </a:stretch>
        </p:blipFill>
        <p:spPr>
          <a:xfrm>
            <a:off x="8948169" y="1280661"/>
            <a:ext cx="2650067" cy="2505720"/>
          </a:xfrm>
          <a:prstGeom prst="rect">
            <a:avLst/>
          </a:prstGeom>
        </p:spPr>
      </p:pic>
      <p:sp>
        <p:nvSpPr>
          <p:cNvPr id="10" name="文本框 9"/>
          <p:cNvSpPr txBox="1"/>
          <p:nvPr/>
        </p:nvSpPr>
        <p:spPr>
          <a:xfrm>
            <a:off x="559567" y="176593"/>
            <a:ext cx="7870330" cy="499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R="0" lvl="0" indent="0" fontAlgn="auto">
              <a:lnSpc>
                <a:spcPts val="3600"/>
              </a:lnSpc>
              <a:spcBef>
                <a:spcPts val="0"/>
              </a:spcBef>
              <a:spcAft>
                <a:spcPts val="0"/>
              </a:spcAft>
              <a:buClrTx/>
              <a:buSzTx/>
              <a:buFontTx/>
              <a:buNone/>
              <a:defRPr kumimoji="0" sz="2800" b="1" i="0" u="none" strike="noStrike" cap="none" spc="0" normalizeH="0" baseline="0">
                <a:ln>
                  <a:noFill/>
                </a:ln>
                <a:solidFill>
                  <a:srgbClr val="000000"/>
                </a:solidFill>
                <a:effectLst/>
                <a:uLnTx/>
                <a:uFillTx/>
                <a:latin typeface="黑体" panose="02010609060101010101" pitchFamily="49" charset="-122"/>
                <a:ea typeface="黑体" panose="02010609060101010101" pitchFamily="49" charset="-122"/>
              </a:defRPr>
            </a:lvl1pPr>
            <a:lvl2pPr marL="742950" indent="-285750">
              <a:defRPr>
                <a:latin typeface="Arial" panose="020B0604020202020204" pitchFamily="34" charset="0"/>
                <a:ea typeface="黑体" panose="02010609060101010101" pitchFamily="49" charset="-122"/>
              </a:defRPr>
            </a:lvl2pPr>
            <a:lvl3pPr marL="1143000" indent="-228600">
              <a:defRPr>
                <a:latin typeface="Arial" panose="020B0604020202020204" pitchFamily="34" charset="0"/>
                <a:ea typeface="黑体" panose="02010609060101010101" pitchFamily="49" charset="-122"/>
              </a:defRPr>
            </a:lvl3pPr>
            <a:lvl4pPr marL="1600200" indent="-228600">
              <a:defRPr>
                <a:latin typeface="Arial" panose="020B0604020202020204" pitchFamily="34" charset="0"/>
                <a:ea typeface="黑体" panose="02010609060101010101" pitchFamily="49" charset="-122"/>
              </a:defRPr>
            </a:lvl4pPr>
            <a:lvl5pPr marL="2057400" indent="-228600">
              <a:defRPr>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a:latin typeface="Arial" panose="020B0604020202020204" pitchFamily="34" charset="0"/>
                <a:ea typeface="黑体" panose="02010609060101010101" pitchFamily="49" charset="-122"/>
              </a:defRPr>
            </a:lvl9pPr>
          </a:lstStyle>
          <a:p>
            <a:pPr marL="0" marR="0" lvl="0" indent="0" algn="l" defTabSz="914400" rtl="0" eaLnBrk="1" fontAlgn="auto" latinLnBrk="0" hangingPunct="1">
              <a:lnSpc>
                <a:spcPts val="36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杨氏模量和泊松比</a:t>
            </a:r>
            <a:r>
              <a:rPr kumimoji="0" lang="en-US" altLang="zh-CN"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r>
              <a:rPr kumimoji="0" lang="zh-CN" altLang="en-US" sz="28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非平衡电桥的电学测量</a:t>
            </a:r>
          </a:p>
        </p:txBody>
      </p:sp>
      <p:sp>
        <p:nvSpPr>
          <p:cNvPr id="11" name="文本框 10"/>
          <p:cNvSpPr txBox="1"/>
          <p:nvPr/>
        </p:nvSpPr>
        <p:spPr>
          <a:xfrm>
            <a:off x="805850" y="862405"/>
            <a:ext cx="4570482" cy="418256"/>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将金属丝作为非平衡电桥的一支桥臂电阻！</a:t>
            </a:r>
          </a:p>
        </p:txBody>
      </p:sp>
      <p:grpSp>
        <p:nvGrpSpPr>
          <p:cNvPr id="21" name="组合 20"/>
          <p:cNvGrpSpPr/>
          <p:nvPr/>
        </p:nvGrpSpPr>
        <p:grpSpPr>
          <a:xfrm>
            <a:off x="673993" y="3993683"/>
            <a:ext cx="4587911" cy="836789"/>
            <a:chOff x="788421" y="4046144"/>
            <a:chExt cx="4587911" cy="836789"/>
          </a:xfrm>
        </p:grpSpPr>
        <p:grpSp>
          <p:nvGrpSpPr>
            <p:cNvPr id="16" name="组合 15"/>
            <p:cNvGrpSpPr/>
            <p:nvPr/>
          </p:nvGrpSpPr>
          <p:grpSpPr>
            <a:xfrm>
              <a:off x="805850" y="4046144"/>
              <a:ext cx="1107996" cy="418256"/>
              <a:chOff x="805850" y="4140200"/>
              <a:chExt cx="1107996" cy="418256"/>
            </a:xfrm>
          </p:grpSpPr>
          <p:sp>
            <p:nvSpPr>
              <p:cNvPr id="12" name="文本框 11"/>
              <p:cNvSpPr txBox="1"/>
              <p:nvPr/>
            </p:nvSpPr>
            <p:spPr>
              <a:xfrm>
                <a:off x="805850" y="4140200"/>
                <a:ext cx="1107996" cy="418256"/>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桥电压：</a:t>
                </a:r>
              </a:p>
            </p:txBody>
          </p:sp>
          <mc:AlternateContent xmlns:mc="http://schemas.openxmlformats.org/markup-compatibility/2006" xmlns:a14="http://schemas.microsoft.com/office/drawing/2010/main">
            <mc:Choice Requires="a14">
              <p:sp>
                <p:nvSpPr>
                  <p:cNvPr id="14" name="文本框 13"/>
                  <p:cNvSpPr txBox="1"/>
                  <p:nvPr/>
                </p:nvSpPr>
                <p:spPr>
                  <a:xfrm>
                    <a:off x="1596346" y="4166554"/>
                    <a:ext cx="317500" cy="39190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en-US" sz="1800" b="0" i="1" u="none" strike="noStrike" kern="1200" cap="none" spc="0" normalizeH="0" baseline="0" noProof="0" smtClean="0">
                                  <a:ln>
                                    <a:noFill/>
                                  </a:ln>
                                  <a:solidFill>
                                    <a:srgbClr val="836967"/>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𝑔</m:t>
                              </m:r>
                            </m:sub>
                          </m:sSub>
                        </m:oMath>
                      </m:oMathPara>
                    </a14:m>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1596346" y="4166554"/>
                    <a:ext cx="317500" cy="391902"/>
                  </a:xfrm>
                  <a:prstGeom prst="rect">
                    <a:avLst/>
                  </a:prstGeom>
                  <a:blipFill rotWithShape="1">
                    <a:blip r:embed="rId8"/>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5" name="文本框 14"/>
                <p:cNvSpPr txBox="1"/>
                <p:nvPr/>
              </p:nvSpPr>
              <p:spPr>
                <a:xfrm>
                  <a:off x="2201333" y="4046144"/>
                  <a:ext cx="1933350" cy="418256"/>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金属丝泊松比：</a:t>
                  </a:r>
                  <a14:m>
                    <m:oMath xmlns:m="http://schemas.openxmlformats.org/officeDocument/2006/math">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𝜇</m:t>
                      </m:r>
                    </m:oMath>
                  </a14:m>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2201333" y="4046144"/>
                  <a:ext cx="1933350" cy="418256"/>
                </a:xfrm>
                <a:prstGeom prst="rect">
                  <a:avLst/>
                </a:prstGeom>
                <a:blipFill rotWithShape="1">
                  <a:blip r:embed="rId9"/>
                </a:blipFill>
              </p:spPr>
              <p:txBody>
                <a:bodyPr/>
                <a:lstStyle/>
                <a:p>
                  <a:r>
                    <a:rPr lang="zh-CN" altLang="en-US">
                      <a:noFill/>
                    </a:rPr>
                    <a:t> </a:t>
                  </a:r>
                </a:p>
              </p:txBody>
            </p:sp>
          </mc:Fallback>
        </mc:AlternateContent>
        <p:sp>
          <p:nvSpPr>
            <p:cNvPr id="17" name="文本框 16"/>
            <p:cNvSpPr txBox="1"/>
            <p:nvPr/>
          </p:nvSpPr>
          <p:spPr>
            <a:xfrm>
              <a:off x="788421" y="4465575"/>
              <a:ext cx="2483372" cy="41735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平衡时金属丝电阻：</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a:t>
              </a:r>
              <a:r>
                <a:rPr kumimoji="0" lang="en-US" altLang="zh-CN" sz="1800" b="0" i="0"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a:t>
              </a: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3271793" y="4464400"/>
              <a:ext cx="1871025" cy="41735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金属丝伸长量：</a:t>
              </a:r>
            </a:p>
          </p:txBody>
        </p:sp>
        <mc:AlternateContent xmlns:mc="http://schemas.openxmlformats.org/markup-compatibility/2006" xmlns:a14="http://schemas.microsoft.com/office/drawing/2010/main">
          <mc:Choice Requires="a14">
            <p:sp>
              <p:nvSpPr>
                <p:cNvPr id="20" name="文本框 19"/>
                <p:cNvSpPr txBox="1"/>
                <p:nvPr/>
              </p:nvSpPr>
              <p:spPr>
                <a:xfrm>
                  <a:off x="4804832" y="4513014"/>
                  <a:ext cx="5715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𝛥</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𝐿</m:t>
                        </m:r>
                      </m:oMath>
                    </m:oMathPara>
                  </a14:m>
                  <a:endParaRPr kumimoji="0" lang="zh-CN" altLang="en-US" sz="1800" b="0" i="0" u="none" strike="noStrike" kern="1200" cap="none" spc="0" normalizeH="0" baseline="0" noProof="0" dirty="0">
                    <a:ln>
                      <a:noFill/>
                    </a:ln>
                    <a:solidFill>
                      <a:srgbClr val="000000"/>
                    </a:solidFill>
                    <a:effectLst/>
                    <a:uLnTx/>
                    <a:uFillTx/>
                    <a:latin typeface="Segoe UI Light" panose="020B0502040204020203"/>
                    <a:ea typeface="微软雅黑 Light" panose="020B0502040204020203" charset="-122"/>
                    <a:cs typeface="+mn-cs"/>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4804832" y="4513014"/>
                  <a:ext cx="571500" cy="369332"/>
                </a:xfrm>
                <a:prstGeom prst="rect">
                  <a:avLst/>
                </a:prstGeom>
                <a:blipFill rotWithShape="1">
                  <a:blip r:embed="rId10"/>
                </a:blipFill>
              </p:spPr>
              <p:txBody>
                <a:bodyPr/>
                <a:lstStyle/>
                <a:p>
                  <a:r>
                    <a:rPr lang="zh-CN" altLang="en-US">
                      <a:noFill/>
                    </a:rPr>
                    <a:t> </a:t>
                  </a:r>
                </a:p>
              </p:txBody>
            </p:sp>
          </mc:Fallback>
        </mc:AlternateContent>
      </p:grpSp>
      <p:pic>
        <p:nvPicPr>
          <p:cNvPr id="23" name="图片 22"/>
          <p:cNvPicPr>
            <a:picLocks noChangeAspect="1"/>
          </p:cNvPicPr>
          <p:nvPr/>
        </p:nvPicPr>
        <p:blipFill>
          <a:blip r:embed="rId11"/>
          <a:stretch>
            <a:fillRect/>
          </a:stretch>
        </p:blipFill>
        <p:spPr>
          <a:xfrm>
            <a:off x="5440367" y="1280661"/>
            <a:ext cx="3122904" cy="2548381"/>
          </a:xfrm>
          <a:prstGeom prst="rect">
            <a:avLst/>
          </a:prstGeom>
        </p:spPr>
      </p:pic>
      <p:sp>
        <p:nvSpPr>
          <p:cNvPr id="25" name="文本框 24"/>
          <p:cNvSpPr txBox="1"/>
          <p:nvPr/>
        </p:nvSpPr>
        <p:spPr>
          <a:xfrm>
            <a:off x="7395633" y="4577923"/>
            <a:ext cx="4709281"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干涉法测金属丝直径</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光学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钠黄光双线对干涉条纹的影响</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光学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金属丝焊点对温度敏感</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热学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非平衡电桥法测电阻及其变化</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电学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拉伸法测金属丝杨氏模量、泊松比</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力学</a:t>
            </a:r>
          </a:p>
        </p:txBody>
      </p:sp>
      <p:pic>
        <p:nvPicPr>
          <p:cNvPr id="26" name="图片 25"/>
          <p:cNvPicPr>
            <a:picLocks noChangeAspect="1"/>
          </p:cNvPicPr>
          <p:nvPr/>
        </p:nvPicPr>
        <p:blipFill>
          <a:blip r:embed="rId12"/>
          <a:stretch>
            <a:fillRect/>
          </a:stretch>
        </p:blipFill>
        <p:spPr>
          <a:xfrm>
            <a:off x="5349254" y="3889083"/>
            <a:ext cx="1493491" cy="1762319"/>
          </a:xfrm>
          <a:prstGeom prst="rect">
            <a:avLst/>
          </a:prstGeom>
        </p:spPr>
      </p:pic>
      <p:sp>
        <p:nvSpPr>
          <p:cNvPr id="27" name="文本框 26"/>
          <p:cNvSpPr txBox="1"/>
          <p:nvPr/>
        </p:nvSpPr>
        <p:spPr>
          <a:xfrm>
            <a:off x="8893160" y="820545"/>
            <a:ext cx="2492990" cy="418256"/>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Segoe UI Light" panose="020B0502040204020203"/>
                <a:ea typeface="微软雅黑 Light" panose="020B0502040204020203" charset="-122"/>
                <a:cs typeface="+mn-cs"/>
              </a:rPr>
              <a:t>干涉法测量金属丝直径</a:t>
            </a:r>
          </a:p>
        </p:txBody>
      </p:sp>
      <mc:AlternateContent xmlns:mc="http://schemas.openxmlformats.org/markup-compatibility/2006" xmlns:a14="http://schemas.microsoft.com/office/drawing/2010/main">
        <mc:Choice Requires="a14">
          <p:sp>
            <p:nvSpPr>
              <p:cNvPr id="28" name="对象 1"/>
              <p:cNvSpPr txBox="1"/>
              <p:nvPr/>
            </p:nvSpPr>
            <p:spPr bwMode="auto">
              <a:xfrm>
                <a:off x="9750273" y="3821963"/>
                <a:ext cx="1493492" cy="713299"/>
              </a:xfrm>
              <a:prstGeom prst="rect">
                <a:avLst/>
              </a:prstGeom>
              <a:noFill/>
              <a:ln>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𝑑</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𝑙</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𝜆</m:t>
                          </m:r>
                        </m:num>
                        <m:den>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b>
                            <m:sSubPr>
                              <m:ctrlP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𝑙</m:t>
                              </m:r>
                            </m:e>
                            <m: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den>
                      </m:f>
                    </m:oMath>
                  </m:oMathPara>
                </a14:m>
                <a:endPar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Light" panose="020B0502040204020203" charset="-122"/>
                  <a:cs typeface="Times New Roman" panose="02020603050405020304" pitchFamily="18" charset="0"/>
                </a:endParaRPr>
              </a:p>
            </p:txBody>
          </p:sp>
        </mc:Choice>
        <mc:Fallback xmlns="">
          <p:sp>
            <p:nvSpPr>
              <p:cNvPr id="28" name="对象 1"/>
              <p:cNvSpPr txBox="1">
                <a:spLocks noRot="1" noChangeAspect="1" noMove="1" noResize="1" noEditPoints="1" noAdjustHandles="1" noChangeArrowheads="1" noChangeShapeType="1" noTextEdit="1"/>
              </p:cNvSpPr>
              <p:nvPr/>
            </p:nvSpPr>
            <p:spPr bwMode="auto">
              <a:xfrm>
                <a:off x="9750273" y="3821963"/>
                <a:ext cx="1493492" cy="713299"/>
              </a:xfrm>
              <a:prstGeom prst="rect">
                <a:avLst/>
              </a:prstGeom>
              <a:blipFill rotWithShape="1">
                <a:blip r:embed="rId13"/>
                <a:stretch>
                  <a:fillRect l="-32" t="-75" r="30" b="1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6303078" y="855636"/>
                <a:ext cx="1351756" cy="39190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en-US" sz="1800" b="0" i="1" u="none" strike="noStrike" kern="1200" cap="none" spc="0" normalizeH="0" baseline="0" noProof="0" smtClean="0">
                              <a:ln>
                                <a:noFill/>
                              </a:ln>
                              <a:solidFill>
                                <a:srgbClr val="836967"/>
                              </a:solidFill>
                              <a:effectLst/>
                              <a:uLnTx/>
                              <a:uFillTx/>
                              <a:latin typeface="Cambria Math" panose="02040503050406030204" pitchFamily="18" charset="0"/>
                              <a:cs typeface="+mn-cs"/>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𝑈</m:t>
                          </m:r>
                        </m:e>
                        <m: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𝑔</m:t>
                          </m:r>
                        </m:sub>
                      </m:sSub>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m:rPr>
                          <m:sty m:val="p"/>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t>L</m:t>
                      </m:r>
                    </m:oMath>
                  </m:oMathPara>
                </a14:m>
                <a:endParaRPr kumimoji="0" lang="zh-CN" altLang="en-US" sz="1800" b="0" i="0" u="none" strike="noStrike" kern="1200" cap="none" spc="0" normalizeH="0" baseline="0" noProof="0" dirty="0">
                  <a:ln>
                    <a:noFill/>
                  </a:ln>
                  <a:solidFill>
                    <a:srgbClr val="000000"/>
                  </a:solidFill>
                  <a:effectLst/>
                  <a:uLnTx/>
                  <a:uFillTx/>
                  <a:latin typeface="Segoe UI Light" panose="020B0502040204020203"/>
                  <a:ea typeface="微软雅黑 Light" panose="020B0502040204020203" charset="-122"/>
                  <a:cs typeface="+mn-cs"/>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6303078" y="855636"/>
                <a:ext cx="1351756" cy="391902"/>
              </a:xfrm>
              <a:prstGeom prst="rect">
                <a:avLst/>
              </a:prstGeom>
              <a:blipFill rotWithShape="1">
                <a:blip r:embed="rId14"/>
                <a:stretch>
                  <a:fillRect l="-5" t="-74" r="40" b="102"/>
                </a:stretch>
              </a:blipFill>
            </p:spPr>
            <p:txBody>
              <a:bodyPr/>
              <a:lstStyle/>
              <a:p>
                <a:r>
                  <a:rPr lang="zh-CN" altLang="en-US">
                    <a:noFill/>
                  </a:rPr>
                  <a:t> </a:t>
                </a:r>
              </a:p>
            </p:txBody>
          </p:sp>
        </mc:Fallback>
      </mc:AlternateContent>
      <p:sp>
        <p:nvSpPr>
          <p:cNvPr id="31" name="文本框 30"/>
          <p:cNvSpPr txBox="1"/>
          <p:nvPr/>
        </p:nvSpPr>
        <p:spPr>
          <a:xfrm>
            <a:off x="5318696" y="5571001"/>
            <a:ext cx="1800493" cy="778355"/>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度数显微镜测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量金属丝伸长量</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D8B067C-09D9-4901-B7F7-353E9BC42D67}"/>
                  </a:ext>
                </a:extLst>
              </p:cNvPr>
              <p:cNvSpPr txBox="1"/>
              <p:nvPr/>
            </p:nvSpPr>
            <p:spPr>
              <a:xfrm>
                <a:off x="254595" y="307863"/>
                <a:ext cx="7233138" cy="263854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在转角</a:t>
                </a:r>
                <a:r>
                  <a:rPr kumimoji="0" lang="en-US" altLang="zh-CN"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θ</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en-US" altLang="zh-CN"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的双层石墨烯中，若每个摩尔超晶格填满</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1</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个电子，计算对应的载流子浓度。</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波长：</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λ</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𝑎</m:t>
                          </m:r>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func>
                            <m:func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uncPr>
                            <m:fName>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sin</m:t>
                              </m:r>
                            </m:fName>
                            <m:e>
                              <m:d>
                                <m:d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dPr>
                                <m:e>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θ</m:t>
                                  </m:r>
                                  <m:r>
                                    <m:rPr>
                                      <m:lit/>
                                    </m:r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e>
                              </m:d>
                            </m:e>
                          </m:func>
                        </m:den>
                      </m:f>
                      <m:r>
                        <a:rPr kumimoji="0" lang="zh-CN" alt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0.246 </m:t>
                          </m:r>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nm</m:t>
                          </m:r>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d>
                            <m:d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dPr>
                            <m:e>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e>
                                <m:sup>
                                  <m: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Cambria Math" panose="02040503050406030204" pitchFamily="18" charset="0"/>
                                    </a:rPr>
                                    <m:t>∘</m:t>
                                  </m:r>
                                </m:sup>
                              </m:sSup>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π</m:t>
                              </m:r>
                              <m:r>
                                <m:rPr>
                                  <m:lit/>
                                </m:r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360</m:t>
                              </m:r>
                            </m:e>
                          </m:d>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0.246</m:t>
                          </m:r>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0.0349</m:t>
                          </m:r>
                        </m:den>
                      </m:f>
                      <m:r>
                        <a:rPr kumimoji="0" lang="zh-CN" alt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7.05 </m:t>
                      </m:r>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nm</m:t>
                      </m:r>
                    </m:oMath>
                  </m:oMathPara>
                </a14:m>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载流子浓度：</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𝑛</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num>
                        <m:den>
                          <m:rad>
                            <m:radPr>
                              <m:degHide m:val="on"/>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radPr>
                            <m:deg/>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m:t>
                              </m:r>
                            </m:e>
                          </m:rad>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λ</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num>
                        <m:den>
                          <m:rad>
                            <m:radPr>
                              <m:degHide m:val="on"/>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radPr>
                            <m:deg/>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m:t>
                              </m:r>
                            </m:e>
                          </m:rad>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d>
                                <m:d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d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7.05 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−9</m:t>
                                      </m:r>
                                    </m:sup>
                                  </m:sSup>
                                </m:e>
                              </m:d>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 = </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num>
                        <m:den>
                          <m:rad>
                            <m:radPr>
                              <m:degHide m:val="on"/>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radPr>
                            <m:deg/>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m:t>
                              </m:r>
                            </m:e>
                          </m:rad>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 4.97 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−17</m:t>
                              </m:r>
                            </m:sup>
                          </m:sSup>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 = 2.33 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12</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cm</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oMath>
                  </m:oMathPara>
                </a14:m>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1D8B067C-09D9-4901-B7F7-353E9BC42D67}"/>
                  </a:ext>
                </a:extLst>
              </p:cNvPr>
              <p:cNvSpPr txBox="1">
                <a:spLocks noRot="1" noChangeAspect="1" noMove="1" noResize="1" noEditPoints="1" noAdjustHandles="1" noChangeArrowheads="1" noChangeShapeType="1" noTextEdit="1"/>
              </p:cNvSpPr>
              <p:nvPr/>
            </p:nvSpPr>
            <p:spPr>
              <a:xfrm>
                <a:off x="254595" y="307863"/>
                <a:ext cx="7233138" cy="2638543"/>
              </a:xfrm>
              <a:prstGeom prst="rect">
                <a:avLst/>
              </a:prstGeom>
              <a:blipFill>
                <a:blip r:embed="rId2"/>
                <a:stretch>
                  <a:fillRect l="-759" t="-1389" r="-759"/>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2A137D9E-6FA6-4A2E-B57E-9995D2A76920}"/>
              </a:ext>
            </a:extLst>
          </p:cNvPr>
          <p:cNvPicPr>
            <a:picLocks noChangeAspect="1"/>
          </p:cNvPicPr>
          <p:nvPr/>
        </p:nvPicPr>
        <p:blipFill>
          <a:blip r:embed="rId3"/>
          <a:stretch>
            <a:fillRect/>
          </a:stretch>
        </p:blipFill>
        <p:spPr>
          <a:xfrm>
            <a:off x="7693444" y="177601"/>
            <a:ext cx="3954708" cy="2565599"/>
          </a:xfrm>
          <a:prstGeom prst="rect">
            <a:avLst/>
          </a:prstGeom>
        </p:spPr>
      </p:pic>
      <mc:AlternateContent xmlns:mc="http://schemas.openxmlformats.org/markup-compatibility/2006" xmlns:a14="http://schemas.microsoft.com/office/drawing/2010/main">
        <mc:Choice Requires="a14">
          <p:sp>
            <p:nvSpPr>
              <p:cNvPr id="6" name="TextBox 3">
                <a:extLst>
                  <a:ext uri="{FF2B5EF4-FFF2-40B4-BE49-F238E27FC236}">
                    <a16:creationId xmlns:a16="http://schemas.microsoft.com/office/drawing/2014/main" id="{8FDE97EB-E4A8-478A-A638-B28D1A268201}"/>
                  </a:ext>
                </a:extLst>
              </p:cNvPr>
              <p:cNvSpPr txBox="1"/>
              <p:nvPr/>
            </p:nvSpPr>
            <p:spPr>
              <a:xfrm>
                <a:off x="231149" y="3660168"/>
                <a:ext cx="7256584" cy="260359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石墨烯中每个电子有</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2 </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种自旋（↑、↓）和</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2 </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种谷（</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K</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K'</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）。若每个摩尔超晶格单元填满所有可能的电子态，最多容纳多少电子？计算</a:t>
                </a:r>
                <a:r>
                  <a:rPr kumimoji="0" lang="en-US" altLang="zh-CN"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θ</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en-US" altLang="zh-CN"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时的对应载流子浓度。</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每个电子态可容纳</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4</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个电子（</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自旋</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2</a:t>
                </a: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谷）。</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载流子浓度：</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𝑛</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=4</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num>
                        <m:den>
                          <m:rad>
                            <m:radPr>
                              <m:degHide m:val="on"/>
                              <m:ctrlP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radPr>
                            <m:deg/>
                            <m:e>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3</m:t>
                              </m:r>
                            </m:e>
                          </m:rad>
                          <m:sSup>
                            <m:sSupPr>
                              <m:ctrlP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pPr>
                            <m:e>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  ×</m:t>
                              </m:r>
                              <m:r>
                                <m:rPr>
                                  <m:sty m:val="p"/>
                                </m:rP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λ</m:t>
                              </m:r>
                            </m:e>
                            <m:sup>
                              <m:r>
                                <a:rPr kumimoji="0" lang="en-US" altLang="zh-CN" sz="1800" b="0" i="1" u="none" strike="noStrike" kern="1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2</m:t>
                              </m:r>
                            </m:sup>
                          </m:sSup>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=4</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2.33</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12</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cm</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Cambria Math" panose="020405030504060302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=9.32</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smtClean="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12</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cm</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Cambria Math" panose="020405030504060302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oMath>
                  </m:oMathPara>
                </a14:m>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TextBox 3">
                <a:extLst>
                  <a:ext uri="{FF2B5EF4-FFF2-40B4-BE49-F238E27FC236}">
                    <a16:creationId xmlns:a16="http://schemas.microsoft.com/office/drawing/2014/main" id="{8FDE97EB-E4A8-478A-A638-B28D1A268201}"/>
                  </a:ext>
                </a:extLst>
              </p:cNvPr>
              <p:cNvSpPr txBox="1">
                <a:spLocks noRot="1" noChangeAspect="1" noMove="1" noResize="1" noEditPoints="1" noAdjustHandles="1" noChangeArrowheads="1" noChangeShapeType="1" noTextEdit="1"/>
              </p:cNvSpPr>
              <p:nvPr/>
            </p:nvSpPr>
            <p:spPr>
              <a:xfrm>
                <a:off x="231149" y="3660168"/>
                <a:ext cx="7256584" cy="2603598"/>
              </a:xfrm>
              <a:prstGeom prst="rect">
                <a:avLst/>
              </a:prstGeom>
              <a:blipFill>
                <a:blip r:embed="rId4"/>
                <a:stretch>
                  <a:fillRect l="-756" t="-1168" r="-672"/>
                </a:stretch>
              </a:blipFill>
            </p:spPr>
            <p:txBody>
              <a:bodyPr/>
              <a:lstStyle/>
              <a:p>
                <a:r>
                  <a:rPr lang="zh-CN" altLang="en-US">
                    <a:noFill/>
                  </a:rPr>
                  <a:t> </a:t>
                </a:r>
              </a:p>
            </p:txBody>
          </p:sp>
        </mc:Fallback>
      </mc:AlternateContent>
      <p:pic>
        <p:nvPicPr>
          <p:cNvPr id="8" name="图片 7" descr="图表&#10;&#10;AI 生成的内容可能不正确。">
            <a:extLst>
              <a:ext uri="{FF2B5EF4-FFF2-40B4-BE49-F238E27FC236}">
                <a16:creationId xmlns:a16="http://schemas.microsoft.com/office/drawing/2014/main" id="{04407EB9-9EB9-425B-B5AC-F01989A5D62C}"/>
              </a:ext>
            </a:extLst>
          </p:cNvPr>
          <p:cNvPicPr>
            <a:picLocks noChangeAspect="1"/>
          </p:cNvPicPr>
          <p:nvPr/>
        </p:nvPicPr>
        <p:blipFill>
          <a:blip r:embed="rId5">
            <a:extLst>
              <a:ext uri="{28A0092B-C50C-407E-A947-70E740481C1C}">
                <a14:useLocalDpi xmlns:a14="http://schemas.microsoft.com/office/drawing/2010/main" val="0"/>
              </a:ext>
            </a:extLst>
          </a:blip>
          <a:srcRect l="53187"/>
          <a:stretch/>
        </p:blipFill>
        <p:spPr>
          <a:xfrm>
            <a:off x="7960482" y="3144470"/>
            <a:ext cx="4000369" cy="3465052"/>
          </a:xfrm>
          <a:prstGeom prst="rect">
            <a:avLst/>
          </a:prstGeom>
        </p:spPr>
      </p:pic>
    </p:spTree>
    <p:extLst>
      <p:ext uri="{BB962C8B-B14F-4D97-AF65-F5344CB8AC3E}">
        <p14:creationId xmlns:p14="http://schemas.microsoft.com/office/powerpoint/2010/main" val="4214946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D727A7A-25A6-4213-B8EB-910481EA173E}"/>
                  </a:ext>
                </a:extLst>
              </p:cNvPr>
              <p:cNvSpPr txBox="1"/>
              <p:nvPr/>
            </p:nvSpPr>
            <p:spPr>
              <a:xfrm>
                <a:off x="109330" y="1539384"/>
                <a:ext cx="6947453" cy="408682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已知</a:t>
                </a:r>
                <a14:m>
                  <m:oMath xmlns:m="http://schemas.openxmlformats.org/officeDocument/2006/math">
                    <m:sSub>
                      <m:sSubPr>
                        <m:ctrlP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bPr>
                      <m:e>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𝑽</m:t>
                        </m:r>
                      </m:e>
                      <m:sub>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𝒈</m:t>
                        </m:r>
                      </m:sub>
                    </m:sSub>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𝟎</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m:rPr>
                        <m:nor/>
                      </m:rPr>
                      <a:rPr kumimoji="0" lang="en-US" sz="1800" b="1"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V</m:t>
                    </m:r>
                  </m:oMath>
                </a14:m>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系统处于电中性点，当栅压</a:t>
                </a:r>
                <a14:m>
                  <m:oMath xmlns:m="http://schemas.openxmlformats.org/officeDocument/2006/math">
                    <m:r>
                      <m:rPr>
                        <m:lit/>
                      </m:rP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b>
                      <m:sSubPr>
                        <m:ctrlP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bPr>
                      <m:e>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𝑽</m:t>
                        </m:r>
                      </m:e>
                      <m:sub>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𝒈</m:t>
                        </m:r>
                      </m:sub>
                    </m:sSub>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𝟏𝟎</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m:rPr>
                        <m:nor/>
                      </m:rPr>
                      <a:rPr kumimoji="0" lang="en-US" sz="1800" b="1"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V</m:t>
                    </m:r>
                    <m:r>
                      <m:rPr>
                        <m:lit/>
                      </m:rP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oMath>
                </a14:m>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时电阻急剧增大（对应满填充），介电层厚度</a:t>
                </a:r>
                <a14:m>
                  <m:oMath xmlns:m="http://schemas.openxmlformats.org/officeDocument/2006/math">
                    <m:r>
                      <m:rPr>
                        <m:lit/>
                      </m:rP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𝒅</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𝟑𝟎</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m:rPr>
                        <m:nor/>
                      </m:rPr>
                      <a:rPr kumimoji="0" lang="en-US" sz="1800" b="1"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nm</m:t>
                    </m:r>
                    <m:r>
                      <m:rPr>
                        <m:lit/>
                      </m:rP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oMath>
                </a14:m>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14:m>
                  <m:oMath xmlns:m="http://schemas.openxmlformats.org/officeDocument/2006/math">
                    <m:r>
                      <m:rPr>
                        <m:lit/>
                      </m:rP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𝛆</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𝟑</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𝟔</m:t>
                    </m:r>
                    <m:r>
                      <m:rPr>
                        <m:lit/>
                      </m:rPr>
                      <a:rPr kumimoji="0" lang="en-US" sz="1800" b="1"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oMath>
                </a14:m>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，求转角</a:t>
                </a:r>
                <a:r>
                  <a:rPr kumimoji="0" lang="en-US" altLang="zh-CN"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θ</a:t>
                </a:r>
                <a:r>
                  <a:rPr kumimoji="0" lang="zh-CN" alt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a:t>
                </a:r>
                <a:r>
                  <a:rPr kumimoji="0" lang="en-US" sz="1800" b="1"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电容</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𝐶</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 = </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ε</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b>
                            <m:sSub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bPr>
                            <m:e>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ε</m:t>
                              </m:r>
                            </m:e>
                            <m:sub>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m:t>
                              </m:r>
                            </m:sub>
                          </m:sSub>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𝑑</m:t>
                          </m:r>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 = </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3.6 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 8.85 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−12</m:t>
                              </m:r>
                            </m:sup>
                          </m:sSup>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30 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−9</m:t>
                              </m:r>
                            </m:sup>
                          </m:sSup>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 = 1.06 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F</m:t>
                          </m:r>
                          <m:r>
                            <m:rPr>
                              <m:lit/>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oMath>
                  </m:oMathPara>
                </a14:m>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载流子浓度</a:t>
                </a:r>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𝑛</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𝐶𝑉</m:t>
                          </m:r>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𝑒</m:t>
                          </m:r>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1.06</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Cambria Math" panose="020405030504060302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m:t>
                              </m:r>
                            </m:sup>
                          </m:sSup>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1.6</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Cambria Math" panose="020405030504060302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19</m:t>
                              </m:r>
                            </m:sup>
                          </m:sSup>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=6.63</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16</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Cambria Math" panose="020405030504060302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oMath>
                  </m:oMathPara>
                </a14:m>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反推摩尔波长</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𝜆</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8</m:t>
                          </m:r>
                        </m:num>
                        <m:den>
                          <m:rad>
                            <m:radPr>
                              <m:degHide m:val="on"/>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radPr>
                            <m:deg/>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3</m:t>
                              </m:r>
                            </m:e>
                          </m:rad>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6.64</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16</m:t>
                              </m:r>
                            </m:sup>
                          </m:sSup>
                        </m:den>
                      </m:f>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=8.25</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10</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Cambria Math" panose="020405030504060302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17</m:t>
                          </m:r>
                        </m:sup>
                      </m:s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m:t>
                          </m:r>
                        </m:e>
                        <m:sup>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m:t>
                          </m:r>
                        </m:sup>
                      </m:sSup>
                      <m:r>
                        <a:rPr kumimoji="0" lang="zh-CN" alt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𝜆</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=9.08 </m:t>
                      </m:r>
                      <m:r>
                        <m:rPr>
                          <m:nor/>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nm</m:t>
                      </m:r>
                    </m:oMath>
                  </m:oMathPara>
                </a14:m>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计算转角</a:t>
                </a:r>
                <a:r>
                  <a:rPr kumimoji="0" lang="en-US"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θ</a:t>
                </a:r>
                <a:r>
                  <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𝜃</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 = 2 </m:t>
                      </m:r>
                      <m:func>
                        <m:func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uncPr>
                        <m:fName>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arcsin</m:t>
                          </m:r>
                        </m:fName>
                        <m:e>
                          <m:d>
                            <m:d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dPr>
                            <m:e>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𝑎</m:t>
                                  </m:r>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2 </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𝜆</m:t>
                                  </m:r>
                                </m:den>
                              </m:f>
                            </m:e>
                          </m:d>
                        </m:e>
                      </m:func>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 = 2 </m:t>
                      </m:r>
                      <m:func>
                        <m:func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uncPr>
                        <m:fName>
                          <m:r>
                            <m:rPr>
                              <m:sty m:val="p"/>
                            </m:rP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arcsin</m:t>
                          </m:r>
                        </m:fName>
                        <m:e>
                          <m:d>
                            <m:d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dPr>
                            <m:e>
                              <m:f>
                                <m:f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fPr>
                                <m:num>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0.246</m:t>
                                  </m:r>
                                </m:num>
                                <m:den>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2 </m:t>
                                  </m:r>
                                  <m:r>
                                    <a:rPr kumimoji="0" lang="en-US" altLang="zh-CN"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 9.08</m:t>
                                  </m:r>
                                </m:den>
                              </m:f>
                            </m:e>
                          </m:d>
                        </m:e>
                      </m:func>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r>
                        <a:rPr kumimoji="0" lang="zh-CN" alt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m:t>
                      </m:r>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 </m:t>
                      </m:r>
                      <m:sSup>
                        <m:sSupPr>
                          <m:ctrlP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ctrlPr>
                        </m:sSupPr>
                        <m:e>
                          <m:r>
                            <a:rPr kumimoji="0" lang="en-US" sz="1800" b="0" i="1"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Times New Roman" panose="02020603050405020304" pitchFamily="18" charset="0"/>
                            </a:rPr>
                            <m:t>1.56</m:t>
                          </m:r>
                        </m:e>
                        <m:sup>
                          <m:r>
                            <a:rPr kumimoji="0" lang="en-US" sz="1800" b="0" i="0" u="none" strike="noStrike" kern="100" cap="none" spc="0" normalizeH="0" baseline="0" noProof="0">
                              <a:ln>
                                <a:noFill/>
                              </a:ln>
                              <a:solidFill>
                                <a:prstClr val="black"/>
                              </a:solidFill>
                              <a:effectLst/>
                              <a:uLnTx/>
                              <a:uFillTx/>
                              <a:latin typeface="Cambria Math" panose="02040503050406030204" pitchFamily="18" charset="0"/>
                              <a:ea typeface="等线" panose="02010600030101010101" pitchFamily="2" charset="-122"/>
                              <a:cs typeface="Cambria Math" panose="02040503050406030204" pitchFamily="18" charset="0"/>
                            </a:rPr>
                            <m:t>∘</m:t>
                          </m:r>
                        </m:sup>
                      </m:sSup>
                    </m:oMath>
                  </m:oMathPara>
                </a14:m>
                <a:endParaRPr kumimoji="0" lang="en-US"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BD727A7A-25A6-4213-B8EB-910481EA173E}"/>
                  </a:ext>
                </a:extLst>
              </p:cNvPr>
              <p:cNvSpPr txBox="1">
                <a:spLocks noRot="1" noChangeAspect="1" noMove="1" noResize="1" noEditPoints="1" noAdjustHandles="1" noChangeArrowheads="1" noChangeShapeType="1" noTextEdit="1"/>
              </p:cNvSpPr>
              <p:nvPr/>
            </p:nvSpPr>
            <p:spPr>
              <a:xfrm>
                <a:off x="109330" y="1539384"/>
                <a:ext cx="6947453" cy="4086824"/>
              </a:xfrm>
              <a:prstGeom prst="rect">
                <a:avLst/>
              </a:prstGeom>
              <a:blipFill>
                <a:blip r:embed="rId2"/>
                <a:stretch>
                  <a:fillRect l="-789" t="-746" r="-4035"/>
                </a:stretch>
              </a:blipFill>
            </p:spPr>
            <p:txBody>
              <a:bodyPr/>
              <a:lstStyle/>
              <a:p>
                <a:r>
                  <a:rPr lang="zh-CN" altLang="en-US">
                    <a:noFill/>
                  </a:rPr>
                  <a:t> </a:t>
                </a:r>
              </a:p>
            </p:txBody>
          </p:sp>
        </mc:Fallback>
      </mc:AlternateContent>
      <p:pic>
        <p:nvPicPr>
          <p:cNvPr id="5" name="Picture 4">
            <a:extLst>
              <a:ext uri="{FF2B5EF4-FFF2-40B4-BE49-F238E27FC236}">
                <a16:creationId xmlns:a16="http://schemas.microsoft.com/office/drawing/2014/main" id="{ED1256C9-2131-464A-9706-646381B4DB99}"/>
              </a:ext>
            </a:extLst>
          </p:cNvPr>
          <p:cNvPicPr>
            <a:picLocks noChangeAspect="1"/>
          </p:cNvPicPr>
          <p:nvPr/>
        </p:nvPicPr>
        <p:blipFill rotWithShape="1">
          <a:blip r:embed="rId3"/>
          <a:srcRect r="43846"/>
          <a:stretch/>
        </p:blipFill>
        <p:spPr>
          <a:xfrm>
            <a:off x="7778260" y="3528925"/>
            <a:ext cx="3851031" cy="3000375"/>
          </a:xfrm>
          <a:prstGeom prst="rect">
            <a:avLst/>
          </a:prstGeom>
        </p:spPr>
      </p:pic>
      <p:pic>
        <p:nvPicPr>
          <p:cNvPr id="6" name="图片 5" descr="图表&#10;&#10;AI 生成的内容可能不正确。">
            <a:extLst>
              <a:ext uri="{FF2B5EF4-FFF2-40B4-BE49-F238E27FC236}">
                <a16:creationId xmlns:a16="http://schemas.microsoft.com/office/drawing/2014/main" id="{213867DC-6C97-49D4-BFC1-106DEE480BA0}"/>
              </a:ext>
            </a:extLst>
          </p:cNvPr>
          <p:cNvPicPr>
            <a:picLocks noChangeAspect="1"/>
          </p:cNvPicPr>
          <p:nvPr/>
        </p:nvPicPr>
        <p:blipFill>
          <a:blip r:embed="rId4" cstate="print">
            <a:extLst>
              <a:ext uri="{28A0092B-C50C-407E-A947-70E740481C1C}">
                <a14:useLocalDpi xmlns:a14="http://schemas.microsoft.com/office/drawing/2010/main" val="0"/>
              </a:ext>
            </a:extLst>
          </a:blip>
          <a:srcRect r="47165"/>
          <a:stretch/>
        </p:blipFill>
        <p:spPr>
          <a:xfrm>
            <a:off x="7407643" y="89121"/>
            <a:ext cx="4221648" cy="3239954"/>
          </a:xfrm>
          <a:prstGeom prst="rect">
            <a:avLst/>
          </a:prstGeom>
        </p:spPr>
      </p:pic>
    </p:spTree>
    <p:extLst>
      <p:ext uri="{BB962C8B-B14F-4D97-AF65-F5344CB8AC3E}">
        <p14:creationId xmlns:p14="http://schemas.microsoft.com/office/powerpoint/2010/main" val="39516969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A310A88-36B0-76F2-4AE2-EA23BA2CD286}"/>
              </a:ext>
            </a:extLst>
          </p:cNvPr>
          <p:cNvSpPr txBox="1"/>
          <p:nvPr/>
        </p:nvSpPr>
        <p:spPr>
          <a:xfrm>
            <a:off x="641488" y="847570"/>
            <a:ext cx="3152775" cy="504369"/>
          </a:xfrm>
          <a:prstGeom prst="rect">
            <a:avLst/>
          </a:prstGeom>
          <a:noFill/>
        </p:spPr>
        <p:txBody>
          <a:bodyPr wrap="square">
            <a:spAutoFit/>
          </a:bodyPr>
          <a:lstStyle/>
          <a:p>
            <a:pPr marL="342900" marR="0" lvl="0" indent="-342900" algn="just" defTabSz="914400" rtl="0" eaLnBrk="1" fontAlgn="auto" latinLnBrk="0" hangingPunct="1">
              <a:lnSpc>
                <a:spcPct val="130000"/>
              </a:lnSpc>
              <a:spcBef>
                <a:spcPts val="600"/>
              </a:spcBef>
              <a:spcAft>
                <a:spcPts val="0"/>
              </a:spcAft>
              <a:buClrTx/>
              <a:buSzTx/>
              <a:buFont typeface="+mj-lt"/>
              <a:buAutoNum type="arabicPeriod"/>
              <a:tabLst/>
              <a:defRPr/>
            </a:pPr>
            <a:r>
              <a:rPr kumimoji="0" lang="zh-CN" altLang="zh-CN" sz="2400" b="1"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四探针法测电阻率</a:t>
            </a:r>
            <a:endParaRPr kumimoji="0" lang="zh-CN" altLang="zh-CN" sz="18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481A19AF-4DAF-B374-450F-4935B4C37927}"/>
              </a:ext>
            </a:extLst>
          </p:cNvPr>
          <p:cNvPicPr>
            <a:picLocks noChangeAspect="1"/>
          </p:cNvPicPr>
          <p:nvPr/>
        </p:nvPicPr>
        <p:blipFill>
          <a:blip r:embed="rId2"/>
          <a:stretch>
            <a:fillRect/>
          </a:stretch>
        </p:blipFill>
        <p:spPr>
          <a:xfrm>
            <a:off x="1209675" y="1682554"/>
            <a:ext cx="9772650" cy="3781303"/>
          </a:xfrm>
          <a:prstGeom prst="rect">
            <a:avLst/>
          </a:prstGeom>
          <a:ln>
            <a:solidFill>
              <a:schemeClr val="tx1"/>
            </a:solidFill>
          </a:ln>
        </p:spPr>
      </p:pic>
      <p:sp>
        <p:nvSpPr>
          <p:cNvPr id="9" name="文本框 8">
            <a:extLst>
              <a:ext uri="{FF2B5EF4-FFF2-40B4-BE49-F238E27FC236}">
                <a16:creationId xmlns:a16="http://schemas.microsoft.com/office/drawing/2014/main" id="{A4638876-5A56-44C4-AC3E-898D3500BD49}"/>
              </a:ext>
            </a:extLst>
          </p:cNvPr>
          <p:cNvSpPr txBox="1"/>
          <p:nvPr/>
        </p:nvSpPr>
        <p:spPr>
          <a:xfrm>
            <a:off x="4721264" y="5794472"/>
            <a:ext cx="274947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图</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1 </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四探针法测电阻率</a:t>
            </a:r>
          </a:p>
        </p:txBody>
      </p:sp>
    </p:spTree>
    <p:extLst>
      <p:ext uri="{BB962C8B-B14F-4D97-AF65-F5344CB8AC3E}">
        <p14:creationId xmlns:p14="http://schemas.microsoft.com/office/powerpoint/2010/main" val="8350206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FE1E547-4ED5-193C-D6FD-A20E05BA0505}"/>
              </a:ext>
            </a:extLst>
          </p:cNvPr>
          <p:cNvPicPr>
            <a:picLocks noChangeAspect="1"/>
          </p:cNvPicPr>
          <p:nvPr/>
        </p:nvPicPr>
        <p:blipFill>
          <a:blip r:embed="rId2"/>
          <a:stretch>
            <a:fillRect/>
          </a:stretch>
        </p:blipFill>
        <p:spPr>
          <a:xfrm>
            <a:off x="6096000" y="1286996"/>
            <a:ext cx="2943225" cy="865654"/>
          </a:xfrm>
          <a:prstGeom prst="rect">
            <a:avLst/>
          </a:prstGeom>
        </p:spPr>
      </p:pic>
      <p:pic>
        <p:nvPicPr>
          <p:cNvPr id="7" name="图片 6">
            <a:extLst>
              <a:ext uri="{FF2B5EF4-FFF2-40B4-BE49-F238E27FC236}">
                <a16:creationId xmlns:a16="http://schemas.microsoft.com/office/drawing/2014/main" id="{2FB41846-4ACF-8AD8-FA40-479F5F70BEC0}"/>
              </a:ext>
            </a:extLst>
          </p:cNvPr>
          <p:cNvPicPr>
            <a:picLocks noChangeAspect="1"/>
          </p:cNvPicPr>
          <p:nvPr/>
        </p:nvPicPr>
        <p:blipFill>
          <a:blip r:embed="rId3"/>
          <a:stretch>
            <a:fillRect/>
          </a:stretch>
        </p:blipFill>
        <p:spPr>
          <a:xfrm>
            <a:off x="971550" y="1168962"/>
            <a:ext cx="2847975" cy="3326838"/>
          </a:xfrm>
          <a:prstGeom prst="rect">
            <a:avLst/>
          </a:prstGeom>
          <a:ln>
            <a:solidFill>
              <a:schemeClr val="tx1"/>
            </a:solidFill>
          </a:ln>
        </p:spPr>
      </p:pic>
      <p:sp>
        <p:nvSpPr>
          <p:cNvPr id="8" name="文本框 7">
            <a:extLst>
              <a:ext uri="{FF2B5EF4-FFF2-40B4-BE49-F238E27FC236}">
                <a16:creationId xmlns:a16="http://schemas.microsoft.com/office/drawing/2014/main" id="{95D3C0F1-6126-D5A0-B45A-AE70C9587B7A}"/>
              </a:ext>
            </a:extLst>
          </p:cNvPr>
          <p:cNvSpPr txBox="1"/>
          <p:nvPr/>
        </p:nvSpPr>
        <p:spPr>
          <a:xfrm>
            <a:off x="892561" y="4819650"/>
            <a:ext cx="300595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图</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2 </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直线型四探针示意图</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A19F870-7F1C-E189-38A3-97DC2E1DD495}"/>
                  </a:ext>
                </a:extLst>
              </p:cNvPr>
              <p:cNvSpPr txBox="1"/>
              <p:nvPr/>
            </p:nvSpPr>
            <p:spPr>
              <a:xfrm>
                <a:off x="4619625" y="2403756"/>
                <a:ext cx="6600825" cy="186685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电阻率为ρ，样品电流为</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I</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V23</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为</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两点电势差，只要测出流过</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探针的电流</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I</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和</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探针间的电势差，以及四根探针之间的距离，就可以求出样品电阻率。</a:t>
                </a:r>
                <a:endPar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    当间距相等，为</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𝑙</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时，可以简化为下式：</a:t>
                </a:r>
              </a:p>
            </p:txBody>
          </p:sp>
        </mc:Choice>
        <mc:Fallback xmlns="">
          <p:sp>
            <p:nvSpPr>
              <p:cNvPr id="10" name="文本框 9">
                <a:extLst>
                  <a:ext uri="{FF2B5EF4-FFF2-40B4-BE49-F238E27FC236}">
                    <a16:creationId xmlns:a16="http://schemas.microsoft.com/office/drawing/2014/main" id="{8A19F870-7F1C-E189-38A3-97DC2E1DD495}"/>
                  </a:ext>
                </a:extLst>
              </p:cNvPr>
              <p:cNvSpPr txBox="1">
                <a:spLocks noRot="1" noChangeAspect="1" noMove="1" noResize="1" noEditPoints="1" noAdjustHandles="1" noChangeArrowheads="1" noChangeShapeType="1" noTextEdit="1"/>
              </p:cNvSpPr>
              <p:nvPr/>
            </p:nvSpPr>
            <p:spPr>
              <a:xfrm>
                <a:off x="4619625" y="2403756"/>
                <a:ext cx="6600825" cy="1866858"/>
              </a:xfrm>
              <a:prstGeom prst="rect">
                <a:avLst/>
              </a:prstGeom>
              <a:blipFill>
                <a:blip r:embed="rId4"/>
                <a:stretch>
                  <a:fillRect l="-1016" b="-4560"/>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AAC7D70E-4375-D751-8EC9-4977FB80A231}"/>
              </a:ext>
            </a:extLst>
          </p:cNvPr>
          <p:cNvPicPr>
            <a:picLocks noChangeAspect="1"/>
          </p:cNvPicPr>
          <p:nvPr/>
        </p:nvPicPr>
        <p:blipFill>
          <a:blip r:embed="rId5"/>
          <a:stretch>
            <a:fillRect/>
          </a:stretch>
        </p:blipFill>
        <p:spPr>
          <a:xfrm>
            <a:off x="6981825" y="4819650"/>
            <a:ext cx="1492814" cy="814262"/>
          </a:xfrm>
          <a:prstGeom prst="rect">
            <a:avLst/>
          </a:prstGeom>
        </p:spPr>
      </p:pic>
    </p:spTree>
    <p:extLst>
      <p:ext uri="{BB962C8B-B14F-4D97-AF65-F5344CB8AC3E}">
        <p14:creationId xmlns:p14="http://schemas.microsoft.com/office/powerpoint/2010/main" val="39771776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DF3F55C-55F4-9B35-4156-59BA2DA7A719}"/>
              </a:ext>
            </a:extLst>
          </p:cNvPr>
          <p:cNvSpPr txBox="1"/>
          <p:nvPr/>
        </p:nvSpPr>
        <p:spPr>
          <a:xfrm>
            <a:off x="866775" y="1303804"/>
            <a:ext cx="10048875" cy="463684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实际测量中根据样品特性需要注意以下几点：</a:t>
            </a:r>
          </a:p>
          <a:p>
            <a:pPr marL="342900" marR="0" lvl="0" indent="-342900" algn="just" defTabSz="914400" rtl="0" eaLnBrk="1" fontAlgn="auto" latinLnBrk="0" hangingPunct="1">
              <a:lnSpc>
                <a:spcPct val="150000"/>
              </a:lnSpc>
              <a:spcBef>
                <a:spcPts val="0"/>
              </a:spcBef>
              <a:spcAft>
                <a:spcPts val="0"/>
              </a:spcAft>
              <a:buClrTx/>
              <a:buSzTx/>
              <a:buFont typeface="+mj-lt"/>
              <a:buAutoNum type="arabicParenR"/>
              <a:tabLst/>
              <a:defRPr/>
            </a:pP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若样品较小，不满足（</a:t>
            </a:r>
            <a:r>
              <a:rPr kumimoji="0" lang="en-US"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8</a:t>
            </a: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）式的要求，需要对公式进行修正，具体可以查询修正列表。</a:t>
            </a:r>
          </a:p>
          <a:p>
            <a:pPr marL="342900" marR="0" lvl="0" indent="-342900" algn="just" defTabSz="914400" rtl="0" eaLnBrk="1" fontAlgn="auto" latinLnBrk="0" hangingPunct="1">
              <a:lnSpc>
                <a:spcPct val="150000"/>
              </a:lnSpc>
              <a:spcBef>
                <a:spcPts val="0"/>
              </a:spcBef>
              <a:spcAft>
                <a:spcPts val="0"/>
              </a:spcAft>
              <a:buClrTx/>
              <a:buSzTx/>
              <a:buFont typeface="+mj-lt"/>
              <a:buAutoNum type="arabicParenR"/>
              <a:tabLst/>
              <a:defRPr/>
            </a:pP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测试电流</a:t>
            </a:r>
            <a:r>
              <a:rPr kumimoji="0" lang="en-US"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I</a:t>
            </a: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选择要适当，电流太小，检测电压有困难；电流太大会由于非平衡载流子注入或发热引起电阻率降低。</a:t>
            </a:r>
          </a:p>
          <a:p>
            <a:pPr marL="342900" marR="0" lvl="0" indent="-342900" algn="just" defTabSz="914400" rtl="0" eaLnBrk="1" fontAlgn="auto" latinLnBrk="0" hangingPunct="1">
              <a:lnSpc>
                <a:spcPct val="150000"/>
              </a:lnSpc>
              <a:spcBef>
                <a:spcPts val="0"/>
              </a:spcBef>
              <a:spcAft>
                <a:spcPts val="0"/>
              </a:spcAft>
              <a:buClrTx/>
              <a:buSzTx/>
              <a:buFont typeface="+mj-lt"/>
              <a:buAutoNum type="arabicParenR"/>
              <a:tabLst/>
              <a:defRPr/>
            </a:pP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半导体材料的电阻率随温度变化很灵敏，必须在样品达到热平衡的情况下进行测试，并记录测试温度。</a:t>
            </a:r>
          </a:p>
          <a:p>
            <a:pPr marL="342900" marR="0" lvl="0" indent="-342900" algn="just" defTabSz="914400" rtl="0" eaLnBrk="1" fontAlgn="auto" latinLnBrk="0" hangingPunct="1">
              <a:lnSpc>
                <a:spcPct val="150000"/>
              </a:lnSpc>
              <a:spcBef>
                <a:spcPts val="0"/>
              </a:spcBef>
              <a:spcAft>
                <a:spcPts val="0"/>
              </a:spcAft>
              <a:buClrTx/>
              <a:buSzTx/>
              <a:buFont typeface="+mj-lt"/>
              <a:buAutoNum type="arabicParenR"/>
              <a:tabLst/>
              <a:defRPr/>
            </a:pP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对于高阻半导体样品，光电导效应和探针与半导体形成</a:t>
            </a:r>
            <a:r>
              <a:rPr kumimoji="0" lang="en-US"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M-S</a:t>
            </a: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肖特基接触的光生伏特效应可能严重地影响电阻率测试结果，因此对于高阻样品，测试时应注意避免光照。</a:t>
            </a:r>
          </a:p>
          <a:p>
            <a:pPr marL="342900" marR="0" lvl="0" indent="-342900" algn="just" defTabSz="914400" rtl="0" eaLnBrk="1" fontAlgn="auto" latinLnBrk="0" hangingPunct="1">
              <a:lnSpc>
                <a:spcPct val="150000"/>
              </a:lnSpc>
              <a:spcBef>
                <a:spcPts val="0"/>
              </a:spcBef>
              <a:spcAft>
                <a:spcPts val="0"/>
              </a:spcAft>
              <a:buClrTx/>
              <a:buSzTx/>
              <a:buFont typeface="+mj-lt"/>
              <a:buAutoNum type="arabicParenR"/>
              <a:tabLst/>
              <a:defRPr/>
            </a:pP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对于热电材料，为了避免温差电动势对测量的影响，一般采用交流双探针法测量电阻率。</a:t>
            </a:r>
          </a:p>
        </p:txBody>
      </p:sp>
    </p:spTree>
    <p:extLst>
      <p:ext uri="{BB962C8B-B14F-4D97-AF65-F5344CB8AC3E}">
        <p14:creationId xmlns:p14="http://schemas.microsoft.com/office/powerpoint/2010/main" val="42197961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E582E93-30C4-30DD-E3BE-72C6E588530D}"/>
              </a:ext>
            </a:extLst>
          </p:cNvPr>
          <p:cNvSpPr txBox="1"/>
          <p:nvPr/>
        </p:nvSpPr>
        <p:spPr>
          <a:xfrm>
            <a:off x="417095" y="22273"/>
            <a:ext cx="3667125" cy="504369"/>
          </a:xfrm>
          <a:prstGeom prst="rect">
            <a:avLst/>
          </a:prstGeom>
          <a:noFill/>
        </p:spPr>
        <p:txBody>
          <a:bodyPr wrap="square">
            <a:spAutoFit/>
          </a:bodyPr>
          <a:lstStyle/>
          <a:p>
            <a:pPr marL="0" marR="0" lvl="0" indent="0" algn="just" defTabSz="914400" rtl="0" eaLnBrk="1" fontAlgn="auto" latinLnBrk="0" hangingPunct="1">
              <a:lnSpc>
                <a:spcPct val="130000"/>
              </a:lnSpc>
              <a:spcBef>
                <a:spcPts val="600"/>
              </a:spcBef>
              <a:spcAft>
                <a:spcPts val="0"/>
              </a:spcAft>
              <a:buClrTx/>
              <a:buSzTx/>
              <a:buFontTx/>
              <a:buNone/>
              <a:tabLst/>
              <a:defRPr/>
            </a:pPr>
            <a:r>
              <a:rPr kumimoji="0" lang="en-US" altLang="zh-CN" sz="2400" b="1"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2. </a:t>
            </a:r>
            <a:r>
              <a:rPr kumimoji="0" lang="zh-CN" altLang="zh-CN" sz="2400" b="1"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范德堡法测电学性质</a:t>
            </a:r>
            <a:endParaRPr kumimoji="0" lang="zh-CN" altLang="zh-CN" sz="18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1BAD7944-5488-44F4-F948-F81A2656E3A1}"/>
              </a:ext>
            </a:extLst>
          </p:cNvPr>
          <p:cNvPicPr>
            <a:picLocks noChangeAspect="1"/>
          </p:cNvPicPr>
          <p:nvPr/>
        </p:nvPicPr>
        <p:blipFill rotWithShape="1">
          <a:blip r:embed="rId2"/>
          <a:srcRect r="3578"/>
          <a:stretch/>
        </p:blipFill>
        <p:spPr>
          <a:xfrm>
            <a:off x="909638" y="2069306"/>
            <a:ext cx="2443162" cy="2414587"/>
          </a:xfrm>
          <a:prstGeom prst="rect">
            <a:avLst/>
          </a:prstGeom>
        </p:spPr>
      </p:pic>
      <p:sp>
        <p:nvSpPr>
          <p:cNvPr id="6" name="文本框 5">
            <a:extLst>
              <a:ext uri="{FF2B5EF4-FFF2-40B4-BE49-F238E27FC236}">
                <a16:creationId xmlns:a16="http://schemas.microsoft.com/office/drawing/2014/main" id="{DA95C144-666D-7824-EC6A-E3FFA156F9B1}"/>
              </a:ext>
            </a:extLst>
          </p:cNvPr>
          <p:cNvSpPr txBox="1"/>
          <p:nvPr/>
        </p:nvSpPr>
        <p:spPr>
          <a:xfrm>
            <a:off x="417095" y="4791625"/>
            <a:ext cx="351891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图</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3 </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范德堡法测试电阻示意图</a:t>
            </a:r>
          </a:p>
        </p:txBody>
      </p:sp>
      <p:pic>
        <p:nvPicPr>
          <p:cNvPr id="8" name="图片 7">
            <a:extLst>
              <a:ext uri="{FF2B5EF4-FFF2-40B4-BE49-F238E27FC236}">
                <a16:creationId xmlns:a16="http://schemas.microsoft.com/office/drawing/2014/main" id="{25021DF3-F9DB-294F-E78F-D1E4AAC275AB}"/>
              </a:ext>
            </a:extLst>
          </p:cNvPr>
          <p:cNvPicPr>
            <a:picLocks noChangeAspect="1"/>
          </p:cNvPicPr>
          <p:nvPr/>
        </p:nvPicPr>
        <p:blipFill>
          <a:blip r:embed="rId3"/>
          <a:stretch>
            <a:fillRect/>
          </a:stretch>
        </p:blipFill>
        <p:spPr>
          <a:xfrm>
            <a:off x="417095" y="5646605"/>
            <a:ext cx="3890963" cy="790644"/>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1FE6CA0-665E-6181-65F5-3CDE5AB57720}"/>
                  </a:ext>
                </a:extLst>
              </p:cNvPr>
              <p:cNvSpPr txBox="1"/>
              <p:nvPr/>
            </p:nvSpPr>
            <p:spPr>
              <a:xfrm>
                <a:off x="4371975" y="1830305"/>
                <a:ext cx="7200899" cy="234865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    上式为电阻率计算公式，</a:t>
                </a:r>
                <a:r>
                  <a:rPr kumimoji="0" lang="zh-CN"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为了简化测量和计算，常常要求待测薄膜为正方形，这是因为正方形材料的四个顶点从几何上是等效的，因此可知电阻值</a:t>
                </a:r>
                <a14:m>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𝑅</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𝐴𝐵</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𝐶𝐷</m:t>
                        </m:r>
                      </m:sub>
                    </m:sSub>
                  </m:oMath>
                </a14:m>
                <a:r>
                  <a:rPr kumimoji="0" lang="zh-CN"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和</a:t>
                </a:r>
                <a14:m>
                  <m:oMath xmlns:m="http://schemas.openxmlformats.org/officeDocument/2006/math">
                    <m:sSub>
                      <m:sSubPr>
                        <m:ctrlPr>
                          <a:rPr kumimoji="0" lang="zh-CN"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𝑅</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𝐵𝐶</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Times New Roman" panose="02020603050405020304" pitchFamily="18" charset="0"/>
                          </a:rPr>
                          <m:t>𝐷𝐴</m:t>
                        </m:r>
                      </m:sub>
                    </m:sSub>
                  </m:oMath>
                </a14:m>
                <a:r>
                  <a:rPr kumimoji="0" lang="zh-CN"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在理论上也应该是相等的。查表可知，当它们相等时，</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f=1</a:t>
                </a:r>
                <a:r>
                  <a:rPr kumimoji="0" lang="zh-CN"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。因此，最终电阻率公式可以简化成如</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下</a:t>
                </a:r>
                <a:r>
                  <a:rPr kumimoji="0" lang="zh-CN"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式</a:t>
                </a:r>
                <a:endPar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mc:Choice>
        <mc:Fallback xmlns="">
          <p:sp>
            <p:nvSpPr>
              <p:cNvPr id="9" name="文本框 8">
                <a:extLst>
                  <a:ext uri="{FF2B5EF4-FFF2-40B4-BE49-F238E27FC236}">
                    <a16:creationId xmlns:a16="http://schemas.microsoft.com/office/drawing/2014/main" id="{91FE6CA0-665E-6181-65F5-3CDE5AB57720}"/>
                  </a:ext>
                </a:extLst>
              </p:cNvPr>
              <p:cNvSpPr txBox="1">
                <a:spLocks noRot="1" noChangeAspect="1" noMove="1" noResize="1" noEditPoints="1" noAdjustHandles="1" noChangeArrowheads="1" noChangeShapeType="1" noTextEdit="1"/>
              </p:cNvSpPr>
              <p:nvPr/>
            </p:nvSpPr>
            <p:spPr>
              <a:xfrm>
                <a:off x="4371975" y="1830305"/>
                <a:ext cx="7200899" cy="2348656"/>
              </a:xfrm>
              <a:prstGeom prst="rect">
                <a:avLst/>
              </a:prstGeom>
              <a:blipFill>
                <a:blip r:embed="rId4"/>
                <a:stretch>
                  <a:fillRect l="-847" r="-593" b="-3627"/>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A7317621-16F4-11FA-F276-D8695FE57384}"/>
              </a:ext>
            </a:extLst>
          </p:cNvPr>
          <p:cNvPicPr>
            <a:picLocks noChangeAspect="1"/>
          </p:cNvPicPr>
          <p:nvPr/>
        </p:nvPicPr>
        <p:blipFill>
          <a:blip r:embed="rId5"/>
          <a:stretch>
            <a:fillRect/>
          </a:stretch>
        </p:blipFill>
        <p:spPr>
          <a:xfrm>
            <a:off x="7148511" y="4287959"/>
            <a:ext cx="1647825" cy="635099"/>
          </a:xfrm>
          <a:prstGeom prst="rect">
            <a:avLst/>
          </a:prstGeom>
        </p:spPr>
      </p:pic>
      <p:sp>
        <p:nvSpPr>
          <p:cNvPr id="13" name="文本框 12">
            <a:extLst>
              <a:ext uri="{FF2B5EF4-FFF2-40B4-BE49-F238E27FC236}">
                <a16:creationId xmlns:a16="http://schemas.microsoft.com/office/drawing/2014/main" id="{04AF643B-3667-7DE9-E305-3A0751BBFD07}"/>
              </a:ext>
            </a:extLst>
          </p:cNvPr>
          <p:cNvSpPr txBox="1"/>
          <p:nvPr/>
        </p:nvSpPr>
        <p:spPr>
          <a:xfrm>
            <a:off x="4371975" y="5032056"/>
            <a:ext cx="7200899" cy="1405193"/>
          </a:xfrm>
          <a:prstGeom prst="rect">
            <a:avLst/>
          </a:prstGeom>
          <a:noFill/>
        </p:spPr>
        <p:txBody>
          <a:bodyPr wrap="square">
            <a:spAutoFit/>
          </a:bodyPr>
          <a:lstStyle/>
          <a:p>
            <a:pPr marL="0" marR="0" lvl="0" indent="304800" algn="just" defTabSz="914400" rtl="0" eaLnBrk="1" fontAlgn="auto" latinLnBrk="0" hangingPunct="1">
              <a:lnSpc>
                <a:spcPct val="150000"/>
              </a:lnSpc>
              <a:spcBef>
                <a:spcPts val="0"/>
              </a:spcBef>
              <a:spcAft>
                <a:spcPts val="0"/>
              </a:spcAft>
              <a:buClrTx/>
              <a:buSzTx/>
              <a:buFontTx/>
              <a:buNone/>
              <a:tabLst/>
              <a:defRPr/>
            </a:pP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这种方法要求薄膜样品厚度均匀，电阻率均匀，表面无孔洞，是连续的。此外</a:t>
            </a:r>
            <a:r>
              <a:rPr kumimoji="0" lang="en-US"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A</a:t>
            </a: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B</a:t>
            </a: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C</a:t>
            </a: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D</a:t>
            </a:r>
            <a:r>
              <a:rPr kumimoji="0" lang="zh-CN" altLang="zh-CN" sz="20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四个接触点要尽可能小（至少比样品面积小一个量级），并且这四个点必须位于薄膜的边缘。</a:t>
            </a:r>
            <a:endParaRPr kumimoji="0" lang="zh-CN" altLang="zh-CN" sz="1600" b="0" i="0" u="none" strike="noStrike" kern="1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endParaRPr>
          </a:p>
        </p:txBody>
      </p:sp>
      <p:pic>
        <p:nvPicPr>
          <p:cNvPr id="10" name="图片 9">
            <a:extLst>
              <a:ext uri="{FF2B5EF4-FFF2-40B4-BE49-F238E27FC236}">
                <a16:creationId xmlns:a16="http://schemas.microsoft.com/office/drawing/2014/main" id="{B4BFD1E5-7929-4BDD-8B87-B6F4B9639EE3}"/>
              </a:ext>
            </a:extLst>
          </p:cNvPr>
          <p:cNvPicPr>
            <a:picLocks noChangeAspect="1"/>
          </p:cNvPicPr>
          <p:nvPr/>
        </p:nvPicPr>
        <p:blipFill>
          <a:blip r:embed="rId6"/>
          <a:stretch>
            <a:fillRect/>
          </a:stretch>
        </p:blipFill>
        <p:spPr>
          <a:xfrm>
            <a:off x="1030967" y="610509"/>
            <a:ext cx="10388484" cy="1347333"/>
          </a:xfrm>
          <a:prstGeom prst="rect">
            <a:avLst/>
          </a:prstGeom>
        </p:spPr>
      </p:pic>
    </p:spTree>
    <p:extLst>
      <p:ext uri="{BB962C8B-B14F-4D97-AF65-F5344CB8AC3E}">
        <p14:creationId xmlns:p14="http://schemas.microsoft.com/office/powerpoint/2010/main" val="24638447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8767FD-006B-44AD-A8E4-3EC9A9E1F69A}"/>
              </a:ext>
            </a:extLst>
          </p:cNvPr>
          <p:cNvSpPr>
            <a:spLocks noGrp="1"/>
          </p:cNvSpPr>
          <p:nvPr>
            <p:ph type="ctrTitle"/>
          </p:nvPr>
        </p:nvSpPr>
        <p:spPr>
          <a:xfrm>
            <a:off x="1524000" y="173129"/>
            <a:ext cx="9144000" cy="819648"/>
          </a:xfrm>
        </p:spPr>
        <p:txBody>
          <a:bodyPr>
            <a:normAutofit fontScale="90000"/>
          </a:bodyPr>
          <a:lstStyle/>
          <a:p>
            <a:r>
              <a:rPr lang="zh-CN" altLang="en-US" dirty="0">
                <a:latin typeface="宋体" panose="02010600030101010101" pitchFamily="2" charset="-122"/>
                <a:ea typeface="宋体" panose="02010600030101010101" pitchFamily="2" charset="-122"/>
              </a:rPr>
              <a:t>静电能</a:t>
            </a:r>
          </a:p>
        </p:txBody>
      </p:sp>
      <p:sp>
        <p:nvSpPr>
          <p:cNvPr id="3" name="副标题 2">
            <a:extLst>
              <a:ext uri="{FF2B5EF4-FFF2-40B4-BE49-F238E27FC236}">
                <a16:creationId xmlns:a16="http://schemas.microsoft.com/office/drawing/2014/main" id="{B1247F28-3E3F-46F8-9229-248E92E4C4ED}"/>
              </a:ext>
            </a:extLst>
          </p:cNvPr>
          <p:cNvSpPr>
            <a:spLocks noGrp="1"/>
          </p:cNvSpPr>
          <p:nvPr>
            <p:ph type="subTitle" idx="1"/>
          </p:nvPr>
        </p:nvSpPr>
        <p:spPr>
          <a:xfrm>
            <a:off x="409303" y="888274"/>
            <a:ext cx="11599817" cy="5683386"/>
          </a:xfrm>
        </p:spPr>
        <p:txBody>
          <a:bodyPr>
            <a:normAutofit fontScale="92500" lnSpcReduction="10000"/>
          </a:bodyPr>
          <a:lstStyle/>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点电荷组的静电能：</a:t>
            </a:r>
          </a:p>
          <a:p>
            <a:pPr algn="l"/>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dirty="0">
                <a:latin typeface="Times New Roman" panose="02020603050405020304" pitchFamily="18" charset="0"/>
                <a:ea typeface="宋体" panose="02010600030101010101" pitchFamily="2" charset="-122"/>
                <a:cs typeface="Times New Roman" panose="02020603050405020304" pitchFamily="18" charset="0"/>
              </a:rPr>
              <a:t>互能和，</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zh-CN" dirty="0">
                <a:latin typeface="Times New Roman" panose="02020603050405020304" pitchFamily="18" charset="0"/>
                <a:ea typeface="宋体" panose="02010600030101010101" pitchFamily="2" charset="-122"/>
                <a:cs typeface="Times New Roman" panose="02020603050405020304" pitchFamily="18" charset="0"/>
              </a:rPr>
              <a:t>互能与自能和，</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zh-CN" dirty="0">
                <a:latin typeface="Times New Roman" panose="02020603050405020304" pitchFamily="18" charset="0"/>
                <a:ea typeface="宋体" panose="02010600030101010101" pitchFamily="2" charset="-122"/>
                <a:cs typeface="Times New Roman" panose="02020603050405020304" pitchFamily="18" charset="0"/>
              </a:rPr>
              <a:t>与移动次序有关，</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zh-CN" altLang="zh-CN" dirty="0">
                <a:latin typeface="Times New Roman" panose="02020603050405020304" pitchFamily="18" charset="0"/>
                <a:ea typeface="宋体" panose="02010600030101010101" pitchFamily="2" charset="-122"/>
                <a:cs typeface="Times New Roman" panose="02020603050405020304" pitchFamily="18" charset="0"/>
              </a:rPr>
              <a:t>与移动次序无关</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电荷连续分布带电体的静电能：</a:t>
            </a:r>
          </a:p>
          <a:p>
            <a:pPr algn="l"/>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电荷元体积趋于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时自能也为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电荷元体积趋于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时自能不为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zh-CN" dirty="0">
                <a:latin typeface="Times New Roman" panose="02020603050405020304" pitchFamily="18" charset="0"/>
                <a:ea typeface="宋体" panose="02010600030101010101" pitchFamily="2" charset="-122"/>
                <a:cs typeface="Times New Roman" panose="02020603050405020304" pitchFamily="18" charset="0"/>
              </a:rPr>
              <a:t>带电体的互能不为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zh-CN" dirty="0">
                <a:latin typeface="Times New Roman" panose="02020603050405020304" pitchFamily="18" charset="0"/>
                <a:ea typeface="宋体" panose="02010600030101010101" pitchFamily="2" charset="-122"/>
                <a:cs typeface="Times New Roman" panose="02020603050405020304" pitchFamily="18" charset="0"/>
              </a:rPr>
              <a:t>带电体的自能不为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a:t>
            </a:r>
            <a:r>
              <a:rPr lang="zh-CN" altLang="zh-CN" dirty="0">
                <a:latin typeface="Times New Roman" panose="02020603050405020304" pitchFamily="18" charset="0"/>
                <a:ea typeface="宋体" panose="02010600030101010101" pitchFamily="2" charset="-122"/>
                <a:cs typeface="Times New Roman" panose="02020603050405020304" pitchFamily="18" charset="0"/>
              </a:rPr>
              <a:t>静电能等于自能与互能的和，</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zh-CN" altLang="zh-CN" dirty="0">
                <a:latin typeface="Times New Roman" panose="02020603050405020304" pitchFamily="18" charset="0"/>
                <a:ea typeface="宋体" panose="02010600030101010101" pitchFamily="2" charset="-122"/>
                <a:cs typeface="Times New Roman" panose="02020603050405020304" pitchFamily="18" charset="0"/>
              </a:rPr>
              <a:t>静电能等于互能</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 3</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电荷连续分布带电面的静电能：</a:t>
            </a:r>
          </a:p>
          <a:p>
            <a:pPr algn="l"/>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电荷元面积趋于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时自能也为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电荷元面积趋于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时自能不为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zh-CN" dirty="0">
                <a:latin typeface="Times New Roman" panose="02020603050405020304" pitchFamily="18" charset="0"/>
                <a:ea typeface="宋体" panose="02010600030101010101" pitchFamily="2" charset="-122"/>
                <a:cs typeface="Times New Roman" panose="02020603050405020304" pitchFamily="18" charset="0"/>
              </a:rPr>
              <a:t>带电面的互能不为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zh-CN" dirty="0">
                <a:latin typeface="Times New Roman" panose="02020603050405020304" pitchFamily="18" charset="0"/>
                <a:ea typeface="宋体" panose="02010600030101010101" pitchFamily="2" charset="-122"/>
                <a:cs typeface="Times New Roman" panose="02020603050405020304" pitchFamily="18" charset="0"/>
              </a:rPr>
              <a:t>带电面的自能不为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静电能等于自能与互能的和，</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静电能等于互能</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 4</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电荷连续分布带电线的静电能：</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dirty="0">
                <a:latin typeface="Times New Roman" panose="02020603050405020304" pitchFamily="18" charset="0"/>
                <a:ea typeface="宋体" panose="02010600030101010101" pitchFamily="2" charset="-122"/>
                <a:cs typeface="Times New Roman" panose="02020603050405020304" pitchFamily="18" charset="0"/>
              </a:rPr>
              <a:t>线电荷元长度趋于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时自能也为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电荷元长度趋于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时自能不为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带电线的互能不为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zh-CN" dirty="0">
                <a:latin typeface="Times New Roman" panose="02020603050405020304" pitchFamily="18" charset="0"/>
                <a:ea typeface="宋体" panose="02010600030101010101" pitchFamily="2" charset="-122"/>
                <a:cs typeface="Times New Roman" panose="02020603050405020304" pitchFamily="18" charset="0"/>
              </a:rPr>
              <a:t>带电线的自能不为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dirty="0">
                <a:latin typeface="Times New Roman" panose="02020603050405020304" pitchFamily="18" charset="0"/>
                <a:ea typeface="宋体" panose="02010600030101010101" pitchFamily="2" charset="-122"/>
                <a:cs typeface="Times New Roman" panose="02020603050405020304" pitchFamily="18" charset="0"/>
              </a:rPr>
              <a:t>静电能等于自能与互能的和，</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静电能等于互能，</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G.</a:t>
            </a:r>
            <a:r>
              <a:rPr lang="zh-CN" altLang="zh-CN" dirty="0">
                <a:latin typeface="Times New Roman" panose="02020603050405020304" pitchFamily="18" charset="0"/>
                <a:ea typeface="宋体" panose="02010600030101010101" pitchFamily="2" charset="-122"/>
                <a:cs typeface="Times New Roman" panose="02020603050405020304" pitchFamily="18" charset="0"/>
              </a:rPr>
              <a:t>考虑自能时不能用点、线电荷模型</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介质中静电能：</a:t>
            </a:r>
          </a:p>
          <a:p>
            <a:pPr algn="l"/>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总电荷密度等于自由电荷密度与极化电荷密度和，</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宏观静电能是建立宏观电荷分布过程中系统所储存的能量，</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zh-CN" dirty="0">
                <a:latin typeface="Times New Roman" panose="02020603050405020304" pitchFamily="18" charset="0"/>
                <a:ea typeface="宋体" panose="02010600030101010101" pitchFamily="2" charset="-122"/>
                <a:cs typeface="Times New Roman" panose="02020603050405020304" pitchFamily="18" charset="0"/>
              </a:rPr>
              <a:t>宏观静电能是建立宏观电荷分布过程中外界所做的功，</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系统静电能等于宏观静电能与极化能的和</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954414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8767FD-006B-44AD-A8E4-3EC9A9E1F69A}"/>
              </a:ext>
            </a:extLst>
          </p:cNvPr>
          <p:cNvSpPr>
            <a:spLocks noGrp="1"/>
          </p:cNvSpPr>
          <p:nvPr>
            <p:ph type="ctrTitle"/>
          </p:nvPr>
        </p:nvSpPr>
        <p:spPr>
          <a:xfrm>
            <a:off x="1524000" y="173129"/>
            <a:ext cx="9144000" cy="819648"/>
          </a:xfrm>
        </p:spPr>
        <p:txBody>
          <a:bodyPr>
            <a:normAutofit fontScale="90000"/>
          </a:bodyPr>
          <a:lstStyle/>
          <a:p>
            <a:r>
              <a:rPr lang="zh-CN" altLang="en-US" dirty="0">
                <a:latin typeface="宋体" panose="02010600030101010101" pitchFamily="2" charset="-122"/>
                <a:ea typeface="宋体" panose="02010600030101010101" pitchFamily="2" charset="-122"/>
              </a:rPr>
              <a:t>静电能</a:t>
            </a:r>
          </a:p>
        </p:txBody>
      </p:sp>
      <p:sp>
        <p:nvSpPr>
          <p:cNvPr id="3" name="副标题 2">
            <a:extLst>
              <a:ext uri="{FF2B5EF4-FFF2-40B4-BE49-F238E27FC236}">
                <a16:creationId xmlns:a16="http://schemas.microsoft.com/office/drawing/2014/main" id="{B1247F28-3E3F-46F8-9229-248E92E4C4ED}"/>
              </a:ext>
            </a:extLst>
          </p:cNvPr>
          <p:cNvSpPr>
            <a:spLocks noGrp="1"/>
          </p:cNvSpPr>
          <p:nvPr>
            <p:ph type="subTitle" idx="1"/>
          </p:nvPr>
        </p:nvSpPr>
        <p:spPr>
          <a:xfrm>
            <a:off x="269967" y="888273"/>
            <a:ext cx="11791404" cy="5521235"/>
          </a:xfrm>
        </p:spPr>
        <p:txBody>
          <a:bodyPr>
            <a:normAutofit/>
          </a:bodyPr>
          <a:lstStyle/>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极化能：</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dirty="0">
                <a:latin typeface="Times New Roman" panose="02020603050405020304" pitchFamily="18" charset="0"/>
                <a:ea typeface="宋体" panose="02010600030101010101" pitchFamily="2" charset="-122"/>
                <a:cs typeface="Times New Roman" panose="02020603050405020304" pitchFamily="18" charset="0"/>
              </a:rPr>
              <a:t>外界在极化过程所做的功，</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外界建立的电场克服极化过程中分子内与分子间相互作用做功，</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通过极化功转换到介质的能量和为极化能</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 7</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电荷体系在外场中的静电能：</a:t>
            </a:r>
          </a:p>
          <a:p>
            <a:pPr algn="l"/>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等于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QU</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是互能，</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zh-CN" dirty="0">
                <a:latin typeface="Times New Roman" panose="02020603050405020304" pitchFamily="18" charset="0"/>
                <a:ea typeface="宋体" panose="02010600030101010101" pitchFamily="2" charset="-122"/>
                <a:cs typeface="Times New Roman" panose="02020603050405020304" pitchFamily="18" charset="0"/>
              </a:rPr>
              <a:t>是互能与自能和，</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电荷分布固定其自能不变</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 8</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电场的能量：</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dirty="0">
                <a:latin typeface="Times New Roman" panose="02020603050405020304" pitchFamily="18" charset="0"/>
                <a:ea typeface="宋体" panose="02010600030101010101" pitchFamily="2" charset="-122"/>
                <a:cs typeface="Times New Roman" panose="02020603050405020304" pitchFamily="18" charset="0"/>
              </a:rPr>
              <a:t>静电能只储存在电荷上，</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zh-CN" dirty="0">
                <a:latin typeface="Times New Roman" panose="02020603050405020304" pitchFamily="18" charset="0"/>
                <a:ea typeface="宋体" panose="02010600030101010101" pitchFamily="2" charset="-122"/>
                <a:cs typeface="Times New Roman" panose="02020603050405020304" pitchFamily="18" charset="0"/>
              </a:rPr>
              <a:t>有电场没电荷的空间静电能为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电荷的相互作用是通过电场传递，</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电场具有能量</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 9</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电场的能量密度：</a:t>
            </a:r>
          </a:p>
          <a:p>
            <a:pPr algn="l"/>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等于</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D.E</a:t>
            </a:r>
            <a:r>
              <a:rPr lang="en-US" altLang="zh-CN" dirty="0">
                <a:latin typeface="Times New Roman" panose="02020603050405020304" pitchFamily="18" charset="0"/>
                <a:ea typeface="宋体" panose="02010600030101010101" pitchFamily="2" charset="-122"/>
                <a:cs typeface="Times New Roman" panose="02020603050405020304" pitchFamily="18" charset="0"/>
              </a:rPr>
              <a:t>/2, B.</a:t>
            </a:r>
            <a:r>
              <a:rPr lang="zh-CN" altLang="zh-CN" dirty="0">
                <a:latin typeface="Times New Roman" panose="02020603050405020304" pitchFamily="18" charset="0"/>
                <a:ea typeface="宋体" panose="02010600030101010101" pitchFamily="2" charset="-122"/>
                <a:cs typeface="Times New Roman" panose="02020603050405020304" pitchFamily="18" charset="0"/>
              </a:rPr>
              <a:t>不考虑极化能，</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计入极化能，</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极化能量密度为</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P.E</a:t>
            </a:r>
            <a:r>
              <a:rPr lang="en-US" altLang="zh-CN" dirty="0">
                <a:latin typeface="Times New Roman" panose="02020603050405020304" pitchFamily="18" charset="0"/>
                <a:ea typeface="宋体" panose="02010600030101010101" pitchFamily="2" charset="-122"/>
                <a:cs typeface="Times New Roman" panose="02020603050405020304" pitchFamily="18" charset="0"/>
              </a:rPr>
              <a:t>/2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713145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8767FD-006B-44AD-A8E4-3EC9A9E1F69A}"/>
              </a:ext>
            </a:extLst>
          </p:cNvPr>
          <p:cNvSpPr>
            <a:spLocks noGrp="1"/>
          </p:cNvSpPr>
          <p:nvPr>
            <p:ph type="ctrTitle"/>
          </p:nvPr>
        </p:nvSpPr>
        <p:spPr>
          <a:xfrm>
            <a:off x="1524000" y="173129"/>
            <a:ext cx="9144000" cy="819648"/>
          </a:xfrm>
        </p:spPr>
        <p:txBody>
          <a:bodyPr>
            <a:normAutofit fontScale="90000"/>
          </a:bodyPr>
          <a:lstStyle/>
          <a:p>
            <a:r>
              <a:rPr lang="zh-CN" altLang="en-US" dirty="0">
                <a:latin typeface="宋体" panose="02010600030101010101" pitchFamily="2" charset="-122"/>
                <a:ea typeface="宋体" panose="02010600030101010101" pitchFamily="2" charset="-122"/>
              </a:rPr>
              <a:t>静电能</a:t>
            </a:r>
          </a:p>
        </p:txBody>
      </p:sp>
      <p:sp>
        <p:nvSpPr>
          <p:cNvPr id="3" name="副标题 2">
            <a:extLst>
              <a:ext uri="{FF2B5EF4-FFF2-40B4-BE49-F238E27FC236}">
                <a16:creationId xmlns:a16="http://schemas.microsoft.com/office/drawing/2014/main" id="{B1247F28-3E3F-46F8-9229-248E92E4C4ED}"/>
              </a:ext>
            </a:extLst>
          </p:cNvPr>
          <p:cNvSpPr>
            <a:spLocks noGrp="1"/>
          </p:cNvSpPr>
          <p:nvPr>
            <p:ph type="subTitle" idx="1"/>
          </p:nvPr>
        </p:nvSpPr>
        <p:spPr>
          <a:xfrm>
            <a:off x="269967" y="888273"/>
            <a:ext cx="11791404" cy="5521235"/>
          </a:xfrm>
        </p:spPr>
        <p:txBody>
          <a:bodyPr>
            <a:normAutofit/>
          </a:bodyPr>
          <a:lstStyle/>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10</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非线性有损介质的电滞损耗：</a:t>
            </a:r>
          </a:p>
          <a:p>
            <a:pPr algn="l"/>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因电滞现象而消耗的能量，</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电滞回线所围的面积，</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电滞损耗对应的功改变电场，</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电滞损耗对应的功不改变电场，</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电滞损耗对应的功改变极化状态，</a:t>
            </a:r>
            <a:r>
              <a:rPr lang="en-US" altLang="zh-CN" dirty="0">
                <a:latin typeface="Times New Roman" panose="02020603050405020304" pitchFamily="18" charset="0"/>
                <a:ea typeface="宋体" panose="02010600030101010101" pitchFamily="2" charset="-122"/>
                <a:cs typeface="Times New Roman" panose="02020603050405020304" pitchFamily="18" charset="0"/>
              </a:rPr>
              <a:t>F.</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电滞损耗对应的功不改变极化状态，</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G.</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电滞损耗对应的功使介质发热</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11</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铁电体：</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dirty="0">
                <a:latin typeface="Times New Roman" panose="02020603050405020304" pitchFamily="18" charset="0"/>
                <a:ea typeface="宋体" panose="02010600030101010101" pitchFamily="2" charset="-122"/>
                <a:cs typeface="Times New Roman" panose="02020603050405020304" pitchFamily="18" charset="0"/>
              </a:rPr>
              <a:t>是线性无损介质，</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是非线性有损介质，</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zh-CN" dirty="0">
                <a:latin typeface="Times New Roman" panose="02020603050405020304" pitchFamily="18" charset="0"/>
                <a:ea typeface="宋体" panose="02010600030101010101" pitchFamily="2" charset="-122"/>
                <a:cs typeface="Times New Roman" panose="02020603050405020304" pitchFamily="18" charset="0"/>
              </a:rPr>
              <a:t>极化系数与电场无关，</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极化系数与电场有关，</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有压电效应</a:t>
            </a:r>
          </a:p>
          <a:p>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12</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Q</a:t>
            </a:r>
            <a:r>
              <a:rPr lang="zh-CN" altLang="zh-CN" dirty="0">
                <a:latin typeface="Times New Roman" panose="02020603050405020304" pitchFamily="18" charset="0"/>
                <a:ea typeface="宋体" panose="02010600030101010101" pitchFamily="2" charset="-122"/>
                <a:cs typeface="Times New Roman" panose="02020603050405020304" pitchFamily="18" charset="0"/>
              </a:rPr>
              <a:t>均匀分布在带电球体内，计算其静电能要用下列方法：</a:t>
            </a: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dirty="0">
                <a:latin typeface="Times New Roman" panose="02020603050405020304" pitchFamily="18" charset="0"/>
                <a:ea typeface="宋体" panose="02010600030101010101" pitchFamily="2" charset="-122"/>
                <a:cs typeface="Times New Roman" panose="02020603050405020304" pitchFamily="18" charset="0"/>
              </a:rPr>
              <a:t>电容储能法，</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带电体的互能公式，</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zh-CN" dirty="0">
                <a:latin typeface="Times New Roman" panose="02020603050405020304" pitchFamily="18" charset="0"/>
                <a:ea typeface="宋体" panose="02010600030101010101" pitchFamily="2" charset="-122"/>
                <a:cs typeface="Times New Roman" panose="02020603050405020304" pitchFamily="18" charset="0"/>
              </a:rPr>
              <a:t>带电体的自能公式，</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latin typeface="Times New Roman" panose="02020603050405020304" pitchFamily="18" charset="0"/>
                <a:ea typeface="宋体" panose="02010600030101010101" pitchFamily="2" charset="-122"/>
                <a:cs typeface="Times New Roman" panose="02020603050405020304" pitchFamily="18" charset="0"/>
              </a:rPr>
              <a:t>能量密度对空间积分</a:t>
            </a:r>
          </a:p>
          <a:p>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latin typeface="Times New Roman" panose="02020603050405020304" pitchFamily="18" charset="0"/>
              <a:ea typeface="宋体" panose="02010600030101010101" pitchFamily="2" charset="-122"/>
              <a:cs typeface="Times New Roman" panose="02020603050405020304" pitchFamily="18" charset="0"/>
            </a:endParaRPr>
          </a:p>
          <a:p>
            <a:pPr algn="l"/>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553396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8767FD-006B-44AD-A8E4-3EC9A9E1F69A}"/>
              </a:ext>
            </a:extLst>
          </p:cNvPr>
          <p:cNvSpPr>
            <a:spLocks noGrp="1"/>
          </p:cNvSpPr>
          <p:nvPr>
            <p:ph type="ctrTitle"/>
          </p:nvPr>
        </p:nvSpPr>
        <p:spPr>
          <a:xfrm>
            <a:off x="1524000" y="100149"/>
            <a:ext cx="9144000" cy="819648"/>
          </a:xfrm>
        </p:spPr>
        <p:txBody>
          <a:bodyPr>
            <a:normAutofit fontScale="90000"/>
          </a:bodyPr>
          <a:lstStyle/>
          <a:p>
            <a:r>
              <a:rPr lang="zh-CN" altLang="en-US" dirty="0">
                <a:latin typeface="宋体" panose="02010600030101010101" pitchFamily="2" charset="-122"/>
                <a:ea typeface="宋体" panose="02010600030101010101" pitchFamily="2" charset="-122"/>
              </a:rPr>
              <a:t>稳恒电路</a:t>
            </a:r>
          </a:p>
        </p:txBody>
      </p:sp>
      <p:sp>
        <p:nvSpPr>
          <p:cNvPr id="3" name="副标题 2">
            <a:extLst>
              <a:ext uri="{FF2B5EF4-FFF2-40B4-BE49-F238E27FC236}">
                <a16:creationId xmlns:a16="http://schemas.microsoft.com/office/drawing/2014/main" id="{B1247F28-3E3F-46F8-9229-248E92E4C4ED}"/>
              </a:ext>
            </a:extLst>
          </p:cNvPr>
          <p:cNvSpPr>
            <a:spLocks noGrp="1"/>
          </p:cNvSpPr>
          <p:nvPr>
            <p:ph type="subTitle" idx="1"/>
          </p:nvPr>
        </p:nvSpPr>
        <p:spPr>
          <a:xfrm>
            <a:off x="200298" y="775060"/>
            <a:ext cx="11791404" cy="6082939"/>
          </a:xfrm>
        </p:spPr>
        <p:txBody>
          <a:bodyPr>
            <a:normAutofit fontScale="92500" lnSpcReduction="10000"/>
          </a:bodyPr>
          <a:lstStyle/>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、稳恒电路中的导体：</a:t>
            </a:r>
            <a:endParaRPr lang="zh-CN"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处于静电平衡</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导体内有电荷，</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导体内没有电荷</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导体的界面上有电荷</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dirty="0">
                <a:latin typeface="Times New Roman" panose="02020603050405020304" pitchFamily="18" charset="0"/>
                <a:ea typeface="宋体" panose="02010600030101010101" pitchFamily="2" charset="-122"/>
                <a:cs typeface="Times New Roman" panose="02020603050405020304" pitchFamily="18" charset="0"/>
              </a:rPr>
              <a:t>导体内没有电场</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dirty="0">
                <a:latin typeface="Times New Roman" panose="02020603050405020304" pitchFamily="18" charset="0"/>
                <a:ea typeface="宋体" panose="02010600030101010101" pitchFamily="2" charset="-122"/>
                <a:cs typeface="Times New Roman" panose="02020603050405020304" pitchFamily="18" charset="0"/>
              </a:rPr>
              <a:t>导体内电荷分布稳定</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dirty="0">
                <a:latin typeface="Times New Roman" panose="02020603050405020304" pitchFamily="18" charset="0"/>
                <a:ea typeface="宋体" panose="02010600030101010101" pitchFamily="2" charset="-122"/>
                <a:cs typeface="Times New Roman" panose="02020603050405020304" pitchFamily="18" charset="0"/>
              </a:rPr>
              <a:t>电荷守恒，</a:t>
            </a:r>
            <a:r>
              <a:rPr lang="en-US" altLang="zh-CN" dirty="0">
                <a:latin typeface="Times New Roman" panose="02020603050405020304" pitchFamily="18" charset="0"/>
                <a:ea typeface="宋体" panose="02010600030101010101" pitchFamily="2" charset="-122"/>
                <a:cs typeface="Times New Roman" panose="02020603050405020304" pitchFamily="18" charset="0"/>
              </a:rPr>
              <a:t>H.</a:t>
            </a:r>
            <a:r>
              <a:rPr lang="zh-CN" altLang="en-US" dirty="0">
                <a:latin typeface="Times New Roman" panose="02020603050405020304" pitchFamily="18" charset="0"/>
                <a:ea typeface="宋体" panose="02010600030101010101" pitchFamily="2" charset="-122"/>
                <a:cs typeface="Times New Roman" panose="02020603050405020304" pitchFamily="18" charset="0"/>
              </a:rPr>
              <a:t> 导体内有电场且与表面平行</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、稳恒电流：</a:t>
            </a:r>
            <a:endParaRPr lang="zh-CN"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电流不随时间变化</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电流密度矢量不随时间变化</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闭合电路</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绕回路一周，电势改变量为零</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dirty="0">
                <a:latin typeface="Times New Roman" panose="02020603050405020304" pitchFamily="18" charset="0"/>
                <a:ea typeface="宋体" panose="02010600030101010101" pitchFamily="2" charset="-122"/>
                <a:cs typeface="Times New Roman" panose="02020603050405020304" pitchFamily="18" charset="0"/>
              </a:rPr>
              <a:t>电路中有电势降落路段，也有电势上升路段</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dirty="0">
                <a:latin typeface="Times New Roman" panose="02020603050405020304" pitchFamily="18" charset="0"/>
                <a:ea typeface="宋体" panose="02010600030101010101" pitchFamily="2" charset="-122"/>
                <a:cs typeface="Times New Roman" panose="02020603050405020304" pitchFamily="18" charset="0"/>
              </a:rPr>
              <a:t>、电源：</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放电吸热，</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放电放热</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充电放热</a:t>
            </a:r>
            <a:r>
              <a:rPr lang="zh-CN"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充电吸热，</a:t>
            </a:r>
            <a:r>
              <a:rPr lang="en-US" altLang="zh-CN" dirty="0">
                <a:latin typeface="Times New Roman" panose="02020603050405020304" pitchFamily="18" charset="0"/>
                <a:ea typeface="宋体" panose="02010600030101010101" pitchFamily="2" charset="-122"/>
                <a:cs typeface="Times New Roman" panose="02020603050405020304" pitchFamily="18" charset="0"/>
              </a:rPr>
              <a:t>E. </a:t>
            </a:r>
            <a:r>
              <a:rPr lang="zh-CN" altLang="en-US" dirty="0">
                <a:latin typeface="Times New Roman" panose="02020603050405020304" pitchFamily="18" charset="0"/>
                <a:ea typeface="宋体" panose="02010600030101010101" pitchFamily="2" charset="-122"/>
                <a:cs typeface="Times New Roman" panose="02020603050405020304" pitchFamily="18" charset="0"/>
              </a:rPr>
              <a:t>有非静电场</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dirty="0">
                <a:latin typeface="Times New Roman" panose="02020603050405020304" pitchFamily="18" charset="0"/>
                <a:ea typeface="宋体" panose="02010600030101010101" pitchFamily="2" charset="-122"/>
                <a:cs typeface="Times New Roman" panose="02020603050405020304" pitchFamily="18" charset="0"/>
              </a:rPr>
              <a:t>、常见电源：</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丹聂耳电池，</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太阳能电池，</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温差电动势，</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珀耳帖电动势，</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dirty="0">
                <a:latin typeface="Times New Roman" panose="02020603050405020304" pitchFamily="18" charset="0"/>
                <a:ea typeface="宋体" panose="02010600030101010101" pitchFamily="2" charset="-122"/>
                <a:cs typeface="Times New Roman" panose="02020603050405020304" pitchFamily="18" charset="0"/>
              </a:rPr>
              <a:t>核能电池，</a:t>
            </a:r>
            <a:r>
              <a:rPr lang="en-US" altLang="zh-CN"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dirty="0">
                <a:latin typeface="Times New Roman" panose="02020603050405020304" pitchFamily="18" charset="0"/>
                <a:ea typeface="宋体" panose="02010600030101010101" pitchFamily="2" charset="-122"/>
                <a:cs typeface="Times New Roman" panose="02020603050405020304" pitchFamily="18" charset="0"/>
              </a:rPr>
              <a:t>燃料电池， </a:t>
            </a:r>
            <a:r>
              <a:rPr lang="en-US" altLang="zh-CN"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dirty="0">
                <a:latin typeface="Times New Roman" panose="02020603050405020304" pitchFamily="18" charset="0"/>
                <a:ea typeface="宋体" panose="02010600030101010101" pitchFamily="2" charset="-122"/>
                <a:cs typeface="Times New Roman" panose="02020603050405020304" pitchFamily="18" charset="0"/>
              </a:rPr>
              <a:t>充满电的电容器</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dirty="0">
                <a:latin typeface="Times New Roman" panose="02020603050405020304" pitchFamily="18" charset="0"/>
                <a:ea typeface="宋体" panose="02010600030101010101" pitchFamily="2" charset="-122"/>
                <a:cs typeface="Times New Roman" panose="02020603050405020304" pitchFamily="18" charset="0"/>
              </a:rPr>
              <a:t>热电偶测温：</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利用温差电动势， </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利用珀耳帖电动势，</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仅要一种金属， </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仅要两种金属</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dirty="0">
                <a:latin typeface="Times New Roman" panose="02020603050405020304" pitchFamily="18" charset="0"/>
                <a:ea typeface="宋体" panose="02010600030101010101" pitchFamily="2" charset="-122"/>
                <a:cs typeface="Times New Roman" panose="02020603050405020304" pitchFamily="18" charset="0"/>
              </a:rPr>
              <a:t>电源提供稳定的电动势，原因：</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非静电力从负极经电源内部移动正电荷到正极， </a:t>
            </a:r>
            <a:r>
              <a:rPr lang="en-US" altLang="zh-CN"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电极附件产生电偶层平衡非静电力，</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外电路做功</a:t>
            </a:r>
            <a:r>
              <a:rPr lang="zh-CN" altLang="en-US">
                <a:latin typeface="Times New Roman" panose="02020603050405020304" pitchFamily="18" charset="0"/>
                <a:ea typeface="宋体" panose="02010600030101010101" pitchFamily="2" charset="-122"/>
                <a:cs typeface="Times New Roman" panose="02020603050405020304" pitchFamily="18" charset="0"/>
              </a:rPr>
              <a:t>消耗能量</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994322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2"/>
          <p:cNvSpPr>
            <a:spLocks noGrp="1" noChangeArrowheads="1"/>
          </p:cNvSpPr>
          <p:nvPr>
            <p:ph type="title" sz="quarter"/>
          </p:nvPr>
        </p:nvSpPr>
        <p:spPr>
          <a:xfrm>
            <a:off x="1981201" y="274638"/>
            <a:ext cx="6094413" cy="633412"/>
          </a:xfrm>
        </p:spPr>
        <p:txBody>
          <a:bodyPr/>
          <a:lstStyle/>
          <a:p>
            <a:pPr eaLnBrk="1" hangingPunct="1"/>
            <a:r>
              <a:rPr lang="zh-CN" altLang="en-US" sz="4000">
                <a:solidFill>
                  <a:srgbClr val="0000CC"/>
                </a:solidFill>
              </a:rPr>
              <a:t>基尔霍夫方程组</a:t>
            </a:r>
          </a:p>
        </p:txBody>
      </p:sp>
      <p:sp>
        <p:nvSpPr>
          <p:cNvPr id="75779" name="Text Box 3"/>
          <p:cNvSpPr txBox="1">
            <a:spLocks noChangeArrowheads="1"/>
          </p:cNvSpPr>
          <p:nvPr/>
        </p:nvSpPr>
        <p:spPr bwMode="auto">
          <a:xfrm>
            <a:off x="2270125" y="3024188"/>
            <a:ext cx="56705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rgbClr val="FF3300"/>
                </a:solidFill>
                <a:latin typeface="Times New Roman" panose="02020603050405020304" pitchFamily="18" charset="0"/>
                <a:ea typeface="隶书" panose="02010509060101010101" pitchFamily="49" charset="-122"/>
              </a:rPr>
              <a:t>I</a:t>
            </a:r>
            <a:r>
              <a:rPr lang="zh-CN" altLang="en-US" sz="2400">
                <a:solidFill>
                  <a:srgbClr val="FF3300"/>
                </a:solidFill>
                <a:latin typeface="Times New Roman" panose="02020603050405020304" pitchFamily="18" charset="0"/>
                <a:ea typeface="隶书" panose="02010509060101010101" pitchFamily="49" charset="-122"/>
              </a:rPr>
              <a:t>、</a:t>
            </a:r>
            <a:r>
              <a:rPr lang="en-US" altLang="zh-CN" sz="2400">
                <a:solidFill>
                  <a:srgbClr val="FF3300"/>
                </a:solidFill>
                <a:latin typeface="Times New Roman" panose="02020603050405020304" pitchFamily="18" charset="0"/>
                <a:ea typeface="隶书" panose="02010509060101010101" pitchFamily="49" charset="-122"/>
              </a:rPr>
              <a:t>U</a:t>
            </a:r>
            <a:r>
              <a:rPr lang="zh-CN" altLang="en-US" sz="2400">
                <a:solidFill>
                  <a:srgbClr val="FF3300"/>
                </a:solidFill>
                <a:ea typeface="隶书" panose="02010509060101010101" pitchFamily="49" charset="-122"/>
              </a:rPr>
              <a:t>正负问题：</a:t>
            </a:r>
          </a:p>
          <a:p>
            <a:pPr eaLnBrk="1" hangingPunct="1">
              <a:spcBef>
                <a:spcPct val="50000"/>
              </a:spcBef>
              <a:buFontTx/>
              <a:buNone/>
            </a:pPr>
            <a:r>
              <a:rPr lang="en-US" altLang="zh-CN" sz="2400">
                <a:solidFill>
                  <a:srgbClr val="FF3300"/>
                </a:solidFill>
                <a:latin typeface="Times New Roman" panose="02020603050405020304" pitchFamily="18" charset="0"/>
                <a:ea typeface="隶书" panose="02010509060101010101" pitchFamily="49" charset="-122"/>
              </a:rPr>
              <a:t>I&gt;0,</a:t>
            </a:r>
            <a:r>
              <a:rPr lang="zh-CN" altLang="en-US" sz="2400">
                <a:solidFill>
                  <a:srgbClr val="FF3300"/>
                </a:solidFill>
                <a:latin typeface="Times New Roman" panose="02020603050405020304" pitchFamily="18" charset="0"/>
                <a:ea typeface="隶书" panose="02010509060101010101" pitchFamily="49" charset="-122"/>
              </a:rPr>
              <a:t>实际电流与标定电流一致</a:t>
            </a:r>
          </a:p>
          <a:p>
            <a:pPr eaLnBrk="1" hangingPunct="1">
              <a:spcBef>
                <a:spcPct val="50000"/>
              </a:spcBef>
              <a:buFontTx/>
              <a:buNone/>
            </a:pPr>
            <a:r>
              <a:rPr lang="en-US" altLang="zh-CN" sz="2400">
                <a:solidFill>
                  <a:srgbClr val="FF3300"/>
                </a:solidFill>
                <a:latin typeface="Times New Roman" panose="02020603050405020304" pitchFamily="18" charset="0"/>
                <a:ea typeface="隶书" panose="02010509060101010101" pitchFamily="49" charset="-122"/>
              </a:rPr>
              <a:t>I&lt;0,</a:t>
            </a:r>
            <a:r>
              <a:rPr lang="zh-CN" altLang="en-US" sz="2400">
                <a:solidFill>
                  <a:srgbClr val="FF3300"/>
                </a:solidFill>
                <a:latin typeface="Times New Roman" panose="02020603050405020304" pitchFamily="18" charset="0"/>
                <a:ea typeface="隶书" panose="02010509060101010101" pitchFamily="49" charset="-122"/>
              </a:rPr>
              <a:t>实际电流与标定电流相反</a:t>
            </a:r>
          </a:p>
          <a:p>
            <a:pPr eaLnBrk="1" hangingPunct="1">
              <a:spcBef>
                <a:spcPct val="0"/>
              </a:spcBef>
              <a:buFontTx/>
              <a:buNone/>
            </a:pPr>
            <a:r>
              <a:rPr lang="en-US" altLang="zh-CN" sz="2400">
                <a:solidFill>
                  <a:srgbClr val="0000CC"/>
                </a:solidFill>
                <a:latin typeface="隶书" panose="02010509060101010101" pitchFamily="49" charset="-122"/>
                <a:ea typeface="隶书" panose="02010509060101010101" pitchFamily="49" charset="-122"/>
              </a:rPr>
              <a:t>U&gt;0,</a:t>
            </a:r>
            <a:r>
              <a:rPr lang="zh-CN" altLang="en-US" sz="2400">
                <a:solidFill>
                  <a:srgbClr val="0000CC"/>
                </a:solidFill>
                <a:latin typeface="隶书" panose="02010509060101010101" pitchFamily="49" charset="-122"/>
                <a:ea typeface="隶书" panose="02010509060101010101" pitchFamily="49" charset="-122"/>
              </a:rPr>
              <a:t>沿标定方向看去电位下降</a:t>
            </a:r>
          </a:p>
          <a:p>
            <a:pPr eaLnBrk="1" hangingPunct="1">
              <a:spcBef>
                <a:spcPct val="0"/>
              </a:spcBef>
              <a:buFontTx/>
              <a:buNone/>
            </a:pPr>
            <a:r>
              <a:rPr lang="en-US" altLang="zh-CN" sz="2400">
                <a:solidFill>
                  <a:srgbClr val="0000CC"/>
                </a:solidFill>
                <a:latin typeface="隶书" panose="02010509060101010101" pitchFamily="49" charset="-122"/>
                <a:ea typeface="隶书" panose="02010509060101010101" pitchFamily="49" charset="-122"/>
              </a:rPr>
              <a:t>U&lt;0,</a:t>
            </a:r>
            <a:r>
              <a:rPr lang="zh-CN" altLang="en-US" sz="2400">
                <a:solidFill>
                  <a:srgbClr val="0000CC"/>
                </a:solidFill>
                <a:latin typeface="隶书" panose="02010509060101010101" pitchFamily="49" charset="-122"/>
                <a:ea typeface="隶书" panose="02010509060101010101" pitchFamily="49" charset="-122"/>
              </a:rPr>
              <a:t>沿标定方向看去电位上升</a:t>
            </a:r>
          </a:p>
          <a:p>
            <a:pPr eaLnBrk="1" hangingPunct="1">
              <a:spcBef>
                <a:spcPct val="50000"/>
              </a:spcBef>
              <a:buFontTx/>
              <a:buNone/>
            </a:pPr>
            <a:endParaRPr lang="en-US" altLang="zh-CN" sz="2400">
              <a:solidFill>
                <a:srgbClr val="FF3300"/>
              </a:solidFill>
              <a:latin typeface="隶书" panose="02010509060101010101" pitchFamily="49" charset="-122"/>
              <a:ea typeface="隶书" panose="02010509060101010101" pitchFamily="49" charset="-122"/>
            </a:endParaRPr>
          </a:p>
        </p:txBody>
      </p:sp>
      <p:graphicFrame>
        <p:nvGraphicFramePr>
          <p:cNvPr id="75780" name="Object 4"/>
          <p:cNvGraphicFramePr>
            <a:graphicFrameLocks noGrp="1" noChangeAspect="1"/>
          </p:cNvGraphicFramePr>
          <p:nvPr>
            <p:ph sz="quarter" idx="3"/>
          </p:nvPr>
        </p:nvGraphicFramePr>
        <p:xfrm>
          <a:off x="2946401" y="1314450"/>
          <a:ext cx="1446213" cy="590550"/>
        </p:xfrm>
        <a:graphic>
          <a:graphicData uri="http://schemas.openxmlformats.org/presentationml/2006/ole">
            <mc:AlternateContent xmlns:mc="http://schemas.openxmlformats.org/markup-compatibility/2006">
              <mc:Choice xmlns:v="urn:schemas-microsoft-com:vml" Requires="v">
                <p:oleObj spid="_x0000_s75827" name="Equation" r:id="rId3" imgW="622030" imgH="253890" progId="Equation.DSMT4">
                  <p:embed/>
                </p:oleObj>
              </mc:Choice>
              <mc:Fallback>
                <p:oleObj name="Equation" r:id="rId3" imgW="622030" imgH="25389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6401" y="1314450"/>
                        <a:ext cx="1446213"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1" name="Object 5"/>
          <p:cNvGraphicFramePr>
            <a:graphicFrameLocks noChangeAspect="1"/>
          </p:cNvGraphicFramePr>
          <p:nvPr/>
        </p:nvGraphicFramePr>
        <p:xfrm>
          <a:off x="2855913" y="2079625"/>
          <a:ext cx="4279900" cy="590550"/>
        </p:xfrm>
        <a:graphic>
          <a:graphicData uri="http://schemas.openxmlformats.org/presentationml/2006/ole">
            <mc:AlternateContent xmlns:mc="http://schemas.openxmlformats.org/markup-compatibility/2006">
              <mc:Choice xmlns:v="urn:schemas-microsoft-com:vml" Requires="v">
                <p:oleObj spid="_x0000_s75828" name="Equation" r:id="rId5" imgW="1841500" imgH="254000" progId="Equation.DSMT4">
                  <p:embed/>
                </p:oleObj>
              </mc:Choice>
              <mc:Fallback>
                <p:oleObj name="Equation" r:id="rId5" imgW="1841500" imgH="2540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5913" y="2079625"/>
                        <a:ext cx="427990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2" name="AutoShape 6"/>
          <p:cNvSpPr>
            <a:spLocks/>
          </p:cNvSpPr>
          <p:nvPr/>
        </p:nvSpPr>
        <p:spPr bwMode="auto">
          <a:xfrm>
            <a:off x="2720975" y="1493838"/>
            <a:ext cx="179388" cy="990600"/>
          </a:xfrm>
          <a:prstGeom prst="leftBrace">
            <a:avLst>
              <a:gd name="adj1" fmla="val 4601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992313" y="0"/>
            <a:ext cx="8229600" cy="490538"/>
          </a:xfrm>
        </p:spPr>
        <p:txBody>
          <a:bodyPr rtlCol="0">
            <a:normAutofit fontScale="90000"/>
          </a:bodyPr>
          <a:lstStyle/>
          <a:p>
            <a:pPr fontAlgn="auto">
              <a:spcAft>
                <a:spcPts val="0"/>
              </a:spcAft>
              <a:defRPr/>
            </a:pPr>
            <a:r>
              <a:rPr lang="zh-CN" altLang="en-US" dirty="0"/>
              <a:t>电学</a:t>
            </a:r>
          </a:p>
        </p:txBody>
      </p:sp>
      <p:sp>
        <p:nvSpPr>
          <p:cNvPr id="3" name="内容占位符 2"/>
          <p:cNvSpPr>
            <a:spLocks noGrp="1"/>
          </p:cNvSpPr>
          <p:nvPr>
            <p:ph idx="1"/>
          </p:nvPr>
        </p:nvSpPr>
        <p:spPr>
          <a:xfrm>
            <a:off x="1730375" y="593725"/>
            <a:ext cx="8642350" cy="5761038"/>
          </a:xfrm>
        </p:spPr>
        <p:txBody>
          <a:bodyPr rtlCol="0">
            <a:normAutofit fontScale="92500" lnSpcReduction="20000"/>
          </a:bodyPr>
          <a:lstStyle/>
          <a:p>
            <a:pPr fontAlgn="auto">
              <a:spcAft>
                <a:spcPts val="0"/>
              </a:spcAft>
              <a:buFont typeface="Arial" pitchFamily="34" charset="0"/>
              <a:buChar char="•"/>
              <a:defRPr/>
            </a:pPr>
            <a:r>
              <a:rPr lang="zh-CN" altLang="en-US" b="1" dirty="0">
                <a:solidFill>
                  <a:schemeClr val="tx2"/>
                </a:solidFill>
              </a:rPr>
              <a:t>衣服带静电</a:t>
            </a:r>
            <a:endParaRPr lang="en-US" altLang="zh-CN" b="1" dirty="0">
              <a:solidFill>
                <a:schemeClr val="tx2"/>
              </a:solidFill>
            </a:endParaRPr>
          </a:p>
          <a:p>
            <a:pPr fontAlgn="auto">
              <a:spcAft>
                <a:spcPts val="0"/>
              </a:spcAft>
              <a:buFont typeface="Arial" pitchFamily="34" charset="0"/>
              <a:buChar char="•"/>
              <a:defRPr/>
            </a:pPr>
            <a:r>
              <a:rPr lang="zh-CN" altLang="en-US" b="1" dirty="0">
                <a:solidFill>
                  <a:schemeClr val="tx2"/>
                </a:solidFill>
              </a:rPr>
              <a:t>单粒子反转</a:t>
            </a:r>
            <a:endParaRPr lang="en-US" altLang="zh-CN" b="1" dirty="0">
              <a:solidFill>
                <a:schemeClr val="tx2"/>
              </a:solidFill>
            </a:endParaRPr>
          </a:p>
          <a:p>
            <a:pPr fontAlgn="auto">
              <a:spcAft>
                <a:spcPts val="0"/>
              </a:spcAft>
              <a:buFont typeface="Arial" pitchFamily="34" charset="0"/>
              <a:buChar char="•"/>
              <a:defRPr/>
            </a:pPr>
            <a:r>
              <a:rPr lang="zh-CN" altLang="en-US" b="1" dirty="0">
                <a:solidFill>
                  <a:schemeClr val="tx2"/>
                </a:solidFill>
              </a:rPr>
              <a:t>闪电</a:t>
            </a:r>
            <a:r>
              <a:rPr lang="en-US" altLang="zh-CN" b="1" dirty="0">
                <a:solidFill>
                  <a:schemeClr val="tx2"/>
                </a:solidFill>
              </a:rPr>
              <a:t>(</a:t>
            </a:r>
            <a:r>
              <a:rPr lang="zh-CN" altLang="en-US" b="1" dirty="0">
                <a:solidFill>
                  <a:schemeClr val="tx2"/>
                </a:solidFill>
              </a:rPr>
              <a:t>雷云的静电能、云间闪放电距离</a:t>
            </a:r>
            <a:r>
              <a:rPr lang="en-US" altLang="zh-CN" b="1" dirty="0">
                <a:solidFill>
                  <a:schemeClr val="tx2"/>
                </a:solidFill>
              </a:rPr>
              <a:t>)</a:t>
            </a:r>
          </a:p>
          <a:p>
            <a:pPr lvl="1" fontAlgn="auto">
              <a:spcAft>
                <a:spcPts val="0"/>
              </a:spcAft>
              <a:buFont typeface="Arial" pitchFamily="34" charset="0"/>
              <a:buChar char="–"/>
              <a:defRPr/>
            </a:pPr>
            <a:r>
              <a:rPr lang="zh-CN" altLang="en-US" b="1" dirty="0">
                <a:solidFill>
                  <a:schemeClr val="tx2"/>
                </a:solidFill>
              </a:rPr>
              <a:t>破坏力、利用</a:t>
            </a:r>
            <a:endParaRPr lang="en-US" altLang="zh-CN" b="1" dirty="0">
              <a:solidFill>
                <a:schemeClr val="tx2"/>
              </a:solidFill>
            </a:endParaRPr>
          </a:p>
          <a:p>
            <a:pPr fontAlgn="auto">
              <a:spcAft>
                <a:spcPts val="0"/>
              </a:spcAft>
              <a:buFont typeface="Arial" pitchFamily="34" charset="0"/>
              <a:buChar char="•"/>
              <a:defRPr/>
            </a:pPr>
            <a:r>
              <a:rPr lang="zh-CN" altLang="en-US" b="1" dirty="0">
                <a:solidFill>
                  <a:schemeClr val="tx2"/>
                </a:solidFill>
              </a:rPr>
              <a:t>人体中电学</a:t>
            </a:r>
            <a:endParaRPr lang="en-US" altLang="zh-CN" b="1" dirty="0">
              <a:solidFill>
                <a:schemeClr val="tx2"/>
              </a:solidFill>
            </a:endParaRPr>
          </a:p>
          <a:p>
            <a:pPr lvl="1" fontAlgn="auto">
              <a:spcAft>
                <a:spcPts val="0"/>
              </a:spcAft>
              <a:buFont typeface="Arial" pitchFamily="34" charset="0"/>
              <a:buChar char="–"/>
              <a:defRPr/>
            </a:pPr>
            <a:r>
              <a:rPr lang="zh-CN" altLang="en-US" b="1" dirty="0">
                <a:solidFill>
                  <a:schemeClr val="tx2"/>
                </a:solidFill>
              </a:rPr>
              <a:t>心电图、起搏器</a:t>
            </a:r>
            <a:endParaRPr lang="en-US" altLang="zh-CN" b="1" dirty="0">
              <a:solidFill>
                <a:schemeClr val="tx2"/>
              </a:solidFill>
            </a:endParaRPr>
          </a:p>
          <a:p>
            <a:pPr lvl="1" fontAlgn="auto">
              <a:spcAft>
                <a:spcPts val="0"/>
              </a:spcAft>
              <a:buFont typeface="Arial" pitchFamily="34" charset="0"/>
              <a:buChar char="–"/>
              <a:defRPr/>
            </a:pPr>
            <a:r>
              <a:rPr lang="zh-CN" altLang="en-US" b="1" dirty="0">
                <a:solidFill>
                  <a:schemeClr val="tx2"/>
                </a:solidFill>
              </a:rPr>
              <a:t>神经系统的传递</a:t>
            </a:r>
            <a:endParaRPr lang="en-US" altLang="zh-CN" b="1" dirty="0">
              <a:solidFill>
                <a:schemeClr val="tx2"/>
              </a:solidFill>
            </a:endParaRPr>
          </a:p>
          <a:p>
            <a:pPr fontAlgn="auto">
              <a:spcAft>
                <a:spcPts val="0"/>
              </a:spcAft>
              <a:buFont typeface="Arial" pitchFamily="34" charset="0"/>
              <a:buChar char="•"/>
              <a:defRPr/>
            </a:pPr>
            <a:r>
              <a:rPr lang="zh-CN" altLang="en-US" b="1" dirty="0">
                <a:solidFill>
                  <a:schemeClr val="tx2"/>
                </a:solidFill>
              </a:rPr>
              <a:t>压电效应</a:t>
            </a:r>
            <a:endParaRPr lang="en-US" altLang="zh-CN" b="1" dirty="0">
              <a:solidFill>
                <a:schemeClr val="tx2"/>
              </a:solidFill>
            </a:endParaRPr>
          </a:p>
          <a:p>
            <a:pPr fontAlgn="auto">
              <a:spcAft>
                <a:spcPts val="0"/>
              </a:spcAft>
              <a:buFont typeface="Arial" pitchFamily="34" charset="0"/>
              <a:buChar char="•"/>
              <a:defRPr/>
            </a:pPr>
            <a:r>
              <a:rPr lang="zh-CN" altLang="en-US" b="1" dirty="0">
                <a:solidFill>
                  <a:schemeClr val="tx2"/>
                </a:solidFill>
              </a:rPr>
              <a:t>压阻效应</a:t>
            </a:r>
            <a:endParaRPr lang="en-US" altLang="zh-CN" b="1" dirty="0">
              <a:solidFill>
                <a:schemeClr val="tx2"/>
              </a:solidFill>
            </a:endParaRPr>
          </a:p>
          <a:p>
            <a:pPr fontAlgn="auto">
              <a:spcAft>
                <a:spcPts val="0"/>
              </a:spcAft>
              <a:buFont typeface="Arial" pitchFamily="34" charset="0"/>
              <a:buChar char="•"/>
              <a:defRPr/>
            </a:pPr>
            <a:r>
              <a:rPr lang="zh-CN" altLang="en-US" b="1" dirty="0">
                <a:solidFill>
                  <a:schemeClr val="tx2"/>
                </a:solidFill>
              </a:rPr>
              <a:t>油滴实验与电荷量子化</a:t>
            </a:r>
            <a:endParaRPr lang="en-US" altLang="zh-CN" b="1" dirty="0">
              <a:solidFill>
                <a:schemeClr val="tx2"/>
              </a:solidFill>
            </a:endParaRPr>
          </a:p>
          <a:p>
            <a:pPr fontAlgn="auto">
              <a:spcAft>
                <a:spcPts val="0"/>
              </a:spcAft>
              <a:buFont typeface="Arial" pitchFamily="34" charset="0"/>
              <a:buChar char="•"/>
              <a:defRPr/>
            </a:pPr>
            <a:r>
              <a:rPr lang="zh-CN" altLang="en-US" b="1" dirty="0">
                <a:solidFill>
                  <a:schemeClr val="tx2"/>
                </a:solidFill>
              </a:rPr>
              <a:t>场发射电子显微镜</a:t>
            </a:r>
            <a:r>
              <a:rPr lang="en-US" altLang="zh-CN" b="1" dirty="0">
                <a:solidFill>
                  <a:schemeClr val="tx2"/>
                </a:solidFill>
              </a:rPr>
              <a:t>(</a:t>
            </a:r>
            <a:r>
              <a:rPr lang="zh-CN" altLang="en-US" b="1" dirty="0">
                <a:solidFill>
                  <a:schemeClr val="tx2"/>
                </a:solidFill>
              </a:rPr>
              <a:t>透射、扫描</a:t>
            </a:r>
            <a:r>
              <a:rPr lang="en-US" altLang="zh-CN" b="1" dirty="0">
                <a:solidFill>
                  <a:schemeClr val="tx2"/>
                </a:solidFill>
              </a:rPr>
              <a:t>)</a:t>
            </a:r>
          </a:p>
          <a:p>
            <a:pPr fontAlgn="auto">
              <a:spcAft>
                <a:spcPts val="0"/>
              </a:spcAft>
              <a:buFont typeface="Arial" pitchFamily="34" charset="0"/>
              <a:buChar char="•"/>
              <a:defRPr/>
            </a:pPr>
            <a:r>
              <a:rPr lang="zh-CN" altLang="en-US" b="1" dirty="0">
                <a:solidFill>
                  <a:schemeClr val="tx2"/>
                </a:solidFill>
              </a:rPr>
              <a:t>拯救空气</a:t>
            </a:r>
            <a:r>
              <a:rPr lang="en-US" altLang="zh-CN" b="1" dirty="0">
                <a:solidFill>
                  <a:schemeClr val="tx2"/>
                </a:solidFill>
              </a:rPr>
              <a:t>____</a:t>
            </a:r>
            <a:r>
              <a:rPr lang="zh-CN" altLang="en-US" b="1" dirty="0">
                <a:solidFill>
                  <a:schemeClr val="tx2"/>
                </a:solidFill>
              </a:rPr>
              <a:t>静电除尘</a:t>
            </a:r>
            <a:r>
              <a:rPr lang="en-US" altLang="zh-CN" b="1" dirty="0">
                <a:solidFill>
                  <a:schemeClr val="tx2"/>
                </a:solidFill>
              </a:rPr>
              <a:t>(PM2.5</a:t>
            </a:r>
            <a:r>
              <a:rPr lang="zh-CN" altLang="en-US" b="1" dirty="0">
                <a:solidFill>
                  <a:schemeClr val="tx2"/>
                </a:solidFill>
              </a:rPr>
              <a:t>，</a:t>
            </a:r>
            <a:r>
              <a:rPr lang="en-US" altLang="zh-CN" b="1" dirty="0">
                <a:solidFill>
                  <a:schemeClr val="tx2"/>
                </a:solidFill>
              </a:rPr>
              <a:t>PM10)</a:t>
            </a:r>
          </a:p>
          <a:p>
            <a:pPr fontAlgn="auto">
              <a:spcAft>
                <a:spcPts val="0"/>
              </a:spcAft>
              <a:buFont typeface="Arial" pitchFamily="34" charset="0"/>
              <a:buChar char="•"/>
              <a:defRPr/>
            </a:pPr>
            <a:r>
              <a:rPr lang="zh-CN" altLang="en-US" b="1" dirty="0">
                <a:solidFill>
                  <a:schemeClr val="tx2"/>
                </a:solidFill>
              </a:rPr>
              <a:t>静电复印技术</a:t>
            </a:r>
            <a:r>
              <a:rPr lang="en-US" altLang="zh-CN" b="1" dirty="0">
                <a:solidFill>
                  <a:schemeClr val="tx2"/>
                </a:solidFill>
              </a:rPr>
              <a:t>___</a:t>
            </a:r>
            <a:r>
              <a:rPr lang="zh-CN" altLang="en-US" b="1" dirty="0">
                <a:solidFill>
                  <a:schemeClr val="tx2"/>
                </a:solidFill>
              </a:rPr>
              <a:t>分辨率、色彩、速度</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内容占位符 2"/>
          <p:cNvSpPr>
            <a:spLocks noGrp="1"/>
          </p:cNvSpPr>
          <p:nvPr>
            <p:ph idx="1"/>
          </p:nvPr>
        </p:nvSpPr>
        <p:spPr>
          <a:xfrm>
            <a:off x="1992313" y="333376"/>
            <a:ext cx="8469312" cy="6335713"/>
          </a:xfrm>
        </p:spPr>
        <p:txBody>
          <a:bodyPr/>
          <a:lstStyle/>
          <a:p>
            <a:r>
              <a:rPr lang="zh-CN" altLang="en-US" b="1"/>
              <a:t>温差电现象</a:t>
            </a:r>
            <a:endParaRPr lang="en-US" altLang="zh-CN" b="1"/>
          </a:p>
          <a:p>
            <a:pPr lvl="1"/>
            <a:r>
              <a:rPr lang="zh-CN" altLang="en-US" b="1"/>
              <a:t>半导体制冷</a:t>
            </a:r>
            <a:endParaRPr lang="en-US" altLang="zh-CN" b="1"/>
          </a:p>
          <a:p>
            <a:r>
              <a:rPr lang="zh-CN" altLang="en-US" b="1"/>
              <a:t>超导体、等离子体</a:t>
            </a:r>
            <a:endParaRPr lang="en-US" altLang="zh-CN" b="1"/>
          </a:p>
          <a:p>
            <a:r>
              <a:rPr lang="zh-CN" altLang="en-US" b="1"/>
              <a:t>极光</a:t>
            </a:r>
            <a:endParaRPr lang="en-US" altLang="zh-CN" b="1"/>
          </a:p>
          <a:p>
            <a:r>
              <a:rPr lang="zh-CN" altLang="en-US" b="1"/>
              <a:t>单电子器件中的电阻、电流</a:t>
            </a:r>
            <a:endParaRPr lang="en-US" altLang="zh-CN" b="1"/>
          </a:p>
          <a:p>
            <a:r>
              <a:rPr lang="zh-CN" altLang="en-US" b="1"/>
              <a:t>磨擦起电</a:t>
            </a:r>
            <a:r>
              <a:rPr lang="en-US" altLang="zh-CN" b="1"/>
              <a:t>(</a:t>
            </a:r>
            <a:r>
              <a:rPr lang="zh-CN" altLang="en-US" b="1"/>
              <a:t>材料、环境、电性</a:t>
            </a:r>
            <a:r>
              <a:rPr lang="en-US" altLang="zh-CN" b="1"/>
              <a:t>)</a:t>
            </a:r>
          </a:p>
          <a:p>
            <a:r>
              <a:rPr lang="zh-CN" altLang="en-US" b="1"/>
              <a:t>超级电容器</a:t>
            </a:r>
            <a:endParaRPr lang="en-US" altLang="zh-CN" b="1"/>
          </a:p>
          <a:p>
            <a:r>
              <a:rPr lang="zh-CN" altLang="en-US" b="1"/>
              <a:t>电动汽车</a:t>
            </a:r>
            <a:endParaRPr lang="en-US" altLang="zh-CN" b="1"/>
          </a:p>
          <a:p>
            <a:r>
              <a:rPr lang="zh-CN" altLang="en-US" b="1"/>
              <a:t>非接触充电</a:t>
            </a:r>
            <a:endParaRPr lang="en-US" altLang="zh-CN" b="1"/>
          </a:p>
          <a:p>
            <a:r>
              <a:rPr lang="zh-CN" altLang="en-US" b="1"/>
              <a:t>天体中的电学</a:t>
            </a:r>
            <a:endParaRPr lang="en-US" altLang="zh-CN" b="1"/>
          </a:p>
          <a:p>
            <a:r>
              <a:rPr lang="zh-CN" altLang="en-US" b="1"/>
              <a:t>其它生活中的电磁学相关问题</a:t>
            </a:r>
            <a:endParaRPr lang="en-US" altLang="zh-CN" b="1"/>
          </a:p>
          <a:p>
            <a:endParaRPr lang="en-US" altLang="zh-CN" b="1"/>
          </a:p>
          <a:p>
            <a:endParaRPr lang="en-US" altLang="zh-CN" b="1"/>
          </a:p>
          <a:p>
            <a:endParaRPr lang="en-US" altLang="zh-CN" b="1"/>
          </a:p>
          <a:p>
            <a:endParaRPr lang="en-US" altLang="zh-CN" b="1"/>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8850" name="Picture 4" descr="http://www.kepu365.com/kexue/UploadFiles_9166/200909/200909170003296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8" y="3933826"/>
            <a:ext cx="3206750"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内容占位符 2"/>
          <p:cNvSpPr>
            <a:spLocks noGrp="1"/>
          </p:cNvSpPr>
          <p:nvPr>
            <p:ph idx="1"/>
          </p:nvPr>
        </p:nvSpPr>
        <p:spPr>
          <a:xfrm>
            <a:off x="1992313" y="333375"/>
            <a:ext cx="8229600" cy="647700"/>
          </a:xfrm>
        </p:spPr>
        <p:txBody>
          <a:bodyPr/>
          <a:lstStyle/>
          <a:p>
            <a:r>
              <a:rPr lang="zh-CN" altLang="en-US" b="1"/>
              <a:t>无限电阻网络求解</a:t>
            </a:r>
            <a:endParaRPr lang="en-US" altLang="zh-CN" b="1"/>
          </a:p>
          <a:p>
            <a:endParaRPr lang="en-US" altLang="zh-CN" b="1"/>
          </a:p>
          <a:p>
            <a:endParaRPr lang="en-US" altLang="zh-CN" b="1"/>
          </a:p>
        </p:txBody>
      </p:sp>
      <p:pic>
        <p:nvPicPr>
          <p:cNvPr id="78852" name="图片 3" descr="R1.jpg"/>
          <p:cNvPicPr>
            <a:picLocks noChangeAspect="1"/>
          </p:cNvPicPr>
          <p:nvPr/>
        </p:nvPicPr>
        <p:blipFill>
          <a:blip r:embed="rId3">
            <a:extLst>
              <a:ext uri="{28A0092B-C50C-407E-A947-70E740481C1C}">
                <a14:useLocalDpi xmlns:a14="http://schemas.microsoft.com/office/drawing/2010/main" val="0"/>
              </a:ext>
            </a:extLst>
          </a:blip>
          <a:srcRect l="1303" t="24332" r="3546" b="40910"/>
          <a:stretch>
            <a:fillRect/>
          </a:stretch>
        </p:blipFill>
        <p:spPr bwMode="auto">
          <a:xfrm>
            <a:off x="2351088" y="836613"/>
            <a:ext cx="525780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3" name="图片 4" descr="R2.gif"/>
          <p:cNvPicPr>
            <a:picLocks noChangeAspect="1"/>
          </p:cNvPicPr>
          <p:nvPr/>
        </p:nvPicPr>
        <p:blipFill>
          <a:blip r:embed="rId4">
            <a:extLst>
              <a:ext uri="{28A0092B-C50C-407E-A947-70E740481C1C}">
                <a14:useLocalDpi xmlns:a14="http://schemas.microsoft.com/office/drawing/2010/main" val="0"/>
              </a:ext>
            </a:extLst>
          </a:blip>
          <a:srcRect r="53951" b="12923"/>
          <a:stretch>
            <a:fillRect/>
          </a:stretch>
        </p:blipFill>
        <p:spPr bwMode="auto">
          <a:xfrm>
            <a:off x="6096000" y="1916113"/>
            <a:ext cx="2471738" cy="223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4" name="图片 5" descr="R2.gif"/>
          <p:cNvPicPr>
            <a:picLocks noChangeAspect="1"/>
          </p:cNvPicPr>
          <p:nvPr/>
        </p:nvPicPr>
        <p:blipFill>
          <a:blip r:embed="rId4">
            <a:extLst>
              <a:ext uri="{28A0092B-C50C-407E-A947-70E740481C1C}">
                <a14:useLocalDpi xmlns:a14="http://schemas.microsoft.com/office/drawing/2010/main" val="0"/>
              </a:ext>
            </a:extLst>
          </a:blip>
          <a:srcRect l="52394" t="4146" r="3944" b="21216"/>
          <a:stretch>
            <a:fillRect/>
          </a:stretch>
        </p:blipFill>
        <p:spPr bwMode="auto">
          <a:xfrm>
            <a:off x="7896226" y="0"/>
            <a:ext cx="2486025"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5" name="Picture 2" descr="http://202.102.84.93/upfile/2013/01/11438907358742160486.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6989" y="2205038"/>
            <a:ext cx="3328987"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9874" name="Picture 2" descr="http://www.zsku.net/citiao/uploadpic/2007-11/2007111917121622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8" y="260350"/>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5" name="Picture 4" descr="http://ce.hhit.edu.cn/Behind/UserFiles/c6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7438" y="1"/>
            <a:ext cx="3333750"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6" name="Picture 6" descr="http://carbon.imr.ac.cn/carbonknowledge/images/C60-Ih.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4563" y="2943226"/>
            <a:ext cx="4037012"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TextBox 6"/>
          <p:cNvSpPr txBox="1">
            <a:spLocks noChangeArrowheads="1"/>
          </p:cNvSpPr>
          <p:nvPr/>
        </p:nvSpPr>
        <p:spPr bwMode="auto">
          <a:xfrm>
            <a:off x="2063751" y="3284539"/>
            <a:ext cx="3527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a:solidFill>
                  <a:srgbClr val="003B76"/>
                </a:solidFill>
                <a:latin typeface="Calibri" panose="020F0502020204030204" pitchFamily="34" charset="0"/>
              </a:rPr>
              <a:t>富勒烯系列球</a:t>
            </a:r>
          </a:p>
        </p:txBody>
      </p:sp>
      <p:pic>
        <p:nvPicPr>
          <p:cNvPr id="79878" name="Picture 8" descr="http://www.ck365.cn/uploadfile/uploadfile/news/20051128183725927.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1089" y="4149726"/>
            <a:ext cx="3068637"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Office 主题​​">
  <a:themeElements>
    <a:clrScheme name="UPC专属模板配色方案">
      <a:dk1>
        <a:srgbClr val="000000"/>
      </a:dk1>
      <a:lt1>
        <a:srgbClr val="FFFFFF"/>
      </a:lt1>
      <a:dk2>
        <a:srgbClr val="768395"/>
      </a:dk2>
      <a:lt2>
        <a:srgbClr val="F0F0F0"/>
      </a:lt2>
      <a:accent1>
        <a:srgbClr val="003778"/>
      </a:accent1>
      <a:accent2>
        <a:srgbClr val="D00746"/>
      </a:accent2>
      <a:accent3>
        <a:srgbClr val="FEA200"/>
      </a:accent3>
      <a:accent4>
        <a:srgbClr val="14BAB0"/>
      </a:accent4>
      <a:accent5>
        <a:srgbClr val="CFDC2A"/>
      </a:accent5>
      <a:accent6>
        <a:srgbClr val="73B1C8"/>
      </a:accent6>
      <a:hlink>
        <a:srgbClr val="4472C4"/>
      </a:hlink>
      <a:folHlink>
        <a:srgbClr val="BFBFBF"/>
      </a:folHlink>
    </a:clrScheme>
    <a:fontScheme name="UPC专属模板字体方案">
      <a:majorFont>
        <a:latin typeface="Segoe UI"/>
        <a:ea typeface="微软雅黑"/>
        <a:cs typeface=""/>
      </a:majorFont>
      <a:minorFont>
        <a:latin typeface="Segoe U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首页.potx" id="{86EA3C01-BD65-405D-B12B-F1FA9FD598E2}" vid="{C30B1E10-425F-4259-8667-5CCC74317C22}"/>
    </a:ext>
  </a:extLst>
</a:theme>
</file>

<file path=ppt/theme/theme5.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12144</TotalTime>
  <Words>6306</Words>
  <Application>Microsoft Office PowerPoint</Application>
  <PresentationFormat>宽屏</PresentationFormat>
  <Paragraphs>684</Paragraphs>
  <Slides>86</Slides>
  <Notes>4</Notes>
  <HiddenSlides>0</HiddenSlides>
  <MMClips>0</MMClips>
  <ScaleCrop>false</ScaleCrop>
  <HeadingPairs>
    <vt:vector size="8" baseType="variant">
      <vt:variant>
        <vt:lpstr>已用的字体</vt:lpstr>
      </vt:variant>
      <vt:variant>
        <vt:i4>24</vt:i4>
      </vt:variant>
      <vt:variant>
        <vt:lpstr>主题</vt:lpstr>
      </vt:variant>
      <vt:variant>
        <vt:i4>5</vt:i4>
      </vt:variant>
      <vt:variant>
        <vt:lpstr>嵌入 OLE 服务器</vt:lpstr>
      </vt:variant>
      <vt:variant>
        <vt:i4>5</vt:i4>
      </vt:variant>
      <vt:variant>
        <vt:lpstr>幻灯片标题</vt:lpstr>
      </vt:variant>
      <vt:variant>
        <vt:i4>86</vt:i4>
      </vt:variant>
    </vt:vector>
  </HeadingPairs>
  <TitlesOfParts>
    <vt:vector size="120" baseType="lpstr">
      <vt:lpstr>inherit</vt:lpstr>
      <vt:lpstr>KaTeX_Main</vt:lpstr>
      <vt:lpstr>Microsoft YaHei UI</vt:lpstr>
      <vt:lpstr>PingFang SC</vt:lpstr>
      <vt:lpstr>等线</vt:lpstr>
      <vt:lpstr>等线 Light</vt:lpstr>
      <vt:lpstr>仿宋_GB2312</vt:lpstr>
      <vt:lpstr>黑体</vt:lpstr>
      <vt:lpstr>华文新魏</vt:lpstr>
      <vt:lpstr>华文中宋</vt:lpstr>
      <vt:lpstr>楷体_GB2312</vt:lpstr>
      <vt:lpstr>隶书</vt:lpstr>
      <vt:lpstr>宋体</vt:lpstr>
      <vt:lpstr>微软雅黑</vt:lpstr>
      <vt:lpstr>微软雅黑 Light</vt:lpstr>
      <vt:lpstr>Arial</vt:lpstr>
      <vt:lpstr>Arial Black</vt:lpstr>
      <vt:lpstr>Calibri</vt:lpstr>
      <vt:lpstr>Cambria Math</vt:lpstr>
      <vt:lpstr>Impact</vt:lpstr>
      <vt:lpstr>Segoe UI</vt:lpstr>
      <vt:lpstr>Segoe UI Light</vt:lpstr>
      <vt:lpstr>Times New Roman</vt:lpstr>
      <vt:lpstr>Wingdings</vt:lpstr>
      <vt:lpstr>默认设计模板</vt:lpstr>
      <vt:lpstr>3_Office 主题​​</vt:lpstr>
      <vt:lpstr>1_Office 主题​​</vt:lpstr>
      <vt:lpstr>2_Office 主题​​</vt:lpstr>
      <vt:lpstr>4_Office 主题​​</vt:lpstr>
      <vt:lpstr>公式</vt:lpstr>
      <vt:lpstr>Equation</vt:lpstr>
      <vt:lpstr>BMP 图象</vt:lpstr>
      <vt:lpstr>位图图像</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稳恒电流电场性质</vt:lpstr>
      <vt:lpstr>PowerPoint 演示文稿</vt:lpstr>
      <vt:lpstr>静电场与稳恒电场</vt:lpstr>
      <vt:lpstr>PowerPoint 演示文稿</vt:lpstr>
      <vt:lpstr>PowerPoint 演示文稿</vt:lpstr>
      <vt:lpstr>PowerPoint 演示文稿</vt:lpstr>
      <vt:lpstr>稳恒电路中接入铜球，分析发热情况。</vt:lpstr>
      <vt:lpstr>AB间总电阻为1欧姆，求未知电阻。</vt:lpstr>
      <vt:lpstr>PowerPoint 演示文稿</vt:lpstr>
      <vt:lpstr>PowerPoint 演示文稿</vt:lpstr>
      <vt:lpstr>PowerPoint 演示文稿</vt:lpstr>
      <vt:lpstr>一、化学电池  chemical cell</vt:lpstr>
      <vt:lpstr>PowerPoint 演示文稿</vt:lpstr>
      <vt:lpstr>原电池</vt:lpstr>
      <vt:lpstr>PowerPoint 演示文稿</vt:lpstr>
      <vt:lpstr>丹聂耳（Danill）原理</vt:lpstr>
      <vt:lpstr>PowerPoint 演示文稿</vt:lpstr>
      <vt:lpstr>锂离子电池工作原理</vt:lpstr>
      <vt:lpstr>PowerPoint 演示文稿</vt:lpstr>
      <vt:lpstr>珀耳帖Peltier电动势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核能</vt:lpstr>
      <vt:lpstr>稳恒电路计算   </vt:lpstr>
      <vt:lpstr>简单电路</vt:lpstr>
      <vt:lpstr>PowerPoint 演示文稿</vt:lpstr>
      <vt:lpstr>复杂电路  </vt:lpstr>
      <vt:lpstr>复杂电路</vt:lpstr>
      <vt:lpstr>电路的典型问题：</vt:lpstr>
      <vt:lpstr>基尔霍夫第一定律 </vt:lpstr>
      <vt:lpstr>基尔霍夫第二定律</vt:lpstr>
      <vt:lpstr>电势降落正负的写法 </vt:lpstr>
      <vt:lpstr>独立方程的个数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静电能</vt:lpstr>
      <vt:lpstr>静电能</vt:lpstr>
      <vt:lpstr>静电能</vt:lpstr>
      <vt:lpstr>稳恒电路</vt:lpstr>
      <vt:lpstr>基尔霍夫方程组</vt:lpstr>
      <vt:lpstr>电学</vt:lpstr>
      <vt:lpstr>PowerPoint 演示文稿</vt:lpstr>
      <vt:lpstr>PowerPoint 演示文稿</vt:lpstr>
      <vt:lpstr>PowerPoint 演示文稿</vt:lpstr>
    </vt:vector>
  </TitlesOfParts>
  <Company>Heaven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Cloudy Shadow</dc:creator>
  <cp:lastModifiedBy>Zengming Zhang</cp:lastModifiedBy>
  <cp:revision>125</cp:revision>
  <dcterms:created xsi:type="dcterms:W3CDTF">1999-01-04T16:40:22Z</dcterms:created>
  <dcterms:modified xsi:type="dcterms:W3CDTF">2026-04-20T23:16:32Z</dcterms:modified>
</cp:coreProperties>
</file>