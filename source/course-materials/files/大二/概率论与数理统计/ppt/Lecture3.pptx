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36"/>
  </p:notesMasterIdLst>
  <p:handoutMasterIdLst>
    <p:handoutMasterId r:id="rId37"/>
  </p:handoutMasterIdLst>
  <p:sldIdLst>
    <p:sldId id="256" r:id="rId2"/>
    <p:sldId id="277" r:id="rId3"/>
    <p:sldId id="306" r:id="rId4"/>
    <p:sldId id="307" r:id="rId5"/>
    <p:sldId id="278" r:id="rId6"/>
    <p:sldId id="320" r:id="rId7"/>
    <p:sldId id="308" r:id="rId8"/>
    <p:sldId id="321" r:id="rId9"/>
    <p:sldId id="287" r:id="rId10"/>
    <p:sldId id="309" r:id="rId11"/>
    <p:sldId id="322" r:id="rId12"/>
    <p:sldId id="310" r:id="rId13"/>
    <p:sldId id="285" r:id="rId14"/>
    <p:sldId id="302" r:id="rId15"/>
    <p:sldId id="311" r:id="rId16"/>
    <p:sldId id="312" r:id="rId17"/>
    <p:sldId id="313" r:id="rId18"/>
    <p:sldId id="314" r:id="rId19"/>
    <p:sldId id="323" r:id="rId20"/>
    <p:sldId id="286" r:id="rId21"/>
    <p:sldId id="315" r:id="rId22"/>
    <p:sldId id="299" r:id="rId23"/>
    <p:sldId id="304" r:id="rId24"/>
    <p:sldId id="301" r:id="rId25"/>
    <p:sldId id="288" r:id="rId26"/>
    <p:sldId id="305" r:id="rId27"/>
    <p:sldId id="289" r:id="rId28"/>
    <p:sldId id="300" r:id="rId29"/>
    <p:sldId id="316" r:id="rId30"/>
    <p:sldId id="317" r:id="rId31"/>
    <p:sldId id="290" r:id="rId32"/>
    <p:sldId id="318" r:id="rId33"/>
    <p:sldId id="319" r:id="rId34"/>
    <p:sldId id="262" r:id="rId35"/>
  </p:sldIdLst>
  <p:sldSz cx="9144000" cy="6858000" type="screen4x3"/>
  <p:notesSz cx="9928225" cy="679767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9">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6" frameSlides="1"/>
  <p:clrMru>
    <a:srgbClr val="23EFFF"/>
    <a:srgbClr val="37ED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076" autoAdjust="0"/>
  </p:normalViewPr>
  <p:slideViewPr>
    <p:cSldViewPr snapToGrid="0" snapToObjects="1">
      <p:cViewPr varScale="1">
        <p:scale>
          <a:sx n="141" d="100"/>
          <a:sy n="141" d="100"/>
        </p:scale>
        <p:origin x="2360" y="76"/>
      </p:cViewPr>
      <p:guideLst>
        <p:guide orient="horz" pos="2159"/>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02231" cy="339884"/>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5623697" y="0"/>
            <a:ext cx="4302231" cy="339884"/>
          </a:xfrm>
          <a:prstGeom prst="rect">
            <a:avLst/>
          </a:prstGeom>
        </p:spPr>
        <p:txBody>
          <a:bodyPr vert="horz" lIns="91440" tIns="45720" rIns="91440" bIns="45720" rtlCol="0"/>
          <a:lstStyle>
            <a:lvl1pPr algn="r">
              <a:defRPr sz="1200"/>
            </a:lvl1pPr>
          </a:lstStyle>
          <a:p>
            <a:fld id="{790684AE-45D3-DC4C-96CB-08479E342D95}" type="datetimeFigureOut">
              <a:rPr lang="en-US" smtClean="0"/>
              <a:t>9/19/2026</a:t>
            </a:fld>
            <a:endParaRPr lang="en-US"/>
          </a:p>
        </p:txBody>
      </p:sp>
      <p:sp>
        <p:nvSpPr>
          <p:cNvPr id="4" name="Footer Placeholder 3"/>
          <p:cNvSpPr>
            <a:spLocks noGrp="1"/>
          </p:cNvSpPr>
          <p:nvPr>
            <p:ph type="ftr" sz="quarter" idx="2"/>
          </p:nvPr>
        </p:nvSpPr>
        <p:spPr>
          <a:xfrm>
            <a:off x="0" y="6456612"/>
            <a:ext cx="4302231" cy="339884"/>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5623697" y="6456612"/>
            <a:ext cx="4302231" cy="339884"/>
          </a:xfrm>
          <a:prstGeom prst="rect">
            <a:avLst/>
          </a:prstGeom>
        </p:spPr>
        <p:txBody>
          <a:bodyPr vert="horz" lIns="91440" tIns="45720" rIns="91440" bIns="45720" rtlCol="0" anchor="b"/>
          <a:lstStyle>
            <a:lvl1pPr algn="r">
              <a:defRPr sz="1200"/>
            </a:lvl1pPr>
          </a:lstStyle>
          <a:p>
            <a:fld id="{0804FCE7-946B-0941-AA33-AC890EF78710}" type="slidenum">
              <a:rPr lang="en-US" smtClean="0"/>
              <a:t>‹#›</a:t>
            </a:fld>
            <a:endParaRPr lang="en-US"/>
          </a:p>
        </p:txBody>
      </p:sp>
    </p:spTree>
    <p:extLst>
      <p:ext uri="{BB962C8B-B14F-4D97-AF65-F5344CB8AC3E}">
        <p14:creationId xmlns:p14="http://schemas.microsoft.com/office/powerpoint/2010/main" val="254952852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02231" cy="339884"/>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623697" y="0"/>
            <a:ext cx="4302231" cy="339884"/>
          </a:xfrm>
          <a:prstGeom prst="rect">
            <a:avLst/>
          </a:prstGeom>
        </p:spPr>
        <p:txBody>
          <a:bodyPr vert="horz" lIns="91440" tIns="45720" rIns="91440" bIns="45720" rtlCol="0"/>
          <a:lstStyle>
            <a:lvl1pPr algn="r">
              <a:defRPr sz="1200"/>
            </a:lvl1pPr>
          </a:lstStyle>
          <a:p>
            <a:fld id="{B35B1418-61C9-2D48-9A88-69141C401325}" type="datetimeFigureOut">
              <a:rPr lang="en-US" smtClean="0"/>
              <a:t>9/19/2026</a:t>
            </a:fld>
            <a:endParaRPr lang="en-US"/>
          </a:p>
        </p:txBody>
      </p:sp>
      <p:sp>
        <p:nvSpPr>
          <p:cNvPr id="4" name="Slide Image Placeholder 3"/>
          <p:cNvSpPr>
            <a:spLocks noGrp="1" noRot="1" noChangeAspect="1"/>
          </p:cNvSpPr>
          <p:nvPr>
            <p:ph type="sldImg" idx="2"/>
          </p:nvPr>
        </p:nvSpPr>
        <p:spPr>
          <a:xfrm>
            <a:off x="3263900" y="509588"/>
            <a:ext cx="3400425" cy="25495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92823" y="3228896"/>
            <a:ext cx="7942580" cy="3058954"/>
          </a:xfrm>
          <a:prstGeom prst="rect">
            <a:avLst/>
          </a:prstGeom>
        </p:spPr>
        <p:txBody>
          <a:bodyPr vert="horz" lIns="91440" tIns="45720" rIns="91440" bIns="45720" rtlCol="0"/>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6" name="Footer Placeholder 5"/>
          <p:cNvSpPr>
            <a:spLocks noGrp="1"/>
          </p:cNvSpPr>
          <p:nvPr>
            <p:ph type="ftr" sz="quarter" idx="4"/>
          </p:nvPr>
        </p:nvSpPr>
        <p:spPr>
          <a:xfrm>
            <a:off x="0" y="6456612"/>
            <a:ext cx="4302231" cy="339884"/>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623697" y="6456612"/>
            <a:ext cx="4302231" cy="339884"/>
          </a:xfrm>
          <a:prstGeom prst="rect">
            <a:avLst/>
          </a:prstGeom>
        </p:spPr>
        <p:txBody>
          <a:bodyPr vert="horz" lIns="91440" tIns="45720" rIns="91440" bIns="45720" rtlCol="0" anchor="b"/>
          <a:lstStyle>
            <a:lvl1pPr algn="r">
              <a:defRPr sz="1200"/>
            </a:lvl1pPr>
          </a:lstStyle>
          <a:p>
            <a:fld id="{CD16D7E8-39AA-4948-856E-6F5FED075698}" type="slidenum">
              <a:rPr lang="en-US" smtClean="0"/>
              <a:t>‹#›</a:t>
            </a:fld>
            <a:endParaRPr lang="en-US"/>
          </a:p>
        </p:txBody>
      </p:sp>
    </p:spTree>
    <p:extLst>
      <p:ext uri="{BB962C8B-B14F-4D97-AF65-F5344CB8AC3E}">
        <p14:creationId xmlns:p14="http://schemas.microsoft.com/office/powerpoint/2010/main" val="2419554626"/>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ltLang="zh-CN"/>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zh-CN"/>
              <a:t>Click to edit Master subtitle style</a:t>
            </a:r>
            <a:endParaRPr lang="en-US"/>
          </a:p>
        </p:txBody>
      </p:sp>
      <p:sp>
        <p:nvSpPr>
          <p:cNvPr id="4" name="Date Placeholder 3"/>
          <p:cNvSpPr>
            <a:spLocks noGrp="1"/>
          </p:cNvSpPr>
          <p:nvPr>
            <p:ph type="dt" sz="half" idx="10"/>
          </p:nvPr>
        </p:nvSpPr>
        <p:spPr/>
        <p:txBody>
          <a:bodyPr/>
          <a:lstStyle/>
          <a:p>
            <a:fld id="{040CDE07-3058-2D44-8D38-CEB42FE9D031}" type="datetime1">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878D80-AF11-6343-918A-0BF62098A907}"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r">
              <a:defRPr sz="3200"/>
            </a:lvl1pPr>
          </a:lstStyle>
          <a:p>
            <a:r>
              <a:rPr lang="en-US" altLang="zh-CN" dirty="0"/>
              <a:t>Click to edit Master title style</a:t>
            </a:r>
            <a:endParaRPr lang="en-US" dirty="0"/>
          </a:p>
        </p:txBody>
      </p:sp>
      <p:sp>
        <p:nvSpPr>
          <p:cNvPr id="3" name="Content Placeholder 2"/>
          <p:cNvSpPr>
            <a:spLocks noGrp="1"/>
          </p:cNvSpPr>
          <p:nvPr>
            <p:ph idx="1"/>
          </p:nvPr>
        </p:nvSpPr>
        <p:spPr/>
        <p:txBody>
          <a:bodyPr/>
          <a:lstStyle>
            <a:lvl1pPr>
              <a:defRPr sz="2800"/>
            </a:lvl1p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endParaRPr lang="en-US" dirty="0"/>
          </a:p>
        </p:txBody>
      </p:sp>
      <p:sp>
        <p:nvSpPr>
          <p:cNvPr id="4" name="Date Placeholder 3"/>
          <p:cNvSpPr>
            <a:spLocks noGrp="1"/>
          </p:cNvSpPr>
          <p:nvPr>
            <p:ph type="dt" sz="half" idx="10"/>
          </p:nvPr>
        </p:nvSpPr>
        <p:spPr/>
        <p:txBody>
          <a:bodyPr/>
          <a:lstStyle/>
          <a:p>
            <a:fld id="{E1C68FA7-58D4-B64D-A671-4AA0982894C6}" type="datetime1">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878D80-AF11-6343-918A-0BF62098A907}"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ltLang="zh-CN"/>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ltLang="zh-CN"/>
              <a:t>Click to edit Master text styles</a:t>
            </a:r>
          </a:p>
        </p:txBody>
      </p:sp>
      <p:sp>
        <p:nvSpPr>
          <p:cNvPr id="4" name="Date Placeholder 3"/>
          <p:cNvSpPr>
            <a:spLocks noGrp="1"/>
          </p:cNvSpPr>
          <p:nvPr>
            <p:ph type="dt" sz="half" idx="10"/>
          </p:nvPr>
        </p:nvSpPr>
        <p:spPr/>
        <p:txBody>
          <a:bodyPr/>
          <a:lstStyle/>
          <a:p>
            <a:fld id="{4C45BD5F-51A1-0745-94CC-710165E6F846}" type="datetime1">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878D80-AF11-6343-918A-0BF62098A907}"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5" name="Date Placeholder 4"/>
          <p:cNvSpPr>
            <a:spLocks noGrp="1"/>
          </p:cNvSpPr>
          <p:nvPr>
            <p:ph type="dt" sz="half" idx="10"/>
          </p:nvPr>
        </p:nvSpPr>
        <p:spPr/>
        <p:txBody>
          <a:bodyPr/>
          <a:lstStyle/>
          <a:p>
            <a:fld id="{08B2BA12-B5F8-5349-9106-3ED91772E835}" type="datetime1">
              <a:rPr lang="en-US" smtClean="0"/>
              <a:t>9/19/2026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E878D80-AF11-6343-918A-0BF62098A907}"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ltLang="zh-CN"/>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7" name="Date Placeholder 6"/>
          <p:cNvSpPr>
            <a:spLocks noGrp="1"/>
          </p:cNvSpPr>
          <p:nvPr>
            <p:ph type="dt" sz="half" idx="10"/>
          </p:nvPr>
        </p:nvSpPr>
        <p:spPr/>
        <p:txBody>
          <a:bodyPr/>
          <a:lstStyle/>
          <a:p>
            <a:fld id="{F3A148DE-2B54-9648-8E4D-F90FC0EA5A1D}" type="datetime1">
              <a:rPr lang="en-US" smtClean="0"/>
              <a:t>9/19/2026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E878D80-AF11-6343-918A-0BF62098A907}"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3" name="Date Placeholder 2"/>
          <p:cNvSpPr>
            <a:spLocks noGrp="1"/>
          </p:cNvSpPr>
          <p:nvPr>
            <p:ph type="dt" sz="half" idx="10"/>
          </p:nvPr>
        </p:nvSpPr>
        <p:spPr/>
        <p:txBody>
          <a:bodyPr/>
          <a:lstStyle/>
          <a:p>
            <a:fld id="{1067EF10-ABB0-D942-BAD3-4B51CF9B4BFE}" type="datetime1">
              <a:rPr lang="en-US" smtClean="0"/>
              <a:t>9/19/2026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E878D80-AF11-6343-918A-0BF62098A907}"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070DA97-287C-474E-BCA8-E2BBEC43B806}" type="datetime1">
              <a:rPr lang="en-US" smtClean="0"/>
              <a:t>9/19/2026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E878D80-AF11-6343-918A-0BF62098A907}"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ltLang="zh-CN"/>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A061AF66-7173-C84D-82CC-DB9810A2C442}" type="datetime1">
              <a:rPr lang="en-US" smtClean="0"/>
              <a:t>9/19/2026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E878D80-AF11-6343-918A-0BF62098A907}"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ltLang="zh-CN"/>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3042BB0F-BD4C-344E-84DD-0384ED14408D}" type="datetime1">
              <a:rPr lang="en-US" smtClean="0"/>
              <a:t>9/19/2026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E878D80-AF11-6343-918A-0BF62098A907}"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4" name="Date Placeholder 3"/>
          <p:cNvSpPr>
            <a:spLocks noGrp="1"/>
          </p:cNvSpPr>
          <p:nvPr>
            <p:ph type="dt" sz="half" idx="10"/>
          </p:nvPr>
        </p:nvSpPr>
        <p:spPr/>
        <p:txBody>
          <a:bodyPr/>
          <a:lstStyle/>
          <a:p>
            <a:fld id="{AF855E82-F0B2-8F4E-B79B-C7D8C98EB06E}" type="datetime1">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878D80-AF11-6343-918A-0BF62098A907}"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ltLang="zh-CN"/>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4" name="Date Placeholder 3"/>
          <p:cNvSpPr>
            <a:spLocks noGrp="1"/>
          </p:cNvSpPr>
          <p:nvPr>
            <p:ph type="dt" sz="half" idx="10"/>
          </p:nvPr>
        </p:nvSpPr>
        <p:spPr/>
        <p:txBody>
          <a:bodyPr/>
          <a:lstStyle/>
          <a:p>
            <a:fld id="{4A57A9AA-1E22-C345-BD33-375F90D922B8}" type="datetime1">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878D80-AF11-6343-918A-0BF62098A907}"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150938" y="214313"/>
            <a:ext cx="7793037" cy="1462087"/>
          </a:xfrm>
        </p:spPr>
        <p:txBody>
          <a:bodyPr/>
          <a:lstStyle/>
          <a:p>
            <a:r>
              <a:rPr lang="zh-CN" altLang="en-US"/>
              <a:t>单击此处编辑母版标题样式</a:t>
            </a:r>
          </a:p>
        </p:txBody>
      </p:sp>
      <p:sp>
        <p:nvSpPr>
          <p:cNvPr id="3" name="文本占位符 2"/>
          <p:cNvSpPr>
            <a:spLocks noGrp="1"/>
          </p:cNvSpPr>
          <p:nvPr>
            <p:ph type="body" sz="half" idx="1"/>
          </p:nvPr>
        </p:nvSpPr>
        <p:spPr>
          <a:xfrm>
            <a:off x="1182688" y="2017713"/>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145088" y="2017713"/>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灯片编号占位符 4"/>
          <p:cNvSpPr>
            <a:spLocks noGrp="1"/>
          </p:cNvSpPr>
          <p:nvPr>
            <p:ph type="sldNum" sz="quarter" idx="10"/>
          </p:nvPr>
        </p:nvSpPr>
        <p:spPr/>
        <p:txBody>
          <a:bodyPr/>
          <a:lstStyle/>
          <a:p>
            <a:pPr lvl="0" algn="ctr" eaLnBrk="1" hangingPunct="1"/>
            <a:fld id="{9A0DB2DC-4C9A-4742-B13C-FB6460FD3503}" type="slidenum">
              <a:rPr lang="zh-CN" altLang="en-US" sz="1400" dirty="0">
                <a:ea typeface="宋体" panose="02010600030101010101" pitchFamily="2" charset="-122"/>
              </a:rPr>
              <a:t>‹#›</a:t>
            </a:fld>
            <a:endParaRPr lang="zh-CN" altLang="en-US" sz="1400" dirty="0">
              <a:ea typeface="宋体" panose="02010600030101010101" pitchFamily="2" charset="-122"/>
            </a:endParaRPr>
          </a:p>
          <a:p>
            <a:pPr lvl="0" algn="ctr" eaLnBrk="1" hangingPunct="1"/>
            <a:r>
              <a:rPr lang="en-US" altLang="zh-CN" sz="1400" dirty="0">
                <a:ea typeface="宋体" panose="02010600030101010101" pitchFamily="2" charset="-122"/>
              </a:rPr>
              <a:t>2012</a:t>
            </a: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bg2"/>
                </a:solidFill>
                <a:effectLst/>
                <a:uLnTx/>
                <a:uFillTx/>
                <a:latin typeface="Tahoma" panose="020B0604030504040204" charset="0"/>
                <a:ea typeface="宋体" panose="02010600030101010101" pitchFamily="2" charset="-122"/>
                <a:cs typeface="+mn-cs"/>
              </a:rPr>
              <a:t>University of Science and Technology of China</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ltLang="zh-CN"/>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92EF46-3C45-8448-BE4E-5C917E2EBC95}" type="datetime1">
              <a:rPr lang="en-US" smtClean="0"/>
              <a:t>9/19/2026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E878D80-AF11-6343-918A-0BF62098A907}"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wench@ustc.edu.c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file://localhost/Users/canhongwen/Downloads/p4-1.png" TargetMode="External"/><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file://localhost/Users/canhongwen/Downloads/p4-1.png" TargetMode="External"/><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file://localhost/Users/canhongwen/Downloads/1200px-Probability_tree_diagram.svg.png" TargetMode="External"/><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zh-CN" altLang="en-US" dirty="0"/>
              <a:t>概率论与数理统计</a:t>
            </a:r>
            <a:br>
              <a:rPr lang="en-US" altLang="zh-CN" dirty="0"/>
            </a:br>
            <a:r>
              <a:rPr lang="zh-CN" altLang="en-US" dirty="0"/>
              <a:t>第一章</a:t>
            </a:r>
            <a:endParaRPr lang="en-US" dirty="0"/>
          </a:p>
        </p:txBody>
      </p:sp>
      <p:sp>
        <p:nvSpPr>
          <p:cNvPr id="3" name="Subtitle 2"/>
          <p:cNvSpPr>
            <a:spLocks noGrp="1"/>
          </p:cNvSpPr>
          <p:nvPr>
            <p:ph type="subTitle" idx="1"/>
          </p:nvPr>
        </p:nvSpPr>
        <p:spPr/>
        <p:txBody>
          <a:bodyPr>
            <a:normAutofit/>
          </a:bodyPr>
          <a:lstStyle/>
          <a:p>
            <a:r>
              <a:rPr lang="zh-CN" altLang="en-US" dirty="0"/>
              <a:t>张博 </a:t>
            </a:r>
            <a:endParaRPr lang="en-US" altLang="zh-CN" dirty="0"/>
          </a:p>
          <a:p>
            <a:r>
              <a:rPr lang="en-US" altLang="zh-CN" dirty="0">
                <a:hlinkClick r:id="rId2"/>
              </a:rPr>
              <a:t>wbchpmp@ustc.edu.cn</a:t>
            </a:r>
            <a:endParaRPr lang="en-US" altLang="zh-CN" dirty="0"/>
          </a:p>
          <a:p>
            <a:endParaRPr lang="en-US" altLang="zh-C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条件概率</a:t>
            </a:r>
          </a:p>
        </p:txBody>
      </p:sp>
      <p:pic>
        <p:nvPicPr>
          <p:cNvPr id="6" name="Content Placeholder 5" descr="Screen Shot 2017-09-06 at 11.16.17 AM.png"/>
          <p:cNvPicPr>
            <a:picLocks noGrp="1" noChangeAspect="1"/>
          </p:cNvPicPr>
          <p:nvPr>
            <p:ph idx="1"/>
          </p:nvPr>
        </p:nvPicPr>
        <p:blipFill rotWithShape="1">
          <a:blip r:embed="rId2">
            <a:extLst>
              <a:ext uri="{28A0092B-C50C-407E-A947-70E740481C1C}">
                <a14:useLocalDpi xmlns:a14="http://schemas.microsoft.com/office/drawing/2010/main" val="0"/>
              </a:ext>
            </a:extLst>
          </a:blip>
          <a:srcRect t="-1721" b="-2650"/>
          <a:stretch>
            <a:fillRect/>
          </a:stretch>
        </p:blipFill>
        <p:spPr>
          <a:xfrm>
            <a:off x="457200" y="1539875"/>
            <a:ext cx="8229600" cy="2317750"/>
          </a:xfrm>
        </p:spPr>
      </p:pic>
      <p:sp>
        <p:nvSpPr>
          <p:cNvPr id="4" name="Date Placeholder 3"/>
          <p:cNvSpPr>
            <a:spLocks noGrp="1"/>
          </p:cNvSpPr>
          <p:nvPr>
            <p:ph type="dt" sz="half" idx="10"/>
          </p:nvPr>
        </p:nvSpPr>
        <p:spPr/>
        <p:txBody>
          <a:bodyPr/>
          <a:lstStyle/>
          <a:p>
            <a:fld id="{E1C68FA7-58D4-B64D-A671-4AA0982894C6}" type="datetime1">
              <a:rPr lang="en-US" smtClean="0"/>
              <a:t>9/19/2026</a:t>
            </a:fld>
            <a:endParaRPr lang="en-US"/>
          </a:p>
        </p:txBody>
      </p:sp>
      <p:sp>
        <p:nvSpPr>
          <p:cNvPr id="5" name="Slide Number Placeholder 4"/>
          <p:cNvSpPr>
            <a:spLocks noGrp="1"/>
          </p:cNvSpPr>
          <p:nvPr>
            <p:ph type="sldNum" sz="quarter" idx="12"/>
          </p:nvPr>
        </p:nvSpPr>
        <p:spPr/>
        <p:txBody>
          <a:bodyPr/>
          <a:lstStyle/>
          <a:p>
            <a:fld id="{CE878D80-AF11-6343-918A-0BF62098A907}" type="slidenum">
              <a:rPr lang="en-US" smtClean="0"/>
              <a:t>2</a:t>
            </a:fld>
            <a:endParaRPr lang="en-US"/>
          </a:p>
        </p:txBody>
      </p:sp>
      <p:pic>
        <p:nvPicPr>
          <p:cNvPr id="7" name="Picture 6" descr="conditional_b.png"/>
          <p:cNvPicPr>
            <a:picLocks noChangeAspect="1"/>
          </p:cNvPicPr>
          <p:nvPr/>
        </p:nvPicPr>
        <p:blipFill rotWithShape="1">
          <a:blip r:embed="rId3">
            <a:extLst>
              <a:ext uri="{28A0092B-C50C-407E-A947-70E740481C1C}">
                <a14:useLocalDpi xmlns:a14="http://schemas.microsoft.com/office/drawing/2010/main" val="0"/>
              </a:ext>
            </a:extLst>
          </a:blip>
          <a:srcRect b="16064"/>
          <a:stretch>
            <a:fillRect/>
          </a:stretch>
        </p:blipFill>
        <p:spPr>
          <a:xfrm>
            <a:off x="2730500" y="3762375"/>
            <a:ext cx="3555999" cy="299690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概率与条件概率</a:t>
            </a:r>
          </a:p>
        </p:txBody>
      </p:sp>
      <p:sp>
        <p:nvSpPr>
          <p:cNvPr id="3" name="内容占位符 2"/>
          <p:cNvSpPr>
            <a:spLocks noGrp="1"/>
          </p:cNvSpPr>
          <p:nvPr>
            <p:ph idx="1"/>
          </p:nvPr>
        </p:nvSpPr>
        <p:spPr/>
        <p:txBody>
          <a:bodyPr/>
          <a:lstStyle/>
          <a:p>
            <a:r>
              <a:rPr lang="zh-CN" altLang="en-US" dirty="0"/>
              <a:t>杜兰特的命中率</a:t>
            </a:r>
            <a:endParaRPr lang="en-US" altLang="zh-CN" dirty="0"/>
          </a:p>
          <a:p>
            <a:endParaRPr lang="en-US" altLang="zh-CN" dirty="0"/>
          </a:p>
          <a:p>
            <a:r>
              <a:rPr lang="zh-CN" altLang="en-US" dirty="0"/>
              <a:t>杜兰特的队友是库里时的命中率</a:t>
            </a:r>
            <a:endParaRPr lang="en-US" altLang="zh-CN" dirty="0"/>
          </a:p>
          <a:p>
            <a:endParaRPr lang="en-US" altLang="zh-CN" dirty="0"/>
          </a:p>
          <a:p>
            <a:r>
              <a:rPr lang="zh-CN" altLang="en-US" dirty="0"/>
              <a:t>杜兰特的队友是威斯布鲁克时的命中率</a:t>
            </a:r>
          </a:p>
        </p:txBody>
      </p:sp>
      <p:sp>
        <p:nvSpPr>
          <p:cNvPr id="4" name="日期占位符 3"/>
          <p:cNvSpPr>
            <a:spLocks noGrp="1"/>
          </p:cNvSpPr>
          <p:nvPr>
            <p:ph type="dt" sz="half" idx="10"/>
          </p:nvPr>
        </p:nvSpPr>
        <p:spPr/>
        <p:txBody>
          <a:bodyPr/>
          <a:lstStyle/>
          <a:p>
            <a:fld id="{E1C68FA7-58D4-B64D-A671-4AA0982894C6}" type="datetime1">
              <a:rPr lang="en-US" smtClean="0"/>
              <a:t>9/19/2026</a:t>
            </a:fld>
            <a:endParaRPr lang="en-US"/>
          </a:p>
        </p:txBody>
      </p:sp>
      <p:sp>
        <p:nvSpPr>
          <p:cNvPr id="5" name="灯片编号占位符 4"/>
          <p:cNvSpPr>
            <a:spLocks noGrp="1"/>
          </p:cNvSpPr>
          <p:nvPr>
            <p:ph type="sldNum" sz="quarter" idx="12"/>
          </p:nvPr>
        </p:nvSpPr>
        <p:spPr/>
        <p:txBody>
          <a:bodyPr/>
          <a:lstStyle/>
          <a:p>
            <a:fld id="{CE878D80-AF11-6343-918A-0BF62098A907}" type="slidenum">
              <a:rPr lang="en-US" smtClean="0"/>
              <a:t>3</a:t>
            </a:fld>
            <a:endParaRPr lang="en-US"/>
          </a:p>
        </p:txBody>
      </p:sp>
    </p:spTree>
    <p:extLst>
      <p:ext uri="{BB962C8B-B14F-4D97-AF65-F5344CB8AC3E}">
        <p14:creationId xmlns:p14="http://schemas.microsoft.com/office/powerpoint/2010/main" val="1826231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概率与条件概率</a:t>
            </a:r>
          </a:p>
        </p:txBody>
      </p:sp>
      <p:sp>
        <p:nvSpPr>
          <p:cNvPr id="3" name="内容占位符 2"/>
          <p:cNvSpPr>
            <a:spLocks noGrp="1"/>
          </p:cNvSpPr>
          <p:nvPr>
            <p:ph idx="1"/>
          </p:nvPr>
        </p:nvSpPr>
        <p:spPr/>
        <p:txBody>
          <a:bodyPr/>
          <a:lstStyle/>
          <a:p>
            <a:r>
              <a:rPr lang="zh-CN" altLang="en-US" dirty="0"/>
              <a:t>安徽省考生超过</a:t>
            </a:r>
            <a:r>
              <a:rPr lang="en-US" altLang="zh-CN" dirty="0"/>
              <a:t>600</a:t>
            </a:r>
            <a:r>
              <a:rPr lang="zh-CN" altLang="en-US" dirty="0"/>
              <a:t>分的概率</a:t>
            </a:r>
            <a:endParaRPr lang="en-US" altLang="zh-CN" dirty="0"/>
          </a:p>
          <a:p>
            <a:endParaRPr lang="en-US" altLang="zh-CN" dirty="0"/>
          </a:p>
          <a:p>
            <a:endParaRPr lang="en-US" altLang="zh-CN" dirty="0"/>
          </a:p>
          <a:p>
            <a:r>
              <a:rPr lang="zh-CN" altLang="en-US" dirty="0"/>
              <a:t>被中科大录取的安徽省考生超过</a:t>
            </a:r>
            <a:r>
              <a:rPr lang="en-US" altLang="zh-CN" dirty="0"/>
              <a:t>600</a:t>
            </a:r>
            <a:r>
              <a:rPr lang="zh-CN" altLang="en-US" dirty="0"/>
              <a:t>分的概率</a:t>
            </a:r>
          </a:p>
        </p:txBody>
      </p:sp>
      <p:sp>
        <p:nvSpPr>
          <p:cNvPr id="4" name="日期占位符 3"/>
          <p:cNvSpPr>
            <a:spLocks noGrp="1"/>
          </p:cNvSpPr>
          <p:nvPr>
            <p:ph type="dt" sz="half" idx="10"/>
          </p:nvPr>
        </p:nvSpPr>
        <p:spPr/>
        <p:txBody>
          <a:bodyPr/>
          <a:lstStyle/>
          <a:p>
            <a:fld id="{E1C68FA7-58D4-B64D-A671-4AA0982894C6}" type="datetime1">
              <a:rPr lang="en-US" smtClean="0"/>
              <a:t>9/19/2026</a:t>
            </a:fld>
            <a:endParaRPr lang="en-US"/>
          </a:p>
        </p:txBody>
      </p:sp>
      <p:sp>
        <p:nvSpPr>
          <p:cNvPr id="5" name="灯片编号占位符 4"/>
          <p:cNvSpPr>
            <a:spLocks noGrp="1"/>
          </p:cNvSpPr>
          <p:nvPr>
            <p:ph type="sldNum" sz="quarter" idx="12"/>
          </p:nvPr>
        </p:nvSpPr>
        <p:spPr/>
        <p:txBody>
          <a:bodyPr/>
          <a:lstStyle/>
          <a:p>
            <a:fld id="{CE878D80-AF11-6343-918A-0BF62098A907}" type="slidenum">
              <a:rPr lang="en-US" smtClean="0"/>
              <a:t>4</a:t>
            </a:fld>
            <a:endParaRPr lang="en-US"/>
          </a:p>
        </p:txBody>
      </p:sp>
    </p:spTree>
    <p:extLst>
      <p:ext uri="{BB962C8B-B14F-4D97-AF65-F5344CB8AC3E}">
        <p14:creationId xmlns:p14="http://schemas.microsoft.com/office/powerpoint/2010/main" val="304762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 calcmode="lin" valueType="num">
                                      <p:cBhvr additive="base">
                                        <p:cTn id="1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例子</a:t>
            </a:r>
          </a:p>
        </p:txBody>
      </p:sp>
      <p:sp>
        <p:nvSpPr>
          <p:cNvPr id="4" name="Date Placeholder 3"/>
          <p:cNvSpPr>
            <a:spLocks noGrp="1"/>
          </p:cNvSpPr>
          <p:nvPr>
            <p:ph type="dt" sz="half" idx="10"/>
          </p:nvPr>
        </p:nvSpPr>
        <p:spPr/>
        <p:txBody>
          <a:bodyPr/>
          <a:lstStyle/>
          <a:p>
            <a:fld id="{E1C68FA7-58D4-B64D-A671-4AA0982894C6}" type="datetime1">
              <a:rPr lang="en-US" smtClean="0"/>
              <a:t>9/19/2026</a:t>
            </a:fld>
            <a:endParaRPr lang="en-US"/>
          </a:p>
        </p:txBody>
      </p:sp>
      <p:sp>
        <p:nvSpPr>
          <p:cNvPr id="5" name="Slide Number Placeholder 4"/>
          <p:cNvSpPr>
            <a:spLocks noGrp="1"/>
          </p:cNvSpPr>
          <p:nvPr>
            <p:ph type="sldNum" sz="quarter" idx="12"/>
          </p:nvPr>
        </p:nvSpPr>
        <p:spPr/>
        <p:txBody>
          <a:bodyPr/>
          <a:lstStyle/>
          <a:p>
            <a:fld id="{CE878D80-AF11-6343-918A-0BF62098A907}" type="slidenum">
              <a:rPr lang="en-US" smtClean="0"/>
              <a:t>5</a:t>
            </a:fld>
            <a:endParaRPr lang="en-US"/>
          </a:p>
        </p:txBody>
      </p:sp>
      <p:sp>
        <p:nvSpPr>
          <p:cNvPr id="7" name="内容占位符 6"/>
          <p:cNvSpPr>
            <a:spLocks noGrp="1"/>
          </p:cNvSpPr>
          <p:nvPr>
            <p:ph idx="1"/>
          </p:nvPr>
        </p:nvSpPr>
        <p:spPr/>
        <p:txBody>
          <a:bodyPr/>
          <a:lstStyle/>
          <a:p>
            <a:r>
              <a:rPr lang="zh-CN" altLang="en-US" dirty="0"/>
              <a:t>保险业务中的每个年龄的死亡率也是条件概率</a:t>
            </a:r>
            <a:endParaRPr lang="en-US" altLang="zh-CN" dirty="0"/>
          </a:p>
          <a:p>
            <a:r>
              <a:rPr lang="zh-CN" altLang="en-US" dirty="0"/>
              <a:t>每一年龄的死亡率是已知达到给定年龄的人在下一年死亡的条件概率</a:t>
            </a:r>
            <a:endParaRPr lang="en-US" altLang="zh-CN" dirty="0"/>
          </a:p>
          <a:p>
            <a:endParaRPr lang="en-US" altLang="zh-CN" dirty="0"/>
          </a:p>
          <a:p>
            <a:pPr marL="0" indent="0">
              <a:buNone/>
            </a:pPr>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例子</a:t>
            </a:r>
          </a:p>
        </p:txBody>
      </p:sp>
      <p:sp>
        <p:nvSpPr>
          <p:cNvPr id="4" name="Date Placeholder 3"/>
          <p:cNvSpPr>
            <a:spLocks noGrp="1"/>
          </p:cNvSpPr>
          <p:nvPr>
            <p:ph type="dt" sz="half" idx="10"/>
          </p:nvPr>
        </p:nvSpPr>
        <p:spPr/>
        <p:txBody>
          <a:bodyPr/>
          <a:lstStyle/>
          <a:p>
            <a:fld id="{E1C68FA7-58D4-B64D-A671-4AA0982894C6}" type="datetime1">
              <a:rPr lang="en-US" smtClean="0"/>
              <a:t>9/19/2026</a:t>
            </a:fld>
            <a:endParaRPr lang="en-US"/>
          </a:p>
        </p:txBody>
      </p:sp>
      <p:sp>
        <p:nvSpPr>
          <p:cNvPr id="5" name="Slide Number Placeholder 4"/>
          <p:cNvSpPr>
            <a:spLocks noGrp="1"/>
          </p:cNvSpPr>
          <p:nvPr>
            <p:ph type="sldNum" sz="quarter" idx="12"/>
          </p:nvPr>
        </p:nvSpPr>
        <p:spPr/>
        <p:txBody>
          <a:bodyPr/>
          <a:lstStyle/>
          <a:p>
            <a:fld id="{CE878D80-AF11-6343-918A-0BF62098A907}" type="slidenum">
              <a:rPr lang="en-US" smtClean="0"/>
              <a:t>6</a:t>
            </a:fld>
            <a:endParaRPr lang="en-US"/>
          </a:p>
        </p:txBody>
      </p:sp>
      <p:sp>
        <p:nvSpPr>
          <p:cNvPr id="7" name="内容占位符 6"/>
          <p:cNvSpPr>
            <a:spLocks noGrp="1"/>
          </p:cNvSpPr>
          <p:nvPr>
            <p:ph idx="1"/>
          </p:nvPr>
        </p:nvSpPr>
        <p:spPr/>
        <p:txBody>
          <a:bodyPr/>
          <a:lstStyle/>
          <a:p>
            <a:r>
              <a:rPr lang="zh-CN" altLang="en-US" dirty="0"/>
              <a:t> 抽检某工厂的产品</a:t>
            </a:r>
            <a:r>
              <a:rPr lang="en-US" altLang="zh-CN" dirty="0"/>
              <a:t>, </a:t>
            </a:r>
            <a:r>
              <a:rPr lang="zh-CN" altLang="en-US" dirty="0"/>
              <a:t>设 </a:t>
            </a:r>
            <a:r>
              <a:rPr lang="en-US" altLang="zh-CN" dirty="0"/>
              <a:t>10 </a:t>
            </a:r>
            <a:r>
              <a:rPr lang="zh-CN" altLang="en-US" dirty="0"/>
              <a:t>件被抽检的产品中有 </a:t>
            </a:r>
            <a:r>
              <a:rPr lang="en-US" altLang="zh-CN" dirty="0"/>
              <a:t>3 </a:t>
            </a:r>
            <a:r>
              <a:rPr lang="zh-CN" altLang="en-US" dirty="0"/>
              <a:t>件一等品、</a:t>
            </a:r>
            <a:r>
              <a:rPr lang="en-US" altLang="zh-CN" dirty="0"/>
              <a:t>7 </a:t>
            </a:r>
            <a:r>
              <a:rPr lang="zh-CN" altLang="en-US" dirty="0"/>
              <a:t>件二等品</a:t>
            </a:r>
            <a:r>
              <a:rPr lang="en-US" altLang="zh-CN" dirty="0"/>
              <a:t>. </a:t>
            </a:r>
            <a:r>
              <a:rPr lang="zh-CN" altLang="en-US" dirty="0"/>
              <a:t>现从这 </a:t>
            </a:r>
            <a:r>
              <a:rPr lang="en-US" altLang="zh-CN" dirty="0"/>
              <a:t>10 </a:t>
            </a:r>
            <a:r>
              <a:rPr lang="zh-CN" altLang="en-US" dirty="0"/>
              <a:t>件产品中做不放回抽检</a:t>
            </a:r>
            <a:r>
              <a:rPr lang="en-US" altLang="zh-CN" dirty="0"/>
              <a:t>, </a:t>
            </a:r>
            <a:r>
              <a:rPr lang="zh-CN" altLang="en-US" dirty="0"/>
              <a:t>求第一次抽检为一等品后</a:t>
            </a:r>
            <a:r>
              <a:rPr lang="en-US" altLang="zh-CN" dirty="0"/>
              <a:t>, </a:t>
            </a:r>
            <a:r>
              <a:rPr lang="zh-CN" altLang="en-US" dirty="0"/>
              <a:t>抽检的第二件也是一等品的概率。</a:t>
            </a:r>
          </a:p>
        </p:txBody>
      </p:sp>
    </p:spTree>
    <p:extLst>
      <p:ext uri="{BB962C8B-B14F-4D97-AF65-F5344CB8AC3E}">
        <p14:creationId xmlns:p14="http://schemas.microsoft.com/office/powerpoint/2010/main" val="16145898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例子</a:t>
            </a:r>
          </a:p>
        </p:txBody>
      </p:sp>
      <p:sp>
        <p:nvSpPr>
          <p:cNvPr id="4" name="Date Placeholder 3"/>
          <p:cNvSpPr>
            <a:spLocks noGrp="1"/>
          </p:cNvSpPr>
          <p:nvPr>
            <p:ph type="dt" sz="half" idx="10"/>
          </p:nvPr>
        </p:nvSpPr>
        <p:spPr/>
        <p:txBody>
          <a:bodyPr/>
          <a:lstStyle/>
          <a:p>
            <a:fld id="{E1C68FA7-58D4-B64D-A671-4AA0982894C6}" type="datetime1">
              <a:rPr lang="en-US" smtClean="0"/>
              <a:t>9/19/2026</a:t>
            </a:fld>
            <a:endParaRPr lang="en-US"/>
          </a:p>
        </p:txBody>
      </p:sp>
      <p:sp>
        <p:nvSpPr>
          <p:cNvPr id="5" name="Slide Number Placeholder 4"/>
          <p:cNvSpPr>
            <a:spLocks noGrp="1"/>
          </p:cNvSpPr>
          <p:nvPr>
            <p:ph type="sldNum" sz="quarter" idx="12"/>
          </p:nvPr>
        </p:nvSpPr>
        <p:spPr/>
        <p:txBody>
          <a:bodyPr/>
          <a:lstStyle/>
          <a:p>
            <a:fld id="{CE878D80-AF11-6343-918A-0BF62098A907}" type="slidenum">
              <a:rPr lang="en-US" smtClean="0"/>
              <a:t>7</a:t>
            </a:fld>
            <a:endParaRPr lang="en-US"/>
          </a:p>
        </p:txBody>
      </p:sp>
      <p:sp>
        <p:nvSpPr>
          <p:cNvPr id="7" name="内容占位符 6"/>
          <p:cNvSpPr>
            <a:spLocks noGrp="1"/>
          </p:cNvSpPr>
          <p:nvPr>
            <p:ph idx="1"/>
          </p:nvPr>
        </p:nvSpPr>
        <p:spPr/>
        <p:txBody>
          <a:bodyPr>
            <a:normAutofit/>
          </a:bodyPr>
          <a:lstStyle/>
          <a:p>
            <a:r>
              <a:rPr lang="zh-CN" altLang="en-US" sz="2400" dirty="0"/>
              <a:t>桌上有大小、颜色相同的三张卡片和一顶帽子</a:t>
            </a:r>
            <a:r>
              <a:rPr lang="en-US" altLang="zh-CN" sz="2400" dirty="0"/>
              <a:t>. </a:t>
            </a:r>
            <a:r>
              <a:rPr lang="zh-CN" altLang="en-US" sz="2400" dirty="0"/>
              <a:t>第一张卡片两面都画一个圈</a:t>
            </a:r>
            <a:r>
              <a:rPr lang="en-US" altLang="zh-CN" sz="2400" dirty="0"/>
              <a:t>, </a:t>
            </a:r>
            <a:r>
              <a:rPr lang="zh-CN" altLang="en-US" sz="2400" dirty="0"/>
              <a:t>第二张一面画一个圈、一面画一个点</a:t>
            </a:r>
            <a:r>
              <a:rPr lang="en-US" altLang="zh-CN" sz="2400" dirty="0"/>
              <a:t>, </a:t>
            </a:r>
            <a:r>
              <a:rPr lang="zh-CN" altLang="en-US" sz="2400" dirty="0"/>
              <a:t>第三张两面都画一个点</a:t>
            </a:r>
            <a:r>
              <a:rPr lang="en-US" altLang="zh-CN" sz="2400" dirty="0"/>
              <a:t>. </a:t>
            </a:r>
          </a:p>
          <a:p>
            <a:r>
              <a:rPr lang="zh-CN" altLang="en-US" sz="2400" dirty="0"/>
              <a:t>庄家把卡片放在帽子中摇晃后</a:t>
            </a:r>
            <a:r>
              <a:rPr lang="en-US" altLang="zh-CN" sz="2400" dirty="0"/>
              <a:t>, </a:t>
            </a:r>
            <a:r>
              <a:rPr lang="zh-CN" altLang="en-US" sz="2400" dirty="0"/>
              <a:t>让玩家任取一张放在桌上</a:t>
            </a:r>
            <a:r>
              <a:rPr lang="en-US" altLang="zh-CN" sz="2400" dirty="0"/>
              <a:t>. </a:t>
            </a:r>
            <a:r>
              <a:rPr lang="zh-CN" altLang="en-US" sz="2400" dirty="0"/>
              <a:t>如果该卡片上面画的是圈</a:t>
            </a:r>
            <a:r>
              <a:rPr lang="en-US" altLang="zh-CN" sz="2400" dirty="0"/>
              <a:t>, </a:t>
            </a:r>
            <a:r>
              <a:rPr lang="zh-CN" altLang="en-US" sz="2400" dirty="0"/>
              <a:t>则庄家与玩家以对等的赌金赌卡片下面的图案与上面的图案是否相同 </a:t>
            </a:r>
            <a:r>
              <a:rPr lang="en-US" altLang="zh-CN" sz="2400" dirty="0"/>
              <a:t>(</a:t>
            </a:r>
            <a:r>
              <a:rPr lang="zh-CN" altLang="en-US" sz="2400" dirty="0"/>
              <a:t>相同就算庄家赢</a:t>
            </a:r>
            <a:r>
              <a:rPr lang="en-US" altLang="zh-CN" sz="2400" dirty="0"/>
              <a:t>). </a:t>
            </a:r>
          </a:p>
          <a:p>
            <a:r>
              <a:rPr lang="zh-CN" altLang="en-US" sz="2400" dirty="0"/>
              <a:t>庄家说这个赌博是非常公平的</a:t>
            </a:r>
            <a:r>
              <a:rPr lang="en-US" altLang="zh-CN" sz="2400" dirty="0"/>
              <a:t>, </a:t>
            </a:r>
            <a:r>
              <a:rPr lang="zh-CN" altLang="en-US" sz="2400" dirty="0"/>
              <a:t>因为进行赌局时，玩家抽出的卡片上、下面图案不可能是“点点”</a:t>
            </a:r>
            <a:r>
              <a:rPr lang="en-US" altLang="zh-CN" sz="2400" dirty="0"/>
              <a:t>, </a:t>
            </a:r>
            <a:r>
              <a:rPr lang="zh-CN" altLang="en-US" sz="2400" dirty="0"/>
              <a:t>因此</a:t>
            </a:r>
            <a:r>
              <a:rPr lang="en-US" altLang="zh-CN" sz="2400" dirty="0"/>
              <a:t>, </a:t>
            </a:r>
            <a:r>
              <a:rPr lang="zh-CN" altLang="en-US" sz="2400" dirty="0"/>
              <a:t>图案要么是“圈圈”</a:t>
            </a:r>
            <a:r>
              <a:rPr lang="en-US" altLang="zh-CN" sz="2400" dirty="0"/>
              <a:t>, </a:t>
            </a:r>
            <a:r>
              <a:rPr lang="zh-CN" altLang="en-US" sz="2400" dirty="0"/>
              <a:t>要么是“圈点”</a:t>
            </a:r>
            <a:r>
              <a:rPr lang="en-US" altLang="zh-CN" sz="2400" dirty="0"/>
              <a:t>, </a:t>
            </a:r>
            <a:r>
              <a:rPr lang="zh-CN" altLang="en-US" sz="2400" dirty="0"/>
              <a:t>都有 </a:t>
            </a:r>
            <a:r>
              <a:rPr lang="en-US" altLang="zh-CN" sz="2400" dirty="0"/>
              <a:t>1/2 </a:t>
            </a:r>
            <a:r>
              <a:rPr lang="zh-CN" altLang="en-US" sz="2400" dirty="0"/>
              <a:t>的概率</a:t>
            </a:r>
            <a:r>
              <a:rPr lang="en-US" altLang="zh-CN" sz="2400" dirty="0"/>
              <a:t>. </a:t>
            </a:r>
          </a:p>
          <a:p>
            <a:r>
              <a:rPr lang="zh-CN" altLang="en-US" sz="2400" dirty="0"/>
              <a:t>请问该赌博是否公平</a:t>
            </a:r>
            <a:r>
              <a:rPr lang="en-US" altLang="zh-CN" sz="2400" dirty="0"/>
              <a:t>?</a:t>
            </a:r>
          </a:p>
        </p:txBody>
      </p:sp>
    </p:spTree>
    <p:extLst>
      <p:ext uri="{BB962C8B-B14F-4D97-AF65-F5344CB8AC3E}">
        <p14:creationId xmlns:p14="http://schemas.microsoft.com/office/powerpoint/2010/main" val="3864307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例子</a:t>
            </a:r>
          </a:p>
        </p:txBody>
      </p:sp>
      <p:sp>
        <p:nvSpPr>
          <p:cNvPr id="4" name="Date Placeholder 3"/>
          <p:cNvSpPr>
            <a:spLocks noGrp="1"/>
          </p:cNvSpPr>
          <p:nvPr>
            <p:ph type="dt" sz="half" idx="10"/>
          </p:nvPr>
        </p:nvSpPr>
        <p:spPr/>
        <p:txBody>
          <a:bodyPr/>
          <a:lstStyle/>
          <a:p>
            <a:fld id="{E1C68FA7-58D4-B64D-A671-4AA0982894C6}" type="datetime1">
              <a:rPr lang="en-US" smtClean="0"/>
              <a:t>9/19/2026</a:t>
            </a:fld>
            <a:endParaRPr lang="en-US"/>
          </a:p>
        </p:txBody>
      </p:sp>
      <p:sp>
        <p:nvSpPr>
          <p:cNvPr id="5" name="Slide Number Placeholder 4"/>
          <p:cNvSpPr>
            <a:spLocks noGrp="1"/>
          </p:cNvSpPr>
          <p:nvPr>
            <p:ph type="sldNum" sz="quarter" idx="12"/>
          </p:nvPr>
        </p:nvSpPr>
        <p:spPr/>
        <p:txBody>
          <a:bodyPr/>
          <a:lstStyle/>
          <a:p>
            <a:fld id="{CE878D80-AF11-6343-918A-0BF62098A907}" type="slidenum">
              <a:rPr lang="en-US" smtClean="0"/>
              <a:t>8</a:t>
            </a:fld>
            <a:endParaRPr lang="en-US"/>
          </a:p>
        </p:txBody>
      </p:sp>
      <p:sp>
        <p:nvSpPr>
          <p:cNvPr id="7" name="内容占位符 6"/>
          <p:cNvSpPr>
            <a:spLocks noGrp="1"/>
          </p:cNvSpPr>
          <p:nvPr>
            <p:ph idx="1"/>
          </p:nvPr>
        </p:nvSpPr>
        <p:spPr/>
        <p:txBody>
          <a:bodyPr>
            <a:normAutofit/>
          </a:bodyPr>
          <a:lstStyle/>
          <a:p>
            <a:r>
              <a:rPr lang="zh-CN" altLang="en-US" sz="2400" dirty="0"/>
              <a:t>关键：只有一半的可能性会进行赌局，而此时有</a:t>
            </a:r>
            <a:r>
              <a:rPr lang="en-US" altLang="zh-CN" sz="2400" dirty="0"/>
              <a:t>2/3</a:t>
            </a:r>
            <a:r>
              <a:rPr lang="zh-CN" altLang="en-US" sz="2400" dirty="0"/>
              <a:t>的条件概率为双圈</a:t>
            </a:r>
          </a:p>
        </p:txBody>
      </p:sp>
    </p:spTree>
    <p:extLst>
      <p:ext uri="{BB962C8B-B14F-4D97-AF65-F5344CB8AC3E}">
        <p14:creationId xmlns:p14="http://schemas.microsoft.com/office/powerpoint/2010/main" val="7891165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乘法公式</a:t>
            </a:r>
            <a:endParaRPr lang="en-US" dirty="0"/>
          </a:p>
        </p:txBody>
      </p:sp>
      <p:pic>
        <p:nvPicPr>
          <p:cNvPr id="6" name="Content Placeholder 5" descr="Screen Shot 2017-09-06 at 3.48.58 PM.png"/>
          <p:cNvPicPr>
            <a:picLocks noGrp="1" noChangeAspect="1"/>
          </p:cNvPicPr>
          <p:nvPr>
            <p:ph idx="1"/>
          </p:nvPr>
        </p:nvPicPr>
        <p:blipFill>
          <a:blip r:embed="rId2">
            <a:extLst>
              <a:ext uri="{28A0092B-C50C-407E-A947-70E740481C1C}">
                <a14:useLocalDpi xmlns:a14="http://schemas.microsoft.com/office/drawing/2010/main" val="0"/>
              </a:ext>
            </a:extLst>
          </a:blip>
          <a:srcRect t="-6792" b="-6792"/>
          <a:stretch>
            <a:fillRect/>
          </a:stretch>
        </p:blipFill>
        <p:spPr/>
      </p:pic>
      <p:sp>
        <p:nvSpPr>
          <p:cNvPr id="4" name="Date Placeholder 3"/>
          <p:cNvSpPr>
            <a:spLocks noGrp="1"/>
          </p:cNvSpPr>
          <p:nvPr>
            <p:ph type="dt" sz="half" idx="10"/>
          </p:nvPr>
        </p:nvSpPr>
        <p:spPr/>
        <p:txBody>
          <a:bodyPr/>
          <a:lstStyle/>
          <a:p>
            <a:fld id="{E1C68FA7-58D4-B64D-A671-4AA0982894C6}" type="datetime1">
              <a:rPr lang="en-US" smtClean="0"/>
              <a:t>9/19/2026</a:t>
            </a:fld>
            <a:endParaRPr lang="en-US"/>
          </a:p>
        </p:txBody>
      </p:sp>
      <p:sp>
        <p:nvSpPr>
          <p:cNvPr id="5" name="Slide Number Placeholder 4"/>
          <p:cNvSpPr>
            <a:spLocks noGrp="1"/>
          </p:cNvSpPr>
          <p:nvPr>
            <p:ph type="sldNum" sz="quarter" idx="12"/>
          </p:nvPr>
        </p:nvSpPr>
        <p:spPr/>
        <p:txBody>
          <a:bodyPr/>
          <a:lstStyle/>
          <a:p>
            <a:fld id="{CE878D80-AF11-6343-918A-0BF62098A907}" type="slidenum">
              <a:rPr lang="en-US" smtClean="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抽签很公平</a:t>
            </a:r>
          </a:p>
        </p:txBody>
      </p:sp>
      <p:sp>
        <p:nvSpPr>
          <p:cNvPr id="3" name="内容占位符 2"/>
          <p:cNvSpPr>
            <a:spLocks noGrp="1"/>
          </p:cNvSpPr>
          <p:nvPr>
            <p:ph idx="1"/>
          </p:nvPr>
        </p:nvSpPr>
        <p:spPr/>
        <p:txBody>
          <a:bodyPr/>
          <a:lstStyle/>
          <a:p>
            <a:r>
              <a:rPr lang="en-US" altLang="zh-CN" dirty="0"/>
              <a:t>n </a:t>
            </a:r>
            <a:r>
              <a:rPr lang="zh-CN" altLang="en-US" dirty="0"/>
              <a:t>个学生排队领课本</a:t>
            </a:r>
            <a:r>
              <a:rPr lang="en-US" altLang="zh-CN" dirty="0"/>
              <a:t>, </a:t>
            </a:r>
            <a:r>
              <a:rPr lang="zh-CN" altLang="en-US" dirty="0"/>
              <a:t>他们选择用抽签的方式决定先后顺序</a:t>
            </a:r>
            <a:r>
              <a:rPr lang="en-US" altLang="zh-CN" dirty="0"/>
              <a:t>. </a:t>
            </a:r>
            <a:r>
              <a:rPr lang="zh-CN" altLang="en-US" dirty="0"/>
              <a:t>求学生张三恰好是第 </a:t>
            </a:r>
            <a:r>
              <a:rPr lang="en-US" altLang="zh-CN" dirty="0"/>
              <a:t>k </a:t>
            </a:r>
            <a:r>
              <a:rPr lang="zh-CN" altLang="en-US" dirty="0"/>
              <a:t>个领取课本的概率</a:t>
            </a:r>
            <a:r>
              <a:rPr lang="en-US" altLang="zh-CN" dirty="0"/>
              <a:t>.</a:t>
            </a:r>
          </a:p>
          <a:p>
            <a:r>
              <a:rPr lang="zh-CN" altLang="en-US" dirty="0"/>
              <a:t>这个概率与排序无关</a:t>
            </a:r>
          </a:p>
        </p:txBody>
      </p:sp>
      <p:sp>
        <p:nvSpPr>
          <p:cNvPr id="4" name="日期占位符 3"/>
          <p:cNvSpPr>
            <a:spLocks noGrp="1"/>
          </p:cNvSpPr>
          <p:nvPr>
            <p:ph type="dt" sz="half" idx="10"/>
          </p:nvPr>
        </p:nvSpPr>
        <p:spPr/>
        <p:txBody>
          <a:bodyPr/>
          <a:lstStyle/>
          <a:p>
            <a:fld id="{E1C68FA7-58D4-B64D-A671-4AA0982894C6}" type="datetime1">
              <a:rPr lang="en-US" smtClean="0"/>
              <a:t>9/19/2026</a:t>
            </a:fld>
            <a:endParaRPr lang="en-US"/>
          </a:p>
        </p:txBody>
      </p:sp>
      <p:sp>
        <p:nvSpPr>
          <p:cNvPr id="5" name="灯片编号占位符 4"/>
          <p:cNvSpPr>
            <a:spLocks noGrp="1"/>
          </p:cNvSpPr>
          <p:nvPr>
            <p:ph type="sldNum" sz="quarter" idx="12"/>
          </p:nvPr>
        </p:nvSpPr>
        <p:spPr/>
        <p:txBody>
          <a:bodyPr/>
          <a:lstStyle/>
          <a:p>
            <a:fld id="{CE878D80-AF11-6343-918A-0BF62098A907}" type="slidenum">
              <a:rPr lang="en-US" smtClean="0"/>
              <a:t>10</a:t>
            </a:fld>
            <a:endParaRPr lang="en-US"/>
          </a:p>
        </p:txBody>
      </p:sp>
    </p:spTree>
    <p:extLst>
      <p:ext uri="{BB962C8B-B14F-4D97-AF65-F5344CB8AC3E}">
        <p14:creationId xmlns:p14="http://schemas.microsoft.com/office/powerpoint/2010/main" val="331485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条件概率也是概率</a:t>
            </a:r>
          </a:p>
        </p:txBody>
      </p:sp>
      <p:sp>
        <p:nvSpPr>
          <p:cNvPr id="3" name="内容占位符 2"/>
          <p:cNvSpPr>
            <a:spLocks noGrp="1"/>
          </p:cNvSpPr>
          <p:nvPr>
            <p:ph idx="1"/>
          </p:nvPr>
        </p:nvSpPr>
        <p:spPr/>
        <p:txBody>
          <a:bodyPr/>
          <a:lstStyle/>
          <a:p>
            <a:r>
              <a:rPr lang="zh-CN" altLang="en-US" dirty="0"/>
              <a:t>非负性</a:t>
            </a:r>
            <a:endParaRPr lang="en-US" altLang="zh-CN" dirty="0"/>
          </a:p>
          <a:p>
            <a:r>
              <a:rPr lang="zh-CN" altLang="en-US" dirty="0"/>
              <a:t>规范性</a:t>
            </a:r>
            <a:endParaRPr lang="en-US" altLang="zh-CN" dirty="0"/>
          </a:p>
          <a:p>
            <a:r>
              <a:rPr lang="zh-CN" altLang="en-US" dirty="0"/>
              <a:t>可数可加性</a:t>
            </a:r>
          </a:p>
        </p:txBody>
      </p:sp>
      <p:sp>
        <p:nvSpPr>
          <p:cNvPr id="4" name="日期占位符 3"/>
          <p:cNvSpPr>
            <a:spLocks noGrp="1"/>
          </p:cNvSpPr>
          <p:nvPr>
            <p:ph type="dt" sz="half" idx="10"/>
          </p:nvPr>
        </p:nvSpPr>
        <p:spPr/>
        <p:txBody>
          <a:bodyPr/>
          <a:lstStyle/>
          <a:p>
            <a:fld id="{E1C68FA7-58D4-B64D-A671-4AA0982894C6}" type="datetime1">
              <a:rPr lang="en-US" smtClean="0"/>
              <a:t>9/19/2026</a:t>
            </a:fld>
            <a:endParaRPr lang="en-US"/>
          </a:p>
        </p:txBody>
      </p:sp>
      <p:sp>
        <p:nvSpPr>
          <p:cNvPr id="5" name="灯片编号占位符 4"/>
          <p:cNvSpPr>
            <a:spLocks noGrp="1"/>
          </p:cNvSpPr>
          <p:nvPr>
            <p:ph type="sldNum" sz="quarter" idx="12"/>
          </p:nvPr>
        </p:nvSpPr>
        <p:spPr/>
        <p:txBody>
          <a:bodyPr/>
          <a:lstStyle/>
          <a:p>
            <a:fld id="{CE878D80-AF11-6343-918A-0BF62098A907}" type="slidenum">
              <a:rPr lang="en-US" smtClean="0"/>
              <a:t>11</a:t>
            </a:fld>
            <a:endParaRPr lang="en-US"/>
          </a:p>
        </p:txBody>
      </p:sp>
    </p:spTree>
    <p:extLst>
      <p:ext uri="{BB962C8B-B14F-4D97-AF65-F5344CB8AC3E}">
        <p14:creationId xmlns:p14="http://schemas.microsoft.com/office/powerpoint/2010/main" val="13643959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完备事件群</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设 </a:t>
                </a:r>
                <a:r>
                  <a:rPr lang="en-US" altLang="zh-CN" dirty="0"/>
                  <a:t>B</a:t>
                </a:r>
                <a:r>
                  <a:rPr lang="en-US" altLang="zh-CN" baseline="-25000" dirty="0"/>
                  <a:t>1</a:t>
                </a:r>
                <a:r>
                  <a:rPr lang="en-US" altLang="zh-CN" dirty="0"/>
                  <a:t>  ,B</a:t>
                </a:r>
                <a:r>
                  <a:rPr lang="en-US" altLang="zh-CN" baseline="-25000" dirty="0"/>
                  <a:t>2</a:t>
                </a:r>
                <a:r>
                  <a:rPr lang="en-US" altLang="zh-CN" dirty="0"/>
                  <a:t>  ,··· ,</a:t>
                </a:r>
                <a:r>
                  <a:rPr lang="en-US" altLang="zh-CN" dirty="0" err="1"/>
                  <a:t>B</a:t>
                </a:r>
                <a:r>
                  <a:rPr lang="en-US" altLang="zh-CN" baseline="-25000" dirty="0" err="1"/>
                  <a:t>n</a:t>
                </a:r>
                <a:r>
                  <a:rPr lang="en-US" altLang="zh-CN" dirty="0"/>
                  <a:t>  </a:t>
                </a:r>
                <a:r>
                  <a:rPr lang="zh-CN" altLang="en-US" dirty="0"/>
                  <a:t>是样本空间 </a:t>
                </a:r>
                <a:r>
                  <a:rPr lang="el-GR" altLang="zh-CN" dirty="0"/>
                  <a:t>Ω </a:t>
                </a:r>
                <a:r>
                  <a:rPr lang="zh-CN" altLang="en-US" dirty="0"/>
                  <a:t>中的一组概率大于 </a:t>
                </a:r>
                <a:r>
                  <a:rPr lang="en-US" altLang="zh-CN" dirty="0"/>
                  <a:t>0 </a:t>
                </a:r>
                <a:r>
                  <a:rPr lang="zh-CN" altLang="en-US" dirty="0"/>
                  <a:t>的事件</a:t>
                </a:r>
                <a:r>
                  <a:rPr lang="en-US" altLang="zh-CN" dirty="0"/>
                  <a:t>, </a:t>
                </a:r>
                <a:r>
                  <a:rPr lang="zh-CN" altLang="en-US" dirty="0"/>
                  <a:t>满足 </a:t>
                </a:r>
                <a:r>
                  <a:rPr lang="en-US" altLang="zh-CN" dirty="0"/>
                  <a:t>B</a:t>
                </a:r>
                <a:r>
                  <a:rPr lang="en-US" altLang="zh-CN" baseline="-25000" dirty="0"/>
                  <a:t>i</a:t>
                </a:r>
                <a:r>
                  <a:rPr lang="en-US" altLang="zh-CN" dirty="0"/>
                  <a:t> </a:t>
                </a:r>
                <a:r>
                  <a:rPr lang="en-US" altLang="zh-CN" dirty="0" err="1"/>
                  <a:t>B</a:t>
                </a:r>
                <a:r>
                  <a:rPr lang="en-US" altLang="zh-CN" baseline="-25000" dirty="0" err="1"/>
                  <a:t>j</a:t>
                </a:r>
                <a:r>
                  <a:rPr lang="en-US" altLang="zh-CN" dirty="0"/>
                  <a:t> = ∅,</a:t>
                </a:r>
                <a:r>
                  <a:rPr lang="en-US" altLang="zh-CN" dirty="0" err="1"/>
                  <a:t>i</a:t>
                </a:r>
                <a:r>
                  <a:rPr lang="en-US" altLang="zh-CN" dirty="0"/>
                  <a:t>  ≠ j, ∑</a:t>
                </a:r>
                <a:r>
                  <a:rPr lang="en-US" altLang="zh-CN" baseline="-25000" dirty="0"/>
                  <a:t>i</a:t>
                </a:r>
                <a14:m>
                  <m:oMath xmlns:m="http://schemas.openxmlformats.org/officeDocument/2006/math">
                    <m:r>
                      <m:rPr>
                        <m:nor/>
                      </m:rPr>
                      <a:rPr lang="en-US" altLang="zh-CN" dirty="0"/>
                      <m:t>B</m:t>
                    </m:r>
                    <m:r>
                      <m:rPr>
                        <m:nor/>
                      </m:rPr>
                      <a:rPr lang="en-US" altLang="zh-CN" baseline="-25000" dirty="0"/>
                      <m:t>i</m:t>
                    </m:r>
                  </m:oMath>
                </a14:m>
                <a:r>
                  <a:rPr lang="en-US" altLang="zh-CN" dirty="0"/>
                  <a:t>=</a:t>
                </a:r>
                <a:r>
                  <a:rPr lang="el-GR" altLang="zh-CN" dirty="0"/>
                  <a:t> Ω, </a:t>
                </a:r>
                <a:r>
                  <a:rPr lang="zh-CN" altLang="en-US" dirty="0"/>
                  <a:t>则称 </a:t>
                </a:r>
                <a:r>
                  <a:rPr lang="en-US" altLang="zh-CN" dirty="0"/>
                  <a:t>B</a:t>
                </a:r>
                <a:r>
                  <a:rPr lang="en-US" altLang="zh-CN" baseline="-25000" dirty="0"/>
                  <a:t>1</a:t>
                </a:r>
                <a:r>
                  <a:rPr lang="en-US" altLang="zh-CN" dirty="0"/>
                  <a:t>  ,B</a:t>
                </a:r>
                <a:r>
                  <a:rPr lang="en-US" altLang="zh-CN" baseline="-25000" dirty="0"/>
                  <a:t>2</a:t>
                </a:r>
                <a:r>
                  <a:rPr lang="en-US" altLang="zh-CN" dirty="0"/>
                  <a:t>  ,··· ,</a:t>
                </a:r>
                <a:r>
                  <a:rPr lang="en-US" altLang="zh-CN" dirty="0" err="1"/>
                  <a:t>B</a:t>
                </a:r>
                <a:r>
                  <a:rPr lang="en-US" altLang="zh-CN" baseline="-25000" dirty="0" err="1"/>
                  <a:t>n</a:t>
                </a:r>
                <a:r>
                  <a:rPr lang="en-US" altLang="zh-CN" dirty="0"/>
                  <a:t> </a:t>
                </a:r>
                <a:r>
                  <a:rPr lang="zh-CN" altLang="en-US" dirty="0"/>
                  <a:t>是样本空间 </a:t>
                </a:r>
                <a:r>
                  <a:rPr lang="el-GR" altLang="zh-CN" dirty="0"/>
                  <a:t>Ω </a:t>
                </a:r>
                <a:r>
                  <a:rPr lang="zh-CN" altLang="en-US" dirty="0"/>
                  <a:t>的一个完备事件群 </a:t>
                </a:r>
                <a:r>
                  <a:rPr lang="en-US" altLang="zh-CN" dirty="0"/>
                  <a:t>(</a:t>
                </a:r>
                <a:r>
                  <a:rPr lang="zh-CN" altLang="en-US" dirty="0"/>
                  <a:t>也称为 </a:t>
                </a:r>
                <a:r>
                  <a:rPr lang="el-GR" altLang="zh-CN" dirty="0"/>
                  <a:t>Ω </a:t>
                </a:r>
                <a:r>
                  <a:rPr lang="zh-CN" altLang="en-US" dirty="0"/>
                  <a:t>的一个划分 </a:t>
                </a:r>
                <a:r>
                  <a:rPr lang="en-US" altLang="zh-CN" dirty="0"/>
                  <a:t>(partition)).</a:t>
                </a: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1333" t="-2022"/>
                </a:stretch>
              </a:blipFill>
            </p:spPr>
            <p:txBody>
              <a:bodyPr/>
              <a:lstStyle/>
              <a:p>
                <a:r>
                  <a:rPr lang="zh-CN" altLang="en-US">
                    <a:noFill/>
                  </a:rPr>
                  <a:t> </a:t>
                </a:r>
              </a:p>
            </p:txBody>
          </p:sp>
        </mc:Fallback>
      </mc:AlternateContent>
      <p:sp>
        <p:nvSpPr>
          <p:cNvPr id="4" name="日期占位符 3"/>
          <p:cNvSpPr>
            <a:spLocks noGrp="1"/>
          </p:cNvSpPr>
          <p:nvPr>
            <p:ph type="dt" sz="half" idx="10"/>
          </p:nvPr>
        </p:nvSpPr>
        <p:spPr/>
        <p:txBody>
          <a:bodyPr/>
          <a:lstStyle/>
          <a:p>
            <a:fld id="{E1C68FA7-58D4-B64D-A671-4AA0982894C6}" type="datetime1">
              <a:rPr lang="en-US" smtClean="0"/>
              <a:t>9/19/2026</a:t>
            </a:fld>
            <a:endParaRPr lang="en-US"/>
          </a:p>
        </p:txBody>
      </p:sp>
      <p:sp>
        <p:nvSpPr>
          <p:cNvPr id="5" name="灯片编号占位符 4"/>
          <p:cNvSpPr>
            <a:spLocks noGrp="1"/>
          </p:cNvSpPr>
          <p:nvPr>
            <p:ph type="sldNum" sz="quarter" idx="12"/>
          </p:nvPr>
        </p:nvSpPr>
        <p:spPr/>
        <p:txBody>
          <a:bodyPr/>
          <a:lstStyle/>
          <a:p>
            <a:fld id="{CE878D80-AF11-6343-918A-0BF62098A907}" type="slidenum">
              <a:rPr lang="en-US" smtClean="0"/>
              <a:t>12</a:t>
            </a:fld>
            <a:endParaRPr lang="en-US"/>
          </a:p>
        </p:txBody>
      </p:sp>
    </p:spTree>
    <p:extLst>
      <p:ext uri="{BB962C8B-B14F-4D97-AF65-F5344CB8AC3E}">
        <p14:creationId xmlns:p14="http://schemas.microsoft.com/office/powerpoint/2010/main" val="12271031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样本空间的分割</a:t>
            </a:r>
            <a:endParaRPr lang="en-US" dirty="0"/>
          </a:p>
        </p:txBody>
      </p:sp>
      <p:sp>
        <p:nvSpPr>
          <p:cNvPr id="4" name="Date Placeholder 3"/>
          <p:cNvSpPr>
            <a:spLocks noGrp="1"/>
          </p:cNvSpPr>
          <p:nvPr>
            <p:ph type="dt" sz="half" idx="10"/>
          </p:nvPr>
        </p:nvSpPr>
        <p:spPr/>
        <p:txBody>
          <a:bodyPr/>
          <a:lstStyle/>
          <a:p>
            <a:fld id="{E1C68FA7-58D4-B64D-A671-4AA0982894C6}" type="datetime1">
              <a:rPr lang="en-US" smtClean="0"/>
              <a:t>9/19/2026</a:t>
            </a:fld>
            <a:endParaRPr lang="en-US"/>
          </a:p>
        </p:txBody>
      </p:sp>
      <p:sp>
        <p:nvSpPr>
          <p:cNvPr id="5" name="Slide Number Placeholder 4"/>
          <p:cNvSpPr>
            <a:spLocks noGrp="1"/>
          </p:cNvSpPr>
          <p:nvPr>
            <p:ph type="sldNum" sz="quarter" idx="12"/>
          </p:nvPr>
        </p:nvSpPr>
        <p:spPr/>
        <p:txBody>
          <a:bodyPr/>
          <a:lstStyle/>
          <a:p>
            <a:fld id="{CE878D80-AF11-6343-918A-0BF62098A907}" type="slidenum">
              <a:rPr lang="en-US" smtClean="0"/>
              <a:t>13</a:t>
            </a:fld>
            <a:endParaRPr lang="en-US"/>
          </a:p>
        </p:txBody>
      </p:sp>
      <p:pic>
        <p:nvPicPr>
          <p:cNvPr id="7" name="p4-1.png" descr="/Users/canhongwen/Downloads/p4-1.png"/>
          <p:cNvPicPr>
            <a:picLocks noChangeAspect="1"/>
          </p:cNvPicPr>
          <p:nvPr/>
        </p:nvPicPr>
        <p:blipFill rotWithShape="1">
          <a:blip r:embed="rId2" r:link="rId3">
            <a:extLst>
              <a:ext uri="{28A0092B-C50C-407E-A947-70E740481C1C}">
                <a14:useLocalDpi xmlns:a14="http://schemas.microsoft.com/office/drawing/2010/main" val="0"/>
              </a:ext>
            </a:extLst>
          </a:blip>
          <a:srcRect l="70836" t="11692" r="1774" b="55844"/>
          <a:stretch>
            <a:fillRect/>
          </a:stretch>
        </p:blipFill>
        <p:spPr>
          <a:xfrm>
            <a:off x="2289175" y="4171310"/>
            <a:ext cx="4530537" cy="2185040"/>
          </a:xfrm>
          <a:prstGeom prst="rect">
            <a:avLst/>
          </a:prstGeom>
        </p:spPr>
      </p:pic>
      <p:pic>
        <p:nvPicPr>
          <p:cNvPr id="8" name="Content Placeholder 5" descr="Screen Shot 2017-09-06 at 10.04.06 AM.png"/>
          <p:cNvPicPr>
            <a:picLocks noChangeAspect="1"/>
          </p:cNvPicPr>
          <p:nvPr/>
        </p:nvPicPr>
        <p:blipFill rotWithShape="1">
          <a:blip r:embed="rId4">
            <a:extLst>
              <a:ext uri="{28A0092B-C50C-407E-A947-70E740481C1C}">
                <a14:useLocalDpi xmlns:a14="http://schemas.microsoft.com/office/drawing/2010/main" val="0"/>
              </a:ext>
            </a:extLst>
          </a:blip>
          <a:srcRect l="53665" t="38122" r="43248" b="56472"/>
          <a:stretch>
            <a:fillRect/>
          </a:stretch>
        </p:blipFill>
        <p:spPr>
          <a:xfrm>
            <a:off x="4276134" y="3649213"/>
            <a:ext cx="447588" cy="475561"/>
          </a:xfrm>
          <a:prstGeom prst="rect">
            <a:avLst/>
          </a:prstGeom>
        </p:spPr>
      </p:pic>
      <p:pic>
        <p:nvPicPr>
          <p:cNvPr id="11" name="内容占位符 10">
            <a:extLst>
              <a:ext uri="{FF2B5EF4-FFF2-40B4-BE49-F238E27FC236}">
                <a16:creationId xmlns:a16="http://schemas.microsoft.com/office/drawing/2014/main" id="{E2EA43FF-BA03-0C64-3738-041987DC7B64}"/>
              </a:ext>
            </a:extLst>
          </p:cNvPr>
          <p:cNvPicPr>
            <a:picLocks noGrp="1" noChangeAspect="1"/>
          </p:cNvPicPr>
          <p:nvPr>
            <p:ph idx="1"/>
          </p:nvPr>
        </p:nvPicPr>
        <p:blipFill>
          <a:blip r:embed="rId5"/>
          <a:stretch>
            <a:fillRect/>
          </a:stretch>
        </p:blipFill>
        <p:spPr>
          <a:xfrm>
            <a:off x="848491" y="1895450"/>
            <a:ext cx="7302875" cy="1435174"/>
          </a:xfr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全概率公式</a:t>
            </a:r>
            <a:endParaRPr lang="en-US" dirty="0"/>
          </a:p>
        </p:txBody>
      </p:sp>
      <p:pic>
        <p:nvPicPr>
          <p:cNvPr id="6" name="p4-1.png" descr="/Users/canhongwen/Downloads/p4-1.png"/>
          <p:cNvPicPr>
            <a:picLocks noGrp="1" noChangeAspect="1"/>
          </p:cNvPicPr>
          <p:nvPr>
            <p:ph idx="1"/>
          </p:nvPr>
        </p:nvPicPr>
        <p:blipFill rotWithShape="1">
          <a:blip r:embed="rId2" r:link="rId3">
            <a:extLst>
              <a:ext uri="{28A0092B-C50C-407E-A947-70E740481C1C}">
                <a14:useLocalDpi xmlns:a14="http://schemas.microsoft.com/office/drawing/2010/main" val="0"/>
              </a:ext>
            </a:extLst>
          </a:blip>
          <a:srcRect l="70836" t="11692" r="1774" b="55844"/>
          <a:stretch>
            <a:fillRect/>
          </a:stretch>
        </p:blipFill>
        <p:spPr>
          <a:xfrm>
            <a:off x="2597237" y="4536435"/>
            <a:ext cx="3508375" cy="2185040"/>
          </a:xfrm>
        </p:spPr>
      </p:pic>
      <p:sp>
        <p:nvSpPr>
          <p:cNvPr id="4" name="Date Placeholder 3"/>
          <p:cNvSpPr>
            <a:spLocks noGrp="1"/>
          </p:cNvSpPr>
          <p:nvPr>
            <p:ph type="dt" sz="half" idx="10"/>
          </p:nvPr>
        </p:nvSpPr>
        <p:spPr/>
        <p:txBody>
          <a:bodyPr/>
          <a:lstStyle/>
          <a:p>
            <a:fld id="{E1C68FA7-58D4-B64D-A671-4AA0982894C6}" type="datetime1">
              <a:rPr lang="en-US" smtClean="0"/>
              <a:t>9/19/2026</a:t>
            </a:fld>
            <a:endParaRPr lang="en-US"/>
          </a:p>
        </p:txBody>
      </p:sp>
      <p:sp>
        <p:nvSpPr>
          <p:cNvPr id="5" name="Slide Number Placeholder 4"/>
          <p:cNvSpPr>
            <a:spLocks noGrp="1"/>
          </p:cNvSpPr>
          <p:nvPr>
            <p:ph type="sldNum" sz="quarter" idx="12"/>
          </p:nvPr>
        </p:nvSpPr>
        <p:spPr/>
        <p:txBody>
          <a:bodyPr/>
          <a:lstStyle/>
          <a:p>
            <a:fld id="{CE878D80-AF11-6343-918A-0BF62098A907}" type="slidenum">
              <a:rPr lang="en-US" smtClean="0"/>
              <a:t>14</a:t>
            </a:fld>
            <a:endParaRPr lang="en-US"/>
          </a:p>
        </p:txBody>
      </p:sp>
      <p:pic>
        <p:nvPicPr>
          <p:cNvPr id="7" name="Content Placeholder 5" descr="Screen Shot 2017-09-06 at 10.04.06 AM.png"/>
          <p:cNvPicPr>
            <a:picLocks noChangeAspect="1"/>
          </p:cNvPicPr>
          <p:nvPr/>
        </p:nvPicPr>
        <p:blipFill rotWithShape="1">
          <a:blip r:embed="rId4">
            <a:extLst>
              <a:ext uri="{28A0092B-C50C-407E-A947-70E740481C1C}">
                <a14:useLocalDpi xmlns:a14="http://schemas.microsoft.com/office/drawing/2010/main" val="0"/>
              </a:ext>
            </a:extLst>
          </a:blip>
          <a:srcRect l="53665" t="38122" r="43248" b="56472"/>
          <a:stretch>
            <a:fillRect/>
          </a:stretch>
        </p:blipFill>
        <p:spPr>
          <a:xfrm>
            <a:off x="4184737" y="4076749"/>
            <a:ext cx="447588" cy="475561"/>
          </a:xfrm>
          <a:prstGeom prst="rect">
            <a:avLst/>
          </a:prstGeom>
        </p:spPr>
      </p:pic>
      <p:pic>
        <p:nvPicPr>
          <p:cNvPr id="8" name="Content Placeholder 5" descr="Screen Shot 2017-09-06 at 3.46.04 PM.png"/>
          <p:cNvPicPr>
            <a:picLocks noChangeAspect="1"/>
          </p:cNvPicPr>
          <p:nvPr/>
        </p:nvPicPr>
        <p:blipFill rotWithShape="1">
          <a:blip r:embed="rId5">
            <a:extLst>
              <a:ext uri="{28A0092B-C50C-407E-A947-70E740481C1C}">
                <a14:useLocalDpi xmlns:a14="http://schemas.microsoft.com/office/drawing/2010/main" val="0"/>
              </a:ext>
            </a:extLst>
          </a:blip>
          <a:srcRect t="47652" b="-2698"/>
          <a:stretch>
            <a:fillRect/>
          </a:stretch>
        </p:blipFill>
        <p:spPr>
          <a:xfrm>
            <a:off x="457200" y="1651000"/>
            <a:ext cx="8229600" cy="236378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a:t>某商场销售三种品牌的冰箱</a:t>
            </a:r>
            <a:r>
              <a:rPr lang="en-US" altLang="zh-CN" dirty="0"/>
              <a:t>, </a:t>
            </a:r>
            <a:r>
              <a:rPr lang="zh-CN" altLang="en-US" dirty="0"/>
              <a:t>设这三种品牌冰箱 </a:t>
            </a:r>
            <a:r>
              <a:rPr lang="en-US" altLang="zh-CN" dirty="0"/>
              <a:t>(</a:t>
            </a:r>
            <a:r>
              <a:rPr lang="zh-CN" altLang="en-US" dirty="0"/>
              <a:t>记为 </a:t>
            </a:r>
            <a:r>
              <a:rPr lang="en-US" altLang="zh-CN" dirty="0"/>
              <a:t>Q</a:t>
            </a:r>
            <a:r>
              <a:rPr lang="en-US" altLang="zh-CN" baseline="-25000" dirty="0"/>
              <a:t>1</a:t>
            </a:r>
            <a:r>
              <a:rPr lang="en-US" altLang="zh-CN" dirty="0"/>
              <a:t> ,Q</a:t>
            </a:r>
            <a:r>
              <a:rPr lang="en-US" altLang="zh-CN" baseline="-25000" dirty="0"/>
              <a:t>2</a:t>
            </a:r>
            <a:r>
              <a:rPr lang="en-US" altLang="zh-CN" dirty="0"/>
              <a:t> ,Q</a:t>
            </a:r>
            <a:r>
              <a:rPr lang="en-US" altLang="zh-CN" baseline="-25000" dirty="0"/>
              <a:t>3</a:t>
            </a:r>
            <a:r>
              <a:rPr lang="en-US" altLang="zh-CN" dirty="0"/>
              <a:t> ) </a:t>
            </a:r>
            <a:r>
              <a:rPr lang="zh-CN" altLang="en-US" dirty="0"/>
              <a:t>的返修率分别为 </a:t>
            </a:r>
            <a:r>
              <a:rPr lang="en-US" altLang="zh-CN" dirty="0"/>
              <a:t>0.2%,0.3%,0.4%, </a:t>
            </a:r>
            <a:r>
              <a:rPr lang="zh-CN" altLang="en-US" dirty="0"/>
              <a:t>而它们在该商场的占有率分别为 </a:t>
            </a:r>
            <a:r>
              <a:rPr lang="en-US" altLang="zh-CN" dirty="0"/>
              <a:t>50%,30%,20%, </a:t>
            </a:r>
            <a:r>
              <a:rPr lang="zh-CN" altLang="en-US" dirty="0"/>
              <a:t>商场设有统一的维修部</a:t>
            </a:r>
            <a:r>
              <a:rPr lang="en-US" altLang="zh-CN" dirty="0"/>
              <a:t>, </a:t>
            </a:r>
            <a:r>
              <a:rPr lang="zh-CN" altLang="en-US" dirty="0"/>
              <a:t>问该商场冰箱的返修率是多少</a:t>
            </a:r>
            <a:r>
              <a:rPr lang="en-US" altLang="zh-CN" dirty="0"/>
              <a:t>?</a:t>
            </a:r>
            <a:endParaRPr lang="zh-CN" altLang="en-US" dirty="0"/>
          </a:p>
        </p:txBody>
      </p:sp>
      <p:sp>
        <p:nvSpPr>
          <p:cNvPr id="4" name="日期占位符 3"/>
          <p:cNvSpPr>
            <a:spLocks noGrp="1"/>
          </p:cNvSpPr>
          <p:nvPr>
            <p:ph type="dt" sz="half" idx="10"/>
          </p:nvPr>
        </p:nvSpPr>
        <p:spPr/>
        <p:txBody>
          <a:bodyPr/>
          <a:lstStyle/>
          <a:p>
            <a:fld id="{E1C68FA7-58D4-B64D-A671-4AA0982894C6}" type="datetime1">
              <a:rPr lang="en-US" smtClean="0"/>
              <a:t>9/19/2026</a:t>
            </a:fld>
            <a:endParaRPr lang="en-US"/>
          </a:p>
        </p:txBody>
      </p:sp>
      <p:sp>
        <p:nvSpPr>
          <p:cNvPr id="5" name="灯片编号占位符 4"/>
          <p:cNvSpPr>
            <a:spLocks noGrp="1"/>
          </p:cNvSpPr>
          <p:nvPr>
            <p:ph type="sldNum" sz="quarter" idx="12"/>
          </p:nvPr>
        </p:nvSpPr>
        <p:spPr/>
        <p:txBody>
          <a:bodyPr/>
          <a:lstStyle/>
          <a:p>
            <a:fld id="{CE878D80-AF11-6343-918A-0BF62098A907}" type="slidenum">
              <a:rPr lang="en-US" smtClean="0"/>
              <a:t>15</a:t>
            </a:fld>
            <a:endParaRPr lang="en-US"/>
          </a:p>
        </p:txBody>
      </p:sp>
    </p:spTree>
    <p:extLst>
      <p:ext uri="{BB962C8B-B14F-4D97-AF65-F5344CB8AC3E}">
        <p14:creationId xmlns:p14="http://schemas.microsoft.com/office/powerpoint/2010/main" val="30498842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敏感性问题</a:t>
            </a:r>
          </a:p>
        </p:txBody>
      </p:sp>
      <p:sp>
        <p:nvSpPr>
          <p:cNvPr id="3" name="内容占位符 2"/>
          <p:cNvSpPr>
            <a:spLocks noGrp="1"/>
          </p:cNvSpPr>
          <p:nvPr>
            <p:ph idx="1"/>
          </p:nvPr>
        </p:nvSpPr>
        <p:spPr/>
        <p:txBody>
          <a:bodyPr>
            <a:noAutofit/>
          </a:bodyPr>
          <a:lstStyle/>
          <a:p>
            <a:r>
              <a:rPr lang="zh-CN" altLang="en-US" dirty="0"/>
              <a:t>随机化回答法</a:t>
            </a:r>
            <a:endParaRPr lang="en-US" altLang="zh-CN" dirty="0"/>
          </a:p>
          <a:p>
            <a:r>
              <a:rPr lang="zh-CN" altLang="en-US" dirty="0"/>
              <a:t>随机性</a:t>
            </a:r>
            <a:r>
              <a:rPr lang="en-US" altLang="zh-CN" dirty="0"/>
              <a:t>:</a:t>
            </a:r>
            <a:r>
              <a:rPr lang="zh-CN" altLang="en-US" dirty="0"/>
              <a:t>掷一枚硬币决定问题是敏感性问题还是非敏感性问题。因此敏感性问题的概率为</a:t>
            </a:r>
            <a:r>
              <a:rPr lang="en-US" altLang="zh-CN" dirty="0"/>
              <a:t>1/2</a:t>
            </a:r>
            <a:r>
              <a:rPr lang="zh-CN" altLang="en-US" dirty="0"/>
              <a:t>。</a:t>
            </a:r>
            <a:endParaRPr lang="en-US" altLang="zh-CN" dirty="0"/>
          </a:p>
          <a:p>
            <a:r>
              <a:rPr lang="zh-CN" altLang="en-US" dirty="0"/>
              <a:t>只记录回答的是与否，不记录问题，回答是的概率为</a:t>
            </a:r>
            <a:r>
              <a:rPr lang="en-US" altLang="zh-CN" dirty="0"/>
              <a:t>t</a:t>
            </a:r>
            <a:r>
              <a:rPr lang="zh-CN" altLang="en-US" dirty="0"/>
              <a:t>。但不能从记录中得知具体是哪些人回答了敏感性问题。</a:t>
            </a:r>
            <a:endParaRPr lang="en-US" altLang="zh-CN" dirty="0"/>
          </a:p>
          <a:p>
            <a:r>
              <a:rPr lang="zh-CN" altLang="en-US" dirty="0"/>
              <a:t>非敏感性问题回答是的概率</a:t>
            </a:r>
            <a:r>
              <a:rPr lang="en-US" altLang="zh-CN" dirty="0"/>
              <a:t>a</a:t>
            </a:r>
            <a:r>
              <a:rPr lang="zh-CN" altLang="en-US" dirty="0"/>
              <a:t>可由其他途径获取。</a:t>
            </a:r>
            <a:endParaRPr lang="en-US" altLang="zh-CN" dirty="0"/>
          </a:p>
          <a:p>
            <a:r>
              <a:rPr lang="zh-CN" altLang="en-US" dirty="0"/>
              <a:t>则可知敏感性问题回答是的概率</a:t>
            </a:r>
            <a:r>
              <a:rPr lang="en-US" altLang="zh-CN" dirty="0"/>
              <a:t>p=2t-a</a:t>
            </a:r>
            <a:r>
              <a:rPr lang="zh-CN" altLang="en-US" dirty="0"/>
              <a:t>。</a:t>
            </a:r>
            <a:endParaRPr lang="en-US" altLang="zh-CN" dirty="0"/>
          </a:p>
          <a:p>
            <a:endParaRPr lang="zh-CN" altLang="en-US" dirty="0"/>
          </a:p>
        </p:txBody>
      </p:sp>
      <p:sp>
        <p:nvSpPr>
          <p:cNvPr id="4" name="日期占位符 3"/>
          <p:cNvSpPr>
            <a:spLocks noGrp="1"/>
          </p:cNvSpPr>
          <p:nvPr>
            <p:ph type="dt" sz="half" idx="10"/>
          </p:nvPr>
        </p:nvSpPr>
        <p:spPr/>
        <p:txBody>
          <a:bodyPr/>
          <a:lstStyle/>
          <a:p>
            <a:fld id="{E1C68FA7-58D4-B64D-A671-4AA0982894C6}" type="datetime1">
              <a:rPr lang="en-US" smtClean="0"/>
              <a:t>9/19/2026</a:t>
            </a:fld>
            <a:endParaRPr lang="en-US"/>
          </a:p>
        </p:txBody>
      </p:sp>
      <p:sp>
        <p:nvSpPr>
          <p:cNvPr id="5" name="灯片编号占位符 4"/>
          <p:cNvSpPr>
            <a:spLocks noGrp="1"/>
          </p:cNvSpPr>
          <p:nvPr>
            <p:ph type="sldNum" sz="quarter" idx="12"/>
          </p:nvPr>
        </p:nvSpPr>
        <p:spPr/>
        <p:txBody>
          <a:bodyPr/>
          <a:lstStyle/>
          <a:p>
            <a:fld id="{CE878D80-AF11-6343-918A-0BF62098A907}" type="slidenum">
              <a:rPr lang="en-US" smtClean="0"/>
              <a:t>16</a:t>
            </a:fld>
            <a:endParaRPr lang="en-US"/>
          </a:p>
        </p:txBody>
      </p:sp>
    </p:spTree>
    <p:extLst>
      <p:ext uri="{BB962C8B-B14F-4D97-AF65-F5344CB8AC3E}">
        <p14:creationId xmlns:p14="http://schemas.microsoft.com/office/powerpoint/2010/main" val="838453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旧题新解</a:t>
            </a:r>
          </a:p>
        </p:txBody>
      </p:sp>
      <p:sp>
        <p:nvSpPr>
          <p:cNvPr id="3" name="内容占位符 2"/>
          <p:cNvSpPr>
            <a:spLocks noGrp="1"/>
          </p:cNvSpPr>
          <p:nvPr>
            <p:ph idx="1"/>
          </p:nvPr>
        </p:nvSpPr>
        <p:spPr/>
        <p:txBody>
          <a:bodyPr/>
          <a:lstStyle/>
          <a:p>
            <a:r>
              <a:rPr lang="en-US" altLang="zh-CN" dirty="0"/>
              <a:t>n </a:t>
            </a:r>
            <a:r>
              <a:rPr lang="zh-CN" altLang="en-US" dirty="0"/>
              <a:t>根短绳的 </a:t>
            </a:r>
            <a:r>
              <a:rPr lang="en-US" altLang="zh-CN" dirty="0"/>
              <a:t>2n </a:t>
            </a:r>
            <a:r>
              <a:rPr lang="zh-CN" altLang="en-US" dirty="0"/>
              <a:t>个端头任意两两连接</a:t>
            </a:r>
            <a:r>
              <a:rPr lang="en-US" altLang="zh-CN" dirty="0"/>
              <a:t>, </a:t>
            </a:r>
            <a:r>
              <a:rPr lang="zh-CN" altLang="en-US" dirty="0"/>
              <a:t>求恰好连成 </a:t>
            </a:r>
            <a:r>
              <a:rPr lang="en-US" altLang="zh-CN" dirty="0"/>
              <a:t>n </a:t>
            </a:r>
            <a:r>
              <a:rPr lang="zh-CN" altLang="en-US" dirty="0"/>
              <a:t>个圈的概率</a:t>
            </a:r>
            <a:r>
              <a:rPr lang="en-US" altLang="zh-CN" dirty="0"/>
              <a:t>.</a:t>
            </a:r>
          </a:p>
          <a:p>
            <a:r>
              <a:rPr lang="zh-CN" altLang="en-US" dirty="0"/>
              <a:t>利用乘法公式，转化为</a:t>
            </a:r>
            <a:r>
              <a:rPr lang="en-US" altLang="zh-CN" dirty="0"/>
              <a:t>n</a:t>
            </a:r>
            <a:r>
              <a:rPr lang="zh-CN" altLang="en-US" dirty="0"/>
              <a:t>次选择概率的累乘</a:t>
            </a:r>
          </a:p>
        </p:txBody>
      </p:sp>
      <p:sp>
        <p:nvSpPr>
          <p:cNvPr id="4" name="日期占位符 3"/>
          <p:cNvSpPr>
            <a:spLocks noGrp="1"/>
          </p:cNvSpPr>
          <p:nvPr>
            <p:ph type="dt" sz="half" idx="10"/>
          </p:nvPr>
        </p:nvSpPr>
        <p:spPr/>
        <p:txBody>
          <a:bodyPr/>
          <a:lstStyle/>
          <a:p>
            <a:fld id="{E1C68FA7-58D4-B64D-A671-4AA0982894C6}" type="datetime1">
              <a:rPr lang="en-US" smtClean="0"/>
              <a:t>9/19/2026</a:t>
            </a:fld>
            <a:endParaRPr lang="en-US"/>
          </a:p>
        </p:txBody>
      </p:sp>
      <p:sp>
        <p:nvSpPr>
          <p:cNvPr id="5" name="灯片编号占位符 4"/>
          <p:cNvSpPr>
            <a:spLocks noGrp="1"/>
          </p:cNvSpPr>
          <p:nvPr>
            <p:ph type="sldNum" sz="quarter" idx="12"/>
          </p:nvPr>
        </p:nvSpPr>
        <p:spPr/>
        <p:txBody>
          <a:bodyPr/>
          <a:lstStyle/>
          <a:p>
            <a:fld id="{CE878D80-AF11-6343-918A-0BF62098A907}" type="slidenum">
              <a:rPr lang="en-US" smtClean="0"/>
              <a:t>17</a:t>
            </a:fld>
            <a:endParaRPr lang="en-US"/>
          </a:p>
        </p:txBody>
      </p:sp>
    </p:spTree>
    <p:extLst>
      <p:ext uri="{BB962C8B-B14F-4D97-AF65-F5344CB8AC3E}">
        <p14:creationId xmlns:p14="http://schemas.microsoft.com/office/powerpoint/2010/main" val="32719891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波利亚罐子模型</a:t>
            </a:r>
          </a:p>
        </p:txBody>
      </p:sp>
      <p:sp>
        <p:nvSpPr>
          <p:cNvPr id="3" name="内容占位符 2"/>
          <p:cNvSpPr>
            <a:spLocks noGrp="1"/>
          </p:cNvSpPr>
          <p:nvPr>
            <p:ph idx="1"/>
          </p:nvPr>
        </p:nvSpPr>
        <p:spPr/>
        <p:txBody>
          <a:bodyPr>
            <a:normAutofit/>
          </a:bodyPr>
          <a:lstStyle/>
          <a:p>
            <a:r>
              <a:rPr lang="zh-CN" altLang="en-US" dirty="0"/>
              <a:t>罐中放有 </a:t>
            </a:r>
            <a:r>
              <a:rPr lang="en-US" altLang="zh-CN" dirty="0"/>
              <a:t>a </a:t>
            </a:r>
            <a:r>
              <a:rPr lang="zh-CN" altLang="en-US" dirty="0"/>
              <a:t>个白球和 </a:t>
            </a:r>
            <a:r>
              <a:rPr lang="en-US" altLang="zh-CN" dirty="0"/>
              <a:t>b </a:t>
            </a:r>
            <a:r>
              <a:rPr lang="zh-CN" altLang="en-US" dirty="0"/>
              <a:t>个黑球</a:t>
            </a:r>
            <a:r>
              <a:rPr lang="en-US" altLang="zh-CN" dirty="0"/>
              <a:t>, </a:t>
            </a:r>
            <a:r>
              <a:rPr lang="zh-CN" altLang="en-US" dirty="0"/>
              <a:t>每次从罐中随机抽取一个球</a:t>
            </a:r>
            <a:r>
              <a:rPr lang="en-US" altLang="zh-CN" dirty="0"/>
              <a:t>,</a:t>
            </a:r>
            <a:r>
              <a:rPr lang="zh-CN" altLang="en-US" dirty="0"/>
              <a:t>并连同 </a:t>
            </a:r>
            <a:r>
              <a:rPr lang="en-US" altLang="zh-CN" dirty="0"/>
              <a:t>c </a:t>
            </a:r>
            <a:r>
              <a:rPr lang="zh-CN" altLang="en-US" dirty="0"/>
              <a:t>个同色球一起放回罐中</a:t>
            </a:r>
            <a:r>
              <a:rPr lang="en-US" altLang="zh-CN" dirty="0"/>
              <a:t>, </a:t>
            </a:r>
            <a:r>
              <a:rPr lang="zh-CN" altLang="en-US" dirty="0"/>
              <a:t>如此反复进行</a:t>
            </a:r>
            <a:r>
              <a:rPr lang="en-US" altLang="zh-CN" dirty="0"/>
              <a:t>. </a:t>
            </a:r>
            <a:r>
              <a:rPr lang="zh-CN" altLang="en-US" dirty="0"/>
              <a:t>试证明</a:t>
            </a:r>
            <a:r>
              <a:rPr lang="en-US" altLang="zh-CN" dirty="0"/>
              <a:t>: </a:t>
            </a:r>
            <a:r>
              <a:rPr lang="zh-CN" altLang="en-US" dirty="0"/>
              <a:t>在第 </a:t>
            </a:r>
            <a:r>
              <a:rPr lang="en-US" altLang="zh-CN" dirty="0"/>
              <a:t>n </a:t>
            </a:r>
            <a:r>
              <a:rPr lang="zh-CN" altLang="en-US" dirty="0"/>
              <a:t>次取球时</a:t>
            </a:r>
            <a:r>
              <a:rPr lang="en-US" altLang="zh-CN" dirty="0"/>
              <a:t>, </a:t>
            </a:r>
            <a:r>
              <a:rPr lang="zh-CN" altLang="en-US" dirty="0"/>
              <a:t>取出白球的概率为 </a:t>
            </a:r>
            <a:r>
              <a:rPr lang="en-US" altLang="zh-CN" dirty="0"/>
              <a:t>a/(a + b)</a:t>
            </a:r>
          </a:p>
          <a:p>
            <a:endParaRPr lang="zh-CN" altLang="en-US" dirty="0"/>
          </a:p>
        </p:txBody>
      </p:sp>
      <p:sp>
        <p:nvSpPr>
          <p:cNvPr id="4" name="日期占位符 3"/>
          <p:cNvSpPr>
            <a:spLocks noGrp="1"/>
          </p:cNvSpPr>
          <p:nvPr>
            <p:ph type="dt" sz="half" idx="10"/>
          </p:nvPr>
        </p:nvSpPr>
        <p:spPr/>
        <p:txBody>
          <a:bodyPr/>
          <a:lstStyle/>
          <a:p>
            <a:fld id="{E1C68FA7-58D4-B64D-A671-4AA0982894C6}" type="datetime1">
              <a:rPr lang="en-US" smtClean="0"/>
              <a:t>9/19/2026</a:t>
            </a:fld>
            <a:endParaRPr lang="en-US"/>
          </a:p>
        </p:txBody>
      </p:sp>
      <p:sp>
        <p:nvSpPr>
          <p:cNvPr id="5" name="灯片编号占位符 4"/>
          <p:cNvSpPr>
            <a:spLocks noGrp="1"/>
          </p:cNvSpPr>
          <p:nvPr>
            <p:ph type="sldNum" sz="quarter" idx="12"/>
          </p:nvPr>
        </p:nvSpPr>
        <p:spPr/>
        <p:txBody>
          <a:bodyPr/>
          <a:lstStyle/>
          <a:p>
            <a:fld id="{CE878D80-AF11-6343-918A-0BF62098A907}" type="slidenum">
              <a:rPr lang="en-US" smtClean="0"/>
              <a:t>18</a:t>
            </a:fld>
            <a:endParaRPr lang="en-US"/>
          </a:p>
        </p:txBody>
      </p:sp>
    </p:spTree>
    <p:extLst>
      <p:ext uri="{BB962C8B-B14F-4D97-AF65-F5344CB8AC3E}">
        <p14:creationId xmlns:p14="http://schemas.microsoft.com/office/powerpoint/2010/main" val="21479733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波利亚罐子模型</a:t>
            </a:r>
          </a:p>
        </p:txBody>
      </p:sp>
      <p:sp>
        <p:nvSpPr>
          <p:cNvPr id="3" name="内容占位符 2"/>
          <p:cNvSpPr>
            <a:spLocks noGrp="1"/>
          </p:cNvSpPr>
          <p:nvPr>
            <p:ph idx="1"/>
          </p:nvPr>
        </p:nvSpPr>
        <p:spPr/>
        <p:txBody>
          <a:bodyPr>
            <a:normAutofit/>
          </a:bodyPr>
          <a:lstStyle/>
          <a:p>
            <a:r>
              <a:rPr lang="zh-CN" altLang="en-US" dirty="0"/>
              <a:t>给定第一次取出的是白球下，第</a:t>
            </a:r>
            <a:r>
              <a:rPr lang="en-US" altLang="zh-CN" dirty="0"/>
              <a:t>n</a:t>
            </a:r>
            <a:r>
              <a:rPr lang="zh-CN" altLang="en-US" dirty="0"/>
              <a:t>次取出白球的概率等于 初始为</a:t>
            </a:r>
            <a:r>
              <a:rPr lang="en-US" altLang="zh-CN" dirty="0" err="1"/>
              <a:t>a+c</a:t>
            </a:r>
            <a:r>
              <a:rPr lang="en-US" altLang="zh-CN" dirty="0"/>
              <a:t> </a:t>
            </a:r>
            <a:r>
              <a:rPr lang="zh-CN" altLang="en-US" dirty="0"/>
              <a:t>个白球和 </a:t>
            </a:r>
            <a:r>
              <a:rPr lang="en-US" altLang="zh-CN" dirty="0"/>
              <a:t>b </a:t>
            </a:r>
            <a:r>
              <a:rPr lang="zh-CN" altLang="en-US" dirty="0"/>
              <a:t>个黑球，第</a:t>
            </a:r>
            <a:r>
              <a:rPr lang="en-US" altLang="zh-CN" dirty="0"/>
              <a:t>n-1</a:t>
            </a:r>
            <a:r>
              <a:rPr lang="zh-CN" altLang="en-US" dirty="0"/>
              <a:t>次取出白球的概率</a:t>
            </a:r>
            <a:endParaRPr lang="en-US" altLang="zh-CN" dirty="0"/>
          </a:p>
          <a:p>
            <a:r>
              <a:rPr lang="zh-CN" altLang="en-US" dirty="0"/>
              <a:t>给定第一次取出的是黑球下，第</a:t>
            </a:r>
            <a:r>
              <a:rPr lang="en-US" altLang="zh-CN" dirty="0"/>
              <a:t>n</a:t>
            </a:r>
            <a:r>
              <a:rPr lang="zh-CN" altLang="en-US" dirty="0"/>
              <a:t>次取出白球的概率等于 初始为</a:t>
            </a:r>
            <a:r>
              <a:rPr lang="en-US" altLang="zh-CN" dirty="0"/>
              <a:t>a </a:t>
            </a:r>
            <a:r>
              <a:rPr lang="zh-CN" altLang="en-US" dirty="0"/>
              <a:t>个白球和 </a:t>
            </a:r>
            <a:r>
              <a:rPr lang="en-US" altLang="zh-CN" dirty="0" err="1"/>
              <a:t>b+c</a:t>
            </a:r>
            <a:r>
              <a:rPr lang="en-US" altLang="zh-CN" dirty="0"/>
              <a:t> </a:t>
            </a:r>
            <a:r>
              <a:rPr lang="zh-CN" altLang="en-US" dirty="0"/>
              <a:t>个黑球，第</a:t>
            </a:r>
            <a:r>
              <a:rPr lang="en-US" altLang="zh-CN" dirty="0"/>
              <a:t>n-1</a:t>
            </a:r>
            <a:r>
              <a:rPr lang="zh-CN" altLang="en-US" dirty="0"/>
              <a:t>次取出白球的概率</a:t>
            </a:r>
            <a:endParaRPr lang="en-US" altLang="zh-CN" dirty="0"/>
          </a:p>
          <a:p>
            <a:r>
              <a:rPr lang="zh-CN" altLang="en-US" dirty="0"/>
              <a:t>采用归纳法</a:t>
            </a:r>
            <a:endParaRPr lang="en-US" altLang="zh-CN" dirty="0"/>
          </a:p>
          <a:p>
            <a:endParaRPr lang="zh-CN" altLang="en-US" dirty="0"/>
          </a:p>
        </p:txBody>
      </p:sp>
      <p:sp>
        <p:nvSpPr>
          <p:cNvPr id="4" name="日期占位符 3"/>
          <p:cNvSpPr>
            <a:spLocks noGrp="1"/>
          </p:cNvSpPr>
          <p:nvPr>
            <p:ph type="dt" sz="half" idx="10"/>
          </p:nvPr>
        </p:nvSpPr>
        <p:spPr/>
        <p:txBody>
          <a:bodyPr/>
          <a:lstStyle/>
          <a:p>
            <a:fld id="{E1C68FA7-58D4-B64D-A671-4AA0982894C6}" type="datetime1">
              <a:rPr lang="en-US" smtClean="0"/>
              <a:t>9/19/2026</a:t>
            </a:fld>
            <a:endParaRPr lang="en-US"/>
          </a:p>
        </p:txBody>
      </p:sp>
      <p:sp>
        <p:nvSpPr>
          <p:cNvPr id="5" name="灯片编号占位符 4"/>
          <p:cNvSpPr>
            <a:spLocks noGrp="1"/>
          </p:cNvSpPr>
          <p:nvPr>
            <p:ph type="sldNum" sz="quarter" idx="12"/>
          </p:nvPr>
        </p:nvSpPr>
        <p:spPr/>
        <p:txBody>
          <a:bodyPr/>
          <a:lstStyle/>
          <a:p>
            <a:fld id="{CE878D80-AF11-6343-918A-0BF62098A907}" type="slidenum">
              <a:rPr lang="en-US" smtClean="0"/>
              <a:t>19</a:t>
            </a:fld>
            <a:endParaRPr lang="en-US"/>
          </a:p>
        </p:txBody>
      </p:sp>
    </p:spTree>
    <p:extLst>
      <p:ext uri="{BB962C8B-B14F-4D97-AF65-F5344CB8AC3E}">
        <p14:creationId xmlns:p14="http://schemas.microsoft.com/office/powerpoint/2010/main" val="31916214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贝叶斯公式</a:t>
            </a:r>
            <a:r>
              <a:rPr lang="en-US" altLang="zh-CN" dirty="0"/>
              <a:t>(Bayes)</a:t>
            </a:r>
            <a:endParaRPr lang="en-US" dirty="0"/>
          </a:p>
        </p:txBody>
      </p:sp>
      <p:pic>
        <p:nvPicPr>
          <p:cNvPr id="6" name="Content Placeholder 5" descr="Screen Shot 2017-09-06 at 3.47.07 PM.png"/>
          <p:cNvPicPr>
            <a:picLocks noGrp="1" noChangeAspect="1"/>
          </p:cNvPicPr>
          <p:nvPr>
            <p:ph idx="1"/>
          </p:nvPr>
        </p:nvPicPr>
        <p:blipFill>
          <a:blip r:embed="rId2">
            <a:extLst>
              <a:ext uri="{28A0092B-C50C-407E-A947-70E740481C1C}">
                <a14:useLocalDpi xmlns:a14="http://schemas.microsoft.com/office/drawing/2010/main" val="0"/>
              </a:ext>
            </a:extLst>
          </a:blip>
          <a:srcRect t="-57816" b="-57816"/>
          <a:stretch>
            <a:fillRect/>
          </a:stretch>
        </p:blipFill>
        <p:spPr/>
      </p:pic>
      <p:sp>
        <p:nvSpPr>
          <p:cNvPr id="4" name="Date Placeholder 3"/>
          <p:cNvSpPr>
            <a:spLocks noGrp="1"/>
          </p:cNvSpPr>
          <p:nvPr>
            <p:ph type="dt" sz="half" idx="10"/>
          </p:nvPr>
        </p:nvSpPr>
        <p:spPr/>
        <p:txBody>
          <a:bodyPr/>
          <a:lstStyle/>
          <a:p>
            <a:fld id="{E1C68FA7-58D4-B64D-A671-4AA0982894C6}" type="datetime1">
              <a:rPr lang="en-US" smtClean="0"/>
              <a:t>9/19/2026</a:t>
            </a:fld>
            <a:endParaRPr lang="en-US"/>
          </a:p>
        </p:txBody>
      </p:sp>
      <p:sp>
        <p:nvSpPr>
          <p:cNvPr id="5" name="Slide Number Placeholder 4"/>
          <p:cNvSpPr>
            <a:spLocks noGrp="1"/>
          </p:cNvSpPr>
          <p:nvPr>
            <p:ph type="sldNum" sz="quarter" idx="12"/>
          </p:nvPr>
        </p:nvSpPr>
        <p:spPr/>
        <p:txBody>
          <a:bodyPr/>
          <a:lstStyle/>
          <a:p>
            <a:fld id="{CE878D80-AF11-6343-918A-0BF62098A907}" type="slidenum">
              <a:rPr lang="en-US" smtClean="0"/>
              <a:t>20</a:t>
            </a:fld>
            <a:endParaRPr lang="en-US"/>
          </a:p>
        </p:txBody>
      </p:sp>
      <p:sp>
        <p:nvSpPr>
          <p:cNvPr id="8" name="Teardrop 7"/>
          <p:cNvSpPr/>
          <p:nvPr/>
        </p:nvSpPr>
        <p:spPr>
          <a:xfrm>
            <a:off x="5318125" y="3762375"/>
            <a:ext cx="984250" cy="587375"/>
          </a:xfrm>
          <a:prstGeom prst="teardrop">
            <a:avLst>
              <a:gd name="adj" fmla="val 200000"/>
            </a:avLst>
          </a:prstGeom>
          <a:gradFill flip="none" rotWithShape="1">
            <a:gsLst>
              <a:gs pos="0">
                <a:schemeClr val="accent1">
                  <a:tint val="100000"/>
                  <a:shade val="100000"/>
                  <a:satMod val="130000"/>
                  <a:alpha val="0"/>
                </a:schemeClr>
              </a:gs>
              <a:gs pos="100000">
                <a:schemeClr val="accent1">
                  <a:tint val="50000"/>
                  <a:shade val="100000"/>
                  <a:satMod val="350000"/>
                  <a:alpha val="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Teardrop 8"/>
          <p:cNvSpPr/>
          <p:nvPr/>
        </p:nvSpPr>
        <p:spPr>
          <a:xfrm rot="10800000">
            <a:off x="2444750" y="3952875"/>
            <a:ext cx="1190625" cy="714375"/>
          </a:xfrm>
          <a:prstGeom prst="teardrop">
            <a:avLst>
              <a:gd name="adj" fmla="val 200000"/>
            </a:avLst>
          </a:prstGeom>
          <a:gradFill flip="none" rotWithShape="1">
            <a:gsLst>
              <a:gs pos="0">
                <a:schemeClr val="accent1">
                  <a:tint val="100000"/>
                  <a:shade val="100000"/>
                  <a:satMod val="130000"/>
                  <a:alpha val="0"/>
                </a:schemeClr>
              </a:gs>
              <a:gs pos="100000">
                <a:schemeClr val="accent1">
                  <a:tint val="50000"/>
                  <a:shade val="100000"/>
                  <a:satMod val="350000"/>
                  <a:alpha val="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TextBox 9"/>
          <p:cNvSpPr txBox="1"/>
          <p:nvPr/>
        </p:nvSpPr>
        <p:spPr>
          <a:xfrm>
            <a:off x="1381125" y="5016500"/>
            <a:ext cx="1365250" cy="369332"/>
          </a:xfrm>
          <a:prstGeom prst="rect">
            <a:avLst/>
          </a:prstGeom>
          <a:noFill/>
        </p:spPr>
        <p:txBody>
          <a:bodyPr wrap="square" rtlCol="0">
            <a:spAutoFit/>
          </a:bodyPr>
          <a:lstStyle/>
          <a:p>
            <a:r>
              <a:rPr lang="en-US" dirty="0">
                <a:solidFill>
                  <a:schemeClr val="tx2">
                    <a:lumMod val="60000"/>
                    <a:lumOff val="40000"/>
                  </a:schemeClr>
                </a:solidFill>
              </a:rPr>
              <a:t>后验概率</a:t>
            </a:r>
          </a:p>
        </p:txBody>
      </p:sp>
      <p:sp>
        <p:nvSpPr>
          <p:cNvPr id="11" name="TextBox 10"/>
          <p:cNvSpPr txBox="1"/>
          <p:nvPr/>
        </p:nvSpPr>
        <p:spPr>
          <a:xfrm>
            <a:off x="6756400" y="3248025"/>
            <a:ext cx="1365250" cy="369332"/>
          </a:xfrm>
          <a:prstGeom prst="rect">
            <a:avLst/>
          </a:prstGeom>
          <a:noFill/>
        </p:spPr>
        <p:txBody>
          <a:bodyPr wrap="square" rtlCol="0">
            <a:spAutoFit/>
          </a:bodyPr>
          <a:lstStyle/>
          <a:p>
            <a:r>
              <a:rPr lang="zh-CN" altLang="en-US" dirty="0">
                <a:solidFill>
                  <a:schemeClr val="tx2">
                    <a:lumMod val="60000"/>
                    <a:lumOff val="40000"/>
                  </a:schemeClr>
                </a:solidFill>
              </a:rPr>
              <a:t>先</a:t>
            </a:r>
            <a:r>
              <a:rPr lang="en-US" dirty="0">
                <a:solidFill>
                  <a:schemeClr val="tx2">
                    <a:lumMod val="60000"/>
                    <a:lumOff val="40000"/>
                  </a:schemeClr>
                </a:solidFill>
              </a:rPr>
              <a:t>验概率</a:t>
            </a:r>
          </a:p>
        </p:txBody>
      </p:sp>
      <p:sp>
        <p:nvSpPr>
          <p:cNvPr id="12" name="Rectangle 11"/>
          <p:cNvSpPr/>
          <p:nvPr/>
        </p:nvSpPr>
        <p:spPr>
          <a:xfrm>
            <a:off x="3889375" y="4286250"/>
            <a:ext cx="2663825" cy="460375"/>
          </a:xfrm>
          <a:prstGeom prst="rect">
            <a:avLst/>
          </a:prstGeom>
          <a:gradFill flip="none" rotWithShape="1">
            <a:gsLst>
              <a:gs pos="0">
                <a:schemeClr val="accent1">
                  <a:tint val="100000"/>
                  <a:shade val="100000"/>
                  <a:satMod val="130000"/>
                  <a:alpha val="0"/>
                </a:schemeClr>
              </a:gs>
              <a:gs pos="100000">
                <a:schemeClr val="accent1">
                  <a:tint val="50000"/>
                  <a:shade val="100000"/>
                  <a:satMod val="350000"/>
                  <a:alpha val="0"/>
                </a:schemeClr>
              </a:gs>
            </a:gsLst>
            <a:lin ang="16200000" scaled="0"/>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4" name="Straight Arrow Connector 13"/>
          <p:cNvCxnSpPr>
            <a:stCxn id="12" idx="2"/>
          </p:cNvCxnSpPr>
          <p:nvPr/>
        </p:nvCxnSpPr>
        <p:spPr>
          <a:xfrm>
            <a:off x="5221288" y="4746625"/>
            <a:ext cx="398462" cy="63920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349875" y="5354082"/>
            <a:ext cx="1619250" cy="461665"/>
          </a:xfrm>
          <a:prstGeom prst="rect">
            <a:avLst/>
          </a:prstGeom>
          <a:noFill/>
        </p:spPr>
        <p:txBody>
          <a:bodyPr wrap="square" rtlCol="0">
            <a:spAutoFit/>
          </a:bodyPr>
          <a:lstStyle/>
          <a:p>
            <a:r>
              <a:rPr lang="en-US" altLang="zh-CN" sz="2400" dirty="0">
                <a:solidFill>
                  <a:srgbClr val="558ED5"/>
                </a:solidFill>
              </a:rPr>
              <a:t>P(A)</a:t>
            </a:r>
            <a:endParaRPr lang="en-US" sz="2400" dirty="0">
              <a:solidFill>
                <a:srgbClr val="558ED5"/>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p:bldP spid="11" grpId="0"/>
      <p:bldP spid="12" grpId="0" animBg="1"/>
      <p:bldP spid="1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a:t>某商场销售三种品牌的冰箱</a:t>
            </a:r>
            <a:r>
              <a:rPr lang="en-US" altLang="zh-CN" dirty="0"/>
              <a:t>, </a:t>
            </a:r>
            <a:r>
              <a:rPr lang="zh-CN" altLang="en-US" dirty="0"/>
              <a:t>设这三种品牌冰箱 </a:t>
            </a:r>
            <a:r>
              <a:rPr lang="en-US" altLang="zh-CN" dirty="0"/>
              <a:t>(</a:t>
            </a:r>
            <a:r>
              <a:rPr lang="zh-CN" altLang="en-US" dirty="0"/>
              <a:t>记为 </a:t>
            </a:r>
            <a:r>
              <a:rPr lang="en-US" altLang="zh-CN" dirty="0"/>
              <a:t>Q</a:t>
            </a:r>
            <a:r>
              <a:rPr lang="en-US" altLang="zh-CN" baseline="-25000" dirty="0"/>
              <a:t>1</a:t>
            </a:r>
            <a:r>
              <a:rPr lang="en-US" altLang="zh-CN" dirty="0"/>
              <a:t> ,Q</a:t>
            </a:r>
            <a:r>
              <a:rPr lang="en-US" altLang="zh-CN" baseline="-25000" dirty="0"/>
              <a:t>2</a:t>
            </a:r>
            <a:r>
              <a:rPr lang="en-US" altLang="zh-CN" dirty="0"/>
              <a:t> ,Q</a:t>
            </a:r>
            <a:r>
              <a:rPr lang="en-US" altLang="zh-CN" baseline="-25000" dirty="0"/>
              <a:t>3</a:t>
            </a:r>
            <a:r>
              <a:rPr lang="en-US" altLang="zh-CN" dirty="0"/>
              <a:t> ) </a:t>
            </a:r>
            <a:r>
              <a:rPr lang="zh-CN" altLang="en-US" dirty="0"/>
              <a:t>的返修率分别为 </a:t>
            </a:r>
            <a:r>
              <a:rPr lang="en-US" altLang="zh-CN" dirty="0"/>
              <a:t>0.2%,0.3%,0.4%, </a:t>
            </a:r>
            <a:r>
              <a:rPr lang="zh-CN" altLang="en-US" dirty="0"/>
              <a:t>而它们在该商场的占有率分别为 </a:t>
            </a:r>
            <a:r>
              <a:rPr lang="en-US" altLang="zh-CN" dirty="0"/>
              <a:t>50%,30%,20%, </a:t>
            </a:r>
            <a:r>
              <a:rPr lang="zh-CN" altLang="en-US" dirty="0"/>
              <a:t>商场设有统一的维修部</a:t>
            </a:r>
            <a:r>
              <a:rPr lang="en-US" altLang="zh-CN" dirty="0"/>
              <a:t>, </a:t>
            </a:r>
            <a:r>
              <a:rPr lang="zh-CN" altLang="en-US" dirty="0"/>
              <a:t>问该商场冰箱的返修率是多少</a:t>
            </a:r>
            <a:r>
              <a:rPr lang="en-US" altLang="zh-CN" dirty="0"/>
              <a:t>?</a:t>
            </a:r>
            <a:r>
              <a:rPr lang="zh-CN" altLang="en-US" dirty="0"/>
              <a:t>如果维修部接到一台要维修的冰箱</a:t>
            </a:r>
            <a:r>
              <a:rPr lang="en-US" altLang="zh-CN" dirty="0"/>
              <a:t>, </a:t>
            </a:r>
            <a:r>
              <a:rPr lang="zh-CN" altLang="en-US" dirty="0"/>
              <a:t>求这台冰箱分别是某个品牌的概率</a:t>
            </a:r>
            <a:r>
              <a:rPr lang="en-US" altLang="zh-CN" dirty="0"/>
              <a:t>.</a:t>
            </a:r>
          </a:p>
          <a:p>
            <a:r>
              <a:rPr lang="zh-CN" altLang="en-US" dirty="0"/>
              <a:t>占有率高和返修率高都可能导致返修的冰箱有更大概率是该品牌</a:t>
            </a:r>
          </a:p>
        </p:txBody>
      </p:sp>
      <p:sp>
        <p:nvSpPr>
          <p:cNvPr id="4" name="日期占位符 3"/>
          <p:cNvSpPr>
            <a:spLocks noGrp="1"/>
          </p:cNvSpPr>
          <p:nvPr>
            <p:ph type="dt" sz="half" idx="10"/>
          </p:nvPr>
        </p:nvSpPr>
        <p:spPr/>
        <p:txBody>
          <a:bodyPr/>
          <a:lstStyle/>
          <a:p>
            <a:fld id="{E1C68FA7-58D4-B64D-A671-4AA0982894C6}" type="datetime1">
              <a:rPr lang="en-US" smtClean="0"/>
              <a:t>9/19/2026</a:t>
            </a:fld>
            <a:endParaRPr lang="en-US"/>
          </a:p>
        </p:txBody>
      </p:sp>
      <p:sp>
        <p:nvSpPr>
          <p:cNvPr id="5" name="灯片编号占位符 4"/>
          <p:cNvSpPr>
            <a:spLocks noGrp="1"/>
          </p:cNvSpPr>
          <p:nvPr>
            <p:ph type="sldNum" sz="quarter" idx="12"/>
          </p:nvPr>
        </p:nvSpPr>
        <p:spPr/>
        <p:txBody>
          <a:bodyPr/>
          <a:lstStyle/>
          <a:p>
            <a:fld id="{CE878D80-AF11-6343-918A-0BF62098A907}" type="slidenum">
              <a:rPr lang="en-US" smtClean="0"/>
              <a:t>21</a:t>
            </a:fld>
            <a:endParaRPr lang="en-US"/>
          </a:p>
        </p:txBody>
      </p:sp>
    </p:spTree>
    <p:extLst>
      <p:ext uri="{BB962C8B-B14F-4D97-AF65-F5344CB8AC3E}">
        <p14:creationId xmlns:p14="http://schemas.microsoft.com/office/powerpoint/2010/main" val="8536667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例</a:t>
            </a:r>
            <a:r>
              <a:rPr lang="en-US" altLang="zh-CN">
                <a:sym typeface="+mn-ea"/>
              </a:rPr>
              <a:t>4</a:t>
            </a:r>
            <a:r>
              <a:rPr lang="zh-CN" altLang="en-US">
                <a:sym typeface="+mn-ea"/>
              </a:rPr>
              <a:t>：对疾病发生概率的认识</a:t>
            </a:r>
            <a:endParaRPr lang="zh-CN" altLang="en-US"/>
          </a:p>
        </p:txBody>
      </p:sp>
      <p:sp>
        <p:nvSpPr>
          <p:cNvPr id="3" name="内容占位符 2"/>
          <p:cNvSpPr>
            <a:spLocks noGrp="1"/>
          </p:cNvSpPr>
          <p:nvPr>
            <p:ph idx="1"/>
          </p:nvPr>
        </p:nvSpPr>
        <p:spPr/>
        <p:txBody>
          <a:bodyPr/>
          <a:lstStyle/>
          <a:p>
            <a:r>
              <a:rPr lang="zh-CN" altLang="en-US" dirty="0">
                <a:sym typeface="+mn-ea"/>
              </a:rPr>
              <a:t>某种疾病的患病率为</a:t>
            </a:r>
            <a:r>
              <a:rPr lang="en-US" altLang="zh-CN" dirty="0">
                <a:sym typeface="+mn-ea"/>
              </a:rPr>
              <a:t>0.5%</a:t>
            </a:r>
            <a:r>
              <a:rPr lang="zh-CN" altLang="en-US" dirty="0">
                <a:sym typeface="+mn-ea"/>
              </a:rPr>
              <a:t>，通过验血诊断该病的误诊率为</a:t>
            </a:r>
            <a:r>
              <a:rPr lang="en-US" altLang="zh-CN" dirty="0">
                <a:sym typeface="+mn-ea"/>
              </a:rPr>
              <a:t>5%</a:t>
            </a:r>
            <a:r>
              <a:rPr lang="zh-CN" altLang="en-US" dirty="0">
                <a:sym typeface="+mn-ea"/>
              </a:rPr>
              <a:t>（即非患者中有</a:t>
            </a:r>
            <a:r>
              <a:rPr lang="en-US" altLang="zh-CN" dirty="0">
                <a:sym typeface="+mn-ea"/>
              </a:rPr>
              <a:t>5%</a:t>
            </a:r>
            <a:r>
              <a:rPr lang="zh-CN" altLang="en-US" dirty="0">
                <a:sym typeface="+mn-ea"/>
              </a:rPr>
              <a:t>的人验血结果为阳性，患者中有</a:t>
            </a:r>
            <a:r>
              <a:rPr lang="en-US" altLang="zh-CN" dirty="0">
                <a:sym typeface="+mn-ea"/>
              </a:rPr>
              <a:t>5%</a:t>
            </a:r>
            <a:r>
              <a:rPr lang="zh-CN" altLang="en-US" dirty="0">
                <a:sym typeface="+mn-ea"/>
              </a:rPr>
              <a:t>的人验血结果为阴性）。现知某人验血结果为阳性，那他确患有此病的概率</a:t>
            </a:r>
            <a:endParaRPr lang="en-US" altLang="zh-CN" dirty="0"/>
          </a:p>
          <a:p>
            <a:endParaRPr lang="zh-CN" altLang="en-US" dirty="0"/>
          </a:p>
        </p:txBody>
      </p:sp>
      <p:sp>
        <p:nvSpPr>
          <p:cNvPr id="4" name="日期占位符 3"/>
          <p:cNvSpPr>
            <a:spLocks noGrp="1"/>
          </p:cNvSpPr>
          <p:nvPr>
            <p:ph type="dt" sz="half" idx="10"/>
          </p:nvPr>
        </p:nvSpPr>
        <p:spPr/>
        <p:txBody>
          <a:bodyPr/>
          <a:lstStyle/>
          <a:p>
            <a:fld id="{E1C68FA7-58D4-B64D-A671-4AA0982894C6}" type="datetime1">
              <a:rPr lang="en-US" smtClean="0"/>
              <a:t>9/19/2026</a:t>
            </a:fld>
            <a:endParaRPr lang="en-US"/>
          </a:p>
        </p:txBody>
      </p:sp>
      <p:sp>
        <p:nvSpPr>
          <p:cNvPr id="5" name="灯片编号占位符 4"/>
          <p:cNvSpPr>
            <a:spLocks noGrp="1"/>
          </p:cNvSpPr>
          <p:nvPr>
            <p:ph type="sldNum" sz="quarter" idx="12"/>
          </p:nvPr>
        </p:nvSpPr>
        <p:spPr/>
        <p:txBody>
          <a:bodyPr/>
          <a:lstStyle/>
          <a:p>
            <a:fld id="{CE878D80-AF11-6343-918A-0BF62098A907}" type="slidenum">
              <a:rPr lang="en-US" smtClean="0"/>
              <a:t>22</a:t>
            </a:fld>
            <a:endParaRPr lang="en-US"/>
          </a:p>
        </p:txBody>
      </p:sp>
      <p:sp>
        <p:nvSpPr>
          <p:cNvPr id="7" name="矩形 6"/>
          <p:cNvSpPr/>
          <p:nvPr/>
        </p:nvSpPr>
        <p:spPr>
          <a:xfrm>
            <a:off x="5286380" y="3320007"/>
            <a:ext cx="1214446" cy="1323439"/>
          </a:xfrm>
          <a:prstGeom prst="rect">
            <a:avLst/>
          </a:prstGeom>
          <a:noFill/>
        </p:spPr>
        <p:txBody>
          <a:bodyPr wrap="square" lIns="91440" tIns="45720" rIns="91440" bIns="45720">
            <a:spAutoFit/>
          </a:bodyPr>
          <a:lstStyle/>
          <a:p>
            <a:pPr algn="ctr"/>
            <a:r>
              <a:rPr lang="zh-CN" altLang="en-US" sz="8000" b="1" cap="all" spc="0"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a:t>
            </a:r>
          </a:p>
        </p:txBody>
      </p:sp>
      <p:sp>
        <p:nvSpPr>
          <p:cNvPr id="8" name="矩形 7"/>
          <p:cNvSpPr/>
          <p:nvPr/>
        </p:nvSpPr>
        <p:spPr>
          <a:xfrm>
            <a:off x="6084168" y="3981726"/>
            <a:ext cx="1958741"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altLang="zh-CN"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0.087</a:t>
            </a:r>
            <a:endParaRPr lang="zh-CN" alt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9" name="TextBox 7"/>
          <p:cNvSpPr txBox="1"/>
          <p:nvPr/>
        </p:nvSpPr>
        <p:spPr>
          <a:xfrm>
            <a:off x="3707584" y="5027111"/>
            <a:ext cx="4464815" cy="1354217"/>
          </a:xfrm>
          <a:prstGeom prst="rect">
            <a:avLst/>
          </a:prstGeom>
          <a:noFill/>
        </p:spPr>
        <p:txBody>
          <a:bodyPr wrap="square" rtlCol="0">
            <a:spAutoFit/>
          </a:bodyPr>
          <a:lstStyle/>
          <a:p>
            <a:pPr algn="ctr"/>
            <a:r>
              <a:rPr lang="zh-CN" altLang="en-US" sz="3200" dirty="0"/>
              <a:t>获知验血结果为阳性时，</a:t>
            </a:r>
            <a:r>
              <a:rPr lang="zh-CN" altLang="en-US" sz="3200" dirty="0">
                <a:solidFill>
                  <a:srgbClr val="FF0000"/>
                </a:solidFill>
              </a:rPr>
              <a:t>不要紧张</a:t>
            </a:r>
            <a:endParaRPr lang="en-US" altLang="zh-CN" sz="3200" dirty="0">
              <a:solidFill>
                <a:srgbClr val="FF0000"/>
              </a:solidFill>
            </a:endParaRPr>
          </a:p>
          <a:p>
            <a:endParaRPr lang="zh-CN" altLang="en-US" dirty="0"/>
          </a:p>
        </p:txBody>
      </p:sp>
      <p:pic>
        <p:nvPicPr>
          <p:cNvPr id="10" name="图片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7584" y="4252955"/>
            <a:ext cx="2381250" cy="2152650"/>
          </a:xfrm>
          <a:prstGeom prst="rect">
            <a:avLst/>
          </a:prstGeom>
        </p:spPr>
      </p:pic>
      <p:sp>
        <p:nvSpPr>
          <p:cNvPr id="11" name="文本框 10"/>
          <p:cNvSpPr txBox="1"/>
          <p:nvPr/>
        </p:nvSpPr>
        <p:spPr>
          <a:xfrm>
            <a:off x="3707765" y="4277360"/>
            <a:ext cx="1441450" cy="365760"/>
          </a:xfrm>
          <a:prstGeom prst="rect">
            <a:avLst/>
          </a:prstGeom>
          <a:noFill/>
        </p:spPr>
        <p:txBody>
          <a:bodyPr wrap="square" rtlCol="0" anchor="t">
            <a:spAutoFit/>
          </a:bodyPr>
          <a:lstStyle/>
          <a:p>
            <a:r>
              <a:rPr lang="zh-CN" altLang="en-US">
                <a:solidFill>
                  <a:srgbClr val="FF0000"/>
                </a:solidFill>
                <a:sym typeface="+mn-ea"/>
              </a:rPr>
              <a:t>贝叶斯公式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1000"/>
                                        <p:tgtEl>
                                          <p:spTgt spid="9"/>
                                        </p:tgtEl>
                                      </p:cBhvr>
                                    </p:animEffect>
                                    <p:anim calcmode="lin" valueType="num">
                                      <p:cBhvr>
                                        <p:cTn id="14" dur="1000" fill="hold"/>
                                        <p:tgtEl>
                                          <p:spTgt spid="9"/>
                                        </p:tgtEl>
                                        <p:attrNameLst>
                                          <p:attrName>ppt_x</p:attrName>
                                        </p:attrNameLst>
                                      </p:cBhvr>
                                      <p:tavLst>
                                        <p:tav tm="0">
                                          <p:val>
                                            <p:strVal val="#ppt_x"/>
                                          </p:val>
                                        </p:tav>
                                        <p:tav tm="100000">
                                          <p:val>
                                            <p:strVal val="#ppt_x"/>
                                          </p:val>
                                        </p:tav>
                                      </p:tavLst>
                                    </p:anim>
                                    <p:anim calcmode="lin" valueType="num">
                                      <p:cBhvr>
                                        <p:cTn id="15"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例子</a:t>
            </a:r>
          </a:p>
        </p:txBody>
      </p:sp>
      <p:sp>
        <p:nvSpPr>
          <p:cNvPr id="3" name="Content Placeholder 2"/>
          <p:cNvSpPr>
            <a:spLocks noGrp="1"/>
          </p:cNvSpPr>
          <p:nvPr>
            <p:ph idx="1"/>
          </p:nvPr>
        </p:nvSpPr>
        <p:spPr/>
        <p:txBody>
          <a:bodyPr/>
          <a:lstStyle/>
          <a:p>
            <a:r>
              <a:rPr lang="en-US" dirty="0" err="1"/>
              <a:t>如果该人进行了两次独立的验血，结果均为阳性，那他确患有此病的概率为</a:t>
            </a:r>
            <a:r>
              <a:rPr lang="en-US" dirty="0"/>
              <a:t>？</a:t>
            </a:r>
          </a:p>
          <a:p>
            <a:r>
              <a:rPr lang="en-US" dirty="0"/>
              <a:t>64.5%</a:t>
            </a:r>
            <a:r>
              <a:rPr lang="en-US" altLang="zh-CN" dirty="0"/>
              <a:t>——</a:t>
            </a:r>
            <a:r>
              <a:rPr lang="zh-CN" altLang="en-US" dirty="0"/>
              <a:t>多检查几次，会更准确。</a:t>
            </a:r>
            <a:endParaRPr lang="en-US" dirty="0"/>
          </a:p>
          <a:p>
            <a:endParaRPr lang="en-US" dirty="0"/>
          </a:p>
        </p:txBody>
      </p:sp>
      <p:sp>
        <p:nvSpPr>
          <p:cNvPr id="4" name="Date Placeholder 3"/>
          <p:cNvSpPr>
            <a:spLocks noGrp="1"/>
          </p:cNvSpPr>
          <p:nvPr>
            <p:ph type="dt" sz="half" idx="10"/>
          </p:nvPr>
        </p:nvSpPr>
        <p:spPr/>
        <p:txBody>
          <a:bodyPr/>
          <a:lstStyle/>
          <a:p>
            <a:fld id="{E1C68FA7-58D4-B64D-A671-4AA0982894C6}" type="datetime1">
              <a:rPr lang="en-US" smtClean="0"/>
              <a:t>9/19/2026</a:t>
            </a:fld>
            <a:endParaRPr lang="en-US"/>
          </a:p>
        </p:txBody>
      </p:sp>
      <p:sp>
        <p:nvSpPr>
          <p:cNvPr id="5" name="Slide Number Placeholder 4"/>
          <p:cNvSpPr>
            <a:spLocks noGrp="1"/>
          </p:cNvSpPr>
          <p:nvPr>
            <p:ph type="sldNum" sz="quarter" idx="12"/>
          </p:nvPr>
        </p:nvSpPr>
        <p:spPr/>
        <p:txBody>
          <a:bodyPr/>
          <a:lstStyle/>
          <a:p>
            <a:fld id="{CE878D80-AF11-6343-918A-0BF62098A907}" type="slidenum">
              <a:rPr lang="en-US" smtClean="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概率树图</a:t>
            </a:r>
            <a:endParaRPr lang="en-US" dirty="0"/>
          </a:p>
        </p:txBody>
      </p:sp>
      <p:pic>
        <p:nvPicPr>
          <p:cNvPr id="6" name="1200px-Probability_tree_diagram.svg.png" descr="/Users/canhongwen/Downloads/1200px-Probability_tree_diagram.svg.png"/>
          <p:cNvPicPr>
            <a:picLocks noGrp="1" noChangeAspect="1"/>
          </p:cNvPicPr>
          <p:nvPr>
            <p:ph idx="1"/>
          </p:nvPr>
        </p:nvPicPr>
        <p:blipFill>
          <a:blip r:embed="rId2" r:link="rId3">
            <a:extLst>
              <a:ext uri="{28A0092B-C50C-407E-A947-70E740481C1C}">
                <a14:useLocalDpi xmlns:a14="http://schemas.microsoft.com/office/drawing/2010/main" val="0"/>
              </a:ext>
            </a:extLst>
          </a:blip>
          <a:srcRect l="-12429" r="-12429"/>
          <a:stretch>
            <a:fillRect/>
          </a:stretch>
        </p:blipFill>
        <p:spPr/>
      </p:pic>
      <p:sp>
        <p:nvSpPr>
          <p:cNvPr id="4" name="Date Placeholder 3"/>
          <p:cNvSpPr>
            <a:spLocks noGrp="1"/>
          </p:cNvSpPr>
          <p:nvPr>
            <p:ph type="dt" sz="half" idx="10"/>
          </p:nvPr>
        </p:nvSpPr>
        <p:spPr/>
        <p:txBody>
          <a:bodyPr/>
          <a:lstStyle/>
          <a:p>
            <a:fld id="{E1C68FA7-58D4-B64D-A671-4AA0982894C6}" type="datetime1">
              <a:rPr lang="en-US" smtClean="0"/>
              <a:t>9/19/2026</a:t>
            </a:fld>
            <a:endParaRPr lang="en-US"/>
          </a:p>
        </p:txBody>
      </p:sp>
      <p:sp>
        <p:nvSpPr>
          <p:cNvPr id="5" name="Slide Number Placeholder 4"/>
          <p:cNvSpPr>
            <a:spLocks noGrp="1"/>
          </p:cNvSpPr>
          <p:nvPr>
            <p:ph type="sldNum" sz="quarter" idx="12"/>
          </p:nvPr>
        </p:nvSpPr>
        <p:spPr/>
        <p:txBody>
          <a:bodyPr/>
          <a:lstStyle/>
          <a:p>
            <a:fld id="{CE878D80-AF11-6343-918A-0BF62098A907}" type="slidenum">
              <a:rPr lang="en-US" smtClean="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TW" altLang="en-US" dirty="0"/>
              <a:t>事件的独立性 </a:t>
            </a:r>
            <a:endParaRPr lang="en-US" dirty="0"/>
          </a:p>
        </p:txBody>
      </p:sp>
      <p:pic>
        <p:nvPicPr>
          <p:cNvPr id="6" name="Content Placeholder 5" descr="Screen Shot 2017-09-06 at 3.52.19 PM.png"/>
          <p:cNvPicPr>
            <a:picLocks noGrp="1" noChangeAspect="1"/>
          </p:cNvPicPr>
          <p:nvPr>
            <p:ph idx="1"/>
          </p:nvPr>
        </p:nvPicPr>
        <p:blipFill rotWithShape="1">
          <a:blip r:embed="rId2">
            <a:extLst>
              <a:ext uri="{28A0092B-C50C-407E-A947-70E740481C1C}">
                <a14:useLocalDpi xmlns:a14="http://schemas.microsoft.com/office/drawing/2010/main" val="0"/>
              </a:ext>
            </a:extLst>
          </a:blip>
          <a:srcRect t="-6847" b="-10647"/>
          <a:stretch>
            <a:fillRect/>
          </a:stretch>
        </p:blipFill>
        <p:spPr>
          <a:xfrm>
            <a:off x="457200" y="1730374"/>
            <a:ext cx="8229600" cy="1619251"/>
          </a:xfrm>
        </p:spPr>
      </p:pic>
      <p:sp>
        <p:nvSpPr>
          <p:cNvPr id="4" name="Date Placeholder 3"/>
          <p:cNvSpPr>
            <a:spLocks noGrp="1"/>
          </p:cNvSpPr>
          <p:nvPr>
            <p:ph type="dt" sz="half" idx="10"/>
          </p:nvPr>
        </p:nvSpPr>
        <p:spPr/>
        <p:txBody>
          <a:bodyPr/>
          <a:lstStyle/>
          <a:p>
            <a:fld id="{E1C68FA7-58D4-B64D-A671-4AA0982894C6}" type="datetime1">
              <a:rPr lang="en-US" smtClean="0"/>
              <a:t>9/19/2026</a:t>
            </a:fld>
            <a:endParaRPr lang="en-US"/>
          </a:p>
        </p:txBody>
      </p:sp>
      <p:sp>
        <p:nvSpPr>
          <p:cNvPr id="5" name="Slide Number Placeholder 4"/>
          <p:cNvSpPr>
            <a:spLocks noGrp="1"/>
          </p:cNvSpPr>
          <p:nvPr>
            <p:ph type="sldNum" sz="quarter" idx="12"/>
          </p:nvPr>
        </p:nvSpPr>
        <p:spPr/>
        <p:txBody>
          <a:bodyPr/>
          <a:lstStyle/>
          <a:p>
            <a:fld id="{CE878D80-AF11-6343-918A-0BF62098A907}" type="slidenum">
              <a:rPr lang="en-US" smtClean="0"/>
              <a:t>25</a:t>
            </a:fld>
            <a:endParaRPr lang="en-US"/>
          </a:p>
        </p:txBody>
      </p:sp>
      <mc:AlternateContent xmlns:mc="http://schemas.openxmlformats.org/markup-compatibility/2006" xmlns:a14="http://schemas.microsoft.com/office/drawing/2010/main">
        <mc:Choice Requires="a14">
          <p:sp>
            <p:nvSpPr>
              <p:cNvPr id="3" name="TextBox 2"/>
              <p:cNvSpPr txBox="1"/>
              <p:nvPr/>
            </p:nvSpPr>
            <p:spPr>
              <a:xfrm>
                <a:off x="457200" y="3526848"/>
                <a:ext cx="7262446" cy="2321213"/>
              </a:xfrm>
              <a:prstGeom prst="rect">
                <a:avLst/>
              </a:prstGeom>
              <a:noFill/>
            </p:spPr>
            <p:txBody>
              <a:bodyPr wrap="square" rtlCol="0">
                <a:spAutoFit/>
              </a:bodyPr>
              <a:lstStyle/>
              <a:p>
                <a:r>
                  <a:rPr lang="zh-CN" altLang="en-US" sz="2800" dirty="0"/>
                  <a:t>性质：</a:t>
                </a:r>
                <a:endParaRPr lang="en-US" altLang="zh-CN" sz="2800" dirty="0"/>
              </a:p>
              <a:p>
                <a:pPr marL="514350" indent="-514350">
                  <a:buFont typeface="+mj-lt"/>
                  <a:buAutoNum type="arabicPeriod"/>
                </a:pPr>
                <a:r>
                  <a:rPr lang="zh-CN" altLang="en-US" sz="2800" dirty="0"/>
                  <a:t>若事件</a:t>
                </a:r>
                <a:r>
                  <a:rPr lang="en-US" altLang="zh-CN" sz="2800" dirty="0"/>
                  <a:t>A</a:t>
                </a:r>
                <a:r>
                  <a:rPr lang="zh-CN" altLang="en-US" sz="2800" dirty="0"/>
                  <a:t>和</a:t>
                </a:r>
                <a:r>
                  <a:rPr lang="en-US" altLang="zh-CN" sz="2800" dirty="0"/>
                  <a:t>B</a:t>
                </a:r>
                <a:r>
                  <a:rPr lang="zh-CN" altLang="en-US" sz="2800" dirty="0"/>
                  <a:t>独立，</a:t>
                </a:r>
                <a14:m>
                  <m:oMath xmlns:m="http://schemas.openxmlformats.org/officeDocument/2006/math">
                    <m:r>
                      <a:rPr lang="en-US" altLang="zh-CN" sz="2800" b="0" i="1" smtClean="0">
                        <a:latin typeface="Cambria Math" panose="02040503050406030204" pitchFamily="18" charset="0"/>
                      </a:rPr>
                      <m:t>𝑃</m:t>
                    </m:r>
                    <m:d>
                      <m:dPr>
                        <m:ctrlPr>
                          <a:rPr lang="en-US" altLang="zh-CN" sz="2800" b="0" i="1" smtClean="0">
                            <a:latin typeface="Cambria Math" panose="02040503050406030204" pitchFamily="18" charset="0"/>
                          </a:rPr>
                        </m:ctrlPr>
                      </m:dPr>
                      <m:e>
                        <m:acc>
                          <m:accPr>
                            <m:chr m:val="̅"/>
                            <m:ctrlPr>
                              <a:rPr lang="en-US" altLang="zh-CN" sz="2800" b="0" i="1" smtClean="0">
                                <a:latin typeface="Cambria Math" panose="02040503050406030204" pitchFamily="18" charset="0"/>
                              </a:rPr>
                            </m:ctrlPr>
                          </m:accPr>
                          <m:e>
                            <m:r>
                              <a:rPr lang="en-US" altLang="zh-CN" sz="2800" b="0" i="1" smtClean="0">
                                <a:latin typeface="Cambria Math" panose="02040503050406030204" pitchFamily="18" charset="0"/>
                              </a:rPr>
                              <m:t>𝐴</m:t>
                            </m:r>
                          </m:e>
                        </m:acc>
                        <m:r>
                          <a:rPr lang="en-US" altLang="zh-CN" sz="2800" b="0" i="1" smtClean="0">
                            <a:latin typeface="Cambria Math" panose="02040503050406030204" pitchFamily="18" charset="0"/>
                          </a:rPr>
                          <m:t> </m:t>
                        </m:r>
                        <m:r>
                          <a:rPr lang="en-US" altLang="zh-CN" sz="2800" b="0" i="1" smtClean="0">
                            <a:latin typeface="Cambria Math" panose="02040503050406030204" pitchFamily="18" charset="0"/>
                          </a:rPr>
                          <m:t>𝐵</m:t>
                        </m:r>
                      </m:e>
                    </m:d>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𝑃</m:t>
                    </m:r>
                    <m:d>
                      <m:dPr>
                        <m:ctrlPr>
                          <a:rPr lang="en-US" altLang="zh-CN" sz="2800" b="0" i="1" smtClean="0">
                            <a:latin typeface="Cambria Math" panose="02040503050406030204" pitchFamily="18" charset="0"/>
                          </a:rPr>
                        </m:ctrlPr>
                      </m:dPr>
                      <m:e>
                        <m:acc>
                          <m:accPr>
                            <m:chr m:val="̅"/>
                            <m:ctrlPr>
                              <a:rPr lang="en-US" altLang="zh-CN" sz="2800" b="0" i="1" smtClean="0">
                                <a:latin typeface="Cambria Math" panose="02040503050406030204" pitchFamily="18" charset="0"/>
                              </a:rPr>
                            </m:ctrlPr>
                          </m:accPr>
                          <m:e>
                            <m:r>
                              <a:rPr lang="en-US" altLang="zh-CN" sz="2800" b="0" i="1" smtClean="0">
                                <a:latin typeface="Cambria Math" panose="02040503050406030204" pitchFamily="18" charset="0"/>
                              </a:rPr>
                              <m:t>𝐴</m:t>
                            </m:r>
                          </m:e>
                        </m:acc>
                      </m:e>
                    </m:d>
                    <m:r>
                      <a:rPr lang="en-US" altLang="zh-CN" sz="2800" b="0" i="1" smtClean="0">
                        <a:latin typeface="Cambria Math" panose="02040503050406030204" pitchFamily="18" charset="0"/>
                      </a:rPr>
                      <m:t>𝑃</m:t>
                    </m:r>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𝐵</m:t>
                    </m:r>
                    <m:r>
                      <a:rPr lang="en-US" altLang="zh-CN" sz="2800" b="0" i="1" smtClean="0">
                        <a:latin typeface="Cambria Math" panose="02040503050406030204" pitchFamily="18" charset="0"/>
                      </a:rPr>
                      <m:t>)</m:t>
                    </m:r>
                  </m:oMath>
                </a14:m>
                <a:r>
                  <a:rPr lang="en-US" sz="2800" dirty="0"/>
                  <a:t>.</a:t>
                </a:r>
              </a:p>
              <a:p>
                <a:pPr marL="514350" indent="-514350">
                  <a:buFont typeface="+mj-lt"/>
                  <a:buAutoNum type="arabicPeriod"/>
                </a:pPr>
                <a:r>
                  <a:rPr lang="zh-CN" altLang="en-US" sz="2800" dirty="0"/>
                  <a:t>若事件</a:t>
                </a:r>
                <a:r>
                  <a:rPr lang="en-US" altLang="zh-CN" sz="2800" dirty="0"/>
                  <a:t>A</a:t>
                </a:r>
                <a:r>
                  <a:rPr lang="zh-CN" altLang="en-US" sz="2800" dirty="0"/>
                  <a:t>和</a:t>
                </a:r>
                <a:r>
                  <a:rPr lang="en-US" altLang="zh-CN" sz="2800" dirty="0"/>
                  <a:t>B</a:t>
                </a:r>
                <a:r>
                  <a:rPr lang="zh-CN" altLang="en-US" sz="2800" dirty="0"/>
                  <a:t>独立，</a:t>
                </a:r>
                <a14:m>
                  <m:oMath xmlns:m="http://schemas.openxmlformats.org/officeDocument/2006/math">
                    <m:r>
                      <a:rPr lang="en-US" altLang="zh-CN" sz="2800" i="1">
                        <a:latin typeface="Cambria Math" panose="02040503050406030204" pitchFamily="18" charset="0"/>
                      </a:rPr>
                      <m:t>𝑃</m:t>
                    </m:r>
                    <m:d>
                      <m:dPr>
                        <m:ctrlPr>
                          <a:rPr lang="en-US" altLang="zh-CN" sz="2800" i="1">
                            <a:latin typeface="Cambria Math" panose="02040503050406030204" pitchFamily="18" charset="0"/>
                          </a:rPr>
                        </m:ctrlPr>
                      </m:dPr>
                      <m:e>
                        <m:r>
                          <a:rPr lang="en-US" altLang="zh-CN" sz="2800" b="0" i="1" smtClean="0">
                            <a:latin typeface="Cambria Math" panose="02040503050406030204" pitchFamily="18" charset="0"/>
                          </a:rPr>
                          <m:t>𝐴</m:t>
                        </m:r>
                        <m:r>
                          <a:rPr lang="en-US" altLang="zh-CN" sz="2800" i="1">
                            <a:latin typeface="Cambria Math" panose="02040503050406030204" pitchFamily="18" charset="0"/>
                          </a:rPr>
                          <m:t> </m:t>
                        </m:r>
                        <m:acc>
                          <m:accPr>
                            <m:chr m:val="̅"/>
                            <m:ctrlPr>
                              <a:rPr lang="en-US" altLang="zh-CN" sz="2800" i="1" smtClean="0">
                                <a:latin typeface="Cambria Math" panose="02040503050406030204" pitchFamily="18" charset="0"/>
                              </a:rPr>
                            </m:ctrlPr>
                          </m:accPr>
                          <m:e>
                            <m:r>
                              <a:rPr lang="en-US" altLang="zh-CN" sz="2800" b="0" i="1" smtClean="0">
                                <a:latin typeface="Cambria Math" panose="02040503050406030204" pitchFamily="18" charset="0"/>
                              </a:rPr>
                              <m:t>𝐵</m:t>
                            </m:r>
                          </m:e>
                        </m:acc>
                      </m:e>
                    </m:d>
                    <m:r>
                      <a:rPr lang="en-US" altLang="zh-CN" sz="2800" i="1">
                        <a:latin typeface="Cambria Math" panose="02040503050406030204" pitchFamily="18" charset="0"/>
                      </a:rPr>
                      <m:t>=</m:t>
                    </m:r>
                    <m:r>
                      <a:rPr lang="en-US" altLang="zh-CN" sz="2800" i="1">
                        <a:latin typeface="Cambria Math" panose="02040503050406030204" pitchFamily="18" charset="0"/>
                      </a:rPr>
                      <m:t>𝑃</m:t>
                    </m:r>
                    <m:d>
                      <m:dPr>
                        <m:ctrlPr>
                          <a:rPr lang="en-US" altLang="zh-CN" sz="2800" i="1">
                            <a:latin typeface="Cambria Math" panose="02040503050406030204" pitchFamily="18" charset="0"/>
                          </a:rPr>
                        </m:ctrlPr>
                      </m:dPr>
                      <m:e>
                        <m:r>
                          <a:rPr lang="en-US" altLang="zh-CN" sz="2800" b="0" i="1" smtClean="0">
                            <a:latin typeface="Cambria Math" panose="02040503050406030204" pitchFamily="18" charset="0"/>
                          </a:rPr>
                          <m:t>𝐴</m:t>
                        </m:r>
                      </m:e>
                    </m:d>
                    <m:r>
                      <a:rPr lang="en-US" altLang="zh-CN" sz="2800" i="1">
                        <a:latin typeface="Cambria Math" panose="02040503050406030204" pitchFamily="18" charset="0"/>
                      </a:rPr>
                      <m:t>𝑃</m:t>
                    </m:r>
                    <m:r>
                      <a:rPr lang="en-US" altLang="zh-CN" sz="2800" i="1">
                        <a:latin typeface="Cambria Math" panose="02040503050406030204" pitchFamily="18" charset="0"/>
                      </a:rPr>
                      <m:t>(</m:t>
                    </m:r>
                    <m:acc>
                      <m:accPr>
                        <m:chr m:val="̅"/>
                        <m:ctrlPr>
                          <a:rPr lang="en-US" altLang="zh-CN" sz="2800" i="1">
                            <a:latin typeface="Cambria Math" panose="02040503050406030204" pitchFamily="18" charset="0"/>
                          </a:rPr>
                        </m:ctrlPr>
                      </m:accPr>
                      <m:e>
                        <m:r>
                          <a:rPr lang="en-US" altLang="zh-CN" sz="2800" i="1">
                            <a:latin typeface="Cambria Math" panose="02040503050406030204" pitchFamily="18" charset="0"/>
                          </a:rPr>
                          <m:t>𝐵</m:t>
                        </m:r>
                      </m:e>
                    </m:acc>
                    <m:r>
                      <a:rPr lang="en-US" altLang="zh-CN" sz="2800" i="1">
                        <a:latin typeface="Cambria Math" panose="02040503050406030204" pitchFamily="18" charset="0"/>
                      </a:rPr>
                      <m:t>)</m:t>
                    </m:r>
                  </m:oMath>
                </a14:m>
                <a:r>
                  <a:rPr lang="en-US" sz="2800" dirty="0"/>
                  <a:t>.</a:t>
                </a:r>
              </a:p>
              <a:p>
                <a:pPr marL="514350" indent="-514350">
                  <a:buFont typeface="+mj-lt"/>
                  <a:buAutoNum type="arabicPeriod"/>
                </a:pPr>
                <a:r>
                  <a:rPr lang="zh-CN" altLang="en-US" sz="2800" dirty="0"/>
                  <a:t>若事件</a:t>
                </a:r>
                <a:r>
                  <a:rPr lang="en-US" altLang="zh-CN" sz="2800" dirty="0"/>
                  <a:t>A</a:t>
                </a:r>
                <a:r>
                  <a:rPr lang="zh-CN" altLang="en-US" sz="2800" dirty="0"/>
                  <a:t>和</a:t>
                </a:r>
                <a:r>
                  <a:rPr lang="en-US" altLang="zh-CN" sz="2800" dirty="0"/>
                  <a:t>B</a:t>
                </a:r>
                <a:r>
                  <a:rPr lang="zh-CN" altLang="en-US" sz="2800" dirty="0"/>
                  <a:t>独立，</a:t>
                </a:r>
                <a14:m>
                  <m:oMath xmlns:m="http://schemas.openxmlformats.org/officeDocument/2006/math">
                    <m:r>
                      <a:rPr lang="en-US" altLang="zh-CN" sz="2800" i="1">
                        <a:latin typeface="Cambria Math" panose="02040503050406030204" pitchFamily="18" charset="0"/>
                      </a:rPr>
                      <m:t>𝑃</m:t>
                    </m:r>
                    <m:d>
                      <m:dPr>
                        <m:ctrlPr>
                          <a:rPr lang="en-US" altLang="zh-CN" sz="2800" i="1">
                            <a:latin typeface="Cambria Math" panose="02040503050406030204" pitchFamily="18" charset="0"/>
                          </a:rPr>
                        </m:ctrlPr>
                      </m:dPr>
                      <m:e>
                        <m:acc>
                          <m:accPr>
                            <m:chr m:val="̅"/>
                            <m:ctrlPr>
                              <a:rPr lang="en-US" altLang="zh-CN" sz="2800" i="1">
                                <a:latin typeface="Cambria Math" panose="02040503050406030204" pitchFamily="18" charset="0"/>
                              </a:rPr>
                            </m:ctrlPr>
                          </m:accPr>
                          <m:e>
                            <m:r>
                              <a:rPr lang="en-US" altLang="zh-CN" sz="2800" i="1">
                                <a:latin typeface="Cambria Math" panose="02040503050406030204" pitchFamily="18" charset="0"/>
                              </a:rPr>
                              <m:t>𝐴</m:t>
                            </m:r>
                          </m:e>
                        </m:acc>
                        <m:acc>
                          <m:accPr>
                            <m:chr m:val="̅"/>
                            <m:ctrlPr>
                              <a:rPr lang="en-US" altLang="zh-CN" sz="2800" i="1">
                                <a:latin typeface="Cambria Math" panose="02040503050406030204" pitchFamily="18" charset="0"/>
                              </a:rPr>
                            </m:ctrlPr>
                          </m:accPr>
                          <m:e>
                            <m:r>
                              <a:rPr lang="en-US" altLang="zh-CN" sz="2800" i="1">
                                <a:latin typeface="Cambria Math" panose="02040503050406030204" pitchFamily="18" charset="0"/>
                              </a:rPr>
                              <m:t>𝐵</m:t>
                            </m:r>
                          </m:e>
                        </m:acc>
                      </m:e>
                    </m:d>
                    <m:r>
                      <a:rPr lang="en-US" altLang="zh-CN" sz="2800" i="1">
                        <a:latin typeface="Cambria Math" panose="02040503050406030204" pitchFamily="18" charset="0"/>
                      </a:rPr>
                      <m:t>=</m:t>
                    </m:r>
                    <m:r>
                      <a:rPr lang="en-US" altLang="zh-CN" sz="2800" i="1">
                        <a:latin typeface="Cambria Math" panose="02040503050406030204" pitchFamily="18" charset="0"/>
                      </a:rPr>
                      <m:t>𝑃</m:t>
                    </m:r>
                    <m:d>
                      <m:dPr>
                        <m:ctrlPr>
                          <a:rPr lang="en-US" altLang="zh-CN" sz="2800" i="1">
                            <a:latin typeface="Cambria Math" panose="02040503050406030204" pitchFamily="18" charset="0"/>
                          </a:rPr>
                        </m:ctrlPr>
                      </m:dPr>
                      <m:e>
                        <m:acc>
                          <m:accPr>
                            <m:chr m:val="̅"/>
                            <m:ctrlPr>
                              <a:rPr lang="en-US" altLang="zh-CN" sz="2800" i="1">
                                <a:latin typeface="Cambria Math" panose="02040503050406030204" pitchFamily="18" charset="0"/>
                              </a:rPr>
                            </m:ctrlPr>
                          </m:accPr>
                          <m:e>
                            <m:r>
                              <a:rPr lang="en-US" altLang="zh-CN" sz="2800" i="1">
                                <a:latin typeface="Cambria Math" panose="02040503050406030204" pitchFamily="18" charset="0"/>
                              </a:rPr>
                              <m:t>𝐴</m:t>
                            </m:r>
                          </m:e>
                        </m:acc>
                      </m:e>
                    </m:d>
                    <m:r>
                      <a:rPr lang="en-US" altLang="zh-CN" sz="2800" i="1">
                        <a:latin typeface="Cambria Math" panose="02040503050406030204" pitchFamily="18" charset="0"/>
                      </a:rPr>
                      <m:t>𝑃</m:t>
                    </m:r>
                    <m:r>
                      <a:rPr lang="en-US" altLang="zh-CN" sz="2800" i="1">
                        <a:latin typeface="Cambria Math" panose="02040503050406030204" pitchFamily="18" charset="0"/>
                      </a:rPr>
                      <m:t>(</m:t>
                    </m:r>
                    <m:acc>
                      <m:accPr>
                        <m:chr m:val="̅"/>
                        <m:ctrlPr>
                          <a:rPr lang="en-US" altLang="zh-CN" sz="2800" i="1">
                            <a:latin typeface="Cambria Math" panose="02040503050406030204" pitchFamily="18" charset="0"/>
                          </a:rPr>
                        </m:ctrlPr>
                      </m:accPr>
                      <m:e>
                        <m:r>
                          <a:rPr lang="en-US" altLang="zh-CN" sz="2800" i="1">
                            <a:latin typeface="Cambria Math" panose="02040503050406030204" pitchFamily="18" charset="0"/>
                          </a:rPr>
                          <m:t>𝐵</m:t>
                        </m:r>
                      </m:e>
                    </m:acc>
                    <m:r>
                      <a:rPr lang="en-US" altLang="zh-CN" sz="2800" i="1">
                        <a:latin typeface="Cambria Math" panose="02040503050406030204" pitchFamily="18" charset="0"/>
                      </a:rPr>
                      <m:t>)</m:t>
                    </m:r>
                  </m:oMath>
                </a14:m>
                <a:r>
                  <a:rPr lang="en-US" sz="2800" dirty="0"/>
                  <a:t>.</a:t>
                </a:r>
              </a:p>
              <a:p>
                <a:pPr marL="514350" indent="-514350">
                  <a:buFont typeface="+mj-lt"/>
                  <a:buAutoNum type="arabicPeriod"/>
                </a:pPr>
                <a:endParaRPr lang="en-US" sz="2800" dirty="0"/>
              </a:p>
            </p:txBody>
          </p:sp>
        </mc:Choice>
        <mc:Fallback xmlns="">
          <p:sp>
            <p:nvSpPr>
              <p:cNvPr id="3" name="TextBox 2"/>
              <p:cNvSpPr txBox="1">
                <a:spLocks noRot="1" noChangeAspect="1" noMove="1" noResize="1" noEditPoints="1" noAdjustHandles="1" noChangeArrowheads="1" noChangeShapeType="1" noTextEdit="1"/>
              </p:cNvSpPr>
              <p:nvPr/>
            </p:nvSpPr>
            <p:spPr>
              <a:xfrm>
                <a:off x="457200" y="3526848"/>
                <a:ext cx="7262446" cy="2321213"/>
              </a:xfrm>
              <a:prstGeom prst="rect">
                <a:avLst/>
              </a:prstGeom>
              <a:blipFill rotWithShape="1">
                <a:blip r:embed="rId3"/>
                <a:stretch>
                  <a:fillRect l="-1763" t="-3947"/>
                </a:stretch>
              </a:blipFill>
            </p:spPr>
            <p:txBody>
              <a:bodyPr/>
              <a:lstStyle/>
              <a:p>
                <a:r>
                  <a:rPr lang="en-US">
                    <a:noFill/>
                  </a:rPr>
                  <a:t> </a:t>
                </a:r>
                <a:endParaRPr lang="en-US">
                  <a:noFill/>
                </a:endParaRP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TW" altLang="en-US" dirty="0"/>
              <a:t>事件的独立性 </a:t>
            </a:r>
            <a:endParaRPr lang="en-US" dirty="0"/>
          </a:p>
        </p:txBody>
      </p:sp>
      <p:pic>
        <p:nvPicPr>
          <p:cNvPr id="6" name="Content Placeholder 5" descr="Screen Shot 2017-09-06 at 3.52.19 PM.png"/>
          <p:cNvPicPr>
            <a:picLocks noGrp="1" noChangeAspect="1"/>
          </p:cNvPicPr>
          <p:nvPr>
            <p:ph idx="1"/>
          </p:nvPr>
        </p:nvPicPr>
        <p:blipFill rotWithShape="1">
          <a:blip r:embed="rId2">
            <a:extLst>
              <a:ext uri="{28A0092B-C50C-407E-A947-70E740481C1C}">
                <a14:useLocalDpi xmlns:a14="http://schemas.microsoft.com/office/drawing/2010/main" val="0"/>
              </a:ext>
            </a:extLst>
          </a:blip>
          <a:srcRect t="-6847" b="-10647"/>
          <a:stretch>
            <a:fillRect/>
          </a:stretch>
        </p:blipFill>
        <p:spPr>
          <a:xfrm>
            <a:off x="457200" y="1730374"/>
            <a:ext cx="8229600" cy="1619251"/>
          </a:xfrm>
        </p:spPr>
      </p:pic>
      <p:sp>
        <p:nvSpPr>
          <p:cNvPr id="4" name="Date Placeholder 3"/>
          <p:cNvSpPr>
            <a:spLocks noGrp="1"/>
          </p:cNvSpPr>
          <p:nvPr>
            <p:ph type="dt" sz="half" idx="10"/>
          </p:nvPr>
        </p:nvSpPr>
        <p:spPr/>
        <p:txBody>
          <a:bodyPr/>
          <a:lstStyle/>
          <a:p>
            <a:fld id="{E1C68FA7-58D4-B64D-A671-4AA0982894C6}" type="datetime1">
              <a:rPr lang="en-US" smtClean="0"/>
              <a:t>9/19/2026</a:t>
            </a:fld>
            <a:endParaRPr lang="en-US"/>
          </a:p>
        </p:txBody>
      </p:sp>
      <p:sp>
        <p:nvSpPr>
          <p:cNvPr id="5" name="Slide Number Placeholder 4"/>
          <p:cNvSpPr>
            <a:spLocks noGrp="1"/>
          </p:cNvSpPr>
          <p:nvPr>
            <p:ph type="sldNum" sz="quarter" idx="12"/>
          </p:nvPr>
        </p:nvSpPr>
        <p:spPr/>
        <p:txBody>
          <a:bodyPr/>
          <a:lstStyle/>
          <a:p>
            <a:fld id="{CE878D80-AF11-6343-918A-0BF62098A907}" type="slidenum">
              <a:rPr lang="en-US" smtClean="0"/>
              <a:t>26</a:t>
            </a:fld>
            <a:endParaRPr lang="en-US"/>
          </a:p>
        </p:txBody>
      </p:sp>
      <p:sp>
        <p:nvSpPr>
          <p:cNvPr id="3" name="TextBox 2"/>
          <p:cNvSpPr txBox="1"/>
          <p:nvPr/>
        </p:nvSpPr>
        <p:spPr>
          <a:xfrm>
            <a:off x="1762125" y="3526849"/>
            <a:ext cx="5251450" cy="523220"/>
          </a:xfrm>
          <a:prstGeom prst="rect">
            <a:avLst/>
          </a:prstGeom>
          <a:noFill/>
        </p:spPr>
        <p:txBody>
          <a:bodyPr wrap="square" rtlCol="0">
            <a:spAutoFit/>
          </a:bodyPr>
          <a:lstStyle/>
          <a:p>
            <a:pPr algn="ctr"/>
            <a:r>
              <a:rPr lang="zh-CN" altLang="en-US" sz="2800" dirty="0"/>
              <a:t>独立与互斥（不相容）？</a:t>
            </a:r>
            <a:endParaRPr lang="en-US" sz="2800" dirty="0"/>
          </a:p>
        </p:txBody>
      </p:sp>
      <p:pic>
        <p:nvPicPr>
          <p:cNvPr id="7" name="Picture 6" descr="mutually-exclusive-vs-independent-event.jpg"/>
          <p:cNvPicPr>
            <a:picLocks noChangeAspect="1"/>
          </p:cNvPicPr>
          <p:nvPr/>
        </p:nvPicPr>
        <p:blipFill rotWithShape="1">
          <a:blip r:embed="rId3">
            <a:extLst>
              <a:ext uri="{28A0092B-C50C-407E-A947-70E740481C1C}">
                <a14:useLocalDpi xmlns:a14="http://schemas.microsoft.com/office/drawing/2010/main" val="0"/>
              </a:ext>
            </a:extLst>
          </a:blip>
          <a:srcRect t="17206"/>
          <a:stretch>
            <a:fillRect/>
          </a:stretch>
        </p:blipFill>
        <p:spPr>
          <a:xfrm>
            <a:off x="647700" y="4370176"/>
            <a:ext cx="7575550" cy="198617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相互独立</a:t>
            </a:r>
          </a:p>
        </p:txBody>
      </p:sp>
      <p:pic>
        <p:nvPicPr>
          <p:cNvPr id="6" name="Content Placeholder 5" descr="Screen Shot 2017-09-06 at 3.53.51 PM.png"/>
          <p:cNvPicPr>
            <a:picLocks noGrp="1" noChangeAspect="1"/>
          </p:cNvPicPr>
          <p:nvPr>
            <p:ph idx="1"/>
          </p:nvPr>
        </p:nvPicPr>
        <p:blipFill>
          <a:blip r:embed="rId2">
            <a:extLst>
              <a:ext uri="{28A0092B-C50C-407E-A947-70E740481C1C}">
                <a14:useLocalDpi xmlns:a14="http://schemas.microsoft.com/office/drawing/2010/main" val="0"/>
              </a:ext>
            </a:extLst>
          </a:blip>
          <a:srcRect t="-1757" b="-1757"/>
          <a:stretch>
            <a:fillRect/>
          </a:stretch>
        </p:blipFill>
        <p:spPr/>
      </p:pic>
      <p:sp>
        <p:nvSpPr>
          <p:cNvPr id="4" name="Date Placeholder 3"/>
          <p:cNvSpPr>
            <a:spLocks noGrp="1"/>
          </p:cNvSpPr>
          <p:nvPr>
            <p:ph type="dt" sz="half" idx="10"/>
          </p:nvPr>
        </p:nvSpPr>
        <p:spPr/>
        <p:txBody>
          <a:bodyPr/>
          <a:lstStyle/>
          <a:p>
            <a:fld id="{E1C68FA7-58D4-B64D-A671-4AA0982894C6}" type="datetime1">
              <a:rPr lang="en-US" smtClean="0"/>
              <a:t>9/19/2026</a:t>
            </a:fld>
            <a:endParaRPr lang="en-US"/>
          </a:p>
        </p:txBody>
      </p:sp>
      <p:sp>
        <p:nvSpPr>
          <p:cNvPr id="5" name="Slide Number Placeholder 4"/>
          <p:cNvSpPr>
            <a:spLocks noGrp="1"/>
          </p:cNvSpPr>
          <p:nvPr>
            <p:ph type="sldNum" sz="quarter" idx="12"/>
          </p:nvPr>
        </p:nvSpPr>
        <p:spPr/>
        <p:txBody>
          <a:bodyPr/>
          <a:lstStyle/>
          <a:p>
            <a:fld id="{CE878D80-AF11-6343-918A-0BF62098A907}" type="slidenum">
              <a:rPr lang="en-US" smtClean="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b="1" dirty="0"/>
              <a:t>常在河边走</a:t>
            </a:r>
            <a:r>
              <a:rPr lang="en-US" altLang="zh-CN" b="1" dirty="0"/>
              <a:t>, </a:t>
            </a:r>
            <a:r>
              <a:rPr lang="zh-CN" altLang="en-US" b="1" dirty="0"/>
              <a:t>哪有不湿鞋</a:t>
            </a:r>
            <a:endParaRPr lang="en-US" b="1" dirty="0"/>
          </a:p>
        </p:txBody>
      </p:sp>
      <p:sp>
        <p:nvSpPr>
          <p:cNvPr id="4" name="Date Placeholder 3"/>
          <p:cNvSpPr>
            <a:spLocks noGrp="1"/>
          </p:cNvSpPr>
          <p:nvPr>
            <p:ph type="dt" sz="half" idx="10"/>
          </p:nvPr>
        </p:nvSpPr>
        <p:spPr/>
        <p:txBody>
          <a:bodyPr/>
          <a:lstStyle/>
          <a:p>
            <a:fld id="{E1C68FA7-58D4-B64D-A671-4AA0982894C6}" type="datetime1">
              <a:rPr lang="en-US" smtClean="0"/>
              <a:t>9/19/2026</a:t>
            </a:fld>
            <a:endParaRPr lang="en-US"/>
          </a:p>
        </p:txBody>
      </p:sp>
      <p:sp>
        <p:nvSpPr>
          <p:cNvPr id="5" name="Slide Number Placeholder 4"/>
          <p:cNvSpPr>
            <a:spLocks noGrp="1"/>
          </p:cNvSpPr>
          <p:nvPr>
            <p:ph type="sldNum" sz="quarter" idx="12"/>
          </p:nvPr>
        </p:nvSpPr>
        <p:spPr/>
        <p:txBody>
          <a:bodyPr/>
          <a:lstStyle/>
          <a:p>
            <a:fld id="{CE878D80-AF11-6343-918A-0BF62098A907}" type="slidenum">
              <a:rPr lang="en-US" smtClean="0"/>
              <a:t>28</a:t>
            </a:fld>
            <a:endParaRPr lang="en-US"/>
          </a:p>
        </p:txBody>
      </p:sp>
      <p:sp>
        <p:nvSpPr>
          <p:cNvPr id="3" name="内容占位符 2"/>
          <p:cNvSpPr>
            <a:spLocks noGrp="1"/>
          </p:cNvSpPr>
          <p:nvPr>
            <p:ph idx="1"/>
          </p:nvPr>
        </p:nvSpPr>
        <p:spPr/>
        <p:txBody>
          <a:bodyPr>
            <a:normAutofit lnSpcReduction="10000"/>
          </a:bodyPr>
          <a:lstStyle/>
          <a:p>
            <a:r>
              <a:rPr lang="zh-CN" altLang="en-US" dirty="0"/>
              <a:t>设事件 </a:t>
            </a:r>
            <a:r>
              <a:rPr lang="en-US" altLang="zh-CN" dirty="0"/>
              <a:t>A </a:t>
            </a:r>
            <a:r>
              <a:rPr lang="zh-CN" altLang="en-US" dirty="0"/>
              <a:t>在第 </a:t>
            </a:r>
            <a:r>
              <a:rPr lang="en-US" altLang="zh-CN" dirty="0"/>
              <a:t>j </a:t>
            </a:r>
            <a:r>
              <a:rPr lang="zh-CN" altLang="en-US" dirty="0"/>
              <a:t>次试验中发生的概率为 </a:t>
            </a:r>
            <a:r>
              <a:rPr lang="en-US" altLang="zh-CN" dirty="0" err="1"/>
              <a:t>p</a:t>
            </a:r>
            <a:r>
              <a:rPr lang="en-US" altLang="zh-CN" baseline="-25000" dirty="0" err="1"/>
              <a:t>j</a:t>
            </a:r>
            <a:r>
              <a:rPr lang="en-US" altLang="zh-CN" dirty="0"/>
              <a:t> ,j = 1,2,··· ,n, </a:t>
            </a:r>
            <a:r>
              <a:rPr lang="zh-CN" altLang="en-US" dirty="0"/>
              <a:t>且这 </a:t>
            </a:r>
            <a:r>
              <a:rPr lang="en-US" altLang="zh-CN" dirty="0"/>
              <a:t>n </a:t>
            </a:r>
            <a:r>
              <a:rPr lang="zh-CN" altLang="en-US" dirty="0"/>
              <a:t>次试验是相互独立的</a:t>
            </a:r>
            <a:r>
              <a:rPr lang="en-US" altLang="zh-CN" dirty="0"/>
              <a:t>, </a:t>
            </a:r>
            <a:r>
              <a:rPr lang="zh-CN" altLang="en-US" dirty="0"/>
              <a:t>其中 </a:t>
            </a:r>
            <a:r>
              <a:rPr lang="en-US" altLang="zh-CN" dirty="0" err="1"/>
              <a:t>p</a:t>
            </a:r>
            <a:r>
              <a:rPr lang="en-US" altLang="zh-CN" baseline="-25000" dirty="0" err="1"/>
              <a:t>j</a:t>
            </a:r>
            <a:r>
              <a:rPr lang="en-US" altLang="zh-CN" dirty="0"/>
              <a:t> ≥ p</a:t>
            </a:r>
            <a:r>
              <a:rPr lang="en-US" altLang="zh-CN" baseline="-25000" dirty="0"/>
              <a:t>0</a:t>
            </a:r>
            <a:r>
              <a:rPr lang="en-US" altLang="zh-CN" dirty="0"/>
              <a:t>  &gt; 0, </a:t>
            </a:r>
            <a:r>
              <a:rPr lang="zh-CN" altLang="en-US" dirty="0"/>
              <a:t>求在这 </a:t>
            </a:r>
            <a:r>
              <a:rPr lang="en-US" altLang="zh-CN" dirty="0"/>
              <a:t>n </a:t>
            </a:r>
            <a:r>
              <a:rPr lang="zh-CN" altLang="en-US" dirty="0"/>
              <a:t>次独立试验中事件 </a:t>
            </a:r>
            <a:r>
              <a:rPr lang="en-US" altLang="zh-CN" dirty="0"/>
              <a:t>A </a:t>
            </a:r>
            <a:r>
              <a:rPr lang="zh-CN" altLang="en-US" dirty="0"/>
              <a:t>至少发生一次的概率</a:t>
            </a:r>
            <a:r>
              <a:rPr lang="en-US" altLang="zh-CN" dirty="0"/>
              <a:t>.</a:t>
            </a:r>
          </a:p>
          <a:p>
            <a:r>
              <a:rPr lang="zh-CN" altLang="en-US" dirty="0"/>
              <a:t>大于等于</a:t>
            </a:r>
            <a:r>
              <a:rPr lang="en-US" altLang="zh-CN" dirty="0"/>
              <a:t>1-(1-p</a:t>
            </a:r>
            <a:r>
              <a:rPr lang="en-US" altLang="zh-CN" baseline="-25000" dirty="0"/>
              <a:t>0</a:t>
            </a:r>
            <a:r>
              <a:rPr lang="en-US" altLang="zh-CN" dirty="0"/>
              <a:t>)</a:t>
            </a:r>
            <a:r>
              <a:rPr lang="en-US" altLang="zh-CN" baseline="30000" dirty="0"/>
              <a:t>n</a:t>
            </a:r>
          </a:p>
          <a:p>
            <a:r>
              <a:rPr lang="en-US" altLang="zh-CN" dirty="0"/>
              <a:t>n=50, p</a:t>
            </a:r>
            <a:r>
              <a:rPr lang="en-US" altLang="zh-CN" baseline="-25000" dirty="0"/>
              <a:t>0</a:t>
            </a:r>
            <a:r>
              <a:rPr lang="en-US" altLang="zh-CN" dirty="0"/>
              <a:t>=0.05</a:t>
            </a:r>
            <a:r>
              <a:rPr lang="zh-CN" altLang="en-US" dirty="0"/>
              <a:t>时大于等于</a:t>
            </a:r>
            <a:r>
              <a:rPr lang="en-US" altLang="zh-CN" dirty="0"/>
              <a:t>0.923</a:t>
            </a:r>
          </a:p>
          <a:p>
            <a:r>
              <a:rPr lang="en-US" altLang="zh-CN" dirty="0"/>
              <a:t>n=200, p</a:t>
            </a:r>
            <a:r>
              <a:rPr lang="en-US" altLang="zh-CN" baseline="-25000" dirty="0"/>
              <a:t>0</a:t>
            </a:r>
            <a:r>
              <a:rPr lang="en-US" altLang="zh-CN" dirty="0"/>
              <a:t>=0.05</a:t>
            </a:r>
            <a:r>
              <a:rPr lang="zh-CN" altLang="en-US" dirty="0"/>
              <a:t>时大于等于</a:t>
            </a:r>
            <a:r>
              <a:rPr lang="en-US" altLang="zh-CN" dirty="0"/>
              <a:t>0.99996</a:t>
            </a:r>
            <a:endParaRPr lang="zh-CN" altLang="en-US" dirty="0"/>
          </a:p>
          <a:p>
            <a:r>
              <a:rPr lang="zh-CN" altLang="en-US" dirty="0"/>
              <a:t>小概率原理：即使事件 </a:t>
            </a:r>
            <a:r>
              <a:rPr lang="en-US" altLang="zh-CN" dirty="0"/>
              <a:t>A </a:t>
            </a:r>
            <a:r>
              <a:rPr lang="zh-CN" altLang="en-US" dirty="0"/>
              <a:t>是小概率事件</a:t>
            </a:r>
            <a:r>
              <a:rPr lang="en-US" altLang="zh-CN" dirty="0"/>
              <a:t>, </a:t>
            </a:r>
            <a:r>
              <a:rPr lang="zh-CN" altLang="en-US" dirty="0"/>
              <a:t>即事件 </a:t>
            </a:r>
            <a:r>
              <a:rPr lang="en-US" altLang="zh-CN" dirty="0"/>
              <a:t>A </a:t>
            </a:r>
            <a:r>
              <a:rPr lang="zh-CN" altLang="en-US" dirty="0"/>
              <a:t>在一次试验中不易发生</a:t>
            </a:r>
            <a:r>
              <a:rPr lang="en-US" altLang="zh-CN" dirty="0"/>
              <a:t>,</a:t>
            </a:r>
            <a:r>
              <a:rPr lang="zh-CN" altLang="en-US" dirty="0"/>
              <a:t>但是随着试验次数 </a:t>
            </a:r>
            <a:r>
              <a:rPr lang="en-US" altLang="zh-CN" dirty="0"/>
              <a:t>n </a:t>
            </a:r>
            <a:r>
              <a:rPr lang="zh-CN" altLang="en-US" dirty="0"/>
              <a:t>的增加</a:t>
            </a:r>
            <a:r>
              <a:rPr lang="en-US" altLang="zh-CN" dirty="0"/>
              <a:t>, </a:t>
            </a:r>
            <a:r>
              <a:rPr lang="zh-CN" altLang="en-US" dirty="0"/>
              <a:t>事件 </a:t>
            </a:r>
            <a:r>
              <a:rPr lang="en-US" altLang="zh-CN" dirty="0"/>
              <a:t>A </a:t>
            </a:r>
            <a:r>
              <a:rPr lang="zh-CN" altLang="en-US" dirty="0"/>
              <a:t>发生的概率接近于 </a:t>
            </a:r>
            <a:r>
              <a:rPr lang="en-US" altLang="zh-CN" dirty="0"/>
              <a:t>1</a:t>
            </a:r>
            <a:endParaRPr lang="zh-CN" alt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并联还是串联？</a:t>
            </a:r>
          </a:p>
        </p:txBody>
      </p:sp>
      <p:sp>
        <p:nvSpPr>
          <p:cNvPr id="3" name="内容占位符 2"/>
          <p:cNvSpPr>
            <a:spLocks noGrp="1"/>
          </p:cNvSpPr>
          <p:nvPr>
            <p:ph idx="1"/>
          </p:nvPr>
        </p:nvSpPr>
        <p:spPr/>
        <p:txBody>
          <a:bodyPr/>
          <a:lstStyle/>
          <a:p>
            <a:r>
              <a:rPr lang="zh-CN" altLang="en-US" dirty="0"/>
              <a:t>先串联后并联：</a:t>
            </a:r>
            <a:r>
              <a:rPr lang="en-US" altLang="zh-CN" dirty="0"/>
              <a:t>p</a:t>
            </a:r>
            <a:r>
              <a:rPr lang="en-US" altLang="zh-CN" baseline="30000" dirty="0"/>
              <a:t>2</a:t>
            </a:r>
            <a:r>
              <a:rPr lang="en-US" altLang="zh-CN" dirty="0"/>
              <a:t>(2-p</a:t>
            </a:r>
            <a:r>
              <a:rPr lang="en-US" altLang="zh-CN" baseline="30000" dirty="0"/>
              <a:t>2</a:t>
            </a:r>
            <a:r>
              <a:rPr lang="en-US" altLang="zh-CN" dirty="0"/>
              <a:t>)</a:t>
            </a:r>
          </a:p>
          <a:p>
            <a:r>
              <a:rPr lang="zh-CN" altLang="en-US" dirty="0"/>
              <a:t>先并联后串联：</a:t>
            </a:r>
            <a:r>
              <a:rPr lang="en-US" altLang="zh-CN" dirty="0"/>
              <a:t> p</a:t>
            </a:r>
            <a:r>
              <a:rPr lang="en-US" altLang="zh-CN" baseline="30000" dirty="0"/>
              <a:t>2</a:t>
            </a:r>
            <a:r>
              <a:rPr lang="en-US" altLang="zh-CN" dirty="0"/>
              <a:t>(2-p)</a:t>
            </a:r>
            <a:r>
              <a:rPr lang="en-US" altLang="zh-CN" baseline="30000" dirty="0"/>
              <a:t> 2</a:t>
            </a:r>
            <a:endParaRPr lang="zh-CN" altLang="en-US" dirty="0"/>
          </a:p>
          <a:p>
            <a:endParaRPr lang="zh-CN" altLang="en-US" dirty="0"/>
          </a:p>
        </p:txBody>
      </p:sp>
      <p:sp>
        <p:nvSpPr>
          <p:cNvPr id="4" name="日期占位符 3"/>
          <p:cNvSpPr>
            <a:spLocks noGrp="1"/>
          </p:cNvSpPr>
          <p:nvPr>
            <p:ph type="dt" sz="half" idx="10"/>
          </p:nvPr>
        </p:nvSpPr>
        <p:spPr/>
        <p:txBody>
          <a:bodyPr/>
          <a:lstStyle/>
          <a:p>
            <a:fld id="{E1C68FA7-58D4-B64D-A671-4AA0982894C6}" type="datetime1">
              <a:rPr lang="en-US" smtClean="0"/>
              <a:t>9/19/2026</a:t>
            </a:fld>
            <a:endParaRPr lang="en-US"/>
          </a:p>
        </p:txBody>
      </p:sp>
      <p:sp>
        <p:nvSpPr>
          <p:cNvPr id="5" name="灯片编号占位符 4"/>
          <p:cNvSpPr>
            <a:spLocks noGrp="1"/>
          </p:cNvSpPr>
          <p:nvPr>
            <p:ph type="sldNum" sz="quarter" idx="12"/>
          </p:nvPr>
        </p:nvSpPr>
        <p:spPr/>
        <p:txBody>
          <a:bodyPr/>
          <a:lstStyle/>
          <a:p>
            <a:fld id="{CE878D80-AF11-6343-918A-0BF62098A907}" type="slidenum">
              <a:rPr lang="en-US" smtClean="0"/>
              <a:t>29</a:t>
            </a:fld>
            <a:endParaRPr lang="en-US"/>
          </a:p>
        </p:txBody>
      </p:sp>
    </p:spTree>
    <p:extLst>
      <p:ext uri="{BB962C8B-B14F-4D97-AF65-F5344CB8AC3E}">
        <p14:creationId xmlns:p14="http://schemas.microsoft.com/office/powerpoint/2010/main" val="1811465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n </a:t>
            </a:r>
            <a:r>
              <a:rPr lang="zh-CN" altLang="en-US" dirty="0"/>
              <a:t>个事件两两独立</a:t>
            </a:r>
          </a:p>
        </p:txBody>
      </p:sp>
      <p:sp>
        <p:nvSpPr>
          <p:cNvPr id="3" name="内容占位符 2"/>
          <p:cNvSpPr>
            <a:spLocks noGrp="1"/>
          </p:cNvSpPr>
          <p:nvPr>
            <p:ph idx="1"/>
          </p:nvPr>
        </p:nvSpPr>
        <p:spPr/>
        <p:txBody>
          <a:bodyPr/>
          <a:lstStyle/>
          <a:p>
            <a:r>
              <a:rPr lang="zh-CN" altLang="en-US" dirty="0"/>
              <a:t>设 </a:t>
            </a:r>
            <a:r>
              <a:rPr lang="en-US" altLang="zh-CN" dirty="0"/>
              <a:t>A</a:t>
            </a:r>
            <a:r>
              <a:rPr lang="en-US" altLang="zh-CN" baseline="-25000" dirty="0"/>
              <a:t>1 </a:t>
            </a:r>
            <a:r>
              <a:rPr lang="zh-CN" altLang="en-US" baseline="-25000" dirty="0"/>
              <a:t> </a:t>
            </a:r>
            <a:r>
              <a:rPr lang="en-US" altLang="zh-CN" dirty="0"/>
              <a:t>A</a:t>
            </a:r>
            <a:r>
              <a:rPr lang="en-US" altLang="zh-CN" baseline="-25000" dirty="0"/>
              <a:t>2  </a:t>
            </a:r>
            <a:r>
              <a:rPr lang="en-US" altLang="zh-CN" dirty="0"/>
              <a:t>··· A</a:t>
            </a:r>
            <a:r>
              <a:rPr lang="en-US" altLang="zh-CN" baseline="-25000" dirty="0"/>
              <a:t>n</a:t>
            </a:r>
            <a:r>
              <a:rPr lang="en-US" altLang="zh-CN" dirty="0"/>
              <a:t> </a:t>
            </a:r>
            <a:r>
              <a:rPr lang="zh-CN" altLang="en-US" dirty="0"/>
              <a:t>是样本空间 </a:t>
            </a:r>
            <a:r>
              <a:rPr lang="el-GR" altLang="zh-CN" dirty="0"/>
              <a:t>Ω </a:t>
            </a:r>
            <a:r>
              <a:rPr lang="zh-CN" altLang="en-US" dirty="0"/>
              <a:t>中的 </a:t>
            </a:r>
            <a:r>
              <a:rPr lang="en-US" altLang="zh-CN" dirty="0"/>
              <a:t>n </a:t>
            </a:r>
            <a:r>
              <a:rPr lang="zh-CN" altLang="en-US" dirty="0"/>
              <a:t>个事件</a:t>
            </a:r>
            <a:r>
              <a:rPr lang="en-US" altLang="zh-CN" dirty="0"/>
              <a:t>, </a:t>
            </a:r>
            <a:r>
              <a:rPr lang="zh-CN" altLang="en-US" dirty="0"/>
              <a:t>如果其中任意两个事件相互独立</a:t>
            </a:r>
            <a:r>
              <a:rPr lang="en-US" altLang="zh-CN" dirty="0"/>
              <a:t>, </a:t>
            </a:r>
            <a:r>
              <a:rPr lang="zh-CN" altLang="en-US" dirty="0"/>
              <a:t>那么称事件 </a:t>
            </a:r>
            <a:r>
              <a:rPr lang="en-US" altLang="zh-CN" dirty="0"/>
              <a:t>A</a:t>
            </a:r>
            <a:r>
              <a:rPr lang="en-US" altLang="zh-CN" baseline="-25000" dirty="0"/>
              <a:t>1 </a:t>
            </a:r>
            <a:r>
              <a:rPr lang="zh-CN" altLang="en-US" baseline="-25000" dirty="0"/>
              <a:t> </a:t>
            </a:r>
            <a:r>
              <a:rPr lang="en-US" altLang="zh-CN" dirty="0"/>
              <a:t>A</a:t>
            </a:r>
            <a:r>
              <a:rPr lang="en-US" altLang="zh-CN" baseline="-25000" dirty="0"/>
              <a:t>2  </a:t>
            </a:r>
            <a:r>
              <a:rPr lang="en-US" altLang="zh-CN" dirty="0"/>
              <a:t>··· A</a:t>
            </a:r>
            <a:r>
              <a:rPr lang="en-US" altLang="zh-CN" baseline="-25000" dirty="0"/>
              <a:t>n</a:t>
            </a:r>
            <a:r>
              <a:rPr lang="zh-CN" altLang="en-US" dirty="0"/>
              <a:t>两两独立</a:t>
            </a:r>
            <a:r>
              <a:rPr lang="en-US" altLang="zh-CN" dirty="0"/>
              <a:t>.</a:t>
            </a:r>
            <a:endParaRPr lang="zh-CN" altLang="en-US" dirty="0"/>
          </a:p>
        </p:txBody>
      </p:sp>
      <p:sp>
        <p:nvSpPr>
          <p:cNvPr id="4" name="日期占位符 3"/>
          <p:cNvSpPr>
            <a:spLocks noGrp="1"/>
          </p:cNvSpPr>
          <p:nvPr>
            <p:ph type="dt" sz="half" idx="10"/>
          </p:nvPr>
        </p:nvSpPr>
        <p:spPr/>
        <p:txBody>
          <a:bodyPr/>
          <a:lstStyle/>
          <a:p>
            <a:fld id="{E1C68FA7-58D4-B64D-A671-4AA0982894C6}" type="datetime1">
              <a:rPr lang="en-US" smtClean="0"/>
              <a:t>9/19/2026</a:t>
            </a:fld>
            <a:endParaRPr lang="en-US"/>
          </a:p>
        </p:txBody>
      </p:sp>
      <p:sp>
        <p:nvSpPr>
          <p:cNvPr id="5" name="灯片编号占位符 4"/>
          <p:cNvSpPr>
            <a:spLocks noGrp="1"/>
          </p:cNvSpPr>
          <p:nvPr>
            <p:ph type="sldNum" sz="quarter" idx="12"/>
          </p:nvPr>
        </p:nvSpPr>
        <p:spPr/>
        <p:txBody>
          <a:bodyPr/>
          <a:lstStyle/>
          <a:p>
            <a:fld id="{CE878D80-AF11-6343-918A-0BF62098A907}" type="slidenum">
              <a:rPr lang="en-US" smtClean="0"/>
              <a:t>30</a:t>
            </a:fld>
            <a:endParaRPr lang="en-US"/>
          </a:p>
        </p:txBody>
      </p:sp>
    </p:spTree>
    <p:extLst>
      <p:ext uri="{BB962C8B-B14F-4D97-AF65-F5344CB8AC3E}">
        <p14:creationId xmlns:p14="http://schemas.microsoft.com/office/powerpoint/2010/main" val="26542189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两两独立而不相互独立</a:t>
            </a:r>
          </a:p>
        </p:txBody>
      </p:sp>
      <p:pic>
        <p:nvPicPr>
          <p:cNvPr id="6" name="Content Placeholder 5" descr="Screen Shot 2017-09-06 at 3.54.38 PM.png"/>
          <p:cNvPicPr>
            <a:picLocks noGrp="1" noChangeAspect="1"/>
          </p:cNvPicPr>
          <p:nvPr>
            <p:ph idx="1"/>
          </p:nvPr>
        </p:nvPicPr>
        <p:blipFill rotWithShape="1">
          <a:blip r:embed="rId2">
            <a:extLst>
              <a:ext uri="{28A0092B-C50C-407E-A947-70E740481C1C}">
                <a14:useLocalDpi xmlns:a14="http://schemas.microsoft.com/office/drawing/2010/main" val="0"/>
              </a:ext>
            </a:extLst>
          </a:blip>
          <a:srcRect t="1743" b="54368"/>
          <a:stretch>
            <a:fillRect/>
          </a:stretch>
        </p:blipFill>
        <p:spPr>
          <a:xfrm>
            <a:off x="457200" y="1873250"/>
            <a:ext cx="8229600" cy="1651000"/>
          </a:xfrm>
        </p:spPr>
      </p:pic>
      <p:sp>
        <p:nvSpPr>
          <p:cNvPr id="4" name="Date Placeholder 3"/>
          <p:cNvSpPr>
            <a:spLocks noGrp="1"/>
          </p:cNvSpPr>
          <p:nvPr>
            <p:ph type="dt" sz="half" idx="10"/>
          </p:nvPr>
        </p:nvSpPr>
        <p:spPr/>
        <p:txBody>
          <a:bodyPr/>
          <a:lstStyle/>
          <a:p>
            <a:fld id="{E1C68FA7-58D4-B64D-A671-4AA0982894C6}" type="datetime1">
              <a:rPr lang="en-US" smtClean="0"/>
              <a:t>9/19/2026</a:t>
            </a:fld>
            <a:endParaRPr lang="en-US"/>
          </a:p>
        </p:txBody>
      </p:sp>
      <p:sp>
        <p:nvSpPr>
          <p:cNvPr id="5" name="Slide Number Placeholder 4"/>
          <p:cNvSpPr>
            <a:spLocks noGrp="1"/>
          </p:cNvSpPr>
          <p:nvPr>
            <p:ph type="sldNum" sz="quarter" idx="12"/>
          </p:nvPr>
        </p:nvSpPr>
        <p:spPr/>
        <p:txBody>
          <a:bodyPr/>
          <a:lstStyle/>
          <a:p>
            <a:fld id="{CE878D80-AF11-6343-918A-0BF62098A907}" type="slidenum">
              <a:rPr lang="en-US" smtClean="0"/>
              <a:t>31</a:t>
            </a:fld>
            <a:endParaRPr lang="en-US"/>
          </a:p>
        </p:txBody>
      </p:sp>
      <p:pic>
        <p:nvPicPr>
          <p:cNvPr id="3" name="Picture 2" descr="JointInd.gif"/>
          <p:cNvPicPr>
            <a:picLocks noChangeAspect="1"/>
          </p:cNvPicPr>
          <p:nvPr/>
        </p:nvPicPr>
        <p:blipFill rotWithShape="1">
          <a:blip r:embed="rId3">
            <a:duotone>
              <a:prstClr val="black"/>
              <a:schemeClr val="accent2">
                <a:tint val="45000"/>
                <a:satMod val="400000"/>
              </a:schemeClr>
            </a:duotone>
            <a:extLst>
              <a:ext uri="{28A0092B-C50C-407E-A947-70E740481C1C}">
                <a14:useLocalDpi xmlns:a14="http://schemas.microsoft.com/office/drawing/2010/main" val="0"/>
              </a:ext>
            </a:extLst>
          </a:blip>
          <a:srcRect l="54830" b="9371"/>
          <a:stretch>
            <a:fillRect/>
          </a:stretch>
        </p:blipFill>
        <p:spPr>
          <a:xfrm>
            <a:off x="2940051" y="3746500"/>
            <a:ext cx="2484622" cy="278239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独立事件列</a:t>
            </a:r>
          </a:p>
        </p:txBody>
      </p:sp>
      <p:sp>
        <p:nvSpPr>
          <p:cNvPr id="3" name="内容占位符 2"/>
          <p:cNvSpPr>
            <a:spLocks noGrp="1"/>
          </p:cNvSpPr>
          <p:nvPr>
            <p:ph idx="1"/>
          </p:nvPr>
        </p:nvSpPr>
        <p:spPr/>
        <p:txBody>
          <a:bodyPr/>
          <a:lstStyle/>
          <a:p>
            <a:r>
              <a:rPr lang="zh-CN" altLang="en-US" dirty="0"/>
              <a:t>如果事件列 </a:t>
            </a:r>
            <a:r>
              <a:rPr lang="en-US" altLang="zh-CN" dirty="0"/>
              <a:t>{A</a:t>
            </a:r>
            <a:r>
              <a:rPr lang="en-US" altLang="zh-CN" baseline="-25000" dirty="0"/>
              <a:t>n</a:t>
            </a:r>
            <a:r>
              <a:rPr lang="en-US" altLang="zh-CN" dirty="0"/>
              <a:t> : n = 1,2,··· ,∞} </a:t>
            </a:r>
            <a:r>
              <a:rPr lang="zh-CN" altLang="en-US" dirty="0"/>
              <a:t>中任意有限个事件相互独立</a:t>
            </a:r>
            <a:r>
              <a:rPr lang="en-US" altLang="zh-CN" dirty="0"/>
              <a:t>, </a:t>
            </a:r>
            <a:r>
              <a:rPr lang="zh-CN" altLang="en-US" dirty="0"/>
              <a:t>那么称其为独立事件列</a:t>
            </a:r>
            <a:r>
              <a:rPr lang="en-US" altLang="zh-CN" dirty="0"/>
              <a:t>. </a:t>
            </a:r>
            <a:r>
              <a:rPr lang="zh-CN" altLang="en-US" dirty="0"/>
              <a:t>如果其中任意两个事件相互独立</a:t>
            </a:r>
            <a:r>
              <a:rPr lang="en-US" altLang="zh-CN" dirty="0"/>
              <a:t>, </a:t>
            </a:r>
            <a:r>
              <a:rPr lang="zh-CN" altLang="en-US" dirty="0"/>
              <a:t>那么称其为两两独立事件列</a:t>
            </a:r>
            <a:r>
              <a:rPr lang="en-US" altLang="zh-CN" dirty="0"/>
              <a:t>.</a:t>
            </a:r>
            <a:endParaRPr lang="zh-CN" altLang="en-US" dirty="0"/>
          </a:p>
        </p:txBody>
      </p:sp>
      <p:sp>
        <p:nvSpPr>
          <p:cNvPr id="4" name="日期占位符 3"/>
          <p:cNvSpPr>
            <a:spLocks noGrp="1"/>
          </p:cNvSpPr>
          <p:nvPr>
            <p:ph type="dt" sz="half" idx="10"/>
          </p:nvPr>
        </p:nvSpPr>
        <p:spPr/>
        <p:txBody>
          <a:bodyPr/>
          <a:lstStyle/>
          <a:p>
            <a:fld id="{E1C68FA7-58D4-B64D-A671-4AA0982894C6}" type="datetime1">
              <a:rPr lang="en-US" smtClean="0"/>
              <a:t>9/19/2026</a:t>
            </a:fld>
            <a:endParaRPr lang="en-US"/>
          </a:p>
        </p:txBody>
      </p:sp>
      <p:sp>
        <p:nvSpPr>
          <p:cNvPr id="5" name="灯片编号占位符 4"/>
          <p:cNvSpPr>
            <a:spLocks noGrp="1"/>
          </p:cNvSpPr>
          <p:nvPr>
            <p:ph type="sldNum" sz="quarter" idx="12"/>
          </p:nvPr>
        </p:nvSpPr>
        <p:spPr/>
        <p:txBody>
          <a:bodyPr/>
          <a:lstStyle/>
          <a:p>
            <a:fld id="{CE878D80-AF11-6343-918A-0BF62098A907}" type="slidenum">
              <a:rPr lang="en-US" smtClean="0"/>
              <a:t>32</a:t>
            </a:fld>
            <a:endParaRPr lang="en-US"/>
          </a:p>
        </p:txBody>
      </p:sp>
    </p:spTree>
    <p:extLst>
      <p:ext uri="{BB962C8B-B14F-4D97-AF65-F5344CB8AC3E}">
        <p14:creationId xmlns:p14="http://schemas.microsoft.com/office/powerpoint/2010/main" val="38595322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知识点结构图</a:t>
            </a:r>
          </a:p>
        </p:txBody>
      </p:sp>
      <p:pic>
        <p:nvPicPr>
          <p:cNvPr id="6" name="内容占位符 5"/>
          <p:cNvPicPr>
            <a:picLocks noGrp="1" noChangeAspect="1"/>
          </p:cNvPicPr>
          <p:nvPr>
            <p:ph idx="1"/>
          </p:nvPr>
        </p:nvPicPr>
        <p:blipFill>
          <a:blip r:embed="rId2"/>
          <a:stretch>
            <a:fillRect/>
          </a:stretch>
        </p:blipFill>
        <p:spPr>
          <a:xfrm>
            <a:off x="977853" y="1600200"/>
            <a:ext cx="7188294" cy="4525963"/>
          </a:xfrm>
          <a:prstGeom prst="rect">
            <a:avLst/>
          </a:prstGeom>
        </p:spPr>
      </p:pic>
      <p:sp>
        <p:nvSpPr>
          <p:cNvPr id="4" name="日期占位符 3"/>
          <p:cNvSpPr>
            <a:spLocks noGrp="1"/>
          </p:cNvSpPr>
          <p:nvPr>
            <p:ph type="dt" sz="half" idx="10"/>
          </p:nvPr>
        </p:nvSpPr>
        <p:spPr/>
        <p:txBody>
          <a:bodyPr/>
          <a:lstStyle/>
          <a:p>
            <a:fld id="{E1C68FA7-58D4-B64D-A671-4AA0982894C6}" type="datetime1">
              <a:rPr lang="en-US" smtClean="0"/>
              <a:t>9/19/2026</a:t>
            </a:fld>
            <a:endParaRPr lang="en-US"/>
          </a:p>
        </p:txBody>
      </p:sp>
      <p:sp>
        <p:nvSpPr>
          <p:cNvPr id="5" name="灯片编号占位符 4"/>
          <p:cNvSpPr>
            <a:spLocks noGrp="1"/>
          </p:cNvSpPr>
          <p:nvPr>
            <p:ph type="sldNum" sz="quarter" idx="12"/>
          </p:nvPr>
        </p:nvSpPr>
        <p:spPr/>
        <p:txBody>
          <a:bodyPr/>
          <a:lstStyle/>
          <a:p>
            <a:fld id="{CE878D80-AF11-6343-918A-0BF62098A907}" type="slidenum">
              <a:rPr lang="en-US" smtClean="0"/>
              <a:t>33</a:t>
            </a:fld>
            <a:endParaRPr lang="en-US"/>
          </a:p>
        </p:txBody>
      </p:sp>
    </p:spTree>
    <p:extLst>
      <p:ext uri="{BB962C8B-B14F-4D97-AF65-F5344CB8AC3E}">
        <p14:creationId xmlns:p14="http://schemas.microsoft.com/office/powerpoint/2010/main" val="29243199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4" name="Date Placeholder 3"/>
          <p:cNvSpPr>
            <a:spLocks noGrp="1"/>
          </p:cNvSpPr>
          <p:nvPr>
            <p:ph type="dt" sz="half" idx="10"/>
          </p:nvPr>
        </p:nvSpPr>
        <p:spPr/>
        <p:txBody>
          <a:bodyPr/>
          <a:lstStyle/>
          <a:p>
            <a:fld id="{E1C68FA7-58D4-B64D-A671-4AA0982894C6}" type="datetime1">
              <a:rPr lang="en-US" smtClean="0"/>
              <a:t>9/19/2026</a:t>
            </a:fld>
            <a:endParaRPr lang="en-US"/>
          </a:p>
        </p:txBody>
      </p:sp>
      <p:sp>
        <p:nvSpPr>
          <p:cNvPr id="5" name="Slide Number Placeholder 4"/>
          <p:cNvSpPr>
            <a:spLocks noGrp="1"/>
          </p:cNvSpPr>
          <p:nvPr>
            <p:ph type="sldNum" sz="quarter" idx="12"/>
          </p:nvPr>
        </p:nvSpPr>
        <p:spPr/>
        <p:txBody>
          <a:bodyPr/>
          <a:lstStyle/>
          <a:p>
            <a:fld id="{CE878D80-AF11-6343-918A-0BF62098A907}" type="slidenum">
              <a:rPr lang="en-US" smtClean="0"/>
              <a:t>34</a:t>
            </a:fld>
            <a:endParaRPr lang="en-US"/>
          </a:p>
        </p:txBody>
      </p:sp>
      <p:pic>
        <p:nvPicPr>
          <p:cNvPr id="6" name="Picture 2" descr="C:\Documents and Settings\Hawking\Local Settings\Temporary Internet Files\Content.IE5\9XYGENB8\MCj04160280000[1].wmf"/>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24766" r="-24766"/>
          <a:stretch>
            <a:fillRect/>
          </a:stretch>
        </p:blipFill>
        <p:spPr>
          <a:xfrm>
            <a:off x="1438236" y="2007877"/>
            <a:ext cx="6213837" cy="3417371"/>
          </a:xfr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4118</TotalTime>
  <Words>1374</Words>
  <Application>Microsoft Office PowerPoint</Application>
  <PresentationFormat>全屏显示(4:3)</PresentationFormat>
  <Paragraphs>160</Paragraphs>
  <Slides>34</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34</vt:i4>
      </vt:variant>
    </vt:vector>
  </HeadingPairs>
  <TitlesOfParts>
    <vt:vector size="40" baseType="lpstr">
      <vt:lpstr>宋体</vt:lpstr>
      <vt:lpstr>Arial</vt:lpstr>
      <vt:lpstr>Calibri</vt:lpstr>
      <vt:lpstr>Cambria Math</vt:lpstr>
      <vt:lpstr>Tahoma</vt:lpstr>
      <vt:lpstr>Office Theme</vt:lpstr>
      <vt:lpstr>概率论与数理统计 第一章</vt:lpstr>
      <vt:lpstr>条件概率</vt:lpstr>
      <vt:lpstr>概率与条件概率</vt:lpstr>
      <vt:lpstr>概率与条件概率</vt:lpstr>
      <vt:lpstr>例子</vt:lpstr>
      <vt:lpstr>例子</vt:lpstr>
      <vt:lpstr>例子</vt:lpstr>
      <vt:lpstr>例子</vt:lpstr>
      <vt:lpstr>乘法公式</vt:lpstr>
      <vt:lpstr>抽签很公平</vt:lpstr>
      <vt:lpstr>条件概率也是概率</vt:lpstr>
      <vt:lpstr>完备事件群</vt:lpstr>
      <vt:lpstr>样本空间的分割</vt:lpstr>
      <vt:lpstr>全概率公式</vt:lpstr>
      <vt:lpstr>PowerPoint 演示文稿</vt:lpstr>
      <vt:lpstr>敏感性问题</vt:lpstr>
      <vt:lpstr>旧题新解</vt:lpstr>
      <vt:lpstr>波利亚罐子模型</vt:lpstr>
      <vt:lpstr>波利亚罐子模型</vt:lpstr>
      <vt:lpstr>贝叶斯公式(Bayes)</vt:lpstr>
      <vt:lpstr>PowerPoint 演示文稿</vt:lpstr>
      <vt:lpstr>例4：对疾病发生概率的认识</vt:lpstr>
      <vt:lpstr>例子</vt:lpstr>
      <vt:lpstr>概率树图</vt:lpstr>
      <vt:lpstr>事件的独立性 </vt:lpstr>
      <vt:lpstr>事件的独立性 </vt:lpstr>
      <vt:lpstr>相互独立</vt:lpstr>
      <vt:lpstr>常在河边走, 哪有不湿鞋</vt:lpstr>
      <vt:lpstr>并联还是串联？</vt:lpstr>
      <vt:lpstr>n 个事件两两独立</vt:lpstr>
      <vt:lpstr>两两独立而不相互独立</vt:lpstr>
      <vt:lpstr>独立事件列</vt:lpstr>
      <vt:lpstr>知识点结构图</vt:lpstr>
      <vt:lpstr>PowerPoint 演示文稿</vt:lpstr>
    </vt:vector>
  </TitlesOfParts>
  <Company>yale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统计学 ---透过数据看世界</dc:title>
  <dc:creator>Canhong Wen</dc:creator>
  <cp:lastModifiedBy>Administrator</cp:lastModifiedBy>
  <cp:revision>224</cp:revision>
  <cp:lastPrinted>2018-09-05T03:06:00Z</cp:lastPrinted>
  <dcterms:created xsi:type="dcterms:W3CDTF">2017-07-14T02:32:00Z</dcterms:created>
  <dcterms:modified xsi:type="dcterms:W3CDTF">2026-09-19T05:19:39Z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2052-11.1.0.9999</vt:lpwstr>
  </property>
</Properties>
</file>