
<file path=[Content_Types].xml><?xml version="1.0" encoding="utf-8"?>
<Types xmlns="http://schemas.openxmlformats.org/package/2006/content-types">
  <Default Extension="jpeg" ContentType="image/jpeg"/>
  <Default Extension="JPG" ContentType="image/.jpg"/>
  <Default Extension="png" ContentType="image/pn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45"/>
  </p:notesMasterIdLst>
  <p:handoutMasterIdLst>
    <p:handoutMasterId r:id="rId46"/>
  </p:handoutMasterIdLst>
  <p:sldIdLst>
    <p:sldId id="256" r:id="rId3"/>
    <p:sldId id="257" r:id="rId4"/>
    <p:sldId id="287" r:id="rId5"/>
    <p:sldId id="316" r:id="rId6"/>
    <p:sldId id="272" r:id="rId7"/>
    <p:sldId id="314" r:id="rId8"/>
    <p:sldId id="271" r:id="rId9"/>
    <p:sldId id="274" r:id="rId10"/>
    <p:sldId id="315" r:id="rId11"/>
    <p:sldId id="317" r:id="rId12"/>
    <p:sldId id="338" r:id="rId13"/>
    <p:sldId id="339" r:id="rId14"/>
    <p:sldId id="340" r:id="rId15"/>
    <p:sldId id="341" r:id="rId16"/>
    <p:sldId id="318" r:id="rId17"/>
    <p:sldId id="313" r:id="rId18"/>
    <p:sldId id="290" r:id="rId19"/>
    <p:sldId id="319" r:id="rId20"/>
    <p:sldId id="280" r:id="rId21"/>
    <p:sldId id="320" r:id="rId22"/>
    <p:sldId id="321" r:id="rId23"/>
    <p:sldId id="324" r:id="rId24"/>
    <p:sldId id="322" r:id="rId25"/>
    <p:sldId id="323" r:id="rId26"/>
    <p:sldId id="325" r:id="rId27"/>
    <p:sldId id="326" r:id="rId28"/>
    <p:sldId id="327" r:id="rId29"/>
    <p:sldId id="328" r:id="rId30"/>
    <p:sldId id="329" r:id="rId31"/>
    <p:sldId id="342" r:id="rId32"/>
    <p:sldId id="330" r:id="rId33"/>
    <p:sldId id="331" r:id="rId34"/>
    <p:sldId id="343" r:id="rId35"/>
    <p:sldId id="332" r:id="rId36"/>
    <p:sldId id="344" r:id="rId37"/>
    <p:sldId id="333" r:id="rId38"/>
    <p:sldId id="345" r:id="rId39"/>
    <p:sldId id="334" r:id="rId40"/>
    <p:sldId id="346" r:id="rId41"/>
    <p:sldId id="335" r:id="rId42"/>
    <p:sldId id="276" r:id="rId43"/>
    <p:sldId id="337" r:id="rId44"/>
  </p:sldIdLst>
  <p:sldSz cx="9144000" cy="6858000" type="screen4x3"/>
  <p:notesSz cx="9928225" cy="679767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9"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6" frameSlides="1"/>
  <p:clrMru>
    <a:srgbClr val="EAFFED"/>
    <a:srgbClr val="23EFFF"/>
    <a:srgbClr val="37ED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5076" autoAdjust="0"/>
  </p:normalViewPr>
  <p:slideViewPr>
    <p:cSldViewPr snapToGrid="0" snapToObjects="1" showGuides="1">
      <p:cViewPr varScale="1">
        <p:scale>
          <a:sx n="108" d="100"/>
          <a:sy n="108" d="100"/>
        </p:scale>
        <p:origin x="1704" y="102"/>
      </p:cViewPr>
      <p:guideLst>
        <p:guide orient="horz" pos="2159"/>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9" Type="http://schemas.openxmlformats.org/officeDocument/2006/relationships/tableStyles" Target="tableStyles.xml"/><Relationship Id="rId48" Type="http://schemas.openxmlformats.org/officeDocument/2006/relationships/viewProps" Target="viewProps.xml"/><Relationship Id="rId47" Type="http://schemas.openxmlformats.org/officeDocument/2006/relationships/presProps" Target="presProps.xml"/><Relationship Id="rId46" Type="http://schemas.openxmlformats.org/officeDocument/2006/relationships/handoutMaster" Target="handoutMasters/handoutMaster1.xml"/><Relationship Id="rId45" Type="http://schemas.openxmlformats.org/officeDocument/2006/relationships/notesMaster" Target="notesMasters/notesMaster1.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02231" cy="339884"/>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5623697" y="0"/>
            <a:ext cx="4302231" cy="339884"/>
          </a:xfrm>
          <a:prstGeom prst="rect">
            <a:avLst/>
          </a:prstGeom>
        </p:spPr>
        <p:txBody>
          <a:bodyPr vert="horz" lIns="91440" tIns="45720" rIns="91440" bIns="45720" rtlCol="0"/>
          <a:lstStyle>
            <a:lvl1pPr algn="r">
              <a:defRPr sz="1200"/>
            </a:lvl1pPr>
          </a:lstStyle>
          <a:p>
            <a:fld id="{790684AE-45D3-DC4C-96CB-08479E342D95}" type="datetimeFigureOut">
              <a:rPr lang="en-US" smtClean="0"/>
            </a:fld>
            <a:endParaRPr lang="en-US"/>
          </a:p>
        </p:txBody>
      </p:sp>
      <p:sp>
        <p:nvSpPr>
          <p:cNvPr id="4" name="Footer Placeholder 3"/>
          <p:cNvSpPr>
            <a:spLocks noGrp="1"/>
          </p:cNvSpPr>
          <p:nvPr>
            <p:ph type="ftr" sz="quarter" idx="2"/>
          </p:nvPr>
        </p:nvSpPr>
        <p:spPr>
          <a:xfrm>
            <a:off x="0" y="6456612"/>
            <a:ext cx="4302231" cy="339884"/>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5623697" y="6456612"/>
            <a:ext cx="4302231" cy="339884"/>
          </a:xfrm>
          <a:prstGeom prst="rect">
            <a:avLst/>
          </a:prstGeom>
        </p:spPr>
        <p:txBody>
          <a:bodyPr vert="horz" lIns="91440" tIns="45720" rIns="91440" bIns="45720" rtlCol="0" anchor="b"/>
          <a:lstStyle>
            <a:lvl1pPr algn="r">
              <a:defRPr sz="1200"/>
            </a:lvl1pPr>
          </a:lstStyle>
          <a:p>
            <a:fld id="{0804FCE7-946B-0941-AA33-AC890EF78710}" type="slidenum">
              <a:rPr lang="en-US" smtClean="0"/>
            </a:fld>
            <a:endParaRPr lang="en-US"/>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02231" cy="339884"/>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623697" y="0"/>
            <a:ext cx="4302231" cy="339884"/>
          </a:xfrm>
          <a:prstGeom prst="rect">
            <a:avLst/>
          </a:prstGeom>
        </p:spPr>
        <p:txBody>
          <a:bodyPr vert="horz" lIns="91440" tIns="45720" rIns="91440" bIns="45720" rtlCol="0"/>
          <a:lstStyle>
            <a:lvl1pPr algn="r">
              <a:defRPr sz="1200"/>
            </a:lvl1pPr>
          </a:lstStyle>
          <a:p>
            <a:fld id="{B35B1418-61C9-2D48-9A88-69141C401325}" type="datetimeFigureOut">
              <a:rPr lang="en-US" smtClean="0"/>
            </a:fld>
            <a:endParaRPr lang="en-US"/>
          </a:p>
        </p:txBody>
      </p:sp>
      <p:sp>
        <p:nvSpPr>
          <p:cNvPr id="4" name="Slide Image Placeholder 3"/>
          <p:cNvSpPr>
            <a:spLocks noGrp="1" noRot="1" noChangeAspect="1"/>
          </p:cNvSpPr>
          <p:nvPr>
            <p:ph type="sldImg" idx="2"/>
          </p:nvPr>
        </p:nvSpPr>
        <p:spPr>
          <a:xfrm>
            <a:off x="3263900" y="509588"/>
            <a:ext cx="3400425" cy="25495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92823" y="3228896"/>
            <a:ext cx="7942580" cy="3058954"/>
          </a:xfrm>
          <a:prstGeom prst="rect">
            <a:avLst/>
          </a:prstGeom>
        </p:spPr>
        <p:txBody>
          <a:bodyPr vert="horz" lIns="91440" tIns="45720" rIns="91440" bIns="45720" rtlCol="0"/>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en-US"/>
          </a:p>
        </p:txBody>
      </p:sp>
      <p:sp>
        <p:nvSpPr>
          <p:cNvPr id="6" name="Footer Placeholder 5"/>
          <p:cNvSpPr>
            <a:spLocks noGrp="1"/>
          </p:cNvSpPr>
          <p:nvPr>
            <p:ph type="ftr" sz="quarter" idx="4"/>
          </p:nvPr>
        </p:nvSpPr>
        <p:spPr>
          <a:xfrm>
            <a:off x="0" y="6456612"/>
            <a:ext cx="4302231" cy="339884"/>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623697" y="6456612"/>
            <a:ext cx="4302231" cy="339884"/>
          </a:xfrm>
          <a:prstGeom prst="rect">
            <a:avLst/>
          </a:prstGeom>
        </p:spPr>
        <p:txBody>
          <a:bodyPr vert="horz" lIns="91440" tIns="45720" rIns="91440" bIns="45720" rtlCol="0" anchor="b"/>
          <a:lstStyle>
            <a:lvl1pPr algn="r">
              <a:defRPr sz="1200"/>
            </a:lvl1pPr>
          </a:lstStyle>
          <a:p>
            <a:fld id="{CD16D7E8-39AA-4948-856E-6F5FED075698}" type="slidenum">
              <a:rPr lang="en-US" smtClean="0"/>
            </a:fld>
            <a:endParaRPr lang="en-US"/>
          </a:p>
        </p:txBody>
      </p:sp>
    </p:spTree>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ltLang="zh-CN"/>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ltLang="zh-CN"/>
              <a:t>Click to edit Master subtitle style</a:t>
            </a:r>
            <a:endParaRPr lang="en-US"/>
          </a:p>
        </p:txBody>
      </p:sp>
      <p:sp>
        <p:nvSpPr>
          <p:cNvPr id="4" name="Date Placeholder 3"/>
          <p:cNvSpPr>
            <a:spLocks noGrp="1"/>
          </p:cNvSpPr>
          <p:nvPr>
            <p:ph type="dt" sz="half" idx="10"/>
          </p:nvPr>
        </p:nvSpPr>
        <p:spPr/>
        <p:txBody>
          <a:bodyPr/>
          <a:lstStyle/>
          <a:p>
            <a:fld id="{040CDE07-3058-2D44-8D38-CEB42FE9D031}"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878D80-AF11-6343-918A-0BF62098A907}"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r">
              <a:defRPr sz="3200"/>
            </a:lvl1pPr>
          </a:lstStyle>
          <a:p>
            <a:r>
              <a:rPr lang="en-US" altLang="zh-CN" dirty="0"/>
              <a:t>Click to edit Master title style</a:t>
            </a:r>
            <a:endParaRPr lang="en-US" dirty="0"/>
          </a:p>
        </p:txBody>
      </p:sp>
      <p:sp>
        <p:nvSpPr>
          <p:cNvPr id="3" name="Content Placeholder 2"/>
          <p:cNvSpPr>
            <a:spLocks noGrp="1"/>
          </p:cNvSpPr>
          <p:nvPr>
            <p:ph idx="1"/>
          </p:nvPr>
        </p:nvSpPr>
        <p:spPr/>
        <p:txBody>
          <a:bodyPr/>
          <a:lstStyle>
            <a:lvl1pPr>
              <a:defRPr sz="2800"/>
            </a:lvl1pPr>
          </a:lstStyle>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dirty="0"/>
          </a:p>
        </p:txBody>
      </p:sp>
      <p:sp>
        <p:nvSpPr>
          <p:cNvPr id="4" name="Date Placeholder 3"/>
          <p:cNvSpPr>
            <a:spLocks noGrp="1"/>
          </p:cNvSpPr>
          <p:nvPr>
            <p:ph type="dt" sz="half" idx="10"/>
          </p:nvPr>
        </p:nvSpPr>
        <p:spPr/>
        <p:txBody>
          <a:bodyPr/>
          <a:lstStyle/>
          <a:p>
            <a:fld id="{E1C68FA7-58D4-B64D-A671-4AA0982894C6}"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878D80-AF11-6343-918A-0BF62098A907}"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lstStyle>
            <a:lvl1pPr algn="l">
              <a:defRPr sz="4000" b="1" cap="all"/>
            </a:lvl1pPr>
          </a:lstStyle>
          <a:p>
            <a:r>
              <a:rPr lang="en-US" altLang="zh-CN"/>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ltLang="zh-CN"/>
              <a:t>Click to edit Master text styles</a:t>
            </a:r>
            <a:endParaRPr lang="en-US" altLang="zh-CN"/>
          </a:p>
        </p:txBody>
      </p:sp>
      <p:sp>
        <p:nvSpPr>
          <p:cNvPr id="4" name="Date Placeholder 3"/>
          <p:cNvSpPr>
            <a:spLocks noGrp="1"/>
          </p:cNvSpPr>
          <p:nvPr>
            <p:ph type="dt" sz="half" idx="10"/>
          </p:nvPr>
        </p:nvSpPr>
        <p:spPr/>
        <p:txBody>
          <a:bodyPr/>
          <a:lstStyle/>
          <a:p>
            <a:fld id="{4C45BD5F-51A1-0745-94CC-710165E6F846}"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878D80-AF11-6343-918A-0BF62098A907}"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en-US"/>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en-US"/>
          </a:p>
        </p:txBody>
      </p:sp>
      <p:sp>
        <p:nvSpPr>
          <p:cNvPr id="5" name="Date Placeholder 4"/>
          <p:cNvSpPr>
            <a:spLocks noGrp="1"/>
          </p:cNvSpPr>
          <p:nvPr>
            <p:ph type="dt" sz="half" idx="10"/>
          </p:nvPr>
        </p:nvSpPr>
        <p:spPr/>
        <p:txBody>
          <a:bodyPr/>
          <a:lstStyle/>
          <a:p>
            <a:fld id="{08B2BA12-B5F8-5349-9106-3ED91772E835}" type="datetime1">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E878D80-AF11-6343-918A-0BF62098A907}"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ltLang="zh-CN"/>
              <a:t>Click to edit Master title style</a:t>
            </a:r>
            <a:endParaRPr lang="en-US"/>
          </a:p>
        </p:txBody>
      </p:sp>
      <p:sp>
        <p:nvSpPr>
          <p:cNvPr id="3" name="Text Placeholder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endParaRPr lang="en-US" altLang="zh-CN"/>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en-US"/>
          </a:p>
        </p:txBody>
      </p:sp>
      <p:sp>
        <p:nvSpPr>
          <p:cNvPr id="5" name="Text Placeholder 4"/>
          <p:cNvSpPr>
            <a:spLocks noGrp="1"/>
          </p:cNvSpPr>
          <p:nvPr>
            <p:ph type="body" sz="quarter" idx="3"/>
          </p:nvPr>
        </p:nvSpPr>
        <p:spPr>
          <a:xfrm>
            <a:off x="4645027"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endParaRPr lang="en-US" altLang="zh-CN"/>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en-US"/>
          </a:p>
        </p:txBody>
      </p:sp>
      <p:sp>
        <p:nvSpPr>
          <p:cNvPr id="7" name="Date Placeholder 6"/>
          <p:cNvSpPr>
            <a:spLocks noGrp="1"/>
          </p:cNvSpPr>
          <p:nvPr>
            <p:ph type="dt" sz="half" idx="10"/>
          </p:nvPr>
        </p:nvSpPr>
        <p:spPr/>
        <p:txBody>
          <a:bodyPr/>
          <a:lstStyle/>
          <a:p>
            <a:fld id="{F3A148DE-2B54-9648-8E4D-F90FC0EA5A1D}" type="datetime1">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E878D80-AF11-6343-918A-0BF62098A907}"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a:p>
        </p:txBody>
      </p:sp>
      <p:sp>
        <p:nvSpPr>
          <p:cNvPr id="3" name="Date Placeholder 2"/>
          <p:cNvSpPr>
            <a:spLocks noGrp="1"/>
          </p:cNvSpPr>
          <p:nvPr>
            <p:ph type="dt" sz="half" idx="10"/>
          </p:nvPr>
        </p:nvSpPr>
        <p:spPr/>
        <p:txBody>
          <a:bodyPr/>
          <a:lstStyle/>
          <a:p>
            <a:fld id="{1067EF10-ABB0-D942-BAD3-4B51CF9B4BFE}" type="datetime1">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E878D80-AF11-6343-918A-0BF62098A907}"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070DA97-287C-474E-BCA8-E2BBEC43B806}" type="datetime1">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E878D80-AF11-6343-918A-0BF62098A907}"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49"/>
            <a:ext cx="3008313" cy="1162051"/>
          </a:xfrm>
        </p:spPr>
        <p:txBody>
          <a:bodyPr anchor="b"/>
          <a:lstStyle>
            <a:lvl1pPr algn="l">
              <a:defRPr sz="2000" b="1"/>
            </a:lvl1pPr>
          </a:lstStyle>
          <a:p>
            <a:r>
              <a:rPr lang="en-US" altLang="zh-CN"/>
              <a:t>Click to edit Master title style</a:t>
            </a:r>
            <a:endParaRPr lang="en-US"/>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en-US"/>
          </a:p>
        </p:txBody>
      </p:sp>
      <p:sp>
        <p:nvSpPr>
          <p:cNvPr id="4" name="Text Placeholder 3"/>
          <p:cNvSpPr>
            <a:spLocks noGrp="1"/>
          </p:cNvSpPr>
          <p:nvPr>
            <p:ph type="body" sz="half" idx="2"/>
          </p:nvPr>
        </p:nvSpPr>
        <p:spPr>
          <a:xfrm>
            <a:off x="457202"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Click to edit Master text styles</a:t>
            </a:r>
            <a:endParaRPr lang="en-US" altLang="zh-CN"/>
          </a:p>
        </p:txBody>
      </p:sp>
      <p:sp>
        <p:nvSpPr>
          <p:cNvPr id="5" name="Date Placeholder 4"/>
          <p:cNvSpPr>
            <a:spLocks noGrp="1"/>
          </p:cNvSpPr>
          <p:nvPr>
            <p:ph type="dt" sz="half" idx="10"/>
          </p:nvPr>
        </p:nvSpPr>
        <p:spPr/>
        <p:txBody>
          <a:bodyPr/>
          <a:lstStyle/>
          <a:p>
            <a:fld id="{A061AF66-7173-C84D-82CC-DB9810A2C442}" type="datetime1">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E878D80-AF11-6343-918A-0BF62098A907}"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9"/>
          </a:xfrm>
        </p:spPr>
        <p:txBody>
          <a:bodyPr anchor="b"/>
          <a:lstStyle>
            <a:lvl1pPr algn="l">
              <a:defRPr sz="2000" b="1"/>
            </a:lvl1pPr>
          </a:lstStyle>
          <a:p>
            <a:r>
              <a:rPr lang="en-US" altLang="zh-CN"/>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Click to edit Master text styles</a:t>
            </a:r>
            <a:endParaRPr lang="en-US" altLang="zh-CN"/>
          </a:p>
        </p:txBody>
      </p:sp>
      <p:sp>
        <p:nvSpPr>
          <p:cNvPr id="5" name="Date Placeholder 4"/>
          <p:cNvSpPr>
            <a:spLocks noGrp="1"/>
          </p:cNvSpPr>
          <p:nvPr>
            <p:ph type="dt" sz="half" idx="10"/>
          </p:nvPr>
        </p:nvSpPr>
        <p:spPr/>
        <p:txBody>
          <a:bodyPr/>
          <a:lstStyle/>
          <a:p>
            <a:fld id="{3042BB0F-BD4C-344E-84DD-0384ED14408D}" type="datetime1">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E878D80-AF11-6343-918A-0BF62098A907}"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en-US"/>
          </a:p>
        </p:txBody>
      </p:sp>
      <p:sp>
        <p:nvSpPr>
          <p:cNvPr id="4" name="Date Placeholder 3"/>
          <p:cNvSpPr>
            <a:spLocks noGrp="1"/>
          </p:cNvSpPr>
          <p:nvPr>
            <p:ph type="dt" sz="half" idx="10"/>
          </p:nvPr>
        </p:nvSpPr>
        <p:spPr/>
        <p:txBody>
          <a:bodyPr/>
          <a:lstStyle/>
          <a:p>
            <a:fld id="{AF855E82-F0B2-8F4E-B79B-C7D8C98EB06E}"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878D80-AF11-6343-918A-0BF62098A907}"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ltLang="zh-CN"/>
              <a:t>Click to edit Master title style</a:t>
            </a:r>
            <a:endParaRPr lang="en-US"/>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en-US"/>
          </a:p>
        </p:txBody>
      </p:sp>
      <p:sp>
        <p:nvSpPr>
          <p:cNvPr id="4" name="Date Placeholder 3"/>
          <p:cNvSpPr>
            <a:spLocks noGrp="1"/>
          </p:cNvSpPr>
          <p:nvPr>
            <p:ph type="dt" sz="half" idx="10"/>
          </p:nvPr>
        </p:nvSpPr>
        <p:spPr/>
        <p:txBody>
          <a:bodyPr/>
          <a:lstStyle/>
          <a:p>
            <a:fld id="{4A57A9AA-1E22-C345-BD33-375F90D922B8}"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878D80-AF11-6343-918A-0BF62098A907}"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150940" y="214314"/>
            <a:ext cx="7793037" cy="1462087"/>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1182688" y="2017713"/>
            <a:ext cx="3810000" cy="4114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5145088" y="2017713"/>
            <a:ext cx="3810000" cy="4114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灯片编号占位符 4"/>
          <p:cNvSpPr>
            <a:spLocks noGrp="1"/>
          </p:cNvSpPr>
          <p:nvPr>
            <p:ph type="sldNum" sz="quarter" idx="10"/>
          </p:nvPr>
        </p:nvSpPr>
        <p:spPr/>
        <p:txBody>
          <a:bodyPr/>
          <a:lstStyle/>
          <a:p>
            <a:pPr lvl="0" algn="ctr" eaLnBrk="1" hangingPunct="1"/>
            <a:fld id="{9A0DB2DC-4C9A-4742-B13C-FB6460FD3503}" type="slidenum">
              <a:rPr lang="zh-CN" altLang="en-US" sz="1400" dirty="0">
                <a:ea typeface="宋体" panose="02010600030101010101" pitchFamily="2" charset="-122"/>
              </a:rPr>
            </a:fld>
            <a:endParaRPr lang="zh-CN" altLang="en-US" sz="1400" dirty="0">
              <a:ea typeface="宋体" panose="02010600030101010101" pitchFamily="2" charset="-122"/>
            </a:endParaRPr>
          </a:p>
          <a:p>
            <a:pPr lvl="0" algn="ctr" eaLnBrk="1" hangingPunct="1"/>
            <a:r>
              <a:rPr lang="en-US" altLang="zh-CN" sz="1400" dirty="0">
                <a:ea typeface="宋体" panose="02010600030101010101" pitchFamily="2" charset="-122"/>
              </a:rPr>
              <a:t>2012</a:t>
            </a:r>
            <a:endParaRPr lang="en-US" altLang="zh-CN" sz="1400" dirty="0">
              <a:ea typeface="宋体" panose="02010600030101010101" pitchFamily="2" charset="-122"/>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bg2"/>
                </a:solidFill>
                <a:effectLst/>
                <a:uLnTx/>
                <a:uFillTx/>
                <a:latin typeface="Tahoma" panose="020B0604030504040204" charset="0"/>
                <a:ea typeface="宋体" panose="02010600030101010101" pitchFamily="2" charset="-122"/>
                <a:cs typeface="+mn-cs"/>
              </a:rPr>
              <a:t>University of Science and Technology of China</a:t>
            </a:r>
            <a:endParaRPr kumimoji="0" lang="en-US" altLang="zh-CN" sz="1400" b="0" i="0" u="none" strike="noStrike" kern="1200" cap="none" spc="0" normalizeH="0" baseline="0" noProof="0">
              <a:ln>
                <a:noFill/>
              </a:ln>
              <a:solidFill>
                <a:schemeClr val="bg2"/>
              </a:solidFill>
              <a:effectLst/>
              <a:uLnTx/>
              <a:uFillTx/>
              <a:latin typeface="Tahoma" panose="020B0604030504040204"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1.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9"/>
            <a:ext cx="8229600" cy="1143000"/>
          </a:xfrm>
          <a:prstGeom prst="rect">
            <a:avLst/>
          </a:prstGeom>
        </p:spPr>
        <p:txBody>
          <a:bodyPr vert="horz" lIns="91440" tIns="45720" rIns="91440" bIns="45720" rtlCol="0" anchor="ctr">
            <a:normAutofit/>
          </a:bodyPr>
          <a:lstStyle/>
          <a:p>
            <a:r>
              <a:rPr lang="en-US" altLang="zh-CN"/>
              <a:t>Click to edit Master title style</a:t>
            </a:r>
            <a:endParaRPr lang="en-US"/>
          </a:p>
        </p:txBody>
      </p:sp>
      <p:sp>
        <p:nvSpPr>
          <p:cNvPr id="3" name="Text Placeholder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en-US"/>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492EF46-3C45-8448-BE4E-5C917E2EBC95}" type="datetime1">
              <a:rPr lang="en-US" smtClean="0"/>
            </a:fld>
            <a:endParaRPr lang="en-US"/>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E878D80-AF11-6343-918A-0BF62098A907}"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hyperlink" Target="mailto:wench@ustc.edu.cn"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GIF"/></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GIF"/></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GIF"/></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GIF"/></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GIF"/></Relationships>
</file>

<file path=ppt/slides/_rels/slide16.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9.png"/><Relationship Id="rId6" Type="http://schemas.openxmlformats.org/officeDocument/2006/relationships/image" Target="../media/image8.jpeg"/><Relationship Id="rId5" Type="http://schemas.openxmlformats.org/officeDocument/2006/relationships/image" Target="../media/image4.GIF"/><Relationship Id="rId4" Type="http://schemas.openxmlformats.org/officeDocument/2006/relationships/image" Target="../media/image7.GIF"/><Relationship Id="rId3" Type="http://schemas.openxmlformats.org/officeDocument/2006/relationships/image" Target="../media/image6.GIF"/><Relationship Id="rId2" Type="http://schemas.openxmlformats.org/officeDocument/2006/relationships/image" Target="../media/image5.GIF"/><Relationship Id="rId1" Type="http://schemas.openxmlformats.org/officeDocument/2006/relationships/image" Target="../media/image3.GIF"/></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zh-CN" altLang="en-US" dirty="0"/>
              <a:t>概率论与数理统计</a:t>
            </a:r>
            <a:br>
              <a:rPr lang="en-US" altLang="zh-CN" dirty="0"/>
            </a:br>
            <a:r>
              <a:rPr lang="zh-CN" altLang="en-US" dirty="0"/>
              <a:t>第一章</a:t>
            </a:r>
            <a:endParaRPr lang="en-US" dirty="0"/>
          </a:p>
        </p:txBody>
      </p:sp>
      <p:sp>
        <p:nvSpPr>
          <p:cNvPr id="3" name="Subtitle 2"/>
          <p:cNvSpPr>
            <a:spLocks noGrp="1"/>
          </p:cNvSpPr>
          <p:nvPr>
            <p:ph type="subTitle" idx="1"/>
          </p:nvPr>
        </p:nvSpPr>
        <p:spPr/>
        <p:txBody>
          <a:bodyPr>
            <a:normAutofit/>
          </a:bodyPr>
          <a:lstStyle/>
          <a:p>
            <a:r>
              <a:rPr lang="zh-CN" altLang="en-US" dirty="0"/>
              <a:t>张博 </a:t>
            </a:r>
            <a:endParaRPr lang="en-US" altLang="zh-CN" dirty="0"/>
          </a:p>
          <a:p>
            <a:r>
              <a:rPr lang="en-US" altLang="zh-CN" dirty="0">
                <a:hlinkClick r:id="rId1"/>
              </a:rPr>
              <a:t>wbchpmp@ustc.edu.cn</a:t>
            </a:r>
            <a:endParaRPr lang="en-US" altLang="zh-CN" dirty="0"/>
          </a:p>
          <a:p>
            <a:endParaRPr lang="en-US" altLang="zh-C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大纲</a:t>
            </a:r>
            <a:endParaRPr lang="en-US" dirty="0"/>
          </a:p>
        </p:txBody>
      </p:sp>
      <p:sp>
        <p:nvSpPr>
          <p:cNvPr id="3" name="Content Placeholder 2"/>
          <p:cNvSpPr>
            <a:spLocks noGrp="1"/>
          </p:cNvSpPr>
          <p:nvPr>
            <p:ph idx="1"/>
          </p:nvPr>
        </p:nvSpPr>
        <p:spPr/>
        <p:txBody>
          <a:bodyPr>
            <a:normAutofit/>
          </a:bodyPr>
          <a:lstStyle/>
          <a:p>
            <a:pPr marL="514350" indent="-514350">
              <a:lnSpc>
                <a:spcPct val="150000"/>
              </a:lnSpc>
              <a:buFont typeface="+mj-lt"/>
              <a:buAutoNum type="arabicPeriod"/>
            </a:pPr>
            <a:r>
              <a:rPr lang="zh-CN" altLang="en-US" dirty="0"/>
              <a:t>基本概念</a:t>
            </a:r>
            <a:r>
              <a:rPr lang="en-US" dirty="0"/>
              <a:t> </a:t>
            </a:r>
            <a:endParaRPr lang="en-US" altLang="zh-CN" dirty="0"/>
          </a:p>
          <a:p>
            <a:pPr lvl="1">
              <a:lnSpc>
                <a:spcPct val="150000"/>
              </a:lnSpc>
            </a:pPr>
            <a:r>
              <a:rPr lang="zh-CN" altLang="en-US" dirty="0"/>
              <a:t>随机试验</a:t>
            </a:r>
            <a:endParaRPr lang="en-US" altLang="zh-CN" dirty="0"/>
          </a:p>
          <a:p>
            <a:pPr lvl="1">
              <a:lnSpc>
                <a:spcPct val="150000"/>
              </a:lnSpc>
            </a:pPr>
            <a:r>
              <a:rPr lang="zh-CN" altLang="en-US" dirty="0"/>
              <a:t>样本空间与事件</a:t>
            </a:r>
            <a:endParaRPr lang="en-US" altLang="zh-CN" dirty="0"/>
          </a:p>
          <a:p>
            <a:pPr lvl="1">
              <a:lnSpc>
                <a:spcPct val="150000"/>
              </a:lnSpc>
            </a:pPr>
            <a:r>
              <a:rPr lang="en-US" dirty="0" err="1"/>
              <a:t>事件的运算法则</a:t>
            </a:r>
            <a:endParaRPr lang="en-US" dirty="0"/>
          </a:p>
          <a:p>
            <a:pPr lvl="1">
              <a:lnSpc>
                <a:spcPct val="150000"/>
              </a:lnSpc>
            </a:pPr>
            <a:r>
              <a:rPr lang="en-US" altLang="zh-CN" b="1" dirty="0" err="1">
                <a:solidFill>
                  <a:srgbClr val="BFBFBF"/>
                </a:solidFill>
              </a:rPr>
              <a:t>概率</a:t>
            </a:r>
            <a:r>
              <a:rPr lang="en-US" altLang="zh-CN" b="1" dirty="0">
                <a:solidFill>
                  <a:srgbClr val="BFBFBF"/>
                </a:solidFill>
              </a:rPr>
              <a:t> </a:t>
            </a:r>
            <a:endParaRPr lang="en-US" altLang="zh-CN" b="1" dirty="0">
              <a:solidFill>
                <a:srgbClr val="BFBFBF"/>
              </a:solidFill>
            </a:endParaRPr>
          </a:p>
          <a:p>
            <a:pPr marL="0" indent="0">
              <a:lnSpc>
                <a:spcPct val="150000"/>
              </a:lnSpc>
              <a:buNone/>
            </a:pPr>
            <a:endParaRPr lang="en-US" altLang="en-US" dirty="0"/>
          </a:p>
        </p:txBody>
      </p:sp>
      <p:sp>
        <p:nvSpPr>
          <p:cNvPr id="4" name="Date Placeholder 3"/>
          <p:cNvSpPr>
            <a:spLocks noGrp="1"/>
          </p:cNvSpPr>
          <p:nvPr>
            <p:ph type="dt" sz="half" idx="10"/>
          </p:nvPr>
        </p:nvSpPr>
        <p:spPr/>
        <p:txBody>
          <a:bodyPr/>
          <a:lstStyle/>
          <a:p>
            <a:fld id="{432ADC52-6A8E-3D46-877C-F882D934F41C}" type="datetime1">
              <a:rPr lang="en-US" smtClean="0"/>
            </a:fld>
            <a:endParaRPr lang="en-US"/>
          </a:p>
        </p:txBody>
      </p:sp>
      <p:sp>
        <p:nvSpPr>
          <p:cNvPr id="5" name="Slide Number Placeholder 4"/>
          <p:cNvSpPr>
            <a:spLocks noGrp="1"/>
          </p:cNvSpPr>
          <p:nvPr>
            <p:ph type="sldNum" sz="quarter" idx="12"/>
          </p:nvPr>
        </p:nvSpPr>
        <p:spPr/>
        <p:txBody>
          <a:bodyPr/>
          <a:lstStyle/>
          <a:p>
            <a:fld id="{CE878D80-AF11-6343-918A-0BF62098A907}" type="slidenum">
              <a:rPr lang="en-US" smtClean="0"/>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大纲</a:t>
            </a:r>
            <a:endParaRPr lang="en-US" dirty="0"/>
          </a:p>
        </p:txBody>
      </p:sp>
      <p:sp>
        <p:nvSpPr>
          <p:cNvPr id="3" name="Content Placeholder 2"/>
          <p:cNvSpPr>
            <a:spLocks noGrp="1"/>
          </p:cNvSpPr>
          <p:nvPr>
            <p:ph idx="1"/>
          </p:nvPr>
        </p:nvSpPr>
        <p:spPr/>
        <p:txBody>
          <a:bodyPr>
            <a:normAutofit/>
          </a:bodyPr>
          <a:lstStyle/>
          <a:p>
            <a:pPr marL="514350" indent="-514350">
              <a:lnSpc>
                <a:spcPct val="150000"/>
              </a:lnSpc>
              <a:buFont typeface="+mj-lt"/>
              <a:buAutoNum type="arabicPeriod"/>
            </a:pPr>
            <a:r>
              <a:rPr lang="zh-CN" altLang="en-US" dirty="0"/>
              <a:t>基本概念</a:t>
            </a:r>
            <a:r>
              <a:rPr lang="en-US" dirty="0"/>
              <a:t> </a:t>
            </a:r>
            <a:endParaRPr lang="en-US" altLang="zh-CN" dirty="0"/>
          </a:p>
          <a:p>
            <a:pPr lvl="1">
              <a:lnSpc>
                <a:spcPct val="150000"/>
              </a:lnSpc>
            </a:pPr>
            <a:r>
              <a:rPr lang="zh-CN" altLang="en-US" dirty="0"/>
              <a:t>随机试验</a:t>
            </a:r>
            <a:endParaRPr lang="en-US" altLang="zh-CN" dirty="0"/>
          </a:p>
          <a:p>
            <a:pPr lvl="1">
              <a:lnSpc>
                <a:spcPct val="150000"/>
              </a:lnSpc>
            </a:pPr>
            <a:r>
              <a:rPr lang="zh-CN" altLang="en-US" dirty="0"/>
              <a:t>样本空间与事件</a:t>
            </a:r>
            <a:endParaRPr lang="en-US" altLang="zh-CN" dirty="0"/>
          </a:p>
          <a:p>
            <a:pPr lvl="1">
              <a:lnSpc>
                <a:spcPct val="150000"/>
              </a:lnSpc>
            </a:pPr>
            <a:r>
              <a:rPr lang="zh-CN" altLang="en-US" dirty="0"/>
              <a:t>事件的运算法则</a:t>
            </a:r>
            <a:endParaRPr lang="en-US" altLang="zh-CN" dirty="0"/>
          </a:p>
          <a:p>
            <a:pPr lvl="1">
              <a:lnSpc>
                <a:spcPct val="150000"/>
              </a:lnSpc>
            </a:pPr>
            <a:r>
              <a:rPr lang="en-US" altLang="zh-CN" dirty="0" err="1">
                <a:solidFill>
                  <a:schemeClr val="bg1">
                    <a:lumMod val="75000"/>
                  </a:schemeClr>
                </a:solidFill>
              </a:rPr>
              <a:t>概率</a:t>
            </a:r>
            <a:r>
              <a:rPr lang="en-US" altLang="zh-CN" dirty="0">
                <a:solidFill>
                  <a:schemeClr val="bg1">
                    <a:lumMod val="75000"/>
                  </a:schemeClr>
                </a:solidFill>
              </a:rPr>
              <a:t> </a:t>
            </a:r>
            <a:endParaRPr lang="en-US" altLang="zh-CN" dirty="0"/>
          </a:p>
          <a:p>
            <a:pPr>
              <a:lnSpc>
                <a:spcPct val="150000"/>
              </a:lnSpc>
            </a:pPr>
            <a:endParaRPr lang="en-US" altLang="en-US" dirty="0"/>
          </a:p>
        </p:txBody>
      </p:sp>
      <p:sp>
        <p:nvSpPr>
          <p:cNvPr id="4" name="Date Placeholder 3"/>
          <p:cNvSpPr>
            <a:spLocks noGrp="1"/>
          </p:cNvSpPr>
          <p:nvPr>
            <p:ph type="dt" sz="half" idx="10"/>
          </p:nvPr>
        </p:nvSpPr>
        <p:spPr/>
        <p:txBody>
          <a:bodyPr/>
          <a:lstStyle/>
          <a:p>
            <a:fld id="{432ADC52-6A8E-3D46-877C-F882D934F41C}" type="datetime1">
              <a:rPr lang="en-US" smtClean="0"/>
            </a:fld>
            <a:endParaRPr lang="en-US"/>
          </a:p>
        </p:txBody>
      </p:sp>
      <p:sp>
        <p:nvSpPr>
          <p:cNvPr id="5" name="Slide Number Placeholder 4"/>
          <p:cNvSpPr>
            <a:spLocks noGrp="1"/>
          </p:cNvSpPr>
          <p:nvPr>
            <p:ph type="sldNum" sz="quarter" idx="12"/>
          </p:nvPr>
        </p:nvSpPr>
        <p:spPr/>
        <p:txBody>
          <a:bodyPr/>
          <a:lstStyle/>
          <a:p>
            <a:fld id="{CE878D80-AF11-6343-918A-0BF62098A907}" type="slidenum">
              <a:rPr lang="en-US" smtClean="0"/>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随机试验</a:t>
            </a:r>
            <a:endParaRPr lang="zh-CN" altLang="en-US" dirty="0"/>
          </a:p>
        </p:txBody>
      </p:sp>
      <p:sp>
        <p:nvSpPr>
          <p:cNvPr id="3" name="内容占位符 2"/>
          <p:cNvSpPr>
            <a:spLocks noGrp="1"/>
          </p:cNvSpPr>
          <p:nvPr>
            <p:ph idx="1"/>
          </p:nvPr>
        </p:nvSpPr>
        <p:spPr/>
        <p:txBody>
          <a:bodyPr/>
          <a:lstStyle/>
          <a:p>
            <a:r>
              <a:rPr lang="zh-CN" altLang="en-US" dirty="0"/>
              <a:t>随机现象：自然界和社会中一类结果</a:t>
            </a:r>
            <a:r>
              <a:rPr lang="zh-CN" altLang="en-US" dirty="0">
                <a:solidFill>
                  <a:schemeClr val="tx2">
                    <a:lumMod val="60000"/>
                    <a:lumOff val="40000"/>
                  </a:schemeClr>
                </a:solidFill>
              </a:rPr>
              <a:t>不可预先确定</a:t>
            </a:r>
            <a:r>
              <a:rPr lang="zh-CN" altLang="en-US" dirty="0"/>
              <a:t>的客观现象</a:t>
            </a:r>
            <a:r>
              <a:rPr lang="en-US" altLang="zh-CN" dirty="0"/>
              <a:t>. </a:t>
            </a:r>
            <a:r>
              <a:rPr lang="zh-CN" altLang="en-US" dirty="0"/>
              <a:t>当人们观测它时</a:t>
            </a:r>
            <a:r>
              <a:rPr lang="en-US" altLang="zh-CN" dirty="0"/>
              <a:t>, </a:t>
            </a:r>
            <a:r>
              <a:rPr lang="zh-CN" altLang="en-US" dirty="0"/>
              <a:t>所得结果不能预先确定</a:t>
            </a:r>
            <a:r>
              <a:rPr lang="en-US" altLang="zh-CN" dirty="0"/>
              <a:t>, </a:t>
            </a:r>
            <a:r>
              <a:rPr lang="zh-CN" altLang="en-US" dirty="0"/>
              <a:t>仅仅是</a:t>
            </a:r>
            <a:r>
              <a:rPr lang="zh-CN" altLang="en-US" dirty="0">
                <a:solidFill>
                  <a:schemeClr val="tx2">
                    <a:lumMod val="60000"/>
                    <a:lumOff val="40000"/>
                  </a:schemeClr>
                </a:solidFill>
              </a:rPr>
              <a:t>多种可能结果</a:t>
            </a:r>
            <a:r>
              <a:rPr lang="zh-CN" altLang="en-US" dirty="0"/>
              <a:t>中的一种</a:t>
            </a:r>
            <a:r>
              <a:rPr lang="en-US" altLang="zh-CN" dirty="0"/>
              <a:t>. </a:t>
            </a:r>
            <a:endParaRPr lang="en-US" altLang="zh-CN" dirty="0"/>
          </a:p>
          <a:p>
            <a:r>
              <a:rPr lang="zh-CN" altLang="en-US" dirty="0"/>
              <a:t>随机试验：对随机现象的实现或对它的某个特征的观测过程</a:t>
            </a:r>
            <a:r>
              <a:rPr lang="en-US" altLang="zh-CN" dirty="0"/>
              <a:t>, </a:t>
            </a:r>
            <a:r>
              <a:rPr lang="zh-CN" altLang="en-US" dirty="0"/>
              <a:t>简称试验</a:t>
            </a:r>
            <a:r>
              <a:rPr lang="en-US" altLang="zh-CN" dirty="0"/>
              <a:t>.</a:t>
            </a:r>
            <a:endParaRPr lang="zh-CN" altLang="en-US" dirty="0"/>
          </a:p>
        </p:txBody>
      </p:sp>
      <p:sp>
        <p:nvSpPr>
          <p:cNvPr id="4" name="日期占位符 3"/>
          <p:cNvSpPr>
            <a:spLocks noGrp="1"/>
          </p:cNvSpPr>
          <p:nvPr>
            <p:ph type="dt" sz="half" idx="10"/>
          </p:nvPr>
        </p:nvSpPr>
        <p:spPr/>
        <p:txBody>
          <a:bodyPr/>
          <a:lstStyle/>
          <a:p>
            <a:fld id="{E1C68FA7-58D4-B64D-A671-4AA0982894C6}" type="datetime1">
              <a:rPr lang="en-US" smtClean="0"/>
            </a:fld>
            <a:endParaRPr lang="en-US"/>
          </a:p>
        </p:txBody>
      </p:sp>
      <p:sp>
        <p:nvSpPr>
          <p:cNvPr id="5" name="灯片编号占位符 4"/>
          <p:cNvSpPr>
            <a:spLocks noGrp="1"/>
          </p:cNvSpPr>
          <p:nvPr>
            <p:ph type="sldNum" sz="quarter" idx="12"/>
          </p:nvPr>
        </p:nvSpPr>
        <p:spPr/>
        <p:txBody>
          <a:bodyPr/>
          <a:lstStyle/>
          <a:p>
            <a:fld id="{CE878D80-AF11-6343-918A-0BF62098A907}" type="slidenum">
              <a:rPr lang="en-US" smtClean="0"/>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样本空间与事件</a:t>
            </a:r>
            <a:endParaRPr lang="en-US" dirty="0"/>
          </a:p>
        </p:txBody>
      </p:sp>
      <p:sp>
        <p:nvSpPr>
          <p:cNvPr id="4" name="Date Placeholder 3"/>
          <p:cNvSpPr>
            <a:spLocks noGrp="1"/>
          </p:cNvSpPr>
          <p:nvPr>
            <p:ph type="dt" sz="half" idx="10"/>
          </p:nvPr>
        </p:nvSpPr>
        <p:spPr/>
        <p:txBody>
          <a:bodyPr/>
          <a:lstStyle/>
          <a:p>
            <a:fld id="{E1C68FA7-58D4-B64D-A671-4AA0982894C6}" type="datetime1">
              <a:rPr lang="en-US" smtClean="0"/>
            </a:fld>
            <a:endParaRPr lang="en-US"/>
          </a:p>
        </p:txBody>
      </p:sp>
      <p:sp>
        <p:nvSpPr>
          <p:cNvPr id="5" name="Slide Number Placeholder 4"/>
          <p:cNvSpPr>
            <a:spLocks noGrp="1"/>
          </p:cNvSpPr>
          <p:nvPr>
            <p:ph type="sldNum" sz="quarter" idx="12"/>
          </p:nvPr>
        </p:nvSpPr>
        <p:spPr/>
        <p:txBody>
          <a:bodyPr/>
          <a:lstStyle/>
          <a:p>
            <a:fld id="{CE878D80-AF11-6343-918A-0BF62098A907}" type="slidenum">
              <a:rPr lang="en-US" smtClean="0"/>
            </a:fld>
            <a:endParaRPr lang="en-US"/>
          </a:p>
        </p:txBody>
      </p:sp>
      <p:sp>
        <p:nvSpPr>
          <p:cNvPr id="3" name="内容占位符 2"/>
          <p:cNvSpPr>
            <a:spLocks noGrp="1"/>
          </p:cNvSpPr>
          <p:nvPr>
            <p:ph idx="1"/>
          </p:nvPr>
        </p:nvSpPr>
        <p:spPr/>
        <p:txBody>
          <a:bodyPr/>
          <a:lstStyle/>
          <a:p>
            <a:r>
              <a:rPr lang="zh-CN" altLang="en-US" b="1" dirty="0">
                <a:solidFill>
                  <a:schemeClr val="tx2">
                    <a:lumMod val="60000"/>
                    <a:lumOff val="40000"/>
                  </a:schemeClr>
                </a:solidFill>
              </a:rPr>
              <a:t>基本</a:t>
            </a:r>
            <a:r>
              <a:rPr lang="zh-CN" altLang="en-US" dirty="0"/>
              <a:t>事件：随机试验的每一个可能出现的结果。随机试验结果的最小单位</a:t>
            </a:r>
            <a:r>
              <a:rPr lang="en-US" altLang="zh-CN" dirty="0"/>
              <a:t>, </a:t>
            </a:r>
            <a:r>
              <a:rPr lang="zh-CN" altLang="en-US" dirty="0"/>
              <a:t>不能再分拆。</a:t>
            </a:r>
            <a:endParaRPr lang="en-US" altLang="zh-CN" dirty="0"/>
          </a:p>
          <a:p>
            <a:r>
              <a:rPr lang="zh-CN" altLang="en-US" b="1" dirty="0">
                <a:solidFill>
                  <a:schemeClr val="tx2">
                    <a:lumMod val="60000"/>
                    <a:lumOff val="40000"/>
                  </a:schemeClr>
                </a:solidFill>
              </a:rPr>
              <a:t>随机</a:t>
            </a:r>
            <a:r>
              <a:rPr lang="zh-CN" altLang="en-US" dirty="0"/>
              <a:t>事件：由若干个基本事件组成的一个结果，简称事件。</a:t>
            </a:r>
            <a:endParaRPr lang="en-US" altLang="zh-CN" dirty="0"/>
          </a:p>
          <a:p>
            <a:r>
              <a:rPr lang="zh-CN" altLang="en-US" dirty="0"/>
              <a:t>样本空间：随机试验中所有</a:t>
            </a:r>
            <a:r>
              <a:rPr lang="zh-CN" altLang="en-US" b="1" dirty="0">
                <a:solidFill>
                  <a:schemeClr val="tx2">
                    <a:lumMod val="60000"/>
                    <a:lumOff val="40000"/>
                  </a:schemeClr>
                </a:solidFill>
              </a:rPr>
              <a:t>基本</a:t>
            </a:r>
            <a:r>
              <a:rPr lang="zh-CN" altLang="en-US" dirty="0"/>
              <a:t>事件所构成的集合</a:t>
            </a:r>
            <a:endParaRPr lang="en-US" altLang="zh-CN" dirty="0"/>
          </a:p>
          <a:p>
            <a:r>
              <a:rPr lang="zh-CN" altLang="en-US" dirty="0"/>
              <a:t>样本点：样本空间的元素。显然</a:t>
            </a:r>
            <a:r>
              <a:rPr lang="en-US" altLang="zh-CN" dirty="0"/>
              <a:t>, </a:t>
            </a:r>
            <a:r>
              <a:rPr lang="zh-CN" altLang="en-US" dirty="0"/>
              <a:t>每个样本点即为一个</a:t>
            </a:r>
            <a:r>
              <a:rPr lang="zh-CN" altLang="en-US" b="1" dirty="0">
                <a:solidFill>
                  <a:schemeClr val="tx2">
                    <a:lumMod val="60000"/>
                    <a:lumOff val="40000"/>
                  </a:schemeClr>
                </a:solidFill>
              </a:rPr>
              <a:t>基本</a:t>
            </a:r>
            <a:r>
              <a:rPr lang="zh-CN" altLang="en-US" dirty="0"/>
              <a:t>事件</a:t>
            </a:r>
            <a:endParaRPr lang="zh-CN"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样本空间与事件</a:t>
            </a:r>
            <a:endParaRPr lang="zh-CN" altLang="en-US" dirty="0"/>
          </a:p>
        </p:txBody>
      </p:sp>
      <p:sp>
        <p:nvSpPr>
          <p:cNvPr id="3" name="内容占位符 2"/>
          <p:cNvSpPr>
            <a:spLocks noGrp="1"/>
          </p:cNvSpPr>
          <p:nvPr>
            <p:ph idx="1"/>
          </p:nvPr>
        </p:nvSpPr>
        <p:spPr/>
        <p:txBody>
          <a:bodyPr/>
          <a:lstStyle/>
          <a:p>
            <a:endParaRPr lang="en-US" altLang="zh-CN" dirty="0"/>
          </a:p>
          <a:p>
            <a:r>
              <a:rPr lang="zh-CN" altLang="en-US" dirty="0"/>
              <a:t>篮球比赛中，</a:t>
            </a:r>
            <a:r>
              <a:rPr lang="en-US" altLang="zh-CN" dirty="0"/>
              <a:t>A</a:t>
            </a:r>
            <a:r>
              <a:rPr lang="zh-CN" altLang="en-US" dirty="0"/>
              <a:t>队下一次进攻回合的得分，其基本事件有哪些？</a:t>
            </a:r>
            <a:endParaRPr lang="en-US" altLang="zh-CN" dirty="0"/>
          </a:p>
          <a:p>
            <a:r>
              <a:rPr lang="zh-CN" altLang="en-US" dirty="0"/>
              <a:t>掷 </a:t>
            </a:r>
            <a:r>
              <a:rPr lang="en-US" altLang="zh-CN" dirty="0"/>
              <a:t>3 </a:t>
            </a:r>
            <a:r>
              <a:rPr lang="zh-CN" altLang="en-US" dirty="0"/>
              <a:t>次硬币，如果随机试验是三次硬币的结果，则样本空间包含八个元素。如果随机试验是掷出硬币中正面的个数，则样本空间中包含</a:t>
            </a:r>
            <a:r>
              <a:rPr lang="en-US" altLang="zh-CN" dirty="0"/>
              <a:t>4</a:t>
            </a:r>
            <a:r>
              <a:rPr lang="zh-CN" altLang="en-US" dirty="0"/>
              <a:t>个元素。  </a:t>
            </a:r>
            <a:endParaRPr lang="en-US" altLang="zh-CN" dirty="0"/>
          </a:p>
          <a:p>
            <a:pPr marL="0" indent="0">
              <a:buNone/>
            </a:pPr>
            <a:endParaRPr lang="en-US" altLang="zh-CN" dirty="0"/>
          </a:p>
        </p:txBody>
      </p:sp>
      <p:sp>
        <p:nvSpPr>
          <p:cNvPr id="4" name="日期占位符 3"/>
          <p:cNvSpPr>
            <a:spLocks noGrp="1"/>
          </p:cNvSpPr>
          <p:nvPr>
            <p:ph type="dt" sz="half" idx="10"/>
          </p:nvPr>
        </p:nvSpPr>
        <p:spPr/>
        <p:txBody>
          <a:bodyPr/>
          <a:lstStyle/>
          <a:p>
            <a:fld id="{E1C68FA7-58D4-B64D-A671-4AA0982894C6}" type="datetime1">
              <a:rPr lang="en-US" smtClean="0"/>
            </a:fld>
            <a:endParaRPr lang="en-US"/>
          </a:p>
        </p:txBody>
      </p:sp>
      <p:sp>
        <p:nvSpPr>
          <p:cNvPr id="5" name="灯片编号占位符 4"/>
          <p:cNvSpPr>
            <a:spLocks noGrp="1"/>
          </p:cNvSpPr>
          <p:nvPr>
            <p:ph type="sldNum" sz="quarter" idx="12"/>
          </p:nvPr>
        </p:nvSpPr>
        <p:spPr/>
        <p:txBody>
          <a:bodyPr/>
          <a:lstStyle/>
          <a:p>
            <a:fld id="{CE878D80-AF11-6343-918A-0BF62098A907}" type="slidenum">
              <a:rPr lang="en-US" smtClean="0"/>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伽利略与掷骰子</a:t>
            </a:r>
            <a:endParaRPr lang="en-US" dirty="0"/>
          </a:p>
        </p:txBody>
      </p:sp>
      <p:sp>
        <p:nvSpPr>
          <p:cNvPr id="4" name="Date Placeholder 3"/>
          <p:cNvSpPr>
            <a:spLocks noGrp="1"/>
          </p:cNvSpPr>
          <p:nvPr>
            <p:ph type="dt" sz="half" idx="10"/>
          </p:nvPr>
        </p:nvSpPr>
        <p:spPr/>
        <p:txBody>
          <a:bodyPr/>
          <a:lstStyle/>
          <a:p>
            <a:fld id="{E1C68FA7-58D4-B64D-A671-4AA0982894C6}" type="datetime1">
              <a:rPr lang="en-US" smtClean="0"/>
            </a:fld>
            <a:endParaRPr lang="en-US"/>
          </a:p>
        </p:txBody>
      </p:sp>
      <p:sp>
        <p:nvSpPr>
          <p:cNvPr id="5" name="Slide Number Placeholder 4"/>
          <p:cNvSpPr>
            <a:spLocks noGrp="1"/>
          </p:cNvSpPr>
          <p:nvPr>
            <p:ph type="sldNum" sz="quarter" idx="12"/>
          </p:nvPr>
        </p:nvSpPr>
        <p:spPr/>
        <p:txBody>
          <a:bodyPr/>
          <a:lstStyle/>
          <a:p>
            <a:fld id="{CE878D80-AF11-6343-918A-0BF62098A907}" type="slidenum">
              <a:rPr lang="en-US" smtClean="0"/>
            </a:fld>
            <a:endParaRPr lang="en-US"/>
          </a:p>
        </p:txBody>
      </p:sp>
      <p:sp>
        <p:nvSpPr>
          <p:cNvPr id="3" name="内容占位符 2"/>
          <p:cNvSpPr>
            <a:spLocks noGrp="1"/>
          </p:cNvSpPr>
          <p:nvPr>
            <p:ph idx="1"/>
          </p:nvPr>
        </p:nvSpPr>
        <p:spPr/>
        <p:txBody>
          <a:bodyPr/>
          <a:lstStyle/>
          <a:p>
            <a:r>
              <a:rPr lang="zh-CN" altLang="en-US" dirty="0"/>
              <a:t>一次投掷 </a:t>
            </a:r>
            <a:r>
              <a:rPr lang="en-US" altLang="zh-CN" dirty="0"/>
              <a:t>3 </a:t>
            </a:r>
            <a:r>
              <a:rPr lang="zh-CN" altLang="en-US" dirty="0"/>
              <a:t>个骰子</a:t>
            </a:r>
            <a:r>
              <a:rPr lang="en-US" altLang="zh-CN" dirty="0"/>
              <a:t>, 3 </a:t>
            </a:r>
            <a:r>
              <a:rPr lang="zh-CN" altLang="en-US" dirty="0"/>
              <a:t>个骰子点数之和为 </a:t>
            </a:r>
            <a:r>
              <a:rPr lang="en-US" altLang="zh-CN" dirty="0"/>
              <a:t>9 </a:t>
            </a:r>
            <a:r>
              <a:rPr lang="zh-CN" altLang="en-US" dirty="0"/>
              <a:t>有 </a:t>
            </a:r>
            <a:r>
              <a:rPr lang="en-US" altLang="zh-CN" dirty="0"/>
              <a:t>6 </a:t>
            </a:r>
            <a:r>
              <a:rPr lang="zh-CN" altLang="en-US" dirty="0"/>
              <a:t>种不同情况</a:t>
            </a:r>
            <a:r>
              <a:rPr lang="en-US" altLang="zh-CN" dirty="0"/>
              <a:t>, </a:t>
            </a:r>
            <a:r>
              <a:rPr lang="zh-CN" altLang="en-US" dirty="0"/>
              <a:t>点数之和为 </a:t>
            </a:r>
            <a:r>
              <a:rPr lang="en-US" altLang="zh-CN" dirty="0"/>
              <a:t>10</a:t>
            </a:r>
            <a:r>
              <a:rPr lang="zh-CN" altLang="en-US" dirty="0"/>
              <a:t>也有 </a:t>
            </a:r>
            <a:r>
              <a:rPr lang="en-US" altLang="zh-CN" dirty="0"/>
              <a:t>6 </a:t>
            </a:r>
            <a:r>
              <a:rPr lang="zh-CN" altLang="en-US" dirty="0"/>
              <a:t>种不同情况</a:t>
            </a:r>
            <a:r>
              <a:rPr lang="en-US" altLang="zh-CN" dirty="0"/>
              <a:t>, </a:t>
            </a:r>
            <a:r>
              <a:rPr lang="zh-CN" altLang="en-US" dirty="0"/>
              <a:t>这两种结果应该有相同的概率</a:t>
            </a:r>
            <a:r>
              <a:rPr lang="en-US" altLang="zh-CN" dirty="0"/>
              <a:t>, </a:t>
            </a:r>
            <a:r>
              <a:rPr lang="zh-CN" altLang="en-US" dirty="0"/>
              <a:t>但由试验知道点数之和为 </a:t>
            </a:r>
            <a:r>
              <a:rPr lang="en-US" altLang="zh-CN" dirty="0"/>
              <a:t>9 </a:t>
            </a:r>
            <a:r>
              <a:rPr lang="zh-CN" altLang="en-US" dirty="0"/>
              <a:t>的结果比点数之和为 </a:t>
            </a:r>
            <a:r>
              <a:rPr lang="en-US" altLang="zh-CN" dirty="0"/>
              <a:t>10 </a:t>
            </a:r>
            <a:r>
              <a:rPr lang="zh-CN" altLang="en-US" dirty="0"/>
              <a:t>的结果明显要少</a:t>
            </a:r>
            <a:r>
              <a:rPr lang="en-US" altLang="zh-CN" dirty="0"/>
              <a:t>. </a:t>
            </a:r>
            <a:r>
              <a:rPr lang="zh-CN" altLang="en-US" dirty="0"/>
              <a:t>这是为什么？</a:t>
            </a:r>
            <a:endParaRPr lang="en-US" altLang="zh-CN" dirty="0"/>
          </a:p>
          <a:p>
            <a:r>
              <a:rPr lang="zh-CN" altLang="en-US" dirty="0"/>
              <a:t>基本事件不是等可能，导致了这样的问题</a:t>
            </a:r>
            <a:endParaRPr lang="zh-CN"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事件的运算</a:t>
            </a:r>
            <a:endParaRPr lang="en-US" dirty="0"/>
          </a:p>
        </p:txBody>
      </p:sp>
      <p:pic>
        <p:nvPicPr>
          <p:cNvPr id="6" name="Content Placeholder 5" descr="Screen Shot 2017-09-06 at 10.29.04 AM.png"/>
          <p:cNvPicPr>
            <a:picLocks noGrp="1" noChangeAspect="1"/>
          </p:cNvPicPr>
          <p:nvPr>
            <p:ph idx="1"/>
          </p:nvPr>
        </p:nvPicPr>
        <p:blipFill>
          <a:blip r:embed="rId1">
            <a:extLst>
              <a:ext uri="{28A0092B-C50C-407E-A947-70E740481C1C}">
                <a14:useLocalDpi xmlns:a14="http://schemas.microsoft.com/office/drawing/2010/main" val="0"/>
              </a:ext>
            </a:extLst>
          </a:blip>
          <a:srcRect t="-117607" b="-117607"/>
          <a:stretch>
            <a:fillRect/>
          </a:stretch>
        </p:blipFill>
        <p:spPr>
          <a:xfrm>
            <a:off x="457200" y="1600201"/>
            <a:ext cx="8229600" cy="3607525"/>
          </a:xfrm>
        </p:spPr>
      </p:pic>
      <p:sp>
        <p:nvSpPr>
          <p:cNvPr id="4" name="Date Placeholder 3"/>
          <p:cNvSpPr>
            <a:spLocks noGrp="1"/>
          </p:cNvSpPr>
          <p:nvPr>
            <p:ph type="dt" sz="half" idx="10"/>
          </p:nvPr>
        </p:nvSpPr>
        <p:spPr/>
        <p:txBody>
          <a:bodyPr/>
          <a:lstStyle/>
          <a:p>
            <a:fld id="{E1C68FA7-58D4-B64D-A671-4AA0982894C6}" type="datetime1">
              <a:rPr lang="en-US" smtClean="0"/>
            </a:fld>
            <a:endParaRPr lang="en-US"/>
          </a:p>
        </p:txBody>
      </p:sp>
      <p:sp>
        <p:nvSpPr>
          <p:cNvPr id="5" name="Slide Number Placeholder 4"/>
          <p:cNvSpPr>
            <a:spLocks noGrp="1"/>
          </p:cNvSpPr>
          <p:nvPr>
            <p:ph type="sldNum" sz="quarter" idx="12"/>
          </p:nvPr>
        </p:nvSpPr>
        <p:spPr/>
        <p:txBody>
          <a:bodyPr/>
          <a:lstStyle/>
          <a:p>
            <a:fld id="{CE878D80-AF11-6343-918A-0BF62098A907}" type="slidenum">
              <a:rPr lang="en-US" smtClean="0"/>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必然事件与不可能事件</a:t>
            </a:r>
            <a:endParaRPr lang="zh-CN" altLang="en-US" dirty="0"/>
          </a:p>
        </p:txBody>
      </p:sp>
      <p:sp>
        <p:nvSpPr>
          <p:cNvPr id="3" name="内容占位符 2"/>
          <p:cNvSpPr>
            <a:spLocks noGrp="1"/>
          </p:cNvSpPr>
          <p:nvPr>
            <p:ph idx="1"/>
          </p:nvPr>
        </p:nvSpPr>
        <p:spPr/>
        <p:txBody>
          <a:bodyPr/>
          <a:lstStyle/>
          <a:p>
            <a:r>
              <a:rPr lang="zh-CN" altLang="en-US" dirty="0"/>
              <a:t>最后几轮时计算出线概率。</a:t>
            </a:r>
            <a:endParaRPr lang="en-US" altLang="zh-CN" dirty="0"/>
          </a:p>
          <a:p>
            <a:endParaRPr lang="en-US" altLang="zh-CN" dirty="0"/>
          </a:p>
          <a:p>
            <a:r>
              <a:rPr lang="zh-CN" altLang="en-US" dirty="0"/>
              <a:t>提前出线</a:t>
            </a:r>
            <a:r>
              <a:rPr lang="en-US" altLang="zh-CN" dirty="0"/>
              <a:t>——</a:t>
            </a:r>
            <a:r>
              <a:rPr lang="zh-CN" altLang="en-US" dirty="0"/>
              <a:t>必然事件。</a:t>
            </a:r>
            <a:endParaRPr lang="en-US" altLang="zh-CN" dirty="0"/>
          </a:p>
          <a:p>
            <a:endParaRPr lang="en-US" altLang="zh-CN" dirty="0"/>
          </a:p>
          <a:p>
            <a:r>
              <a:rPr lang="zh-CN" altLang="en-US" dirty="0"/>
              <a:t>提前出局</a:t>
            </a:r>
            <a:r>
              <a:rPr lang="en-US" altLang="zh-CN" dirty="0"/>
              <a:t>——</a:t>
            </a:r>
            <a:r>
              <a:rPr lang="zh-CN" altLang="en-US" dirty="0"/>
              <a:t>不可能事件。</a:t>
            </a:r>
            <a:endParaRPr lang="zh-CN" altLang="en-US" dirty="0"/>
          </a:p>
        </p:txBody>
      </p:sp>
      <p:sp>
        <p:nvSpPr>
          <p:cNvPr id="4" name="日期占位符 3"/>
          <p:cNvSpPr>
            <a:spLocks noGrp="1"/>
          </p:cNvSpPr>
          <p:nvPr>
            <p:ph type="dt" sz="half" idx="10"/>
          </p:nvPr>
        </p:nvSpPr>
        <p:spPr/>
        <p:txBody>
          <a:bodyPr/>
          <a:lstStyle/>
          <a:p>
            <a:fld id="{E1C68FA7-58D4-B64D-A671-4AA0982894C6}" type="datetime1">
              <a:rPr lang="en-US" smtClean="0"/>
            </a:fld>
            <a:endParaRPr lang="en-US"/>
          </a:p>
        </p:txBody>
      </p:sp>
      <p:sp>
        <p:nvSpPr>
          <p:cNvPr id="5" name="灯片编号占位符 4"/>
          <p:cNvSpPr>
            <a:spLocks noGrp="1"/>
          </p:cNvSpPr>
          <p:nvPr>
            <p:ph type="sldNum" sz="quarter" idx="12"/>
          </p:nvPr>
        </p:nvSpPr>
        <p:spPr/>
        <p:txBody>
          <a:bodyPr/>
          <a:lstStyle/>
          <a:p>
            <a:fld id="{CE878D80-AF11-6343-918A-0BF62098A907}" type="slidenum">
              <a:rPr lang="en-US" smtClean="0"/>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 calcmode="lin" valueType="num">
                                      <p:cBhvr additive="base">
                                        <p:cTn id="1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1000"/>
                                        <p:tgtEl>
                                          <p:spTgt spid="3">
                                            <p:txEl>
                                              <p:pRg st="4" end="4"/>
                                            </p:txEl>
                                          </p:spTgt>
                                        </p:tgtEl>
                                      </p:cBhvr>
                                    </p:animEffect>
                                    <p:anim calcmode="lin" valueType="num">
                                      <p:cBhvr>
                                        <p:cTn id="21"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2"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事件的运算</a:t>
            </a:r>
            <a:endParaRPr lang="zh-CN" altLang="en-US" dirty="0"/>
          </a:p>
        </p:txBody>
      </p:sp>
      <p:sp>
        <p:nvSpPr>
          <p:cNvPr id="3" name="内容占位符 2"/>
          <p:cNvSpPr>
            <a:spLocks noGrp="1"/>
          </p:cNvSpPr>
          <p:nvPr>
            <p:ph idx="1"/>
          </p:nvPr>
        </p:nvSpPr>
        <p:spPr/>
        <p:txBody>
          <a:bodyPr/>
          <a:lstStyle/>
          <a:p>
            <a:r>
              <a:rPr lang="zh-CN" altLang="en-US" dirty="0"/>
              <a:t>事件的和：事件 </a:t>
            </a:r>
            <a:r>
              <a:rPr lang="en-US" altLang="zh-CN" dirty="0"/>
              <a:t>A </a:t>
            </a:r>
            <a:r>
              <a:rPr lang="zh-CN" altLang="en-US" dirty="0"/>
              <a:t>和事件 </a:t>
            </a:r>
            <a:r>
              <a:rPr lang="en-US" altLang="zh-CN" dirty="0"/>
              <a:t>B </a:t>
            </a:r>
            <a:r>
              <a:rPr lang="zh-CN" altLang="en-US" dirty="0"/>
              <a:t>中</a:t>
            </a:r>
            <a:r>
              <a:rPr lang="zh-CN" altLang="en-US" b="1" dirty="0">
                <a:solidFill>
                  <a:schemeClr val="tx2">
                    <a:lumMod val="60000"/>
                    <a:lumOff val="40000"/>
                  </a:schemeClr>
                </a:solidFill>
              </a:rPr>
              <a:t>至少有</a:t>
            </a:r>
            <a:r>
              <a:rPr lang="zh-CN" altLang="en-US" dirty="0"/>
              <a:t>一个发生。事件的和运算等同于集合运算“并”。可推广到</a:t>
            </a:r>
            <a:r>
              <a:rPr lang="en-US" altLang="zh-CN" dirty="0"/>
              <a:t>n</a:t>
            </a:r>
            <a:r>
              <a:rPr lang="zh-CN" altLang="en-US" dirty="0"/>
              <a:t>个事件</a:t>
            </a:r>
            <a:endParaRPr lang="en-US" altLang="zh-CN" dirty="0"/>
          </a:p>
          <a:p>
            <a:r>
              <a:rPr lang="zh-CN" altLang="en-US" dirty="0"/>
              <a:t>事件的差：事件 </a:t>
            </a:r>
            <a:r>
              <a:rPr lang="en-US" altLang="zh-CN" dirty="0"/>
              <a:t>A </a:t>
            </a:r>
            <a:r>
              <a:rPr lang="zh-CN" altLang="en-US" dirty="0"/>
              <a:t>发生而事件 </a:t>
            </a:r>
            <a:r>
              <a:rPr lang="en-US" altLang="zh-CN" dirty="0"/>
              <a:t>B </a:t>
            </a:r>
            <a:r>
              <a:rPr lang="zh-CN" altLang="en-US" dirty="0"/>
              <a:t>不发生</a:t>
            </a:r>
            <a:endParaRPr lang="en-US" altLang="zh-CN" dirty="0"/>
          </a:p>
          <a:p>
            <a:r>
              <a:rPr lang="zh-CN" altLang="en-US" dirty="0"/>
              <a:t>事件的积：事件 </a:t>
            </a:r>
            <a:r>
              <a:rPr lang="en-US" altLang="zh-CN" dirty="0"/>
              <a:t>A </a:t>
            </a:r>
            <a:r>
              <a:rPr lang="zh-CN" altLang="en-US" dirty="0"/>
              <a:t>和事件 </a:t>
            </a:r>
            <a:r>
              <a:rPr lang="en-US" altLang="zh-CN" dirty="0"/>
              <a:t>B </a:t>
            </a:r>
            <a:r>
              <a:rPr lang="zh-CN" altLang="en-US" b="1" dirty="0">
                <a:solidFill>
                  <a:schemeClr val="tx2">
                    <a:lumMod val="60000"/>
                    <a:lumOff val="40000"/>
                  </a:schemeClr>
                </a:solidFill>
              </a:rPr>
              <a:t>同时</a:t>
            </a:r>
            <a:r>
              <a:rPr lang="zh-CN" altLang="en-US" dirty="0"/>
              <a:t>发生。事件的</a:t>
            </a:r>
            <a:endParaRPr lang="zh-CN" altLang="en-US" dirty="0"/>
          </a:p>
          <a:p>
            <a:pPr marL="0" indent="0">
              <a:buNone/>
            </a:pPr>
            <a:r>
              <a:rPr lang="zh-CN" altLang="en-US" dirty="0"/>
              <a:t>积运算等同于集合运算“交”。可推广到</a:t>
            </a:r>
            <a:r>
              <a:rPr lang="en-US" altLang="zh-CN" dirty="0"/>
              <a:t>n</a:t>
            </a:r>
            <a:r>
              <a:rPr lang="zh-CN" altLang="en-US" dirty="0"/>
              <a:t>个事件</a:t>
            </a:r>
            <a:endParaRPr lang="en-US" altLang="zh-CN" dirty="0"/>
          </a:p>
        </p:txBody>
      </p:sp>
      <p:sp>
        <p:nvSpPr>
          <p:cNvPr id="4" name="日期占位符 3"/>
          <p:cNvSpPr>
            <a:spLocks noGrp="1"/>
          </p:cNvSpPr>
          <p:nvPr>
            <p:ph type="dt" sz="half" idx="10"/>
          </p:nvPr>
        </p:nvSpPr>
        <p:spPr/>
        <p:txBody>
          <a:bodyPr/>
          <a:lstStyle/>
          <a:p>
            <a:fld id="{E1C68FA7-58D4-B64D-A671-4AA0982894C6}" type="datetime1">
              <a:rPr lang="en-US" smtClean="0"/>
            </a:fld>
            <a:endParaRPr lang="en-US"/>
          </a:p>
        </p:txBody>
      </p:sp>
      <p:sp>
        <p:nvSpPr>
          <p:cNvPr id="5" name="灯片编号占位符 4"/>
          <p:cNvSpPr>
            <a:spLocks noGrp="1"/>
          </p:cNvSpPr>
          <p:nvPr>
            <p:ph type="sldNum" sz="quarter" idx="12"/>
          </p:nvPr>
        </p:nvSpPr>
        <p:spPr/>
        <p:txBody>
          <a:bodyPr/>
          <a:lstStyle/>
          <a:p>
            <a:fld id="{CE878D80-AF11-6343-918A-0BF62098A907}" type="slidenum">
              <a:rPr lang="en-US" smtClean="0"/>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事件的运算</a:t>
            </a:r>
            <a:endParaRPr lang="zh-CN" altLang="en-US" dirty="0"/>
          </a:p>
        </p:txBody>
      </p:sp>
      <p:sp>
        <p:nvSpPr>
          <p:cNvPr id="3" name="内容占位符 2"/>
          <p:cNvSpPr>
            <a:spLocks noGrp="1"/>
          </p:cNvSpPr>
          <p:nvPr>
            <p:ph idx="1"/>
          </p:nvPr>
        </p:nvSpPr>
        <p:spPr>
          <a:xfrm>
            <a:off x="457200" y="1600201"/>
            <a:ext cx="8229600" cy="1941989"/>
          </a:xfrm>
        </p:spPr>
        <p:txBody>
          <a:bodyPr/>
          <a:lstStyle/>
          <a:p>
            <a:r>
              <a:rPr lang="zh-CN" altLang="en-US" dirty="0"/>
              <a:t>事件的和：事件 </a:t>
            </a:r>
            <a:r>
              <a:rPr lang="en-US" altLang="zh-CN" dirty="0"/>
              <a:t>A </a:t>
            </a:r>
            <a:r>
              <a:rPr lang="zh-CN" altLang="en-US" dirty="0"/>
              <a:t>和事件 </a:t>
            </a:r>
            <a:r>
              <a:rPr lang="en-US" altLang="zh-CN" dirty="0"/>
              <a:t>B </a:t>
            </a:r>
            <a:r>
              <a:rPr lang="zh-CN" altLang="en-US" dirty="0"/>
              <a:t>中</a:t>
            </a:r>
            <a:r>
              <a:rPr lang="zh-CN" altLang="en-US" b="1" dirty="0">
                <a:solidFill>
                  <a:schemeClr val="tx2">
                    <a:lumMod val="60000"/>
                    <a:lumOff val="40000"/>
                  </a:schemeClr>
                </a:solidFill>
              </a:rPr>
              <a:t>至少有</a:t>
            </a:r>
            <a:r>
              <a:rPr lang="zh-CN" altLang="en-US" dirty="0"/>
              <a:t>一个发生。事件的和运算等同于集合运算“并”。可推广到</a:t>
            </a:r>
            <a:r>
              <a:rPr lang="en-US" altLang="zh-CN" dirty="0"/>
              <a:t>n</a:t>
            </a:r>
            <a:r>
              <a:rPr lang="zh-CN" altLang="en-US" dirty="0"/>
              <a:t>个事件</a:t>
            </a:r>
            <a:endParaRPr lang="en-US" altLang="zh-CN" dirty="0"/>
          </a:p>
        </p:txBody>
      </p:sp>
      <p:sp>
        <p:nvSpPr>
          <p:cNvPr id="4" name="日期占位符 3"/>
          <p:cNvSpPr>
            <a:spLocks noGrp="1"/>
          </p:cNvSpPr>
          <p:nvPr>
            <p:ph type="dt" sz="half" idx="10"/>
          </p:nvPr>
        </p:nvSpPr>
        <p:spPr/>
        <p:txBody>
          <a:bodyPr/>
          <a:lstStyle/>
          <a:p>
            <a:fld id="{E1C68FA7-58D4-B64D-A671-4AA0982894C6}" type="datetime1">
              <a:rPr lang="en-US" smtClean="0"/>
            </a:fld>
            <a:endParaRPr lang="en-US"/>
          </a:p>
        </p:txBody>
      </p:sp>
      <p:sp>
        <p:nvSpPr>
          <p:cNvPr id="5" name="灯片编号占位符 4"/>
          <p:cNvSpPr>
            <a:spLocks noGrp="1"/>
          </p:cNvSpPr>
          <p:nvPr>
            <p:ph type="sldNum" sz="quarter" idx="12"/>
          </p:nvPr>
        </p:nvSpPr>
        <p:spPr/>
        <p:txBody>
          <a:bodyPr/>
          <a:lstStyle/>
          <a:p>
            <a:fld id="{CE878D80-AF11-6343-918A-0BF62098A907}" type="slidenum">
              <a:rPr lang="en-US" smtClean="0"/>
            </a:fld>
            <a:endParaRPr lang="en-US"/>
          </a:p>
        </p:txBody>
      </p:sp>
      <p:pic>
        <p:nvPicPr>
          <p:cNvPr id="6" name="Picture 5" descr="venn3.1.2.gif"/>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129952" y="3430172"/>
            <a:ext cx="2738007" cy="163319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事件的运算</a:t>
            </a:r>
            <a:endParaRPr lang="zh-CN" altLang="en-US" dirty="0"/>
          </a:p>
        </p:txBody>
      </p:sp>
      <p:sp>
        <p:nvSpPr>
          <p:cNvPr id="3" name="内容占位符 2"/>
          <p:cNvSpPr>
            <a:spLocks noGrp="1"/>
          </p:cNvSpPr>
          <p:nvPr>
            <p:ph idx="1"/>
          </p:nvPr>
        </p:nvSpPr>
        <p:spPr>
          <a:xfrm>
            <a:off x="457200" y="1600201"/>
            <a:ext cx="8229600" cy="1959745"/>
          </a:xfrm>
        </p:spPr>
        <p:txBody>
          <a:bodyPr/>
          <a:lstStyle/>
          <a:p>
            <a:r>
              <a:rPr lang="zh-CN" altLang="en-US" dirty="0"/>
              <a:t>事件的差：事件 </a:t>
            </a:r>
            <a:r>
              <a:rPr lang="en-US" altLang="zh-CN" dirty="0"/>
              <a:t>A </a:t>
            </a:r>
            <a:r>
              <a:rPr lang="zh-CN" altLang="en-US" dirty="0"/>
              <a:t>发生而事件 </a:t>
            </a:r>
            <a:r>
              <a:rPr lang="en-US" altLang="zh-CN" dirty="0"/>
              <a:t>B </a:t>
            </a:r>
            <a:r>
              <a:rPr lang="zh-CN" altLang="en-US" dirty="0"/>
              <a:t>不发生</a:t>
            </a:r>
            <a:endParaRPr lang="en-US" altLang="zh-CN" dirty="0"/>
          </a:p>
        </p:txBody>
      </p:sp>
      <p:sp>
        <p:nvSpPr>
          <p:cNvPr id="4" name="日期占位符 3"/>
          <p:cNvSpPr>
            <a:spLocks noGrp="1"/>
          </p:cNvSpPr>
          <p:nvPr>
            <p:ph type="dt" sz="half" idx="10"/>
          </p:nvPr>
        </p:nvSpPr>
        <p:spPr/>
        <p:txBody>
          <a:bodyPr/>
          <a:lstStyle/>
          <a:p>
            <a:fld id="{E1C68FA7-58D4-B64D-A671-4AA0982894C6}" type="datetime1">
              <a:rPr lang="en-US" smtClean="0"/>
            </a:fld>
            <a:endParaRPr lang="en-US"/>
          </a:p>
        </p:txBody>
      </p:sp>
      <p:sp>
        <p:nvSpPr>
          <p:cNvPr id="5" name="灯片编号占位符 4"/>
          <p:cNvSpPr>
            <a:spLocks noGrp="1"/>
          </p:cNvSpPr>
          <p:nvPr>
            <p:ph type="sldNum" sz="quarter" idx="12"/>
          </p:nvPr>
        </p:nvSpPr>
        <p:spPr/>
        <p:txBody>
          <a:bodyPr/>
          <a:lstStyle/>
          <a:p>
            <a:fld id="{CE878D80-AF11-6343-918A-0BF62098A907}" type="slidenum">
              <a:rPr lang="en-US" smtClean="0"/>
            </a:fld>
            <a:endParaRPr lang="en-US"/>
          </a:p>
        </p:txBody>
      </p:sp>
      <p:pic>
        <p:nvPicPr>
          <p:cNvPr id="6" name="Picture 9" descr="venn3.1.5.gif"/>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941774" y="2925909"/>
            <a:ext cx="2738007" cy="163319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事件的运算</a:t>
            </a:r>
            <a:endParaRPr lang="zh-CN" altLang="en-US" dirty="0"/>
          </a:p>
        </p:txBody>
      </p:sp>
      <p:sp>
        <p:nvSpPr>
          <p:cNvPr id="3" name="内容占位符 2"/>
          <p:cNvSpPr>
            <a:spLocks noGrp="1"/>
          </p:cNvSpPr>
          <p:nvPr>
            <p:ph idx="1"/>
          </p:nvPr>
        </p:nvSpPr>
        <p:spPr>
          <a:xfrm>
            <a:off x="457200" y="1600202"/>
            <a:ext cx="8229600" cy="1657904"/>
          </a:xfrm>
        </p:spPr>
        <p:txBody>
          <a:bodyPr/>
          <a:lstStyle/>
          <a:p>
            <a:r>
              <a:rPr lang="zh-CN" altLang="en-US" dirty="0"/>
              <a:t>事件的积：事件 </a:t>
            </a:r>
            <a:r>
              <a:rPr lang="en-US" altLang="zh-CN" dirty="0"/>
              <a:t>A </a:t>
            </a:r>
            <a:r>
              <a:rPr lang="zh-CN" altLang="en-US" dirty="0"/>
              <a:t>和事件 </a:t>
            </a:r>
            <a:r>
              <a:rPr lang="en-US" altLang="zh-CN" dirty="0"/>
              <a:t>B </a:t>
            </a:r>
            <a:r>
              <a:rPr lang="zh-CN" altLang="en-US" b="1" dirty="0">
                <a:solidFill>
                  <a:schemeClr val="tx2">
                    <a:lumMod val="60000"/>
                    <a:lumOff val="40000"/>
                  </a:schemeClr>
                </a:solidFill>
              </a:rPr>
              <a:t>同时</a:t>
            </a:r>
            <a:r>
              <a:rPr lang="zh-CN" altLang="en-US" dirty="0"/>
              <a:t>发生。事件的</a:t>
            </a:r>
            <a:endParaRPr lang="zh-CN" altLang="en-US" dirty="0"/>
          </a:p>
          <a:p>
            <a:pPr marL="0" indent="0">
              <a:buNone/>
            </a:pPr>
            <a:r>
              <a:rPr lang="zh-CN" altLang="en-US" dirty="0"/>
              <a:t>积运算等同于集合运算“交”。可推广到</a:t>
            </a:r>
            <a:r>
              <a:rPr lang="en-US" altLang="zh-CN" dirty="0"/>
              <a:t>n</a:t>
            </a:r>
            <a:r>
              <a:rPr lang="zh-CN" altLang="en-US" dirty="0"/>
              <a:t>个事件</a:t>
            </a:r>
            <a:endParaRPr lang="en-US" altLang="zh-CN" dirty="0"/>
          </a:p>
        </p:txBody>
      </p:sp>
      <p:sp>
        <p:nvSpPr>
          <p:cNvPr id="4" name="日期占位符 3"/>
          <p:cNvSpPr>
            <a:spLocks noGrp="1"/>
          </p:cNvSpPr>
          <p:nvPr>
            <p:ph type="dt" sz="half" idx="10"/>
          </p:nvPr>
        </p:nvSpPr>
        <p:spPr/>
        <p:txBody>
          <a:bodyPr/>
          <a:lstStyle/>
          <a:p>
            <a:fld id="{E1C68FA7-58D4-B64D-A671-4AA0982894C6}" type="datetime1">
              <a:rPr lang="en-US" smtClean="0"/>
            </a:fld>
            <a:endParaRPr lang="en-US"/>
          </a:p>
        </p:txBody>
      </p:sp>
      <p:sp>
        <p:nvSpPr>
          <p:cNvPr id="5" name="灯片编号占位符 4"/>
          <p:cNvSpPr>
            <a:spLocks noGrp="1"/>
          </p:cNvSpPr>
          <p:nvPr>
            <p:ph type="sldNum" sz="quarter" idx="12"/>
          </p:nvPr>
        </p:nvSpPr>
        <p:spPr/>
        <p:txBody>
          <a:bodyPr/>
          <a:lstStyle/>
          <a:p>
            <a:fld id="{CE878D80-AF11-6343-918A-0BF62098A907}" type="slidenum">
              <a:rPr lang="en-US" smtClean="0"/>
            </a:fld>
            <a:endParaRPr lang="en-US"/>
          </a:p>
        </p:txBody>
      </p:sp>
      <p:pic>
        <p:nvPicPr>
          <p:cNvPr id="6" name="Picture 6" descr="venn3.1.3.gif"/>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057546" y="3057162"/>
            <a:ext cx="2738007" cy="163319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事件的运算</a:t>
            </a:r>
            <a:endParaRPr lang="zh-CN" altLang="en-US" dirty="0"/>
          </a:p>
        </p:txBody>
      </p:sp>
      <p:sp>
        <p:nvSpPr>
          <p:cNvPr id="3" name="内容占位符 2"/>
          <p:cNvSpPr>
            <a:spLocks noGrp="1"/>
          </p:cNvSpPr>
          <p:nvPr>
            <p:ph idx="1"/>
          </p:nvPr>
        </p:nvSpPr>
        <p:spPr>
          <a:xfrm>
            <a:off x="457200" y="1600201"/>
            <a:ext cx="8229600" cy="2110665"/>
          </a:xfrm>
        </p:spPr>
        <p:txBody>
          <a:bodyPr/>
          <a:lstStyle/>
          <a:p>
            <a:r>
              <a:rPr lang="zh-CN" altLang="en-US" dirty="0"/>
              <a:t>不相容事件：事件 </a:t>
            </a:r>
            <a:r>
              <a:rPr lang="en-US" altLang="zh-CN" dirty="0"/>
              <a:t>A </a:t>
            </a:r>
            <a:r>
              <a:rPr lang="zh-CN" altLang="en-US" dirty="0"/>
              <a:t>和事件 </a:t>
            </a:r>
            <a:r>
              <a:rPr lang="en-US" altLang="zh-CN" dirty="0"/>
              <a:t>B </a:t>
            </a:r>
            <a:r>
              <a:rPr lang="zh-CN" altLang="en-US" b="1" dirty="0">
                <a:solidFill>
                  <a:schemeClr val="tx2">
                    <a:lumMod val="60000"/>
                    <a:lumOff val="40000"/>
                  </a:schemeClr>
                </a:solidFill>
              </a:rPr>
              <a:t>不能同时</a:t>
            </a:r>
            <a:r>
              <a:rPr lang="zh-CN" altLang="en-US" dirty="0"/>
              <a:t>发生若一列事件中任意两个事件不相容</a:t>
            </a:r>
            <a:r>
              <a:rPr lang="en-US" altLang="zh-CN" dirty="0"/>
              <a:t>, </a:t>
            </a:r>
            <a:r>
              <a:rPr lang="zh-CN" altLang="en-US" dirty="0"/>
              <a:t>则称其为两两不相容事件列</a:t>
            </a:r>
            <a:r>
              <a:rPr lang="en-US" altLang="zh-CN" dirty="0"/>
              <a:t>.</a:t>
            </a:r>
            <a:endParaRPr lang="en-US" altLang="zh-CN" dirty="0"/>
          </a:p>
        </p:txBody>
      </p:sp>
      <p:sp>
        <p:nvSpPr>
          <p:cNvPr id="4" name="日期占位符 3"/>
          <p:cNvSpPr>
            <a:spLocks noGrp="1"/>
          </p:cNvSpPr>
          <p:nvPr>
            <p:ph type="dt" sz="half" idx="10"/>
          </p:nvPr>
        </p:nvSpPr>
        <p:spPr/>
        <p:txBody>
          <a:bodyPr/>
          <a:lstStyle/>
          <a:p>
            <a:fld id="{E1C68FA7-58D4-B64D-A671-4AA0982894C6}" type="datetime1">
              <a:rPr lang="en-US" smtClean="0"/>
            </a:fld>
            <a:endParaRPr lang="en-US"/>
          </a:p>
        </p:txBody>
      </p:sp>
      <p:sp>
        <p:nvSpPr>
          <p:cNvPr id="5" name="灯片编号占位符 4"/>
          <p:cNvSpPr>
            <a:spLocks noGrp="1"/>
          </p:cNvSpPr>
          <p:nvPr>
            <p:ph type="sldNum" sz="quarter" idx="12"/>
          </p:nvPr>
        </p:nvSpPr>
        <p:spPr/>
        <p:txBody>
          <a:bodyPr/>
          <a:lstStyle/>
          <a:p>
            <a:fld id="{CE878D80-AF11-6343-918A-0BF62098A907}" type="slidenum">
              <a:rPr lang="en-US" smtClean="0"/>
            </a:fld>
            <a:endParaRPr lang="en-US"/>
          </a:p>
        </p:txBody>
      </p:sp>
      <p:pic>
        <p:nvPicPr>
          <p:cNvPr id="7" name="Picture 7" descr="venn3.1.6.gif"/>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013157" y="3710866"/>
            <a:ext cx="2743200" cy="1636777"/>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事件的运算</a:t>
            </a:r>
            <a:endParaRPr lang="zh-CN" altLang="en-US" dirty="0"/>
          </a:p>
        </p:txBody>
      </p:sp>
      <p:sp>
        <p:nvSpPr>
          <p:cNvPr id="3" name="内容占位符 2"/>
          <p:cNvSpPr>
            <a:spLocks noGrp="1"/>
          </p:cNvSpPr>
          <p:nvPr>
            <p:ph idx="1"/>
          </p:nvPr>
        </p:nvSpPr>
        <p:spPr/>
        <p:txBody>
          <a:bodyPr/>
          <a:lstStyle/>
          <a:p>
            <a:r>
              <a:rPr lang="zh-CN" altLang="en-US" dirty="0"/>
              <a:t>对立事件：事件 </a:t>
            </a:r>
            <a:r>
              <a:rPr lang="en-US" altLang="zh-CN" dirty="0"/>
              <a:t>A </a:t>
            </a:r>
            <a:r>
              <a:rPr lang="zh-CN" altLang="en-US" dirty="0"/>
              <a:t>不发生</a:t>
            </a:r>
            <a:endParaRPr lang="zh-CN" altLang="en-US" dirty="0"/>
          </a:p>
        </p:txBody>
      </p:sp>
      <p:sp>
        <p:nvSpPr>
          <p:cNvPr id="4" name="日期占位符 3"/>
          <p:cNvSpPr>
            <a:spLocks noGrp="1"/>
          </p:cNvSpPr>
          <p:nvPr>
            <p:ph type="dt" sz="half" idx="10"/>
          </p:nvPr>
        </p:nvSpPr>
        <p:spPr/>
        <p:txBody>
          <a:bodyPr/>
          <a:lstStyle/>
          <a:p>
            <a:fld id="{E1C68FA7-58D4-B64D-A671-4AA0982894C6}" type="datetime1">
              <a:rPr lang="en-US" smtClean="0"/>
            </a:fld>
            <a:endParaRPr lang="en-US"/>
          </a:p>
        </p:txBody>
      </p:sp>
      <p:sp>
        <p:nvSpPr>
          <p:cNvPr id="5" name="灯片编号占位符 4"/>
          <p:cNvSpPr>
            <a:spLocks noGrp="1"/>
          </p:cNvSpPr>
          <p:nvPr>
            <p:ph type="sldNum" sz="quarter" idx="12"/>
          </p:nvPr>
        </p:nvSpPr>
        <p:spPr/>
        <p:txBody>
          <a:bodyPr/>
          <a:lstStyle/>
          <a:p>
            <a:fld id="{CE878D80-AF11-6343-918A-0BF62098A907}" type="slidenum">
              <a:rPr lang="en-US" smtClean="0"/>
            </a:fld>
            <a:endParaRPr lang="en-US"/>
          </a:p>
        </p:txBody>
      </p:sp>
      <p:pic>
        <p:nvPicPr>
          <p:cNvPr id="6" name="Picture 8" descr="venn3.1.4.gif"/>
          <p:cNvPicPr/>
          <p:nvPr/>
        </p:nvPicPr>
        <p:blipFill>
          <a:blip r:embed="rId1">
            <a:extLst>
              <a:ext uri="{28A0092B-C50C-407E-A947-70E740481C1C}">
                <a14:useLocalDpi xmlns:a14="http://schemas.microsoft.com/office/drawing/2010/main" val="0"/>
              </a:ext>
            </a:extLst>
          </a:blip>
          <a:stretch>
            <a:fillRect/>
          </a:stretch>
        </p:blipFill>
        <p:spPr>
          <a:xfrm>
            <a:off x="2883313" y="3044794"/>
            <a:ext cx="2743200" cy="1636776"/>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事件的运算法则</a:t>
            </a:r>
            <a:endParaRPr lang="en-US" dirty="0"/>
          </a:p>
        </p:txBody>
      </p:sp>
      <p:sp>
        <p:nvSpPr>
          <p:cNvPr id="4" name="Date Placeholder 3"/>
          <p:cNvSpPr>
            <a:spLocks noGrp="1"/>
          </p:cNvSpPr>
          <p:nvPr>
            <p:ph type="dt" sz="half" idx="10"/>
          </p:nvPr>
        </p:nvSpPr>
        <p:spPr/>
        <p:txBody>
          <a:bodyPr/>
          <a:lstStyle/>
          <a:p>
            <a:fld id="{E1C68FA7-58D4-B64D-A671-4AA0982894C6}" type="datetime1">
              <a:rPr lang="en-US" smtClean="0"/>
            </a:fld>
            <a:endParaRPr lang="en-US"/>
          </a:p>
        </p:txBody>
      </p:sp>
      <p:sp>
        <p:nvSpPr>
          <p:cNvPr id="5" name="Slide Number Placeholder 4"/>
          <p:cNvSpPr>
            <a:spLocks noGrp="1"/>
          </p:cNvSpPr>
          <p:nvPr>
            <p:ph type="sldNum" sz="quarter" idx="12"/>
          </p:nvPr>
        </p:nvSpPr>
        <p:spPr/>
        <p:txBody>
          <a:bodyPr/>
          <a:lstStyle/>
          <a:p>
            <a:fld id="{CE878D80-AF11-6343-918A-0BF62098A907}" type="slidenum">
              <a:rPr lang="en-US" smtClean="0"/>
            </a:fld>
            <a:endParaRPr lang="en-US"/>
          </a:p>
        </p:txBody>
      </p:sp>
      <p:pic>
        <p:nvPicPr>
          <p:cNvPr id="6" name="Picture 5" descr="venn3.1.2.gif"/>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4912" y="4246771"/>
            <a:ext cx="2738007" cy="1633197"/>
          </a:xfrm>
          <a:prstGeom prst="rect">
            <a:avLst/>
          </a:prstGeom>
        </p:spPr>
      </p:pic>
      <p:pic>
        <p:nvPicPr>
          <p:cNvPr id="7" name="Picture 6" descr="venn3.1.3.gi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26222" y="4246770"/>
            <a:ext cx="2738007" cy="1633197"/>
          </a:xfrm>
          <a:prstGeom prst="rect">
            <a:avLst/>
          </a:prstGeom>
        </p:spPr>
      </p:pic>
      <p:pic>
        <p:nvPicPr>
          <p:cNvPr id="8" name="Picture 7" descr="venn3.1.6.gi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26221" y="2069749"/>
            <a:ext cx="2743200" cy="1636777"/>
          </a:xfrm>
          <a:prstGeom prst="rect">
            <a:avLst/>
          </a:prstGeom>
        </p:spPr>
      </p:pic>
      <p:pic>
        <p:nvPicPr>
          <p:cNvPr id="9" name="Picture 8" descr="venn3.1.4.gif"/>
          <p:cNvPicPr/>
          <p:nvPr/>
        </p:nvPicPr>
        <p:blipFill>
          <a:blip r:embed="rId4">
            <a:extLst>
              <a:ext uri="{28A0092B-C50C-407E-A947-70E740481C1C}">
                <a14:useLocalDpi xmlns:a14="http://schemas.microsoft.com/office/drawing/2010/main" val="0"/>
              </a:ext>
            </a:extLst>
          </a:blip>
          <a:stretch>
            <a:fillRect/>
          </a:stretch>
        </p:blipFill>
        <p:spPr>
          <a:xfrm>
            <a:off x="6354482" y="2069748"/>
            <a:ext cx="2743200" cy="1636776"/>
          </a:xfrm>
          <a:prstGeom prst="rect">
            <a:avLst/>
          </a:prstGeom>
        </p:spPr>
      </p:pic>
      <p:pic>
        <p:nvPicPr>
          <p:cNvPr id="10" name="Picture 9" descr="venn3.1.5.gif"/>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59677" y="4246770"/>
            <a:ext cx="2738007" cy="1633197"/>
          </a:xfrm>
          <a:prstGeom prst="rect">
            <a:avLst/>
          </a:prstGeom>
        </p:spPr>
      </p:pic>
      <p:pic>
        <p:nvPicPr>
          <p:cNvPr id="11" name="Picture 10" descr="img70.jpeg"/>
          <p:cNvPicPr/>
          <p:nvPr/>
        </p:nvPicPr>
        <p:blipFill rotWithShape="1">
          <a:blip r:embed="rId6">
            <a:extLst>
              <a:ext uri="{28A0092B-C50C-407E-A947-70E740481C1C}">
                <a14:useLocalDpi xmlns:a14="http://schemas.microsoft.com/office/drawing/2010/main" val="0"/>
              </a:ext>
            </a:extLst>
          </a:blip>
          <a:srcRect l="4777" t="6706" r="7678" b="17614"/>
          <a:stretch>
            <a:fillRect/>
          </a:stretch>
        </p:blipFill>
        <p:spPr>
          <a:xfrm>
            <a:off x="84910" y="2069748"/>
            <a:ext cx="2743200" cy="1636776"/>
          </a:xfrm>
          <a:prstGeom prst="rect">
            <a:avLst/>
          </a:prstGeom>
          <a:noFill/>
          <a:ln>
            <a:noFill/>
          </a:ln>
        </p:spPr>
      </p:pic>
      <p:pic>
        <p:nvPicPr>
          <p:cNvPr id="12" name="Content Placeholder 5" descr="Screen Shot 2017-09-06 at 10.04.06 AM.png"/>
          <p:cNvPicPr>
            <a:picLocks noGrp="1" noChangeAspect="1"/>
          </p:cNvPicPr>
          <p:nvPr>
            <p:ph idx="1"/>
          </p:nvPr>
        </p:nvPicPr>
        <p:blipFill rotWithShape="1">
          <a:blip r:embed="rId7">
            <a:extLst>
              <a:ext uri="{28A0092B-C50C-407E-A947-70E740481C1C}">
                <a14:useLocalDpi xmlns:a14="http://schemas.microsoft.com/office/drawing/2010/main" val="0"/>
              </a:ext>
            </a:extLst>
          </a:blip>
          <a:srcRect l="53665" t="38122" r="43248" b="56472"/>
          <a:stretch>
            <a:fillRect/>
          </a:stretch>
        </p:blipFill>
        <p:spPr>
          <a:xfrm>
            <a:off x="3226223" y="2069749"/>
            <a:ext cx="254001" cy="269875"/>
          </a:xfrm>
        </p:spPr>
      </p:pic>
      <p:pic>
        <p:nvPicPr>
          <p:cNvPr id="13" name="Content Placeholder 5" descr="Screen Shot 2017-09-06 at 10.04.06 AM.png"/>
          <p:cNvPicPr>
            <a:picLocks noChangeAspect="1"/>
          </p:cNvPicPr>
          <p:nvPr/>
        </p:nvPicPr>
        <p:blipFill rotWithShape="1">
          <a:blip r:embed="rId7">
            <a:duotone>
              <a:prstClr val="black"/>
              <a:srgbClr val="23EFFF">
                <a:tint val="45000"/>
                <a:satMod val="400000"/>
              </a:srgbClr>
            </a:duotone>
            <a:extLst>
              <a:ext uri="{28A0092B-C50C-407E-A947-70E740481C1C}">
                <a14:useLocalDpi xmlns:a14="http://schemas.microsoft.com/office/drawing/2010/main" val="0"/>
              </a:ext>
            </a:extLst>
          </a:blip>
          <a:srcRect l="53665" t="38122" r="43248" b="56472"/>
          <a:stretch>
            <a:fillRect/>
          </a:stretch>
        </p:blipFill>
        <p:spPr>
          <a:xfrm>
            <a:off x="6359677" y="2069748"/>
            <a:ext cx="254001" cy="269875"/>
          </a:xfrm>
          <a:prstGeom prst="rect">
            <a:avLst/>
          </a:prstGeom>
        </p:spPr>
      </p:pic>
      <p:pic>
        <p:nvPicPr>
          <p:cNvPr id="14" name="Content Placeholder 5" descr="Screen Shot 2017-09-06 at 10.04.06 AM.png"/>
          <p:cNvPicPr>
            <a:picLocks noChangeAspect="1"/>
          </p:cNvPicPr>
          <p:nvPr/>
        </p:nvPicPr>
        <p:blipFill rotWithShape="1">
          <a:blip r:embed="rId7">
            <a:extLst>
              <a:ext uri="{28A0092B-C50C-407E-A947-70E740481C1C}">
                <a14:useLocalDpi xmlns:a14="http://schemas.microsoft.com/office/drawing/2010/main" val="0"/>
              </a:ext>
            </a:extLst>
          </a:blip>
          <a:srcRect l="53665" t="38122" r="43248" b="56472"/>
          <a:stretch>
            <a:fillRect/>
          </a:stretch>
        </p:blipFill>
        <p:spPr>
          <a:xfrm>
            <a:off x="3226223" y="4246771"/>
            <a:ext cx="254001" cy="269875"/>
          </a:xfrm>
          <a:prstGeom prst="rect">
            <a:avLst/>
          </a:prstGeom>
        </p:spPr>
      </p:pic>
      <p:pic>
        <p:nvPicPr>
          <p:cNvPr id="15" name="Content Placeholder 5" descr="Screen Shot 2017-09-06 at 10.04.06 AM.png"/>
          <p:cNvPicPr>
            <a:picLocks noChangeAspect="1"/>
          </p:cNvPicPr>
          <p:nvPr/>
        </p:nvPicPr>
        <p:blipFill rotWithShape="1">
          <a:blip r:embed="rId7">
            <a:extLst>
              <a:ext uri="{28A0092B-C50C-407E-A947-70E740481C1C}">
                <a14:useLocalDpi xmlns:a14="http://schemas.microsoft.com/office/drawing/2010/main" val="0"/>
              </a:ext>
            </a:extLst>
          </a:blip>
          <a:srcRect l="53665" t="38122" r="43248" b="56472"/>
          <a:stretch>
            <a:fillRect/>
          </a:stretch>
        </p:blipFill>
        <p:spPr>
          <a:xfrm>
            <a:off x="84912" y="2069748"/>
            <a:ext cx="254001" cy="269875"/>
          </a:xfrm>
          <a:prstGeom prst="rect">
            <a:avLst/>
          </a:prstGeom>
        </p:spPr>
      </p:pic>
      <p:pic>
        <p:nvPicPr>
          <p:cNvPr id="16" name="Content Placeholder 5" descr="Screen Shot 2017-09-06 at 10.04.06 AM.png"/>
          <p:cNvPicPr>
            <a:picLocks noChangeAspect="1"/>
          </p:cNvPicPr>
          <p:nvPr/>
        </p:nvPicPr>
        <p:blipFill rotWithShape="1">
          <a:blip r:embed="rId7">
            <a:extLst>
              <a:ext uri="{28A0092B-C50C-407E-A947-70E740481C1C}">
                <a14:useLocalDpi xmlns:a14="http://schemas.microsoft.com/office/drawing/2010/main" val="0"/>
              </a:ext>
            </a:extLst>
          </a:blip>
          <a:srcRect l="53665" t="38122" r="43248" b="56472"/>
          <a:stretch>
            <a:fillRect/>
          </a:stretch>
        </p:blipFill>
        <p:spPr>
          <a:xfrm>
            <a:off x="84912" y="4246771"/>
            <a:ext cx="254001" cy="269875"/>
          </a:xfrm>
          <a:prstGeom prst="rect">
            <a:avLst/>
          </a:prstGeom>
        </p:spPr>
      </p:pic>
      <p:pic>
        <p:nvPicPr>
          <p:cNvPr id="17" name="Content Placeholder 5" descr="Screen Shot 2017-09-06 at 10.04.06 AM.png"/>
          <p:cNvPicPr>
            <a:picLocks noChangeAspect="1"/>
          </p:cNvPicPr>
          <p:nvPr/>
        </p:nvPicPr>
        <p:blipFill rotWithShape="1">
          <a:blip r:embed="rId7">
            <a:extLst>
              <a:ext uri="{28A0092B-C50C-407E-A947-70E740481C1C}">
                <a14:useLocalDpi xmlns:a14="http://schemas.microsoft.com/office/drawing/2010/main" val="0"/>
              </a:ext>
            </a:extLst>
          </a:blip>
          <a:srcRect l="53665" t="38122" r="43248" b="56472"/>
          <a:stretch>
            <a:fillRect/>
          </a:stretch>
        </p:blipFill>
        <p:spPr>
          <a:xfrm>
            <a:off x="6354484" y="4246769"/>
            <a:ext cx="254001" cy="26987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例子</a:t>
            </a:r>
            <a:endParaRPr lang="en-US" dirty="0"/>
          </a:p>
        </p:txBody>
      </p:sp>
      <p:pic>
        <p:nvPicPr>
          <p:cNvPr id="6" name="Content Placeholder 5" descr="Screen Shot 2017-09-06 at 5.47.04 PM.png"/>
          <p:cNvPicPr>
            <a:picLocks noGrp="1" noChangeAspect="1"/>
          </p:cNvPicPr>
          <p:nvPr>
            <p:ph idx="1"/>
          </p:nvPr>
        </p:nvPicPr>
        <p:blipFill>
          <a:blip r:embed="rId1">
            <a:extLst>
              <a:ext uri="{28A0092B-C50C-407E-A947-70E740481C1C}">
                <a14:useLocalDpi xmlns:a14="http://schemas.microsoft.com/office/drawing/2010/main" val="0"/>
              </a:ext>
            </a:extLst>
          </a:blip>
          <a:srcRect t="-8492" b="-8492"/>
          <a:stretch>
            <a:fillRect/>
          </a:stretch>
        </p:blipFill>
        <p:spPr/>
      </p:pic>
      <p:sp>
        <p:nvSpPr>
          <p:cNvPr id="4" name="Date Placeholder 3"/>
          <p:cNvSpPr>
            <a:spLocks noGrp="1"/>
          </p:cNvSpPr>
          <p:nvPr>
            <p:ph type="dt" sz="half" idx="10"/>
          </p:nvPr>
        </p:nvSpPr>
        <p:spPr/>
        <p:txBody>
          <a:bodyPr/>
          <a:lstStyle/>
          <a:p>
            <a:fld id="{E1C68FA7-58D4-B64D-A671-4AA0982894C6}" type="datetime1">
              <a:rPr lang="en-US" smtClean="0"/>
            </a:fld>
            <a:endParaRPr lang="en-US"/>
          </a:p>
        </p:txBody>
      </p:sp>
      <p:sp>
        <p:nvSpPr>
          <p:cNvPr id="5" name="Slide Number Placeholder 4"/>
          <p:cNvSpPr>
            <a:spLocks noGrp="1"/>
          </p:cNvSpPr>
          <p:nvPr>
            <p:ph type="sldNum" sz="quarter" idx="12"/>
          </p:nvPr>
        </p:nvSpPr>
        <p:spPr/>
        <p:txBody>
          <a:bodyPr/>
          <a:lstStyle/>
          <a:p>
            <a:fld id="{CE878D80-AF11-6343-918A-0BF62098A907}" type="slidenum">
              <a:rPr lang="en-US" smtClean="0"/>
            </a:fld>
            <a:endParaRPr lang="en-US"/>
          </a:p>
        </p:txBody>
      </p:sp>
      <p:sp>
        <p:nvSpPr>
          <p:cNvPr id="7" name="TextBox 6"/>
          <p:cNvSpPr txBox="1"/>
          <p:nvPr/>
        </p:nvSpPr>
        <p:spPr>
          <a:xfrm>
            <a:off x="4286250" y="2746375"/>
            <a:ext cx="889000" cy="369332"/>
          </a:xfrm>
          <a:prstGeom prst="rect">
            <a:avLst/>
          </a:prstGeom>
          <a:solidFill>
            <a:srgbClr val="FFFFFF"/>
          </a:solidFill>
        </p:spPr>
        <p:txBody>
          <a:bodyPr wrap="square" rtlCol="0">
            <a:spAutoFit/>
          </a:bodyPr>
          <a:lstStyle/>
          <a:p>
            <a:endParaRPr lang="en-US" dirty="0"/>
          </a:p>
        </p:txBody>
      </p:sp>
      <p:sp>
        <p:nvSpPr>
          <p:cNvPr id="8" name="TextBox 7"/>
          <p:cNvSpPr txBox="1"/>
          <p:nvPr/>
        </p:nvSpPr>
        <p:spPr>
          <a:xfrm>
            <a:off x="3905252" y="3268107"/>
            <a:ext cx="1476375" cy="369332"/>
          </a:xfrm>
          <a:prstGeom prst="rect">
            <a:avLst/>
          </a:prstGeom>
          <a:solidFill>
            <a:srgbClr val="FFFFFF"/>
          </a:solidFill>
        </p:spPr>
        <p:txBody>
          <a:bodyPr wrap="square" rtlCol="0">
            <a:spAutoFit/>
          </a:bodyPr>
          <a:lstStyle/>
          <a:p>
            <a:endParaRPr lang="en-US" dirty="0"/>
          </a:p>
        </p:txBody>
      </p:sp>
      <p:sp>
        <p:nvSpPr>
          <p:cNvPr id="9" name="TextBox 8"/>
          <p:cNvSpPr txBox="1"/>
          <p:nvPr/>
        </p:nvSpPr>
        <p:spPr>
          <a:xfrm>
            <a:off x="4437062" y="4341257"/>
            <a:ext cx="1960563" cy="369332"/>
          </a:xfrm>
          <a:prstGeom prst="rect">
            <a:avLst/>
          </a:prstGeom>
          <a:solidFill>
            <a:srgbClr val="FFFFFF"/>
          </a:solidFill>
        </p:spPr>
        <p:txBody>
          <a:bodyPr wrap="square" rtlCol="0">
            <a:spAutoFit/>
          </a:bodyPr>
          <a:lstStyle/>
          <a:p>
            <a:endParaRPr lang="en-US" dirty="0"/>
          </a:p>
        </p:txBody>
      </p:sp>
      <p:sp>
        <p:nvSpPr>
          <p:cNvPr id="10" name="TextBox 9"/>
          <p:cNvSpPr txBox="1"/>
          <p:nvPr/>
        </p:nvSpPr>
        <p:spPr>
          <a:xfrm>
            <a:off x="4592637" y="3826907"/>
            <a:ext cx="2693988" cy="369332"/>
          </a:xfrm>
          <a:prstGeom prst="rect">
            <a:avLst/>
          </a:prstGeom>
          <a:solidFill>
            <a:srgbClr val="FFFFFF"/>
          </a:solidFill>
        </p:spPr>
        <p:txBody>
          <a:bodyPr wrap="square" rtlCol="0">
            <a:spAutoFit/>
          </a:bodyPr>
          <a:lstStyle/>
          <a:p>
            <a:endParaRPr lang="en-US" dirty="0"/>
          </a:p>
        </p:txBody>
      </p:sp>
      <p:sp>
        <p:nvSpPr>
          <p:cNvPr id="11" name="TextBox 10"/>
          <p:cNvSpPr txBox="1"/>
          <p:nvPr/>
        </p:nvSpPr>
        <p:spPr>
          <a:xfrm>
            <a:off x="4437062" y="4931807"/>
            <a:ext cx="2693988" cy="369332"/>
          </a:xfrm>
          <a:prstGeom prst="rect">
            <a:avLst/>
          </a:prstGeom>
          <a:solidFill>
            <a:srgbClr val="FFFFFF"/>
          </a:solidFill>
        </p:spPr>
        <p:txBody>
          <a:bodyPr wrap="square" rtlCol="0">
            <a:spAutoFit/>
          </a:bodyPr>
          <a:lstStyle/>
          <a:p>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概率</a:t>
            </a:r>
            <a:endParaRPr lang="zh-CN" altLang="en-US" dirty="0"/>
          </a:p>
        </p:txBody>
      </p:sp>
      <p:sp>
        <p:nvSpPr>
          <p:cNvPr id="3" name="内容占位符 2"/>
          <p:cNvSpPr>
            <a:spLocks noGrp="1"/>
          </p:cNvSpPr>
          <p:nvPr>
            <p:ph idx="1"/>
          </p:nvPr>
        </p:nvSpPr>
        <p:spPr/>
        <p:txBody>
          <a:bodyPr/>
          <a:lstStyle/>
          <a:p>
            <a:r>
              <a:rPr lang="zh-CN" altLang="en-US" dirty="0"/>
              <a:t>直观定义：概率是随机事件发生可能性大小的数字表征</a:t>
            </a:r>
            <a:r>
              <a:rPr lang="en-US" altLang="zh-CN" dirty="0"/>
              <a:t>, </a:t>
            </a:r>
            <a:r>
              <a:rPr lang="zh-CN" altLang="en-US" dirty="0"/>
              <a:t>取值于区间 </a:t>
            </a:r>
            <a:r>
              <a:rPr lang="en-US" altLang="zh-CN" dirty="0"/>
              <a:t>[0,1].</a:t>
            </a:r>
            <a:endParaRPr lang="en-US" altLang="zh-CN" dirty="0"/>
          </a:p>
          <a:p>
            <a:r>
              <a:rPr lang="zh-CN" altLang="en-US" dirty="0"/>
              <a:t> 概率是事件的函数</a:t>
            </a:r>
            <a:r>
              <a:rPr lang="en-US" altLang="zh-CN" dirty="0"/>
              <a:t>. </a:t>
            </a:r>
            <a:r>
              <a:rPr lang="zh-CN" altLang="en-US" dirty="0"/>
              <a:t>因为事件与集合有一一对应关系</a:t>
            </a:r>
            <a:r>
              <a:rPr lang="en-US" altLang="zh-CN" dirty="0"/>
              <a:t>, </a:t>
            </a:r>
            <a:r>
              <a:rPr lang="zh-CN" altLang="en-US" dirty="0"/>
              <a:t>所以概率可以视为集合的函数</a:t>
            </a:r>
            <a:r>
              <a:rPr lang="en-US" altLang="zh-CN" dirty="0"/>
              <a:t>.</a:t>
            </a:r>
            <a:endParaRPr lang="en-US" altLang="zh-CN" dirty="0"/>
          </a:p>
          <a:p>
            <a:endParaRPr lang="zh-CN" altLang="en-US" dirty="0"/>
          </a:p>
        </p:txBody>
      </p:sp>
      <p:sp>
        <p:nvSpPr>
          <p:cNvPr id="4" name="日期占位符 3"/>
          <p:cNvSpPr>
            <a:spLocks noGrp="1"/>
          </p:cNvSpPr>
          <p:nvPr>
            <p:ph type="dt" sz="half" idx="10"/>
          </p:nvPr>
        </p:nvSpPr>
        <p:spPr/>
        <p:txBody>
          <a:bodyPr/>
          <a:lstStyle/>
          <a:p>
            <a:fld id="{E1C68FA7-58D4-B64D-A671-4AA0982894C6}" type="datetime1">
              <a:rPr lang="en-US" smtClean="0"/>
            </a:fld>
            <a:endParaRPr lang="en-US"/>
          </a:p>
        </p:txBody>
      </p:sp>
      <p:sp>
        <p:nvSpPr>
          <p:cNvPr id="5" name="灯片编号占位符 4"/>
          <p:cNvSpPr>
            <a:spLocks noGrp="1"/>
          </p:cNvSpPr>
          <p:nvPr>
            <p:ph type="sldNum" sz="quarter" idx="12"/>
          </p:nvPr>
        </p:nvSpPr>
        <p:spPr/>
        <p:txBody>
          <a:bodyPr/>
          <a:lstStyle/>
          <a:p>
            <a:fld id="{CE878D80-AF11-6343-918A-0BF62098A907}" type="slidenum">
              <a:rPr lang="en-US" smtClean="0"/>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古典概型</a:t>
            </a:r>
            <a:endParaRPr lang="en-US" dirty="0"/>
          </a:p>
        </p:txBody>
      </p:sp>
      <p:pic>
        <p:nvPicPr>
          <p:cNvPr id="6" name="Content Placeholder 5" descr="Screen Shot 2017-09-06 at 8.57.16 AM.png"/>
          <p:cNvPicPr>
            <a:picLocks noGrp="1" noChangeAspect="1"/>
          </p:cNvPicPr>
          <p:nvPr>
            <p:ph idx="1"/>
          </p:nvPr>
        </p:nvPicPr>
        <p:blipFill>
          <a:blip r:embed="rId1">
            <a:extLst>
              <a:ext uri="{28A0092B-C50C-407E-A947-70E740481C1C}">
                <a14:useLocalDpi xmlns:a14="http://schemas.microsoft.com/office/drawing/2010/main" val="0"/>
              </a:ext>
            </a:extLst>
          </a:blip>
          <a:srcRect t="-7846" b="-7846"/>
          <a:stretch>
            <a:fillRect/>
          </a:stretch>
        </p:blipFill>
        <p:spPr/>
      </p:pic>
      <p:sp>
        <p:nvSpPr>
          <p:cNvPr id="4" name="Date Placeholder 3"/>
          <p:cNvSpPr>
            <a:spLocks noGrp="1"/>
          </p:cNvSpPr>
          <p:nvPr>
            <p:ph type="dt" sz="half" idx="10"/>
          </p:nvPr>
        </p:nvSpPr>
        <p:spPr/>
        <p:txBody>
          <a:bodyPr/>
          <a:lstStyle/>
          <a:p>
            <a:fld id="{E1C68FA7-58D4-B64D-A671-4AA0982894C6}" type="datetime1">
              <a:rPr lang="en-US" smtClean="0"/>
            </a:fld>
            <a:endParaRPr lang="en-US"/>
          </a:p>
        </p:txBody>
      </p:sp>
      <p:sp>
        <p:nvSpPr>
          <p:cNvPr id="5" name="Slide Number Placeholder 4"/>
          <p:cNvSpPr>
            <a:spLocks noGrp="1"/>
          </p:cNvSpPr>
          <p:nvPr>
            <p:ph type="sldNum" sz="quarter" idx="12"/>
          </p:nvPr>
        </p:nvSpPr>
        <p:spPr/>
        <p:txBody>
          <a:bodyPr/>
          <a:lstStyle/>
          <a:p>
            <a:fld id="{CE878D80-AF11-6343-918A-0BF62098A907}" type="slidenum">
              <a:rPr lang="en-US" smtClean="0"/>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计数原理</a:t>
            </a:r>
            <a:endParaRPr lang="zh-CN" altLang="en-US" dirty="0"/>
          </a:p>
        </p:txBody>
      </p:sp>
      <p:sp>
        <p:nvSpPr>
          <p:cNvPr id="3" name="内容占位符 2"/>
          <p:cNvSpPr>
            <a:spLocks noGrp="1"/>
          </p:cNvSpPr>
          <p:nvPr>
            <p:ph idx="1"/>
          </p:nvPr>
        </p:nvSpPr>
        <p:spPr/>
        <p:txBody>
          <a:bodyPr>
            <a:normAutofit/>
          </a:bodyPr>
          <a:lstStyle/>
          <a:p>
            <a:r>
              <a:rPr lang="zh-CN" altLang="en-US" dirty="0"/>
              <a:t>加法原理：完成一件事情有 </a:t>
            </a:r>
            <a:r>
              <a:rPr lang="en-US" altLang="zh-CN" dirty="0"/>
              <a:t>n </a:t>
            </a:r>
            <a:r>
              <a:rPr lang="zh-CN" altLang="en-US" dirty="0"/>
              <a:t>类办法，在第</a:t>
            </a:r>
            <a:r>
              <a:rPr lang="en-US" altLang="zh-CN" dirty="0"/>
              <a:t>k</a:t>
            </a:r>
            <a:r>
              <a:rPr lang="zh-CN" altLang="en-US" dirty="0"/>
              <a:t>类办法中有 </a:t>
            </a:r>
            <a:r>
              <a:rPr lang="en-US" altLang="zh-CN" dirty="0" err="1"/>
              <a:t>m</a:t>
            </a:r>
            <a:r>
              <a:rPr lang="en-US" altLang="zh-CN" baseline="-25000" dirty="0" err="1"/>
              <a:t>k</a:t>
            </a:r>
            <a:r>
              <a:rPr lang="en-US" altLang="zh-CN" dirty="0"/>
              <a:t> </a:t>
            </a:r>
            <a:r>
              <a:rPr lang="zh-CN" altLang="en-US" dirty="0"/>
              <a:t>种不同的方法，共计</a:t>
            </a:r>
            <a:r>
              <a:rPr lang="en-US" altLang="zh-CN" dirty="0"/>
              <a:t>m</a:t>
            </a:r>
            <a:r>
              <a:rPr lang="en-US" altLang="zh-CN" baseline="-25000" dirty="0"/>
              <a:t>1</a:t>
            </a:r>
            <a:r>
              <a:rPr lang="en-US" altLang="zh-CN" dirty="0"/>
              <a:t> +……+ </a:t>
            </a:r>
            <a:r>
              <a:rPr lang="en-US" altLang="zh-CN" dirty="0" err="1"/>
              <a:t>m</a:t>
            </a:r>
            <a:r>
              <a:rPr lang="en-US" altLang="zh-CN" baseline="-25000" dirty="0" err="1"/>
              <a:t>n</a:t>
            </a:r>
            <a:r>
              <a:rPr lang="en-US" altLang="zh-CN" dirty="0"/>
              <a:t> </a:t>
            </a:r>
            <a:r>
              <a:rPr lang="zh-CN" altLang="en-US" dirty="0"/>
              <a:t>种方法。</a:t>
            </a:r>
            <a:endParaRPr lang="en-US" altLang="zh-CN" dirty="0"/>
          </a:p>
          <a:p>
            <a:r>
              <a:rPr lang="zh-CN" altLang="en-US" dirty="0"/>
              <a:t>乘法原理：完成一件事情需要分成 </a:t>
            </a:r>
            <a:r>
              <a:rPr lang="en-US" altLang="zh-CN" dirty="0"/>
              <a:t>n </a:t>
            </a:r>
            <a:r>
              <a:rPr lang="zh-CN" altLang="en-US" dirty="0"/>
              <a:t>个步骤，在在第</a:t>
            </a:r>
            <a:r>
              <a:rPr lang="en-US" altLang="zh-CN" dirty="0"/>
              <a:t>k</a:t>
            </a:r>
            <a:r>
              <a:rPr lang="zh-CN" altLang="en-US" dirty="0"/>
              <a:t>个步骤里有 </a:t>
            </a:r>
            <a:r>
              <a:rPr lang="en-US" altLang="zh-CN" dirty="0" err="1"/>
              <a:t>m</a:t>
            </a:r>
            <a:r>
              <a:rPr lang="en-US" altLang="zh-CN" baseline="-25000" dirty="0" err="1"/>
              <a:t>k</a:t>
            </a:r>
            <a:r>
              <a:rPr lang="en-US" altLang="zh-CN" dirty="0"/>
              <a:t> </a:t>
            </a:r>
            <a:r>
              <a:rPr lang="zh-CN" altLang="en-US" dirty="0"/>
              <a:t>种不同的方法，共计</a:t>
            </a:r>
            <a:r>
              <a:rPr lang="en-US" altLang="zh-CN" dirty="0"/>
              <a:t>m</a:t>
            </a:r>
            <a:r>
              <a:rPr lang="en-US" altLang="zh-CN" baseline="-25000" dirty="0"/>
              <a:t>1</a:t>
            </a:r>
            <a:r>
              <a:rPr lang="en-US" altLang="zh-CN" dirty="0"/>
              <a:t> *……* </a:t>
            </a:r>
            <a:r>
              <a:rPr lang="en-US" altLang="zh-CN" dirty="0" err="1"/>
              <a:t>m</a:t>
            </a:r>
            <a:r>
              <a:rPr lang="en-US" altLang="zh-CN" baseline="-25000" dirty="0" err="1"/>
              <a:t>n</a:t>
            </a:r>
            <a:r>
              <a:rPr lang="zh-CN" altLang="en-US" dirty="0"/>
              <a:t>种方法。</a:t>
            </a:r>
            <a:endParaRPr lang="en-US" altLang="zh-CN" dirty="0"/>
          </a:p>
        </p:txBody>
      </p:sp>
      <p:sp>
        <p:nvSpPr>
          <p:cNvPr id="4" name="日期占位符 3"/>
          <p:cNvSpPr>
            <a:spLocks noGrp="1"/>
          </p:cNvSpPr>
          <p:nvPr>
            <p:ph type="dt" sz="half" idx="10"/>
          </p:nvPr>
        </p:nvSpPr>
        <p:spPr/>
        <p:txBody>
          <a:bodyPr/>
          <a:lstStyle/>
          <a:p>
            <a:fld id="{E1C68FA7-58D4-B64D-A671-4AA0982894C6}" type="datetime1">
              <a:rPr lang="en-US" smtClean="0"/>
            </a:fld>
            <a:endParaRPr lang="en-US"/>
          </a:p>
        </p:txBody>
      </p:sp>
      <p:sp>
        <p:nvSpPr>
          <p:cNvPr id="5" name="灯片编号占位符 4"/>
          <p:cNvSpPr>
            <a:spLocks noGrp="1"/>
          </p:cNvSpPr>
          <p:nvPr>
            <p:ph type="sldNum" sz="quarter" idx="12"/>
          </p:nvPr>
        </p:nvSpPr>
        <p:spPr/>
        <p:txBody>
          <a:bodyPr/>
          <a:lstStyle/>
          <a:p>
            <a:fld id="{CE878D80-AF11-6343-918A-0BF62098A907}" type="slidenum">
              <a:rPr lang="en-US" smtClean="0"/>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计数原理</a:t>
            </a:r>
            <a:endParaRPr lang="zh-CN" altLang="en-US" dirty="0"/>
          </a:p>
        </p:txBody>
      </p:sp>
      <p:sp>
        <p:nvSpPr>
          <p:cNvPr id="3" name="内容占位符 2"/>
          <p:cNvSpPr>
            <a:spLocks noGrp="1"/>
          </p:cNvSpPr>
          <p:nvPr>
            <p:ph idx="1"/>
          </p:nvPr>
        </p:nvSpPr>
        <p:spPr/>
        <p:txBody>
          <a:bodyPr>
            <a:normAutofit/>
          </a:bodyPr>
          <a:lstStyle/>
          <a:p>
            <a:r>
              <a:rPr lang="zh-CN" altLang="en-US" dirty="0"/>
              <a:t>从 </a:t>
            </a:r>
            <a:r>
              <a:rPr lang="en-US" altLang="zh-CN" dirty="0"/>
              <a:t>n </a:t>
            </a:r>
            <a:r>
              <a:rPr lang="zh-CN" altLang="en-US" dirty="0"/>
              <a:t>个不同的元素中</a:t>
            </a:r>
            <a:r>
              <a:rPr lang="en-US" altLang="zh-CN" dirty="0"/>
              <a:t>, </a:t>
            </a:r>
            <a:r>
              <a:rPr lang="zh-CN" altLang="en-US" dirty="0"/>
              <a:t>有放回地取出 </a:t>
            </a:r>
            <a:r>
              <a:rPr lang="en-US" altLang="zh-CN" dirty="0"/>
              <a:t>r </a:t>
            </a:r>
            <a:r>
              <a:rPr lang="zh-CN" altLang="en-US" dirty="0"/>
              <a:t>个元素组成的可重复排列的不同方式有</a:t>
            </a:r>
            <a:r>
              <a:rPr lang="en-US" altLang="zh-CN" dirty="0" err="1"/>
              <a:t>n</a:t>
            </a:r>
            <a:r>
              <a:rPr lang="en-US" altLang="zh-CN" baseline="30000" dirty="0" err="1"/>
              <a:t>r</a:t>
            </a:r>
            <a:r>
              <a:rPr lang="en-US" altLang="zh-CN" dirty="0"/>
              <a:t>  </a:t>
            </a:r>
            <a:r>
              <a:rPr lang="zh-CN" altLang="en-US" dirty="0"/>
              <a:t>种</a:t>
            </a:r>
            <a:endParaRPr lang="en-US" altLang="zh-CN" dirty="0"/>
          </a:p>
          <a:p>
            <a:r>
              <a:rPr lang="zh-CN" altLang="en-US" dirty="0"/>
              <a:t>从 </a:t>
            </a:r>
            <a:r>
              <a:rPr lang="en-US" altLang="zh-CN" dirty="0"/>
              <a:t>n </a:t>
            </a:r>
            <a:r>
              <a:rPr lang="zh-CN" altLang="en-US" dirty="0"/>
              <a:t>个不同的元素中</a:t>
            </a:r>
            <a:r>
              <a:rPr lang="en-US" altLang="zh-CN" dirty="0"/>
              <a:t>, </a:t>
            </a:r>
            <a:r>
              <a:rPr lang="zh-CN" altLang="en-US" dirty="0"/>
              <a:t>不放回地取出 </a:t>
            </a:r>
            <a:r>
              <a:rPr lang="en-US" altLang="zh-CN" dirty="0"/>
              <a:t>r </a:t>
            </a:r>
            <a:r>
              <a:rPr lang="zh-CN" altLang="en-US" dirty="0"/>
              <a:t>个元素组成的不重复排列的不同方式有</a:t>
            </a:r>
            <a:r>
              <a:rPr lang="en-US" altLang="zh-CN" dirty="0"/>
              <a:t>n(n − 1)···(n − r + 1) </a:t>
            </a:r>
            <a:r>
              <a:rPr lang="zh-CN" altLang="en-US" dirty="0"/>
              <a:t>种</a:t>
            </a:r>
            <a:endParaRPr lang="en-US" altLang="zh-CN" dirty="0"/>
          </a:p>
          <a:p>
            <a:pPr marL="0" indent="0">
              <a:buNone/>
            </a:pPr>
            <a:endParaRPr lang="zh-CN" altLang="en-US" dirty="0"/>
          </a:p>
        </p:txBody>
      </p:sp>
      <p:sp>
        <p:nvSpPr>
          <p:cNvPr id="4" name="日期占位符 3"/>
          <p:cNvSpPr>
            <a:spLocks noGrp="1"/>
          </p:cNvSpPr>
          <p:nvPr>
            <p:ph type="dt" sz="half" idx="10"/>
          </p:nvPr>
        </p:nvSpPr>
        <p:spPr/>
        <p:txBody>
          <a:bodyPr/>
          <a:lstStyle/>
          <a:p>
            <a:fld id="{E1C68FA7-58D4-B64D-A671-4AA0982894C6}" type="datetime1">
              <a:rPr lang="en-US" smtClean="0"/>
            </a:fld>
            <a:endParaRPr lang="en-US"/>
          </a:p>
        </p:txBody>
      </p:sp>
      <p:sp>
        <p:nvSpPr>
          <p:cNvPr id="5" name="灯片编号占位符 4"/>
          <p:cNvSpPr>
            <a:spLocks noGrp="1"/>
          </p:cNvSpPr>
          <p:nvPr>
            <p:ph type="sldNum" sz="quarter" idx="12"/>
          </p:nvPr>
        </p:nvSpPr>
        <p:spPr/>
        <p:txBody>
          <a:bodyPr/>
          <a:lstStyle/>
          <a:p>
            <a:fld id="{CE878D80-AF11-6343-918A-0BF62098A907}" type="slidenum">
              <a:rPr lang="en-US" smtClean="0"/>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计数原理</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normAutofit/>
              </a:bodyPr>
              <a:lstStyle/>
              <a:p>
                <a:pPr marL="0" indent="0">
                  <a:buNone/>
                </a:pPr>
                <a:endParaRPr lang="en-US" altLang="zh-CN" dirty="0"/>
              </a:p>
              <a:p>
                <a:r>
                  <a:rPr lang="zh-CN" altLang="en-US" dirty="0"/>
                  <a:t>从 </a:t>
                </a:r>
                <a:r>
                  <a:rPr lang="en-US" altLang="zh-CN" dirty="0"/>
                  <a:t>n </a:t>
                </a:r>
                <a:r>
                  <a:rPr lang="zh-CN" altLang="en-US" dirty="0"/>
                  <a:t>个不同的元素中</a:t>
                </a:r>
                <a:r>
                  <a:rPr lang="en-US" altLang="zh-CN" dirty="0"/>
                  <a:t>, </a:t>
                </a:r>
                <a:r>
                  <a:rPr lang="zh-CN" altLang="en-US" dirty="0"/>
                  <a:t>不放回地取 </a:t>
                </a:r>
                <a:r>
                  <a:rPr lang="en-US" altLang="zh-CN" dirty="0"/>
                  <a:t>r </a:t>
                </a:r>
                <a:r>
                  <a:rPr lang="zh-CN" altLang="en-US" dirty="0"/>
                  <a:t>个元素组成的组合</a:t>
                </a:r>
                <a14:m>
                  <m:oMath xmlns:m="http://schemas.openxmlformats.org/officeDocument/2006/math">
                    <m:f>
                      <m:fPr>
                        <m:ctrlPr>
                          <a:rPr lang="en-US" altLang="zh-CN" i="1" smtClean="0">
                            <a:latin typeface="Cambria Math" panose="02040503050406030204" pitchFamily="18" charset="0"/>
                          </a:rPr>
                        </m:ctrlPr>
                      </m:fPr>
                      <m:num>
                        <m:r>
                          <a:rPr lang="en-US" altLang="zh-CN" b="0" i="1" smtClean="0">
                            <a:latin typeface="Cambria Math" panose="02040503050406030204" pitchFamily="18" charset="0"/>
                          </a:rPr>
                          <m:t>𝑛</m:t>
                        </m:r>
                        <m:r>
                          <a:rPr lang="en-US" altLang="zh-CN" b="0" i="1" smtClean="0">
                            <a:latin typeface="Cambria Math" panose="02040503050406030204" pitchFamily="18" charset="0"/>
                          </a:rPr>
                          <m:t>!</m:t>
                        </m:r>
                      </m:num>
                      <m:den>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𝑛</m:t>
                            </m:r>
                            <m:r>
                              <a:rPr lang="en-US" altLang="zh-CN" b="0" i="1" smtClean="0">
                                <a:latin typeface="Cambria Math" panose="02040503050406030204" pitchFamily="18" charset="0"/>
                              </a:rPr>
                              <m:t>−</m:t>
                            </m:r>
                            <m:r>
                              <a:rPr lang="en-US" altLang="zh-CN" b="0" i="1" smtClean="0">
                                <a:latin typeface="Cambria Math" panose="02040503050406030204" pitchFamily="18" charset="0"/>
                              </a:rPr>
                              <m:t>𝑟</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𝑟</m:t>
                        </m:r>
                        <m:r>
                          <a:rPr lang="en-US" altLang="zh-CN" b="0" i="1" smtClean="0">
                            <a:latin typeface="Cambria Math" panose="02040503050406030204" pitchFamily="18" charset="0"/>
                          </a:rPr>
                          <m:t>!</m:t>
                        </m:r>
                      </m:den>
                    </m:f>
                    <m:r>
                      <a:rPr lang="zh-CN" altLang="en-US" i="1">
                        <a:latin typeface="Cambria Math" panose="02040503050406030204" pitchFamily="18" charset="0"/>
                      </a:rPr>
                      <m:t>种</m:t>
                    </m:r>
                  </m:oMath>
                </a14:m>
                <a:r>
                  <a:rPr lang="zh-CN" altLang="en-US" dirty="0"/>
                  <a:t>。</a:t>
                </a:r>
                <a:endParaRPr lang="en-US" altLang="zh-CN" dirty="0"/>
              </a:p>
              <a:p>
                <a:r>
                  <a:rPr lang="zh-CN" altLang="en-US" dirty="0"/>
                  <a:t>重复组合数</a:t>
                </a:r>
                <a:r>
                  <a:rPr lang="en-US" altLang="zh-CN" dirty="0"/>
                  <a:t>:</a:t>
                </a:r>
                <a:r>
                  <a:rPr lang="zh-CN" altLang="en-US" dirty="0"/>
                  <a:t> 从 </a:t>
                </a:r>
                <a:r>
                  <a:rPr lang="en-US" altLang="zh-CN" dirty="0"/>
                  <a:t>n </a:t>
                </a:r>
                <a:r>
                  <a:rPr lang="zh-CN" altLang="en-US" dirty="0"/>
                  <a:t>个不同的元素中</a:t>
                </a:r>
                <a:r>
                  <a:rPr lang="en-US" altLang="zh-CN" dirty="0"/>
                  <a:t>, </a:t>
                </a:r>
                <a:r>
                  <a:rPr lang="zh-CN" altLang="en-US" dirty="0"/>
                  <a:t>有放回地取 </a:t>
                </a:r>
                <a:r>
                  <a:rPr lang="en-US" altLang="zh-CN" dirty="0"/>
                  <a:t>r </a:t>
                </a:r>
                <a:r>
                  <a:rPr lang="zh-CN" altLang="en-US" dirty="0"/>
                  <a:t>个元素组成的组合 </a:t>
                </a:r>
                <a:r>
                  <a:rPr lang="en-US" altLang="zh-CN" dirty="0"/>
                  <a:t>(</a:t>
                </a:r>
                <a:r>
                  <a:rPr lang="zh-CN" altLang="en-US" dirty="0"/>
                  <a:t>不考虑顺序</a:t>
                </a:r>
                <a:r>
                  <a:rPr lang="en-US" altLang="zh-CN" dirty="0"/>
                  <a:t>) </a:t>
                </a:r>
                <a14:m>
                  <m:oMath xmlns:m="http://schemas.openxmlformats.org/officeDocument/2006/math">
                    <m:f>
                      <m:fPr>
                        <m:ctrlPr>
                          <a:rPr lang="en-US" altLang="zh-CN" i="1">
                            <a:latin typeface="Cambria Math" panose="02040503050406030204" pitchFamily="18" charset="0"/>
                          </a:rPr>
                        </m:ctrlPr>
                      </m:fPr>
                      <m:num>
                        <m:r>
                          <a:rPr lang="en-US" altLang="zh-CN" b="0" i="1" smtClean="0">
                            <a:latin typeface="Cambria Math" panose="02040503050406030204" pitchFamily="18" charset="0"/>
                          </a:rPr>
                          <m:t>(</m:t>
                        </m:r>
                        <m:r>
                          <a:rPr lang="en-US" altLang="zh-CN" b="0" i="1" smtClean="0">
                            <a:latin typeface="Cambria Math" panose="02040503050406030204" pitchFamily="18" charset="0"/>
                          </a:rPr>
                          <m:t>𝑛</m:t>
                        </m:r>
                        <m:r>
                          <a:rPr lang="en-US" altLang="zh-CN" b="0" i="1" smtClean="0">
                            <a:latin typeface="Cambria Math" panose="02040503050406030204" pitchFamily="18" charset="0"/>
                          </a:rPr>
                          <m:t>+</m:t>
                        </m:r>
                        <m:r>
                          <a:rPr lang="en-US" altLang="zh-CN" b="0" i="1" smtClean="0">
                            <a:latin typeface="Cambria Math" panose="02040503050406030204" pitchFamily="18" charset="0"/>
                          </a:rPr>
                          <m:t>𝑟</m:t>
                        </m:r>
                        <m:r>
                          <a:rPr lang="en-US" altLang="zh-CN" b="0" i="1" smtClean="0">
                            <a:latin typeface="Cambria Math" panose="02040503050406030204" pitchFamily="18" charset="0"/>
                          </a:rPr>
                          <m:t>−</m:t>
                        </m:r>
                        <m:r>
                          <a:rPr lang="en-US" altLang="zh-CN" b="0" i="1" smtClean="0">
                            <a:latin typeface="Cambria Math" panose="02040503050406030204" pitchFamily="18" charset="0"/>
                          </a:rPr>
                          <m:t>1</m:t>
                        </m:r>
                        <m:r>
                          <a:rPr lang="en-US" altLang="zh-CN" b="0" i="1" smtClean="0">
                            <a:latin typeface="Cambria Math" panose="02040503050406030204" pitchFamily="18" charset="0"/>
                          </a:rPr>
                          <m:t>)!</m:t>
                        </m:r>
                      </m:num>
                      <m:den>
                        <m:d>
                          <m:dPr>
                            <m:ctrlPr>
                              <a:rPr lang="en-US" altLang="zh-CN" i="1">
                                <a:latin typeface="Cambria Math" panose="02040503050406030204" pitchFamily="18" charset="0"/>
                              </a:rPr>
                            </m:ctrlPr>
                          </m:dPr>
                          <m:e>
                            <m:r>
                              <a:rPr lang="en-US" altLang="zh-CN" i="1">
                                <a:latin typeface="Cambria Math" panose="02040503050406030204" pitchFamily="18" charset="0"/>
                              </a:rPr>
                              <m:t>𝑛</m:t>
                            </m:r>
                            <m:r>
                              <a:rPr lang="en-US" altLang="zh-CN" i="1">
                                <a:latin typeface="Cambria Math" panose="02040503050406030204" pitchFamily="18" charset="0"/>
                              </a:rPr>
                              <m:t>−</m:t>
                            </m:r>
                            <m:r>
                              <a:rPr lang="en-US" altLang="zh-CN" i="1">
                                <a:latin typeface="Cambria Math" panose="02040503050406030204" pitchFamily="18" charset="0"/>
                              </a:rPr>
                              <m:t>1</m:t>
                            </m:r>
                          </m:e>
                        </m:d>
                        <m:r>
                          <a:rPr lang="en-US" altLang="zh-CN" i="1">
                            <a:latin typeface="Cambria Math" panose="02040503050406030204" pitchFamily="18" charset="0"/>
                          </a:rPr>
                          <m:t>!</m:t>
                        </m:r>
                        <m:r>
                          <a:rPr lang="en-US" altLang="zh-CN" i="1">
                            <a:latin typeface="Cambria Math" panose="02040503050406030204" pitchFamily="18" charset="0"/>
                          </a:rPr>
                          <m:t>𝑟</m:t>
                        </m:r>
                        <m:r>
                          <a:rPr lang="en-US" altLang="zh-CN" i="1">
                            <a:latin typeface="Cambria Math" panose="02040503050406030204" pitchFamily="18" charset="0"/>
                          </a:rPr>
                          <m:t>!</m:t>
                        </m:r>
                      </m:den>
                    </m:f>
                    <m:r>
                      <a:rPr lang="zh-CN" altLang="en-US" i="1">
                        <a:latin typeface="Cambria Math" panose="02040503050406030204" pitchFamily="18" charset="0"/>
                      </a:rPr>
                      <m:t>种</m:t>
                    </m:r>
                  </m:oMath>
                </a14:m>
                <a:r>
                  <a:rPr lang="zh-CN" altLang="en-US" dirty="0"/>
                  <a:t>。</a:t>
                </a:r>
                <a:endParaRPr lang="en-US" altLang="zh-CN" dirty="0"/>
              </a:p>
              <a:p>
                <a:endParaRPr lang="zh-CN" altLang="en-US" dirty="0"/>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sp>
        <p:nvSpPr>
          <p:cNvPr id="4" name="日期占位符 3"/>
          <p:cNvSpPr>
            <a:spLocks noGrp="1"/>
          </p:cNvSpPr>
          <p:nvPr>
            <p:ph type="dt" sz="half" idx="10"/>
          </p:nvPr>
        </p:nvSpPr>
        <p:spPr/>
        <p:txBody>
          <a:bodyPr/>
          <a:lstStyle/>
          <a:p>
            <a:fld id="{E1C68FA7-58D4-B64D-A671-4AA0982894C6}" type="datetime1">
              <a:rPr lang="en-US" smtClean="0"/>
            </a:fld>
            <a:endParaRPr lang="en-US"/>
          </a:p>
        </p:txBody>
      </p:sp>
      <p:sp>
        <p:nvSpPr>
          <p:cNvPr id="5" name="灯片编号占位符 4"/>
          <p:cNvSpPr>
            <a:spLocks noGrp="1"/>
          </p:cNvSpPr>
          <p:nvPr>
            <p:ph type="sldNum" sz="quarter" idx="12"/>
          </p:nvPr>
        </p:nvSpPr>
        <p:spPr/>
        <p:txBody>
          <a:bodyPr/>
          <a:lstStyle/>
          <a:p>
            <a:fld id="{CE878D80-AF11-6343-918A-0BF62098A907}" type="slidenum">
              <a:rPr lang="en-US" smtClean="0"/>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盒子模型</a:t>
            </a:r>
            <a:endParaRPr lang="zh-CN" altLang="en-US" dirty="0"/>
          </a:p>
        </p:txBody>
      </p:sp>
      <p:sp>
        <p:nvSpPr>
          <p:cNvPr id="3" name="内容占位符 2"/>
          <p:cNvSpPr>
            <a:spLocks noGrp="1"/>
          </p:cNvSpPr>
          <p:nvPr>
            <p:ph idx="1"/>
          </p:nvPr>
        </p:nvSpPr>
        <p:spPr/>
        <p:txBody>
          <a:bodyPr>
            <a:normAutofit/>
          </a:bodyPr>
          <a:lstStyle/>
          <a:p>
            <a:r>
              <a:rPr lang="en-US" altLang="zh-CN" dirty="0"/>
              <a:t>r</a:t>
            </a:r>
            <a:r>
              <a:rPr lang="zh-CN" altLang="en-US" dirty="0"/>
              <a:t>个球随机分到不同编号的</a:t>
            </a:r>
            <a:r>
              <a:rPr lang="en-US" altLang="zh-CN" dirty="0"/>
              <a:t>n</a:t>
            </a:r>
            <a:r>
              <a:rPr lang="zh-CN" altLang="en-US" dirty="0"/>
              <a:t>个盒子里</a:t>
            </a:r>
            <a:endParaRPr lang="en-US" altLang="zh-CN" dirty="0"/>
          </a:p>
          <a:p>
            <a:r>
              <a:rPr lang="zh-CN" altLang="en-US" dirty="0"/>
              <a:t>球可辨</a:t>
            </a:r>
            <a:r>
              <a:rPr lang="en-US" altLang="zh-CN" dirty="0"/>
              <a:t>, </a:t>
            </a:r>
            <a:r>
              <a:rPr lang="zh-CN" altLang="en-US" dirty="0"/>
              <a:t>每个盒子中不限球的个数：从 </a:t>
            </a:r>
            <a:r>
              <a:rPr lang="en-US" altLang="zh-CN" dirty="0"/>
              <a:t>n </a:t>
            </a:r>
            <a:r>
              <a:rPr lang="zh-CN" altLang="en-US" dirty="0"/>
              <a:t>个不同的元素中</a:t>
            </a:r>
            <a:r>
              <a:rPr lang="en-US" altLang="zh-CN" dirty="0"/>
              <a:t>, </a:t>
            </a:r>
            <a:r>
              <a:rPr lang="zh-CN" altLang="en-US" dirty="0"/>
              <a:t>有放回地取出 </a:t>
            </a:r>
            <a:r>
              <a:rPr lang="en-US" altLang="zh-CN" dirty="0"/>
              <a:t>r </a:t>
            </a:r>
            <a:r>
              <a:rPr lang="zh-CN" altLang="en-US" dirty="0"/>
              <a:t>个元素组成的可重复排列的不同方式有</a:t>
            </a:r>
            <a:r>
              <a:rPr lang="en-US" altLang="zh-CN" dirty="0"/>
              <a:t>n</a:t>
            </a:r>
            <a:r>
              <a:rPr lang="en-US" altLang="zh-CN" baseline="30000" dirty="0"/>
              <a:t>r</a:t>
            </a:r>
            <a:r>
              <a:rPr lang="en-US" altLang="zh-CN" dirty="0"/>
              <a:t>  </a:t>
            </a:r>
            <a:r>
              <a:rPr lang="zh-CN" altLang="en-US" dirty="0"/>
              <a:t>种。</a:t>
            </a:r>
            <a:endParaRPr lang="en-US" altLang="zh-CN" dirty="0"/>
          </a:p>
          <a:p>
            <a:pPr marL="0" indent="0">
              <a:buNone/>
            </a:pPr>
            <a:r>
              <a:rPr lang="en-US" altLang="zh-CN" dirty="0">
                <a:solidFill>
                  <a:srgbClr val="00B050"/>
                </a:solidFill>
              </a:rPr>
              <a:t>    </a:t>
            </a:r>
            <a:r>
              <a:rPr lang="zh-CN" altLang="en-US" dirty="0">
                <a:solidFill>
                  <a:srgbClr val="00B050"/>
                </a:solidFill>
              </a:rPr>
              <a:t>麦克斯韦</a:t>
            </a:r>
            <a:r>
              <a:rPr lang="en-US" altLang="zh-CN" dirty="0">
                <a:solidFill>
                  <a:srgbClr val="00B050"/>
                </a:solidFill>
              </a:rPr>
              <a:t>—</a:t>
            </a:r>
            <a:r>
              <a:rPr lang="zh-CN" altLang="en-US" dirty="0">
                <a:solidFill>
                  <a:srgbClr val="00B050"/>
                </a:solidFill>
              </a:rPr>
              <a:t>玻尔兹曼统计</a:t>
            </a:r>
            <a:endParaRPr lang="en-US" altLang="zh-CN" dirty="0">
              <a:solidFill>
                <a:srgbClr val="00B050"/>
              </a:solidFill>
            </a:endParaRPr>
          </a:p>
          <a:p>
            <a:r>
              <a:rPr lang="zh-CN" altLang="en-US" dirty="0"/>
              <a:t> 球可辨</a:t>
            </a:r>
            <a:r>
              <a:rPr lang="en-US" altLang="zh-CN" dirty="0"/>
              <a:t>, </a:t>
            </a:r>
            <a:r>
              <a:rPr lang="zh-CN" altLang="en-US" dirty="0"/>
              <a:t>每个盒子中至多放一个球：从 </a:t>
            </a:r>
            <a:r>
              <a:rPr lang="en-US" altLang="zh-CN" dirty="0"/>
              <a:t>n </a:t>
            </a:r>
            <a:r>
              <a:rPr lang="zh-CN" altLang="en-US" dirty="0"/>
              <a:t>个不同的元素中</a:t>
            </a:r>
            <a:r>
              <a:rPr lang="en-US" altLang="zh-CN" dirty="0"/>
              <a:t>, </a:t>
            </a:r>
            <a:r>
              <a:rPr lang="zh-CN" altLang="en-US" dirty="0"/>
              <a:t>不放回地取出 </a:t>
            </a:r>
            <a:r>
              <a:rPr lang="en-US" altLang="zh-CN" dirty="0"/>
              <a:t>r </a:t>
            </a:r>
            <a:r>
              <a:rPr lang="zh-CN" altLang="en-US" dirty="0"/>
              <a:t>个元素组成的不重复排列的不同方式有</a:t>
            </a:r>
            <a:r>
              <a:rPr lang="en-US" altLang="zh-CN" dirty="0"/>
              <a:t>n(n − 1)···(n − r + 1) </a:t>
            </a:r>
            <a:r>
              <a:rPr lang="zh-CN" altLang="en-US" dirty="0"/>
              <a:t>种。</a:t>
            </a:r>
            <a:endParaRPr lang="en-US" altLang="zh-CN" dirty="0"/>
          </a:p>
          <a:p>
            <a:pPr marL="0" indent="0">
              <a:buNone/>
            </a:pPr>
            <a:endParaRPr lang="en-US" altLang="zh-CN" dirty="0"/>
          </a:p>
          <a:p>
            <a:endParaRPr lang="zh-CN" altLang="en-US" dirty="0"/>
          </a:p>
        </p:txBody>
      </p:sp>
      <p:sp>
        <p:nvSpPr>
          <p:cNvPr id="4" name="日期占位符 3"/>
          <p:cNvSpPr>
            <a:spLocks noGrp="1"/>
          </p:cNvSpPr>
          <p:nvPr>
            <p:ph type="dt" sz="half" idx="10"/>
          </p:nvPr>
        </p:nvSpPr>
        <p:spPr/>
        <p:txBody>
          <a:bodyPr/>
          <a:lstStyle/>
          <a:p>
            <a:fld id="{E1C68FA7-58D4-B64D-A671-4AA0982894C6}" type="datetime1">
              <a:rPr lang="en-US" smtClean="0"/>
            </a:fld>
            <a:endParaRPr lang="en-US"/>
          </a:p>
        </p:txBody>
      </p:sp>
      <p:sp>
        <p:nvSpPr>
          <p:cNvPr id="5" name="灯片编号占位符 4"/>
          <p:cNvSpPr>
            <a:spLocks noGrp="1"/>
          </p:cNvSpPr>
          <p:nvPr>
            <p:ph type="sldNum" sz="quarter" idx="12"/>
          </p:nvPr>
        </p:nvSpPr>
        <p:spPr/>
        <p:txBody>
          <a:bodyPr/>
          <a:lstStyle/>
          <a:p>
            <a:fld id="{CE878D80-AF11-6343-918A-0BF62098A907}" type="slidenum">
              <a:rPr lang="en-US" smtClean="0"/>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盒子模型</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normAutofit fontScale="92500"/>
              </a:bodyPr>
              <a:lstStyle/>
              <a:p>
                <a:r>
                  <a:rPr lang="en-US" altLang="zh-CN" dirty="0"/>
                  <a:t>r</a:t>
                </a:r>
                <a:r>
                  <a:rPr lang="zh-CN" altLang="en-US" dirty="0"/>
                  <a:t>个球随机分到不同编号的</a:t>
                </a:r>
                <a:r>
                  <a:rPr lang="en-US" altLang="zh-CN" dirty="0"/>
                  <a:t>n</a:t>
                </a:r>
                <a:r>
                  <a:rPr lang="zh-CN" altLang="en-US" dirty="0"/>
                  <a:t>个盒子里</a:t>
                </a:r>
                <a:endParaRPr lang="en-US" altLang="zh-CN" dirty="0"/>
              </a:p>
              <a:p>
                <a:r>
                  <a:rPr lang="zh-CN" altLang="en-US" dirty="0"/>
                  <a:t>球不可辨</a:t>
                </a:r>
                <a:r>
                  <a:rPr lang="en-US" altLang="zh-CN" dirty="0"/>
                  <a:t>, </a:t>
                </a:r>
                <a:r>
                  <a:rPr lang="zh-CN" altLang="en-US" dirty="0"/>
                  <a:t>每个盒中至多放一个球：从 </a:t>
                </a:r>
                <a:r>
                  <a:rPr lang="en-US" altLang="zh-CN" dirty="0"/>
                  <a:t>n </a:t>
                </a:r>
                <a:r>
                  <a:rPr lang="zh-CN" altLang="en-US" dirty="0"/>
                  <a:t>个不同的元素中</a:t>
                </a:r>
                <a:r>
                  <a:rPr lang="en-US" altLang="zh-CN" dirty="0"/>
                  <a:t>, </a:t>
                </a:r>
                <a:r>
                  <a:rPr lang="zh-CN" altLang="en-US" dirty="0"/>
                  <a:t>不放回地取 </a:t>
                </a:r>
                <a:r>
                  <a:rPr lang="en-US" altLang="zh-CN" dirty="0"/>
                  <a:t>r </a:t>
                </a:r>
                <a:r>
                  <a:rPr lang="zh-CN" altLang="en-US" dirty="0"/>
                  <a:t>个元素组成的组合</a:t>
                </a:r>
                <a14:m>
                  <m:oMath xmlns:m="http://schemas.openxmlformats.org/officeDocument/2006/math">
                    <m:f>
                      <m:fPr>
                        <m:ctrlPr>
                          <a:rPr lang="en-US" altLang="zh-CN" i="1" smtClean="0">
                            <a:latin typeface="Cambria Math" panose="02040503050406030204" pitchFamily="18" charset="0"/>
                          </a:rPr>
                        </m:ctrlPr>
                      </m:fPr>
                      <m:num>
                        <m:r>
                          <a:rPr lang="en-US" altLang="zh-CN" b="0" i="1" smtClean="0">
                            <a:latin typeface="Cambria Math" panose="02040503050406030204" pitchFamily="18" charset="0"/>
                          </a:rPr>
                          <m:t>𝑛</m:t>
                        </m:r>
                        <m:r>
                          <a:rPr lang="en-US" altLang="zh-CN" b="0" i="1" smtClean="0">
                            <a:latin typeface="Cambria Math" panose="02040503050406030204" pitchFamily="18" charset="0"/>
                          </a:rPr>
                          <m:t>!</m:t>
                        </m:r>
                      </m:num>
                      <m:den>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𝑛</m:t>
                            </m:r>
                            <m:r>
                              <a:rPr lang="en-US" altLang="zh-CN" b="0" i="1" smtClean="0">
                                <a:latin typeface="Cambria Math" panose="02040503050406030204" pitchFamily="18" charset="0"/>
                              </a:rPr>
                              <m:t>−</m:t>
                            </m:r>
                            <m:r>
                              <a:rPr lang="en-US" altLang="zh-CN" b="0" i="1" smtClean="0">
                                <a:latin typeface="Cambria Math" panose="02040503050406030204" pitchFamily="18" charset="0"/>
                              </a:rPr>
                              <m:t>𝑟</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𝑟</m:t>
                        </m:r>
                        <m:r>
                          <a:rPr lang="en-US" altLang="zh-CN" b="0" i="1" smtClean="0">
                            <a:latin typeface="Cambria Math" panose="02040503050406030204" pitchFamily="18" charset="0"/>
                          </a:rPr>
                          <m:t>!</m:t>
                        </m:r>
                      </m:den>
                    </m:f>
                    <m:r>
                      <a:rPr lang="zh-CN" altLang="en-US" i="1">
                        <a:latin typeface="Cambria Math" panose="02040503050406030204" pitchFamily="18" charset="0"/>
                      </a:rPr>
                      <m:t>种</m:t>
                    </m:r>
                  </m:oMath>
                </a14:m>
                <a:r>
                  <a:rPr lang="zh-CN" altLang="en-US" dirty="0"/>
                  <a:t>。</a:t>
                </a:r>
                <a:endParaRPr lang="en-US" altLang="zh-CN" dirty="0"/>
              </a:p>
              <a:p>
                <a:pPr marL="0" indent="0">
                  <a:buNone/>
                </a:pPr>
                <a:r>
                  <a:rPr lang="en-US" altLang="zh-CN" dirty="0">
                    <a:solidFill>
                      <a:srgbClr val="00B050"/>
                    </a:solidFill>
                  </a:rPr>
                  <a:t>    </a:t>
                </a:r>
                <a:r>
                  <a:rPr lang="zh-CN" altLang="en-US" dirty="0">
                    <a:solidFill>
                      <a:srgbClr val="00B050"/>
                    </a:solidFill>
                  </a:rPr>
                  <a:t>费米</a:t>
                </a:r>
                <a:r>
                  <a:rPr lang="en-US" altLang="zh-CN" dirty="0">
                    <a:solidFill>
                      <a:srgbClr val="00B050"/>
                    </a:solidFill>
                  </a:rPr>
                  <a:t>-</a:t>
                </a:r>
                <a:r>
                  <a:rPr lang="zh-CN" altLang="en-US" dirty="0">
                    <a:solidFill>
                      <a:srgbClr val="00B050"/>
                    </a:solidFill>
                  </a:rPr>
                  <a:t>狄拉克统计</a:t>
                </a:r>
                <a:r>
                  <a:rPr lang="zh-CN" altLang="en-US" dirty="0"/>
                  <a:t>。</a:t>
                </a:r>
                <a:endParaRPr lang="en-US" altLang="zh-CN" dirty="0"/>
              </a:p>
              <a:p>
                <a:r>
                  <a:rPr lang="zh-CN" altLang="en-US" dirty="0"/>
                  <a:t> 球不可辨</a:t>
                </a:r>
                <a:r>
                  <a:rPr lang="en-US" altLang="zh-CN" dirty="0"/>
                  <a:t>, </a:t>
                </a:r>
                <a:r>
                  <a:rPr lang="zh-CN" altLang="en-US" dirty="0"/>
                  <a:t>每个盒中不限球的个数</a:t>
                </a:r>
                <a:r>
                  <a:rPr lang="en-US" altLang="zh-CN" dirty="0"/>
                  <a:t>:</a:t>
                </a:r>
                <a:r>
                  <a:rPr lang="zh-CN" altLang="en-US" dirty="0"/>
                  <a:t> 从 </a:t>
                </a:r>
                <a:r>
                  <a:rPr lang="en-US" altLang="zh-CN" dirty="0"/>
                  <a:t>n </a:t>
                </a:r>
                <a:r>
                  <a:rPr lang="zh-CN" altLang="en-US" dirty="0"/>
                  <a:t>个不同的元素中</a:t>
                </a:r>
                <a:r>
                  <a:rPr lang="en-US" altLang="zh-CN" dirty="0"/>
                  <a:t>, </a:t>
                </a:r>
                <a:r>
                  <a:rPr lang="zh-CN" altLang="en-US" dirty="0"/>
                  <a:t>有放回地取 </a:t>
                </a:r>
                <a:r>
                  <a:rPr lang="en-US" altLang="zh-CN" dirty="0"/>
                  <a:t>r </a:t>
                </a:r>
                <a:r>
                  <a:rPr lang="zh-CN" altLang="en-US" dirty="0"/>
                  <a:t>个元素组成的组合 </a:t>
                </a:r>
                <a:r>
                  <a:rPr lang="en-US" altLang="zh-CN" dirty="0"/>
                  <a:t>(</a:t>
                </a:r>
                <a:r>
                  <a:rPr lang="zh-CN" altLang="en-US" dirty="0"/>
                  <a:t>不考虑顺序</a:t>
                </a:r>
                <a:r>
                  <a:rPr lang="en-US" altLang="zh-CN" dirty="0"/>
                  <a:t>) </a:t>
                </a:r>
                <a14:m>
                  <m:oMath xmlns:m="http://schemas.openxmlformats.org/officeDocument/2006/math">
                    <m:f>
                      <m:fPr>
                        <m:ctrlPr>
                          <a:rPr lang="en-US" altLang="zh-CN" i="1">
                            <a:latin typeface="Cambria Math" panose="02040503050406030204" pitchFamily="18" charset="0"/>
                          </a:rPr>
                        </m:ctrlPr>
                      </m:fPr>
                      <m:num>
                        <m:r>
                          <a:rPr lang="en-US" altLang="zh-CN" b="0" i="1" smtClean="0">
                            <a:latin typeface="Cambria Math" panose="02040503050406030204" pitchFamily="18" charset="0"/>
                          </a:rPr>
                          <m:t>(</m:t>
                        </m:r>
                        <m:r>
                          <a:rPr lang="en-US" altLang="zh-CN" b="0" i="1" smtClean="0">
                            <a:latin typeface="Cambria Math" panose="02040503050406030204" pitchFamily="18" charset="0"/>
                          </a:rPr>
                          <m:t>𝑛</m:t>
                        </m:r>
                        <m:r>
                          <a:rPr lang="en-US" altLang="zh-CN" b="0" i="1" smtClean="0">
                            <a:latin typeface="Cambria Math" panose="02040503050406030204" pitchFamily="18" charset="0"/>
                          </a:rPr>
                          <m:t>+</m:t>
                        </m:r>
                        <m:r>
                          <a:rPr lang="en-US" altLang="zh-CN" b="0" i="1" smtClean="0">
                            <a:latin typeface="Cambria Math" panose="02040503050406030204" pitchFamily="18" charset="0"/>
                          </a:rPr>
                          <m:t>𝑟</m:t>
                        </m:r>
                        <m:r>
                          <a:rPr lang="en-US" altLang="zh-CN" b="0" i="1" smtClean="0">
                            <a:latin typeface="Cambria Math" panose="02040503050406030204" pitchFamily="18" charset="0"/>
                          </a:rPr>
                          <m:t>−</m:t>
                        </m:r>
                        <m:r>
                          <a:rPr lang="en-US" altLang="zh-CN" b="0" i="1" smtClean="0">
                            <a:latin typeface="Cambria Math" panose="02040503050406030204" pitchFamily="18" charset="0"/>
                          </a:rPr>
                          <m:t>1</m:t>
                        </m:r>
                        <m:r>
                          <a:rPr lang="en-US" altLang="zh-CN" b="0" i="1" smtClean="0">
                            <a:latin typeface="Cambria Math" panose="02040503050406030204" pitchFamily="18" charset="0"/>
                          </a:rPr>
                          <m:t>)!</m:t>
                        </m:r>
                      </m:num>
                      <m:den>
                        <m:d>
                          <m:dPr>
                            <m:ctrlPr>
                              <a:rPr lang="en-US" altLang="zh-CN" i="1">
                                <a:latin typeface="Cambria Math" panose="02040503050406030204" pitchFamily="18" charset="0"/>
                              </a:rPr>
                            </m:ctrlPr>
                          </m:dPr>
                          <m:e>
                            <m:r>
                              <a:rPr lang="en-US" altLang="zh-CN" i="1">
                                <a:latin typeface="Cambria Math" panose="02040503050406030204" pitchFamily="18" charset="0"/>
                              </a:rPr>
                              <m:t>𝑛</m:t>
                            </m:r>
                            <m:r>
                              <a:rPr lang="en-US" altLang="zh-CN" i="1">
                                <a:latin typeface="Cambria Math" panose="02040503050406030204" pitchFamily="18" charset="0"/>
                              </a:rPr>
                              <m:t>−</m:t>
                            </m:r>
                            <m:r>
                              <a:rPr lang="en-US" altLang="zh-CN" i="1">
                                <a:latin typeface="Cambria Math" panose="02040503050406030204" pitchFamily="18" charset="0"/>
                              </a:rPr>
                              <m:t>1</m:t>
                            </m:r>
                          </m:e>
                        </m:d>
                        <m:r>
                          <a:rPr lang="en-US" altLang="zh-CN" i="1">
                            <a:latin typeface="Cambria Math" panose="02040503050406030204" pitchFamily="18" charset="0"/>
                          </a:rPr>
                          <m:t>!</m:t>
                        </m:r>
                        <m:r>
                          <a:rPr lang="en-US" altLang="zh-CN" i="1">
                            <a:latin typeface="Cambria Math" panose="02040503050406030204" pitchFamily="18" charset="0"/>
                          </a:rPr>
                          <m:t>𝑟</m:t>
                        </m:r>
                        <m:r>
                          <a:rPr lang="en-US" altLang="zh-CN" i="1">
                            <a:latin typeface="Cambria Math" panose="02040503050406030204" pitchFamily="18" charset="0"/>
                          </a:rPr>
                          <m:t>!</m:t>
                        </m:r>
                      </m:den>
                    </m:f>
                    <m:r>
                      <a:rPr lang="zh-CN" altLang="en-US" i="1">
                        <a:latin typeface="Cambria Math" panose="02040503050406030204" pitchFamily="18" charset="0"/>
                      </a:rPr>
                      <m:t>种</m:t>
                    </m:r>
                  </m:oMath>
                </a14:m>
                <a:r>
                  <a:rPr lang="zh-CN" altLang="en-US" dirty="0"/>
                  <a:t>。</a:t>
                </a:r>
                <a:endParaRPr lang="en-US" altLang="zh-CN" dirty="0"/>
              </a:p>
              <a:p>
                <a:pPr marL="0" indent="0">
                  <a:buNone/>
                </a:pPr>
                <a:r>
                  <a:rPr lang="zh-CN" altLang="en-US" dirty="0">
                    <a:solidFill>
                      <a:srgbClr val="00B050"/>
                    </a:solidFill>
                  </a:rPr>
                  <a:t>     玻色</a:t>
                </a:r>
                <a:r>
                  <a:rPr lang="en-US" altLang="zh-CN" dirty="0">
                    <a:solidFill>
                      <a:srgbClr val="00B050"/>
                    </a:solidFill>
                  </a:rPr>
                  <a:t>—</a:t>
                </a:r>
                <a:r>
                  <a:rPr lang="zh-CN" altLang="en-US" dirty="0">
                    <a:solidFill>
                      <a:srgbClr val="00B050"/>
                    </a:solidFill>
                  </a:rPr>
                  <a:t>爱因斯坦统计</a:t>
                </a:r>
                <a:endParaRPr lang="en-US" altLang="zh-CN" dirty="0">
                  <a:solidFill>
                    <a:srgbClr val="00B050"/>
                  </a:solidFill>
                </a:endParaRPr>
              </a:p>
              <a:p>
                <a:endParaRPr lang="zh-CN" altLang="en-US" dirty="0"/>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sp>
        <p:nvSpPr>
          <p:cNvPr id="4" name="日期占位符 3"/>
          <p:cNvSpPr>
            <a:spLocks noGrp="1"/>
          </p:cNvSpPr>
          <p:nvPr>
            <p:ph type="dt" sz="half" idx="10"/>
          </p:nvPr>
        </p:nvSpPr>
        <p:spPr/>
        <p:txBody>
          <a:bodyPr/>
          <a:lstStyle/>
          <a:p>
            <a:fld id="{E1C68FA7-58D4-B64D-A671-4AA0982894C6}" type="datetime1">
              <a:rPr lang="en-US" smtClean="0"/>
            </a:fld>
            <a:endParaRPr lang="en-US"/>
          </a:p>
        </p:txBody>
      </p:sp>
      <p:sp>
        <p:nvSpPr>
          <p:cNvPr id="5" name="灯片编号占位符 4"/>
          <p:cNvSpPr>
            <a:spLocks noGrp="1"/>
          </p:cNvSpPr>
          <p:nvPr>
            <p:ph type="sldNum" sz="quarter" idx="12"/>
          </p:nvPr>
        </p:nvSpPr>
        <p:spPr/>
        <p:txBody>
          <a:bodyPr/>
          <a:lstStyle/>
          <a:p>
            <a:fld id="{CE878D80-AF11-6343-918A-0BF62098A907}" type="slidenum">
              <a:rPr lang="en-US" smtClean="0"/>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多组组合</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lstStyle/>
              <a:p>
                <a:r>
                  <a:rPr lang="zh-CN" altLang="en-US" dirty="0"/>
                  <a:t>把 </a:t>
                </a:r>
                <a:r>
                  <a:rPr lang="en-US" altLang="zh-CN" dirty="0"/>
                  <a:t>n </a:t>
                </a:r>
                <a:r>
                  <a:rPr lang="zh-CN" altLang="en-US" dirty="0"/>
                  <a:t>个不同的元素分为有序的 </a:t>
                </a:r>
                <a:r>
                  <a:rPr lang="en-US" altLang="zh-CN" dirty="0"/>
                  <a:t>k </a:t>
                </a:r>
                <a:r>
                  <a:rPr lang="zh-CN" altLang="en-US" dirty="0"/>
                  <a:t>个部分</a:t>
                </a:r>
                <a:r>
                  <a:rPr lang="en-US" altLang="zh-CN" dirty="0"/>
                  <a:t>, </a:t>
                </a:r>
                <a:r>
                  <a:rPr lang="zh-CN" altLang="en-US" dirty="0"/>
                  <a:t>第 </a:t>
                </a:r>
                <a:r>
                  <a:rPr lang="en-US" altLang="zh-CN" dirty="0" err="1"/>
                  <a:t>i</a:t>
                </a:r>
                <a:r>
                  <a:rPr lang="en-US" altLang="zh-CN" dirty="0"/>
                  <a:t> </a:t>
                </a:r>
                <a:r>
                  <a:rPr lang="zh-CN" altLang="en-US" dirty="0"/>
                  <a:t>部分有 </a:t>
                </a:r>
                <a:r>
                  <a:rPr lang="en-US" altLang="zh-CN" dirty="0" err="1"/>
                  <a:t>r</a:t>
                </a:r>
                <a:r>
                  <a:rPr lang="en-US" altLang="zh-CN" baseline="-25000" dirty="0" err="1"/>
                  <a:t>i</a:t>
                </a:r>
                <a:r>
                  <a:rPr lang="en-US" altLang="zh-CN" dirty="0"/>
                  <a:t> </a:t>
                </a:r>
                <a:r>
                  <a:rPr lang="zh-CN" altLang="en-US" dirty="0"/>
                  <a:t>个元素</a:t>
                </a:r>
                <a:r>
                  <a:rPr lang="en-US" altLang="zh-CN" dirty="0"/>
                  <a:t>, </a:t>
                </a:r>
                <a:r>
                  <a:rPr lang="en-US" altLang="zh-CN" dirty="0" err="1"/>
                  <a:t>i</a:t>
                </a:r>
                <a:r>
                  <a:rPr lang="en-US" altLang="zh-CN" dirty="0"/>
                  <a:t> = 1,2,··· , k,r</a:t>
                </a:r>
                <a:r>
                  <a:rPr lang="en-US" altLang="zh-CN" baseline="-25000" dirty="0"/>
                  <a:t>1</a:t>
                </a:r>
                <a:r>
                  <a:rPr lang="en-US" altLang="zh-CN" dirty="0"/>
                  <a:t> + r</a:t>
                </a:r>
                <a:r>
                  <a:rPr lang="en-US" altLang="zh-CN" baseline="-25000" dirty="0"/>
                  <a:t>2</a:t>
                </a:r>
                <a:r>
                  <a:rPr lang="en-US" altLang="zh-CN" dirty="0"/>
                  <a:t>  + ··· + </a:t>
                </a:r>
                <a:r>
                  <a:rPr lang="en-US" altLang="zh-CN" dirty="0" err="1"/>
                  <a:t>r</a:t>
                </a:r>
                <a:r>
                  <a:rPr lang="en-US" altLang="zh-CN" baseline="-25000" dirty="0" err="1"/>
                  <a:t>k</a:t>
                </a:r>
                <a:r>
                  <a:rPr lang="en-US" altLang="zh-CN" dirty="0"/>
                  <a:t> = n , </a:t>
                </a:r>
                <a:r>
                  <a:rPr lang="zh-CN" altLang="en-US" dirty="0"/>
                  <a:t>则不同的分法个数为</a:t>
                </a:r>
                <a14:m>
                  <m:oMath xmlns:m="http://schemas.openxmlformats.org/officeDocument/2006/math">
                    <m:f>
                      <m:fPr>
                        <m:ctrlPr>
                          <a:rPr lang="en-US" altLang="zh-CN" i="1">
                            <a:latin typeface="Cambria Math" panose="02040503050406030204" pitchFamily="18" charset="0"/>
                          </a:rPr>
                        </m:ctrlPr>
                      </m:fPr>
                      <m:num>
                        <m:r>
                          <a:rPr lang="en-US" altLang="zh-CN" b="0" i="1" smtClean="0">
                            <a:latin typeface="Cambria Math" panose="02040503050406030204" pitchFamily="18" charset="0"/>
                          </a:rPr>
                          <m:t>𝑛</m:t>
                        </m:r>
                        <m:r>
                          <a:rPr lang="en-US" altLang="zh-CN" b="0" i="1" smtClean="0">
                            <a:latin typeface="Cambria Math" panose="02040503050406030204" pitchFamily="18" charset="0"/>
                          </a:rPr>
                          <m:t>!</m:t>
                        </m:r>
                      </m:num>
                      <m:den>
                        <m:r>
                          <m:rPr>
                            <m:nor/>
                          </m:rPr>
                          <a:rPr lang="en-US" altLang="zh-CN" dirty="0">
                            <a:latin typeface="Cambria Math" panose="02040503050406030204" pitchFamily="18" charset="0"/>
                          </a:rPr>
                          <m:t>r</m:t>
                        </m:r>
                        <m:r>
                          <m:rPr>
                            <m:nor/>
                          </m:rPr>
                          <a:rPr lang="en-US" altLang="zh-CN" baseline="-25000" dirty="0">
                            <a:latin typeface="Cambria Math" panose="02040503050406030204" pitchFamily="18" charset="0"/>
                          </a:rPr>
                          <m:t>1</m:t>
                        </m:r>
                        <m:r>
                          <m:rPr>
                            <m:nor/>
                          </m:rPr>
                          <a:rPr lang="en-US" altLang="zh-CN" dirty="0">
                            <a:latin typeface="Cambria Math" panose="02040503050406030204" pitchFamily="18" charset="0"/>
                          </a:rPr>
                          <m:t> </m:t>
                        </m:r>
                        <m:r>
                          <m:rPr>
                            <m:nor/>
                          </m:rPr>
                          <a:rPr lang="en-US" altLang="zh-CN" b="0" i="0" dirty="0" smtClean="0">
                            <a:latin typeface="Cambria Math" panose="02040503050406030204" pitchFamily="18" charset="0"/>
                          </a:rPr>
                          <m:t>!</m:t>
                        </m:r>
                        <m:r>
                          <m:rPr>
                            <m:nor/>
                          </m:rPr>
                          <a:rPr lang="en-US" altLang="zh-CN" dirty="0">
                            <a:latin typeface="Cambria Math" panose="02040503050406030204" pitchFamily="18" charset="0"/>
                          </a:rPr>
                          <m:t>r</m:t>
                        </m:r>
                        <m:r>
                          <m:rPr>
                            <m:nor/>
                          </m:rPr>
                          <a:rPr lang="en-US" altLang="zh-CN" baseline="-25000" dirty="0">
                            <a:latin typeface="Cambria Math" panose="02040503050406030204" pitchFamily="18" charset="0"/>
                          </a:rPr>
                          <m:t>2</m:t>
                        </m:r>
                        <m:r>
                          <m:rPr>
                            <m:nor/>
                          </m:rPr>
                          <a:rPr lang="en-US" altLang="zh-CN" b="0" i="0" dirty="0" smtClean="0">
                            <a:latin typeface="Cambria Math" panose="02040503050406030204" pitchFamily="18" charset="0"/>
                          </a:rPr>
                          <m:t>!</m:t>
                        </m:r>
                        <m:r>
                          <a:rPr lang="en-US" altLang="zh-CN" i="1" dirty="0">
                            <a:latin typeface="Cambria Math" panose="02040503050406030204" pitchFamily="18" charset="0"/>
                          </a:rPr>
                          <m:t>……</m:t>
                        </m:r>
                        <m:r>
                          <m:rPr>
                            <m:nor/>
                          </m:rPr>
                          <a:rPr lang="en-US" altLang="zh-CN" dirty="0">
                            <a:latin typeface="Cambria Math" panose="02040503050406030204" pitchFamily="18" charset="0"/>
                          </a:rPr>
                          <m:t>r</m:t>
                        </m:r>
                        <m:r>
                          <m:rPr>
                            <m:nor/>
                          </m:rPr>
                          <a:rPr lang="en-US" altLang="zh-CN" baseline="-25000" dirty="0">
                            <a:latin typeface="Cambria Math" panose="02040503050406030204" pitchFamily="18" charset="0"/>
                          </a:rPr>
                          <m:t>k</m:t>
                        </m:r>
                        <m:r>
                          <m:rPr>
                            <m:nor/>
                          </m:rPr>
                          <a:rPr lang="en-US" altLang="zh-CN" b="0" i="0" dirty="0" smtClean="0">
                            <a:latin typeface="Cambria Math" panose="02040503050406030204" pitchFamily="18" charset="0"/>
                          </a:rPr>
                          <m:t>!</m:t>
                        </m:r>
                        <m:r>
                          <m:rPr>
                            <m:nor/>
                          </m:rPr>
                          <a:rPr lang="en-US" altLang="zh-CN" b="0" i="0" baseline="-25000" dirty="0" smtClean="0">
                            <a:latin typeface="Cambria Math" panose="02040503050406030204" pitchFamily="18" charset="0"/>
                          </a:rPr>
                          <m:t> </m:t>
                        </m:r>
                      </m:den>
                    </m:f>
                  </m:oMath>
                </a14:m>
                <a:r>
                  <a:rPr lang="zh-CN" altLang="en-US" dirty="0"/>
                  <a:t>，称为多项式系数。它是</a:t>
                </a:r>
                <a:endParaRPr lang="en-US" altLang="zh-CN" dirty="0"/>
              </a:p>
              <a:p>
                <a:pPr marL="0" indent="0">
                  <a:buNone/>
                </a:pPr>
                <a:r>
                  <a:rPr lang="en-US" altLang="zh-CN" dirty="0"/>
                  <a:t>     (</a:t>
                </a:r>
                <a14:m>
                  <m:oMath xmlns:m="http://schemas.openxmlformats.org/officeDocument/2006/math">
                    <m:r>
                      <m:rPr>
                        <m:nor/>
                      </m:rPr>
                      <a:rPr lang="en-US" altLang="zh-CN" dirty="0" smtClean="0">
                        <a:latin typeface="Cambria Math" panose="02040503050406030204" pitchFamily="18" charset="0"/>
                      </a:rPr>
                      <m:t>a</m:t>
                    </m:r>
                    <m:r>
                      <m:rPr>
                        <m:nor/>
                      </m:rPr>
                      <a:rPr lang="en-US" altLang="zh-CN" b="0" i="0" baseline="-25000" dirty="0" smtClean="0">
                        <a:latin typeface="Cambria Math" panose="02040503050406030204" pitchFamily="18" charset="0"/>
                      </a:rPr>
                      <m:t>1</m:t>
                    </m:r>
                  </m:oMath>
                </a14:m>
                <a:r>
                  <a:rPr lang="en-US" altLang="zh-CN" dirty="0"/>
                  <a:t>+……+ </a:t>
                </a:r>
                <a14:m>
                  <m:oMath xmlns:m="http://schemas.openxmlformats.org/officeDocument/2006/math">
                    <m:r>
                      <m:rPr>
                        <m:nor/>
                      </m:rPr>
                      <a:rPr lang="en-US" altLang="zh-CN" dirty="0">
                        <a:latin typeface="Cambria Math" panose="02040503050406030204" pitchFamily="18" charset="0"/>
                      </a:rPr>
                      <m:t>a</m:t>
                    </m:r>
                    <m:r>
                      <m:rPr>
                        <m:sty m:val="p"/>
                      </m:rPr>
                      <a:rPr lang="en-US" altLang="zh-CN" i="1" baseline="-25000" dirty="0" smtClean="0">
                        <a:latin typeface="Cambria Math" panose="02040503050406030204" pitchFamily="18" charset="0"/>
                      </a:rPr>
                      <m:t>k</m:t>
                    </m:r>
                    <m:r>
                      <a:rPr lang="en-US" altLang="zh-CN" b="0" i="0" dirty="0" smtClean="0">
                        <a:latin typeface="Cambria Math" panose="02040503050406030204" pitchFamily="18" charset="0"/>
                      </a:rPr>
                      <m:t>)</m:t>
                    </m:r>
                  </m:oMath>
                </a14:m>
                <a:r>
                  <a:rPr lang="en-US" altLang="zh-CN" baseline="30000" dirty="0"/>
                  <a:t>n</a:t>
                </a:r>
                <a:r>
                  <a:rPr lang="en-US" altLang="zh-CN" dirty="0"/>
                  <a:t> </a:t>
                </a:r>
                <a:r>
                  <a:rPr lang="zh-CN" altLang="en-US" dirty="0"/>
                  <a:t>展开后</a:t>
                </a:r>
                <a14:m>
                  <m:oMath xmlns:m="http://schemas.openxmlformats.org/officeDocument/2006/math">
                    <m:r>
                      <a:rPr lang="zh-CN" altLang="en-US" i="1" dirty="0">
                        <a:latin typeface="Cambria Math" panose="02040503050406030204" pitchFamily="18" charset="0"/>
                      </a:rPr>
                      <m:t>的</m:t>
                    </m:r>
                    <m:r>
                      <a:rPr lang="zh-CN" altLang="en-US" i="1" dirty="0" smtClean="0">
                        <a:latin typeface="Cambria Math" panose="02040503050406030204" pitchFamily="18" charset="0"/>
                      </a:rPr>
                      <m:t>系数</m:t>
                    </m:r>
                    <m:r>
                      <a:rPr lang="zh-CN" altLang="en-US" i="1" dirty="0">
                        <a:latin typeface="Cambria Math" panose="02040503050406030204" pitchFamily="18" charset="0"/>
                      </a:rPr>
                      <m:t>。</m:t>
                    </m:r>
                  </m:oMath>
                </a14:m>
                <a:endParaRPr lang="en-US" altLang="zh-CN" baseline="30000" dirty="0"/>
              </a:p>
              <a:p>
                <a:pPr marL="0" indent="0">
                  <a:buNone/>
                </a:pPr>
                <a:r>
                  <a:rPr lang="en-US" altLang="zh-CN" dirty="0">
                    <a:solidFill>
                      <a:srgbClr val="00B050"/>
                    </a:solidFill>
                  </a:rPr>
                  <a:t> </a:t>
                </a:r>
                <a:r>
                  <a:rPr lang="zh-CN" altLang="en-US" dirty="0">
                    <a:solidFill>
                      <a:srgbClr val="00B050"/>
                    </a:solidFill>
                  </a:rPr>
                  <a:t>麦克斯韦</a:t>
                </a:r>
                <a:r>
                  <a:rPr lang="en-US" altLang="zh-CN" dirty="0">
                    <a:solidFill>
                      <a:srgbClr val="00B050"/>
                    </a:solidFill>
                  </a:rPr>
                  <a:t>—</a:t>
                </a:r>
                <a:r>
                  <a:rPr lang="zh-CN" altLang="en-US" dirty="0">
                    <a:solidFill>
                      <a:srgbClr val="00B050"/>
                    </a:solidFill>
                  </a:rPr>
                  <a:t>玻尔兹曼统计</a:t>
                </a:r>
                <a:endParaRPr lang="en-US" altLang="zh-CN" baseline="30000" dirty="0"/>
              </a:p>
              <a:p>
                <a:pPr marL="0" indent="0">
                  <a:buNone/>
                </a:pPr>
                <a:endParaRPr lang="en-US" altLang="zh-CN" baseline="30000" dirty="0"/>
              </a:p>
              <a:p>
                <a:pPr marL="0" indent="0">
                  <a:buNone/>
                </a:pPr>
                <a:endParaRPr lang="zh-CN" altLang="en-US" baseline="30000" dirty="0"/>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sp>
        <p:nvSpPr>
          <p:cNvPr id="4" name="日期占位符 3"/>
          <p:cNvSpPr>
            <a:spLocks noGrp="1"/>
          </p:cNvSpPr>
          <p:nvPr>
            <p:ph type="dt" sz="half" idx="10"/>
          </p:nvPr>
        </p:nvSpPr>
        <p:spPr/>
        <p:txBody>
          <a:bodyPr/>
          <a:lstStyle/>
          <a:p>
            <a:fld id="{E1C68FA7-58D4-B64D-A671-4AA0982894C6}" type="datetime1">
              <a:rPr lang="en-US" smtClean="0"/>
            </a:fld>
            <a:endParaRPr lang="en-US"/>
          </a:p>
        </p:txBody>
      </p:sp>
      <p:sp>
        <p:nvSpPr>
          <p:cNvPr id="5" name="灯片编号占位符 4"/>
          <p:cNvSpPr>
            <a:spLocks noGrp="1"/>
          </p:cNvSpPr>
          <p:nvPr>
            <p:ph type="sldNum" sz="quarter" idx="12"/>
          </p:nvPr>
        </p:nvSpPr>
        <p:spPr/>
        <p:txBody>
          <a:bodyPr/>
          <a:lstStyle/>
          <a:p>
            <a:fld id="{CE878D80-AF11-6343-918A-0BF62098A907}" type="slidenum">
              <a:rPr lang="en-US" smtClean="0"/>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不尽相异元素的排列</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lstStyle/>
              <a:p>
                <a:r>
                  <a:rPr lang="zh-CN" altLang="en-US" dirty="0"/>
                  <a:t>有 </a:t>
                </a:r>
                <a:r>
                  <a:rPr lang="en-US" altLang="zh-CN" dirty="0"/>
                  <a:t>n </a:t>
                </a:r>
                <a:r>
                  <a:rPr lang="zh-CN" altLang="en-US" dirty="0"/>
                  <a:t>个元素</a:t>
                </a:r>
                <a:r>
                  <a:rPr lang="en-US" altLang="zh-CN" dirty="0"/>
                  <a:t>, </a:t>
                </a:r>
                <a:r>
                  <a:rPr lang="zh-CN" altLang="en-US" dirty="0"/>
                  <a:t>属于 </a:t>
                </a:r>
                <a:r>
                  <a:rPr lang="en-US" altLang="zh-CN" dirty="0"/>
                  <a:t>k </a:t>
                </a:r>
                <a:r>
                  <a:rPr lang="zh-CN" altLang="en-US" dirty="0"/>
                  <a:t>个不同的类</a:t>
                </a:r>
                <a:r>
                  <a:rPr lang="en-US" altLang="zh-CN" dirty="0"/>
                  <a:t>, </a:t>
                </a:r>
                <a:r>
                  <a:rPr lang="zh-CN" altLang="en-US" dirty="0"/>
                  <a:t>同类元素之间不可辨认</a:t>
                </a:r>
                <a:r>
                  <a:rPr lang="en-US" altLang="zh-CN" dirty="0"/>
                  <a:t>, </a:t>
                </a:r>
                <a:r>
                  <a:rPr lang="zh-CN" altLang="en-US" dirty="0"/>
                  <a:t>各类元素分别有 </a:t>
                </a:r>
                <a:r>
                  <a:rPr lang="en-US" altLang="zh-CN" dirty="0"/>
                  <a:t>n</a:t>
                </a:r>
                <a:r>
                  <a:rPr lang="en-US" altLang="zh-CN" baseline="-25000" dirty="0"/>
                  <a:t>1</a:t>
                </a:r>
                <a:r>
                  <a:rPr lang="en-US" altLang="zh-CN" dirty="0"/>
                  <a:t> , n</a:t>
                </a:r>
                <a:r>
                  <a:rPr lang="en-US" altLang="zh-CN" baseline="-25000" dirty="0"/>
                  <a:t>2</a:t>
                </a:r>
                <a:r>
                  <a:rPr lang="en-US" altLang="zh-CN" dirty="0"/>
                  <a:t> , ··· , </a:t>
                </a:r>
                <a:r>
                  <a:rPr lang="en-US" altLang="zh-CN" dirty="0" err="1"/>
                  <a:t>n</a:t>
                </a:r>
                <a:r>
                  <a:rPr lang="en-US" altLang="zh-CN" baseline="-25000" dirty="0" err="1"/>
                  <a:t>k</a:t>
                </a:r>
                <a:r>
                  <a:rPr lang="zh-CN" altLang="en-US" dirty="0"/>
                  <a:t>个</a:t>
                </a:r>
                <a:r>
                  <a:rPr lang="en-US" altLang="zh-CN" dirty="0"/>
                  <a:t>, </a:t>
                </a:r>
                <a:r>
                  <a:rPr lang="zh-CN" altLang="en-US" dirty="0"/>
                  <a:t>其中 </a:t>
                </a:r>
                <a:r>
                  <a:rPr lang="en-US" altLang="zh-CN" dirty="0"/>
                  <a:t>n</a:t>
                </a:r>
                <a:r>
                  <a:rPr lang="en-US" altLang="zh-CN" baseline="-25000" dirty="0"/>
                  <a:t>1 </a:t>
                </a:r>
                <a:r>
                  <a:rPr lang="en-US" altLang="zh-CN" dirty="0"/>
                  <a:t>+ n</a:t>
                </a:r>
                <a:r>
                  <a:rPr lang="en-US" altLang="zh-CN" baseline="-25000" dirty="0"/>
                  <a:t>2</a:t>
                </a:r>
                <a:r>
                  <a:rPr lang="en-US" altLang="zh-CN" dirty="0"/>
                  <a:t> + ··· + </a:t>
                </a:r>
                <a:r>
                  <a:rPr lang="en-US" altLang="zh-CN" dirty="0" err="1"/>
                  <a:t>n</a:t>
                </a:r>
                <a:r>
                  <a:rPr lang="en-US" altLang="zh-CN" baseline="-25000" dirty="0" err="1"/>
                  <a:t>k</a:t>
                </a:r>
                <a:r>
                  <a:rPr lang="en-US" altLang="zh-CN" dirty="0"/>
                  <a:t> = n, </a:t>
                </a:r>
                <a:r>
                  <a:rPr lang="zh-CN" altLang="en-US" dirty="0"/>
                  <a:t>要把它们排成一列</a:t>
                </a:r>
                <a:r>
                  <a:rPr lang="en-US" altLang="zh-CN" dirty="0"/>
                  <a:t>, </a:t>
                </a:r>
                <a:r>
                  <a:rPr lang="zh-CN" altLang="en-US" dirty="0"/>
                  <a:t>则一共有</a:t>
                </a:r>
                <a:endParaRPr lang="en-US" altLang="zh-CN" dirty="0"/>
              </a:p>
              <a:p>
                <a:pPr marL="0" indent="0">
                  <a:buNone/>
                </a:pPr>
                <a14:m>
                  <m:oMath xmlns:m="http://schemas.openxmlformats.org/officeDocument/2006/math">
                    <m:f>
                      <m:fPr>
                        <m:ctrlPr>
                          <a:rPr lang="en-US" altLang="zh-CN" i="1">
                            <a:latin typeface="Cambria Math" panose="02040503050406030204" pitchFamily="18" charset="0"/>
                          </a:rPr>
                        </m:ctrlPr>
                      </m:fPr>
                      <m:num>
                        <m:r>
                          <a:rPr lang="en-US" altLang="zh-CN" i="1">
                            <a:latin typeface="Cambria Math" panose="02040503050406030204" pitchFamily="18" charset="0"/>
                          </a:rPr>
                          <m:t>𝑛</m:t>
                        </m:r>
                        <m:r>
                          <a:rPr lang="en-US" altLang="zh-CN" i="1">
                            <a:latin typeface="Cambria Math" panose="02040503050406030204" pitchFamily="18" charset="0"/>
                          </a:rPr>
                          <m:t>!</m:t>
                        </m:r>
                      </m:num>
                      <m:den>
                        <m:r>
                          <m:rPr>
                            <m:nor/>
                          </m:rPr>
                          <a:rPr lang="en-US" altLang="zh-CN" b="0" i="0" dirty="0" smtClean="0">
                            <a:latin typeface="Cambria Math" panose="02040503050406030204" pitchFamily="18" charset="0"/>
                          </a:rPr>
                          <m:t>n</m:t>
                        </m:r>
                        <m:r>
                          <m:rPr>
                            <m:nor/>
                          </m:rPr>
                          <a:rPr lang="en-US" altLang="zh-CN" baseline="-25000" dirty="0">
                            <a:latin typeface="Cambria Math" panose="02040503050406030204" pitchFamily="18" charset="0"/>
                          </a:rPr>
                          <m:t>1</m:t>
                        </m:r>
                        <m:r>
                          <m:rPr>
                            <m:nor/>
                          </m:rPr>
                          <a:rPr lang="en-US" altLang="zh-CN" dirty="0">
                            <a:latin typeface="Cambria Math" panose="02040503050406030204" pitchFamily="18" charset="0"/>
                          </a:rPr>
                          <m:t> !</m:t>
                        </m:r>
                        <m:r>
                          <m:rPr>
                            <m:nor/>
                          </m:rPr>
                          <a:rPr lang="en-US" altLang="zh-CN" b="0" i="0" dirty="0" smtClean="0">
                            <a:latin typeface="Cambria Math" panose="02040503050406030204" pitchFamily="18" charset="0"/>
                          </a:rPr>
                          <m:t>n</m:t>
                        </m:r>
                        <m:r>
                          <m:rPr>
                            <m:nor/>
                          </m:rPr>
                          <a:rPr lang="en-US" altLang="zh-CN" baseline="-25000" dirty="0">
                            <a:latin typeface="Cambria Math" panose="02040503050406030204" pitchFamily="18" charset="0"/>
                          </a:rPr>
                          <m:t>2</m:t>
                        </m:r>
                        <m:r>
                          <m:rPr>
                            <m:nor/>
                          </m:rPr>
                          <a:rPr lang="en-US" altLang="zh-CN" dirty="0">
                            <a:latin typeface="Cambria Math" panose="02040503050406030204" pitchFamily="18" charset="0"/>
                          </a:rPr>
                          <m:t>!</m:t>
                        </m:r>
                        <m:r>
                          <a:rPr lang="en-US" altLang="zh-CN" i="1" dirty="0">
                            <a:latin typeface="Cambria Math" panose="02040503050406030204" pitchFamily="18" charset="0"/>
                          </a:rPr>
                          <m:t>……</m:t>
                        </m:r>
                        <m:r>
                          <m:rPr>
                            <m:nor/>
                          </m:rPr>
                          <a:rPr lang="en-US" altLang="zh-CN" b="0" i="0" dirty="0" smtClean="0">
                            <a:latin typeface="Cambria Math" panose="02040503050406030204" pitchFamily="18" charset="0"/>
                          </a:rPr>
                          <m:t>n</m:t>
                        </m:r>
                        <m:r>
                          <m:rPr>
                            <m:nor/>
                          </m:rPr>
                          <a:rPr lang="en-US" altLang="zh-CN" baseline="-25000" dirty="0">
                            <a:latin typeface="Cambria Math" panose="02040503050406030204" pitchFamily="18" charset="0"/>
                          </a:rPr>
                          <m:t>k</m:t>
                        </m:r>
                        <m:r>
                          <m:rPr>
                            <m:nor/>
                          </m:rPr>
                          <a:rPr lang="en-US" altLang="zh-CN" dirty="0">
                            <a:latin typeface="Cambria Math" panose="02040503050406030204" pitchFamily="18" charset="0"/>
                          </a:rPr>
                          <m:t>!</m:t>
                        </m:r>
                        <m:r>
                          <m:rPr>
                            <m:nor/>
                          </m:rPr>
                          <a:rPr lang="en-US" altLang="zh-CN" baseline="-25000" dirty="0">
                            <a:latin typeface="Cambria Math" panose="02040503050406030204" pitchFamily="18" charset="0"/>
                          </a:rPr>
                          <m:t> </m:t>
                        </m:r>
                      </m:den>
                    </m:f>
                  </m:oMath>
                </a14:m>
                <a:r>
                  <a:rPr lang="zh-CN" altLang="en-US" dirty="0"/>
                  <a:t>种不同的排法</a:t>
                </a:r>
                <a:endParaRPr lang="zh-CN" altLang="en-US" dirty="0"/>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sp>
        <p:nvSpPr>
          <p:cNvPr id="4" name="日期占位符 3"/>
          <p:cNvSpPr>
            <a:spLocks noGrp="1"/>
          </p:cNvSpPr>
          <p:nvPr>
            <p:ph type="dt" sz="half" idx="10"/>
          </p:nvPr>
        </p:nvSpPr>
        <p:spPr/>
        <p:txBody>
          <a:bodyPr/>
          <a:lstStyle/>
          <a:p>
            <a:fld id="{E1C68FA7-58D4-B64D-A671-4AA0982894C6}" type="datetime1">
              <a:rPr lang="en-US" smtClean="0"/>
            </a:fld>
            <a:endParaRPr lang="en-US"/>
          </a:p>
        </p:txBody>
      </p:sp>
      <p:sp>
        <p:nvSpPr>
          <p:cNvPr id="5" name="灯片编号占位符 4"/>
          <p:cNvSpPr>
            <a:spLocks noGrp="1"/>
          </p:cNvSpPr>
          <p:nvPr>
            <p:ph type="sldNum" sz="quarter" idx="12"/>
          </p:nvPr>
        </p:nvSpPr>
        <p:spPr/>
        <p:txBody>
          <a:bodyPr/>
          <a:lstStyle/>
          <a:p>
            <a:fld id="{CE878D80-AF11-6343-918A-0BF62098A907}" type="slidenum">
              <a:rPr lang="en-US" smtClean="0"/>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生日相同问题</a:t>
            </a:r>
            <a:endParaRPr lang="zh-CN" altLang="en-US" dirty="0"/>
          </a:p>
        </p:txBody>
      </p:sp>
      <p:sp>
        <p:nvSpPr>
          <p:cNvPr id="3" name="内容占位符 2"/>
          <p:cNvSpPr>
            <a:spLocks noGrp="1"/>
          </p:cNvSpPr>
          <p:nvPr>
            <p:ph idx="1"/>
          </p:nvPr>
        </p:nvSpPr>
        <p:spPr/>
        <p:txBody>
          <a:bodyPr/>
          <a:lstStyle/>
          <a:p>
            <a:r>
              <a:rPr lang="zh-CN" altLang="en-US" dirty="0"/>
              <a:t>试求 </a:t>
            </a:r>
            <a:r>
              <a:rPr lang="en-US" altLang="zh-CN" dirty="0"/>
              <a:t>r </a:t>
            </a:r>
            <a:r>
              <a:rPr lang="zh-CN" altLang="en-US" dirty="0"/>
              <a:t>个人中至少有 </a:t>
            </a:r>
            <a:r>
              <a:rPr lang="en-US" altLang="zh-CN" dirty="0"/>
              <a:t>2 </a:t>
            </a:r>
            <a:r>
              <a:rPr lang="zh-CN" altLang="en-US" dirty="0"/>
              <a:t>人生日相同的概率</a:t>
            </a:r>
            <a:r>
              <a:rPr lang="en-US" altLang="zh-CN" dirty="0"/>
              <a:t>. (</a:t>
            </a:r>
            <a:r>
              <a:rPr lang="zh-CN" altLang="en-US" dirty="0"/>
              <a:t>一年按 </a:t>
            </a:r>
            <a:r>
              <a:rPr lang="en-US" altLang="zh-CN" dirty="0"/>
              <a:t>365 </a:t>
            </a:r>
            <a:r>
              <a:rPr lang="zh-CN" altLang="en-US" dirty="0"/>
              <a:t>天计</a:t>
            </a:r>
            <a:r>
              <a:rPr lang="en-US" altLang="zh-CN" dirty="0"/>
              <a:t>.)</a:t>
            </a:r>
            <a:endParaRPr lang="en-US" altLang="zh-CN" dirty="0"/>
          </a:p>
          <a:p>
            <a:r>
              <a:rPr lang="en-US" altLang="zh-CN" dirty="0"/>
              <a:t>r=30</a:t>
            </a:r>
            <a:r>
              <a:rPr lang="zh-CN" altLang="en-US" dirty="0"/>
              <a:t>时，概率接近</a:t>
            </a:r>
            <a:r>
              <a:rPr lang="en-US" altLang="zh-CN" dirty="0"/>
              <a:t>0.6963</a:t>
            </a:r>
            <a:r>
              <a:rPr lang="zh-CN" altLang="en-US" dirty="0"/>
              <a:t>。</a:t>
            </a:r>
            <a:r>
              <a:rPr lang="en-US" altLang="zh-CN" dirty="0"/>
              <a:t>r=50</a:t>
            </a:r>
            <a:r>
              <a:rPr lang="zh-CN" altLang="en-US" dirty="0"/>
              <a:t>时，概率接近</a:t>
            </a:r>
            <a:r>
              <a:rPr lang="en-US" altLang="zh-CN" dirty="0"/>
              <a:t>0.9651</a:t>
            </a:r>
            <a:r>
              <a:rPr lang="zh-CN" altLang="en-US" dirty="0"/>
              <a:t>。</a:t>
            </a:r>
            <a:endParaRPr lang="en-US" altLang="zh-CN" dirty="0"/>
          </a:p>
          <a:p>
            <a:r>
              <a:rPr lang="zh-CN" altLang="en-US" dirty="0">
                <a:solidFill>
                  <a:srgbClr val="C00000"/>
                </a:solidFill>
              </a:rPr>
              <a:t>随机扎堆</a:t>
            </a:r>
            <a:r>
              <a:rPr lang="zh-CN" altLang="en-US" dirty="0"/>
              <a:t>：极端事件往往比人们直觉上的估计更容易发生。</a:t>
            </a:r>
            <a:endParaRPr lang="en-US" altLang="zh-CN" dirty="0"/>
          </a:p>
          <a:p>
            <a:r>
              <a:rPr lang="zh-CN" altLang="en-US" dirty="0"/>
              <a:t>统计思维的重要性</a:t>
            </a:r>
            <a:endParaRPr lang="zh-CN" altLang="en-US" dirty="0"/>
          </a:p>
        </p:txBody>
      </p:sp>
      <p:sp>
        <p:nvSpPr>
          <p:cNvPr id="4" name="日期占位符 3"/>
          <p:cNvSpPr>
            <a:spLocks noGrp="1"/>
          </p:cNvSpPr>
          <p:nvPr>
            <p:ph type="dt" sz="half" idx="10"/>
          </p:nvPr>
        </p:nvSpPr>
        <p:spPr/>
        <p:txBody>
          <a:bodyPr/>
          <a:lstStyle/>
          <a:p>
            <a:fld id="{E1C68FA7-58D4-B64D-A671-4AA0982894C6}" type="datetime1">
              <a:rPr lang="en-US" smtClean="0"/>
            </a:fld>
            <a:endParaRPr lang="en-US"/>
          </a:p>
        </p:txBody>
      </p:sp>
      <p:sp>
        <p:nvSpPr>
          <p:cNvPr id="5" name="灯片编号占位符 4"/>
          <p:cNvSpPr>
            <a:spLocks noGrp="1"/>
          </p:cNvSpPr>
          <p:nvPr>
            <p:ph type="sldNum" sz="quarter" idx="12"/>
          </p:nvPr>
        </p:nvSpPr>
        <p:spPr/>
        <p:txBody>
          <a:bodyPr/>
          <a:lstStyle/>
          <a:p>
            <a:fld id="{CE878D80-AF11-6343-918A-0BF62098A907}" type="slidenum">
              <a:rPr lang="en-US" smtClean="0"/>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绳子问题</a:t>
            </a:r>
            <a:endParaRPr lang="zh-CN" altLang="en-US" dirty="0"/>
          </a:p>
        </p:txBody>
      </p:sp>
      <p:sp>
        <p:nvSpPr>
          <p:cNvPr id="3" name="内容占位符 2"/>
          <p:cNvSpPr>
            <a:spLocks noGrp="1"/>
          </p:cNvSpPr>
          <p:nvPr>
            <p:ph idx="1"/>
          </p:nvPr>
        </p:nvSpPr>
        <p:spPr/>
        <p:txBody>
          <a:bodyPr>
            <a:normAutofit/>
          </a:bodyPr>
          <a:lstStyle/>
          <a:p>
            <a:r>
              <a:rPr lang="zh-CN" altLang="en-US" dirty="0"/>
              <a:t> 有 </a:t>
            </a:r>
            <a:r>
              <a:rPr lang="en-US" altLang="zh-CN" dirty="0"/>
              <a:t>n </a:t>
            </a:r>
            <a:r>
              <a:rPr lang="zh-CN" altLang="en-US" dirty="0"/>
              <a:t>根短绳</a:t>
            </a:r>
            <a:r>
              <a:rPr lang="en-US" altLang="zh-CN" dirty="0"/>
              <a:t>, </a:t>
            </a:r>
            <a:r>
              <a:rPr lang="zh-CN" altLang="en-US" dirty="0"/>
              <a:t>现把它们的 </a:t>
            </a:r>
            <a:r>
              <a:rPr lang="en-US" altLang="zh-CN" dirty="0"/>
              <a:t>2n </a:t>
            </a:r>
            <a:r>
              <a:rPr lang="zh-CN" altLang="en-US" dirty="0"/>
              <a:t>个端头两两任意连接</a:t>
            </a:r>
            <a:r>
              <a:rPr lang="en-US" altLang="zh-CN" dirty="0"/>
              <a:t>. </a:t>
            </a:r>
            <a:r>
              <a:rPr lang="zh-CN" altLang="en-US" dirty="0"/>
              <a:t>试求如下各事件的概率</a:t>
            </a:r>
            <a:r>
              <a:rPr lang="en-US" altLang="zh-CN" dirty="0"/>
              <a:t>:</a:t>
            </a:r>
            <a:endParaRPr lang="en-US" altLang="zh-CN" dirty="0"/>
          </a:p>
          <a:p>
            <a:pPr marL="0" indent="0">
              <a:buNone/>
            </a:pPr>
            <a:r>
              <a:rPr lang="en-US" altLang="zh-CN" dirty="0"/>
              <a:t>     (1) n</a:t>
            </a:r>
            <a:r>
              <a:rPr lang="zh-CN" altLang="en-US" dirty="0"/>
              <a:t>根短绳恰结成 </a:t>
            </a:r>
            <a:r>
              <a:rPr lang="en-US" altLang="zh-CN" dirty="0"/>
              <a:t>n </a:t>
            </a:r>
            <a:r>
              <a:rPr lang="zh-CN" altLang="en-US" dirty="0"/>
              <a:t>个圈</a:t>
            </a:r>
            <a:r>
              <a:rPr lang="en-US" altLang="zh-CN" dirty="0"/>
              <a:t>; </a:t>
            </a:r>
            <a:endParaRPr lang="en-US" altLang="zh-CN" dirty="0"/>
          </a:p>
          <a:p>
            <a:pPr marL="0" indent="0">
              <a:buNone/>
            </a:pPr>
            <a:r>
              <a:rPr lang="en-US" altLang="zh-CN" dirty="0"/>
              <a:t>     (2) n </a:t>
            </a:r>
            <a:r>
              <a:rPr lang="zh-CN" altLang="en-US" dirty="0"/>
              <a:t>根短绳恰结成 </a:t>
            </a:r>
            <a:r>
              <a:rPr lang="en-US" altLang="zh-CN" dirty="0"/>
              <a:t>1 </a:t>
            </a:r>
            <a:r>
              <a:rPr lang="zh-CN" altLang="en-US" dirty="0"/>
              <a:t>个圈</a:t>
            </a:r>
            <a:r>
              <a:rPr lang="en-US" altLang="zh-CN" dirty="0"/>
              <a:t>.</a:t>
            </a:r>
            <a:endParaRPr lang="en-US" altLang="zh-CN" dirty="0"/>
          </a:p>
          <a:p>
            <a:r>
              <a:rPr lang="zh-CN" altLang="en-US" dirty="0"/>
              <a:t>可以设想把 </a:t>
            </a:r>
            <a:r>
              <a:rPr lang="en-US" altLang="zh-CN" dirty="0"/>
              <a:t>2n </a:t>
            </a:r>
            <a:r>
              <a:rPr lang="zh-CN" altLang="en-US" dirty="0"/>
              <a:t>个端头排成一行</a:t>
            </a:r>
            <a:r>
              <a:rPr lang="en-US" altLang="zh-CN" dirty="0"/>
              <a:t>, </a:t>
            </a:r>
            <a:r>
              <a:rPr lang="zh-CN" altLang="en-US" dirty="0"/>
              <a:t>然后规定将第 </a:t>
            </a:r>
            <a:r>
              <a:rPr lang="en-US" altLang="zh-CN" dirty="0"/>
              <a:t>2k−1 </a:t>
            </a:r>
            <a:r>
              <a:rPr lang="zh-CN" altLang="en-US" dirty="0"/>
              <a:t>个端头与第 </a:t>
            </a:r>
            <a:r>
              <a:rPr lang="en-US" altLang="zh-CN" dirty="0"/>
              <a:t>2k </a:t>
            </a:r>
            <a:r>
              <a:rPr lang="zh-CN" altLang="en-US" dirty="0"/>
              <a:t>个端头相连接</a:t>
            </a:r>
            <a:r>
              <a:rPr lang="en-US" altLang="zh-CN" dirty="0"/>
              <a:t>,k = 1,2,··· ,n, </a:t>
            </a:r>
            <a:r>
              <a:rPr lang="zh-CN" altLang="en-US" dirty="0"/>
              <a:t>于是每一种排法对应一种连法</a:t>
            </a:r>
            <a:r>
              <a:rPr lang="en-US" altLang="zh-CN" dirty="0"/>
              <a:t>, </a:t>
            </a:r>
            <a:r>
              <a:rPr lang="zh-CN" altLang="en-US" dirty="0"/>
              <a:t>得 </a:t>
            </a:r>
            <a:r>
              <a:rPr lang="en-US" altLang="zh-CN" dirty="0"/>
              <a:t>|Ω| = (2n)!.</a:t>
            </a:r>
            <a:endParaRPr lang="en-US" altLang="zh-CN" dirty="0"/>
          </a:p>
        </p:txBody>
      </p:sp>
      <p:sp>
        <p:nvSpPr>
          <p:cNvPr id="4" name="日期占位符 3"/>
          <p:cNvSpPr>
            <a:spLocks noGrp="1"/>
          </p:cNvSpPr>
          <p:nvPr>
            <p:ph type="dt" sz="half" idx="10"/>
          </p:nvPr>
        </p:nvSpPr>
        <p:spPr/>
        <p:txBody>
          <a:bodyPr/>
          <a:lstStyle/>
          <a:p>
            <a:fld id="{E1C68FA7-58D4-B64D-A671-4AA0982894C6}" type="datetime1">
              <a:rPr lang="en-US" smtClean="0"/>
            </a:fld>
            <a:endParaRPr lang="en-US"/>
          </a:p>
        </p:txBody>
      </p:sp>
      <p:sp>
        <p:nvSpPr>
          <p:cNvPr id="5" name="灯片编号占位符 4"/>
          <p:cNvSpPr>
            <a:spLocks noGrp="1"/>
          </p:cNvSpPr>
          <p:nvPr>
            <p:ph type="sldNum" sz="quarter" idx="12"/>
          </p:nvPr>
        </p:nvSpPr>
        <p:spPr/>
        <p:txBody>
          <a:bodyPr/>
          <a:lstStyle/>
          <a:p>
            <a:fld id="{CE878D80-AF11-6343-918A-0BF62098A907}" type="slidenum">
              <a:rPr lang="en-US" smtClean="0"/>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抽查论文</a:t>
            </a:r>
            <a:endParaRPr lang="zh-CN" altLang="en-US" dirty="0"/>
          </a:p>
        </p:txBody>
      </p:sp>
      <p:sp>
        <p:nvSpPr>
          <p:cNvPr id="3" name="内容占位符 2"/>
          <p:cNvSpPr>
            <a:spLocks noGrp="1"/>
          </p:cNvSpPr>
          <p:nvPr>
            <p:ph idx="1"/>
          </p:nvPr>
        </p:nvSpPr>
        <p:spPr/>
        <p:txBody>
          <a:bodyPr/>
          <a:lstStyle/>
          <a:p>
            <a:r>
              <a:rPr lang="zh-CN" altLang="en-US" dirty="0"/>
              <a:t>设某高校 </a:t>
            </a:r>
            <a:r>
              <a:rPr lang="en-US" altLang="zh-CN" dirty="0"/>
              <a:t>2020 </a:t>
            </a:r>
            <a:r>
              <a:rPr lang="zh-CN" altLang="en-US" dirty="0"/>
              <a:t>年有 </a:t>
            </a:r>
            <a:r>
              <a:rPr lang="en-US" altLang="zh-CN" dirty="0"/>
              <a:t>500 </a:t>
            </a:r>
            <a:r>
              <a:rPr lang="zh-CN" altLang="en-US" dirty="0"/>
              <a:t>名硕士毕业</a:t>
            </a:r>
            <a:r>
              <a:rPr lang="en-US" altLang="zh-CN" dirty="0"/>
              <a:t>, </a:t>
            </a:r>
            <a:r>
              <a:rPr lang="zh-CN" altLang="en-US" dirty="0"/>
              <a:t>其中 </a:t>
            </a:r>
            <a:r>
              <a:rPr lang="en-US" altLang="zh-CN" dirty="0"/>
              <a:t>480 </a:t>
            </a:r>
            <a:r>
              <a:rPr lang="zh-CN" altLang="en-US" dirty="0"/>
              <a:t>篇是合格论文</a:t>
            </a:r>
            <a:r>
              <a:rPr lang="en-US" altLang="zh-CN" dirty="0"/>
              <a:t>, 20 </a:t>
            </a:r>
            <a:r>
              <a:rPr lang="zh-CN" altLang="en-US" dirty="0"/>
              <a:t>篇论文通不过教育部的检查</a:t>
            </a:r>
            <a:r>
              <a:rPr lang="en-US" altLang="zh-CN" dirty="0"/>
              <a:t>. </a:t>
            </a:r>
            <a:endParaRPr lang="en-US" altLang="zh-CN" dirty="0"/>
          </a:p>
          <a:p>
            <a:r>
              <a:rPr lang="zh-CN" altLang="en-US" dirty="0"/>
              <a:t>假设随机抽查了该高校 </a:t>
            </a:r>
            <a:r>
              <a:rPr lang="en-US" altLang="zh-CN" dirty="0"/>
              <a:t>10% </a:t>
            </a:r>
            <a:r>
              <a:rPr lang="zh-CN" altLang="en-US" dirty="0"/>
              <a:t>的论文</a:t>
            </a:r>
            <a:r>
              <a:rPr lang="en-US" altLang="zh-CN" dirty="0"/>
              <a:t>, </a:t>
            </a:r>
            <a:r>
              <a:rPr lang="zh-CN" altLang="en-US" dirty="0"/>
              <a:t>如果被抽查论文不合格的比例不超过被抽查论文的 </a:t>
            </a:r>
            <a:r>
              <a:rPr lang="en-US" altLang="zh-CN" dirty="0"/>
              <a:t>5%, </a:t>
            </a:r>
            <a:r>
              <a:rPr lang="zh-CN" altLang="en-US" dirty="0"/>
              <a:t>那么该校可以通过合格抽查</a:t>
            </a:r>
            <a:r>
              <a:rPr lang="en-US" altLang="zh-CN" dirty="0"/>
              <a:t>. </a:t>
            </a:r>
            <a:endParaRPr lang="en-US" altLang="zh-CN" dirty="0"/>
          </a:p>
          <a:p>
            <a:r>
              <a:rPr lang="zh-CN" altLang="en-US" dirty="0"/>
              <a:t>求该校能通过合格抽查的概率</a:t>
            </a:r>
            <a:r>
              <a:rPr lang="en-US" altLang="zh-CN" dirty="0"/>
              <a:t>.</a:t>
            </a:r>
            <a:endParaRPr lang="en-US" altLang="zh-CN" dirty="0"/>
          </a:p>
        </p:txBody>
      </p:sp>
      <p:sp>
        <p:nvSpPr>
          <p:cNvPr id="4" name="日期占位符 3"/>
          <p:cNvSpPr>
            <a:spLocks noGrp="1"/>
          </p:cNvSpPr>
          <p:nvPr>
            <p:ph type="dt" sz="half" idx="10"/>
          </p:nvPr>
        </p:nvSpPr>
        <p:spPr/>
        <p:txBody>
          <a:bodyPr/>
          <a:lstStyle/>
          <a:p>
            <a:fld id="{E1C68FA7-58D4-B64D-A671-4AA0982894C6}" type="datetime1">
              <a:rPr lang="en-US" smtClean="0"/>
            </a:fld>
            <a:endParaRPr lang="en-US"/>
          </a:p>
        </p:txBody>
      </p:sp>
      <p:sp>
        <p:nvSpPr>
          <p:cNvPr id="5" name="灯片编号占位符 4"/>
          <p:cNvSpPr>
            <a:spLocks noGrp="1"/>
          </p:cNvSpPr>
          <p:nvPr>
            <p:ph type="sldNum" sz="quarter" idx="12"/>
          </p:nvPr>
        </p:nvSpPr>
        <p:spPr/>
        <p:txBody>
          <a:bodyPr/>
          <a:lstStyle/>
          <a:p>
            <a:fld id="{CE878D80-AF11-6343-918A-0BF62098A907}" type="slidenum">
              <a:rPr lang="en-US" smtClean="0"/>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抽查论文</a:t>
            </a:r>
            <a:endParaRPr lang="zh-CN" altLang="en-US" dirty="0"/>
          </a:p>
        </p:txBody>
      </p:sp>
      <p:sp>
        <p:nvSpPr>
          <p:cNvPr id="3" name="内容占位符 2"/>
          <p:cNvSpPr>
            <a:spLocks noGrp="1"/>
          </p:cNvSpPr>
          <p:nvPr>
            <p:ph idx="1"/>
          </p:nvPr>
        </p:nvSpPr>
        <p:spPr/>
        <p:txBody>
          <a:bodyPr/>
          <a:lstStyle/>
          <a:p>
            <a:r>
              <a:rPr lang="zh-CN" altLang="en-US" dirty="0"/>
              <a:t>该校能通过合格抽查的概率仅为 </a:t>
            </a:r>
            <a:r>
              <a:rPr lang="en-US" altLang="zh-CN" dirty="0"/>
              <a:t>2/3 </a:t>
            </a:r>
            <a:r>
              <a:rPr lang="zh-CN" altLang="en-US" dirty="0"/>
              <a:t>左右</a:t>
            </a:r>
            <a:endParaRPr lang="en-US" altLang="zh-CN" dirty="0"/>
          </a:p>
          <a:p>
            <a:r>
              <a:rPr lang="zh-CN" altLang="en-US" dirty="0"/>
              <a:t>转化为考试成绩，会</a:t>
            </a:r>
            <a:r>
              <a:rPr lang="en-US" altLang="zh-CN" dirty="0"/>
              <a:t>96%</a:t>
            </a:r>
            <a:r>
              <a:rPr lang="zh-CN" altLang="en-US" dirty="0"/>
              <a:t>的习题并不能保证你拿到</a:t>
            </a:r>
            <a:r>
              <a:rPr lang="en-US" altLang="zh-CN" dirty="0"/>
              <a:t>4.3</a:t>
            </a:r>
            <a:r>
              <a:rPr lang="zh-CN" altLang="en-US" dirty="0"/>
              <a:t>的</a:t>
            </a:r>
            <a:r>
              <a:rPr lang="en-US" altLang="zh-CN" dirty="0"/>
              <a:t>GPA</a:t>
            </a:r>
            <a:r>
              <a:rPr lang="zh-CN" altLang="en-US" dirty="0"/>
              <a:t>，即使考试题目完全从习题中抽取。</a:t>
            </a:r>
            <a:endParaRPr lang="zh-CN" altLang="en-US" dirty="0"/>
          </a:p>
        </p:txBody>
      </p:sp>
      <p:sp>
        <p:nvSpPr>
          <p:cNvPr id="4" name="日期占位符 3"/>
          <p:cNvSpPr>
            <a:spLocks noGrp="1"/>
          </p:cNvSpPr>
          <p:nvPr>
            <p:ph type="dt" sz="half" idx="10"/>
          </p:nvPr>
        </p:nvSpPr>
        <p:spPr/>
        <p:txBody>
          <a:bodyPr/>
          <a:lstStyle/>
          <a:p>
            <a:fld id="{E1C68FA7-58D4-B64D-A671-4AA0982894C6}" type="datetime1">
              <a:rPr lang="en-US" smtClean="0"/>
            </a:fld>
            <a:endParaRPr lang="en-US"/>
          </a:p>
        </p:txBody>
      </p:sp>
      <p:sp>
        <p:nvSpPr>
          <p:cNvPr id="5" name="灯片编号占位符 4"/>
          <p:cNvSpPr>
            <a:spLocks noGrp="1"/>
          </p:cNvSpPr>
          <p:nvPr>
            <p:ph type="sldNum" sz="quarter" idx="12"/>
          </p:nvPr>
        </p:nvSpPr>
        <p:spPr/>
        <p:txBody>
          <a:bodyPr/>
          <a:lstStyle/>
          <a:p>
            <a:fld id="{CE878D80-AF11-6343-918A-0BF62098A907}" type="slidenum">
              <a:rPr lang="en-US" smtClean="0"/>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p:txBody>
          <a:bodyPr/>
          <a:lstStyle/>
          <a:p>
            <a:r>
              <a:rPr lang="zh-CN" altLang="en-US" dirty="0"/>
              <a:t>某中医医馆的消化内科专家周医生在某一周曾接诊了 </a:t>
            </a:r>
            <a:r>
              <a:rPr lang="en-US" altLang="zh-CN" dirty="0"/>
              <a:t>9 </a:t>
            </a:r>
            <a:r>
              <a:rPr lang="zh-CN" altLang="en-US" dirty="0"/>
              <a:t>位患者</a:t>
            </a:r>
            <a:r>
              <a:rPr lang="en-US" altLang="zh-CN" dirty="0"/>
              <a:t>, </a:t>
            </a:r>
            <a:r>
              <a:rPr lang="zh-CN" altLang="en-US" dirty="0"/>
              <a:t>调查知该医馆周一休息</a:t>
            </a:r>
            <a:r>
              <a:rPr lang="en-US" altLang="zh-CN" dirty="0"/>
              <a:t>, </a:t>
            </a:r>
            <a:r>
              <a:rPr lang="zh-CN" altLang="en-US" dirty="0"/>
              <a:t>而这 </a:t>
            </a:r>
            <a:r>
              <a:rPr lang="en-US" altLang="zh-CN" dirty="0"/>
              <a:t>9 </a:t>
            </a:r>
            <a:r>
              <a:rPr lang="zh-CN" altLang="en-US" dirty="0"/>
              <a:t>位患者都是周二和周四来看病的</a:t>
            </a:r>
            <a:r>
              <a:rPr lang="en-US" altLang="zh-CN" dirty="0"/>
              <a:t>. </a:t>
            </a:r>
            <a:r>
              <a:rPr lang="zh-CN" altLang="en-US" dirty="0"/>
              <a:t>问该专家在该医馆的门诊时间有无规定</a:t>
            </a:r>
            <a:r>
              <a:rPr lang="en-US" altLang="zh-CN" dirty="0"/>
              <a:t>?</a:t>
            </a:r>
            <a:endParaRPr lang="en-US" altLang="zh-CN" dirty="0"/>
          </a:p>
          <a:p>
            <a:r>
              <a:rPr lang="zh-CN" altLang="en-US" dirty="0"/>
              <a:t>如果没有规定，周二到周日都应该有等可能的接诊患者。</a:t>
            </a:r>
            <a:endParaRPr lang="zh-CN" altLang="en-US" dirty="0"/>
          </a:p>
        </p:txBody>
      </p:sp>
      <p:sp>
        <p:nvSpPr>
          <p:cNvPr id="4" name="日期占位符 3"/>
          <p:cNvSpPr>
            <a:spLocks noGrp="1"/>
          </p:cNvSpPr>
          <p:nvPr>
            <p:ph type="dt" sz="half" idx="10"/>
          </p:nvPr>
        </p:nvSpPr>
        <p:spPr/>
        <p:txBody>
          <a:bodyPr/>
          <a:lstStyle/>
          <a:p>
            <a:fld id="{E1C68FA7-58D4-B64D-A671-4AA0982894C6}" type="datetime1">
              <a:rPr lang="en-US" smtClean="0"/>
            </a:fld>
            <a:endParaRPr lang="en-US"/>
          </a:p>
        </p:txBody>
      </p:sp>
      <p:sp>
        <p:nvSpPr>
          <p:cNvPr id="5" name="灯片编号占位符 4"/>
          <p:cNvSpPr>
            <a:spLocks noGrp="1"/>
          </p:cNvSpPr>
          <p:nvPr>
            <p:ph type="sldNum" sz="quarter" idx="12"/>
          </p:nvPr>
        </p:nvSpPr>
        <p:spPr/>
        <p:txBody>
          <a:bodyPr/>
          <a:lstStyle/>
          <a:p>
            <a:fld id="{CE878D80-AF11-6343-918A-0BF62098A907}" type="slidenum">
              <a:rPr lang="en-US" smtClean="0"/>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小概率原理</a:t>
            </a:r>
            <a:endParaRPr lang="zh-CN" altLang="en-US" dirty="0"/>
          </a:p>
        </p:txBody>
      </p:sp>
      <p:sp>
        <p:nvSpPr>
          <p:cNvPr id="3" name="内容占位符 2"/>
          <p:cNvSpPr>
            <a:spLocks noGrp="1"/>
          </p:cNvSpPr>
          <p:nvPr>
            <p:ph idx="1"/>
          </p:nvPr>
        </p:nvSpPr>
        <p:spPr/>
        <p:txBody>
          <a:bodyPr/>
          <a:lstStyle/>
          <a:p>
            <a:r>
              <a:rPr lang="zh-CN" altLang="en-US" dirty="0"/>
              <a:t>一个小概率事件在一次试验中是几乎不可能发生的</a:t>
            </a:r>
            <a:r>
              <a:rPr lang="en-US" altLang="zh-CN" dirty="0"/>
              <a:t>, </a:t>
            </a:r>
            <a:r>
              <a:rPr lang="zh-CN" altLang="en-US" dirty="0"/>
              <a:t>但在多次重复试验中几乎是必然发生的</a:t>
            </a:r>
            <a:r>
              <a:rPr lang="en-US" altLang="zh-CN" dirty="0"/>
              <a:t>, </a:t>
            </a:r>
            <a:r>
              <a:rPr lang="zh-CN" altLang="en-US" dirty="0"/>
              <a:t>数学上称之为小概率原理。</a:t>
            </a:r>
            <a:endParaRPr lang="en-US" altLang="zh-CN" dirty="0"/>
          </a:p>
        </p:txBody>
      </p:sp>
      <p:sp>
        <p:nvSpPr>
          <p:cNvPr id="4" name="日期占位符 3"/>
          <p:cNvSpPr>
            <a:spLocks noGrp="1"/>
          </p:cNvSpPr>
          <p:nvPr>
            <p:ph type="dt" sz="half" idx="10"/>
          </p:nvPr>
        </p:nvSpPr>
        <p:spPr/>
        <p:txBody>
          <a:bodyPr/>
          <a:lstStyle/>
          <a:p>
            <a:fld id="{E1C68FA7-58D4-B64D-A671-4AA0982894C6}" type="datetime1">
              <a:rPr lang="en-US" smtClean="0"/>
            </a:fld>
            <a:endParaRPr lang="en-US"/>
          </a:p>
        </p:txBody>
      </p:sp>
      <p:sp>
        <p:nvSpPr>
          <p:cNvPr id="5" name="灯片编号占位符 4"/>
          <p:cNvSpPr>
            <a:spLocks noGrp="1"/>
          </p:cNvSpPr>
          <p:nvPr>
            <p:ph type="sldNum" sz="quarter" idx="12"/>
          </p:nvPr>
        </p:nvSpPr>
        <p:spPr/>
        <p:txBody>
          <a:bodyPr/>
          <a:lstStyle/>
          <a:p>
            <a:fld id="{CE878D80-AF11-6343-918A-0BF62098A907}" type="slidenum">
              <a:rPr lang="en-US" smtClean="0"/>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小概率原理</a:t>
            </a:r>
            <a:endParaRPr lang="zh-CN" altLang="en-US" dirty="0"/>
          </a:p>
        </p:txBody>
      </p:sp>
      <p:sp>
        <p:nvSpPr>
          <p:cNvPr id="3" name="内容占位符 2"/>
          <p:cNvSpPr>
            <a:spLocks noGrp="1"/>
          </p:cNvSpPr>
          <p:nvPr>
            <p:ph idx="1"/>
          </p:nvPr>
        </p:nvSpPr>
        <p:spPr/>
        <p:txBody>
          <a:bodyPr/>
          <a:lstStyle/>
          <a:p>
            <a:r>
              <a:rPr lang="zh-CN" altLang="en-US" dirty="0"/>
              <a:t>小概率原理指出小概率事件在一次试验中几乎不会发生</a:t>
            </a:r>
            <a:r>
              <a:rPr lang="en-US" altLang="zh-CN" dirty="0"/>
              <a:t>, </a:t>
            </a:r>
            <a:r>
              <a:rPr lang="zh-CN" altLang="en-US" dirty="0"/>
              <a:t>但这并不等于说该事件永远不会发生</a:t>
            </a:r>
            <a:r>
              <a:rPr lang="en-US" altLang="zh-CN" dirty="0"/>
              <a:t>. </a:t>
            </a:r>
            <a:r>
              <a:rPr lang="zh-CN" altLang="en-US" dirty="0"/>
              <a:t>有很多例子说明这类小概率事件会发生</a:t>
            </a:r>
            <a:r>
              <a:rPr lang="en-US" altLang="zh-CN" dirty="0"/>
              <a:t>, </a:t>
            </a:r>
            <a:r>
              <a:rPr lang="zh-CN" altLang="en-US" dirty="0"/>
              <a:t>例如购买彩票中奖是个小概率事件</a:t>
            </a:r>
            <a:r>
              <a:rPr lang="en-US" altLang="zh-CN" dirty="0"/>
              <a:t>, </a:t>
            </a:r>
            <a:r>
              <a:rPr lang="zh-CN" altLang="en-US" dirty="0"/>
              <a:t>但是总有人会中奖</a:t>
            </a:r>
            <a:r>
              <a:rPr lang="en-US" altLang="zh-CN" dirty="0"/>
              <a:t>, </a:t>
            </a:r>
            <a:r>
              <a:rPr lang="zh-CN" altLang="en-US" dirty="0"/>
              <a:t>有些人还会中两次</a:t>
            </a:r>
            <a:r>
              <a:rPr lang="en-US" altLang="zh-CN" dirty="0"/>
              <a:t>.</a:t>
            </a:r>
            <a:endParaRPr lang="zh-CN" altLang="en-US" dirty="0"/>
          </a:p>
        </p:txBody>
      </p:sp>
      <p:sp>
        <p:nvSpPr>
          <p:cNvPr id="4" name="日期占位符 3"/>
          <p:cNvSpPr>
            <a:spLocks noGrp="1"/>
          </p:cNvSpPr>
          <p:nvPr>
            <p:ph type="dt" sz="half" idx="10"/>
          </p:nvPr>
        </p:nvSpPr>
        <p:spPr/>
        <p:txBody>
          <a:bodyPr/>
          <a:lstStyle/>
          <a:p>
            <a:fld id="{E1C68FA7-58D4-B64D-A671-4AA0982894C6}" type="datetime1">
              <a:rPr lang="en-US" smtClean="0"/>
            </a:fld>
            <a:endParaRPr lang="en-US"/>
          </a:p>
        </p:txBody>
      </p:sp>
      <p:sp>
        <p:nvSpPr>
          <p:cNvPr id="5" name="灯片编号占位符 4"/>
          <p:cNvSpPr>
            <a:spLocks noGrp="1"/>
          </p:cNvSpPr>
          <p:nvPr>
            <p:ph type="sldNum" sz="quarter" idx="12"/>
          </p:nvPr>
        </p:nvSpPr>
        <p:spPr/>
        <p:txBody>
          <a:bodyPr/>
          <a:lstStyle/>
          <a:p>
            <a:fld id="{CE878D80-AF11-6343-918A-0BF62098A907}" type="slidenum">
              <a:rPr lang="en-US" smtClean="0"/>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百年一遇</a:t>
            </a:r>
            <a:endParaRPr lang="zh-CN" altLang="en-US" dirty="0"/>
          </a:p>
        </p:txBody>
      </p:sp>
      <p:sp>
        <p:nvSpPr>
          <p:cNvPr id="3" name="内容占位符 2"/>
          <p:cNvSpPr>
            <a:spLocks noGrp="1"/>
          </p:cNvSpPr>
          <p:nvPr>
            <p:ph idx="1"/>
          </p:nvPr>
        </p:nvSpPr>
        <p:spPr/>
        <p:txBody>
          <a:bodyPr/>
          <a:lstStyle/>
          <a:p>
            <a:r>
              <a:rPr lang="zh-CN" altLang="en-US" dirty="0"/>
              <a:t>从历史资料看</a:t>
            </a:r>
            <a:r>
              <a:rPr lang="en-US" altLang="zh-CN" dirty="0"/>
              <a:t>, </a:t>
            </a:r>
            <a:r>
              <a:rPr lang="zh-CN" altLang="en-US" dirty="0"/>
              <a:t>该河流发生超过该大坝高度的洪水平均而言是一百年一次</a:t>
            </a:r>
            <a:endParaRPr lang="en-US" altLang="zh-CN" dirty="0"/>
          </a:p>
          <a:p>
            <a:r>
              <a:rPr lang="zh-CN" altLang="en-US" dirty="0"/>
              <a:t>发生超过修筑大坝高度洪水的概率不超过 </a:t>
            </a:r>
            <a:r>
              <a:rPr lang="en-US" altLang="zh-CN" dirty="0"/>
              <a:t>0.01</a:t>
            </a:r>
            <a:endParaRPr lang="en-US" altLang="zh-CN" dirty="0"/>
          </a:p>
          <a:p>
            <a:r>
              <a:rPr lang="zh-CN" altLang="en-US" dirty="0"/>
              <a:t>两种理解都有道理，但如果将百年一遇变成千年一遇甚至更多，历史资料显然难以满足，而概率的理解更合理。</a:t>
            </a:r>
            <a:endParaRPr lang="zh-CN" altLang="en-US" dirty="0"/>
          </a:p>
        </p:txBody>
      </p:sp>
      <p:sp>
        <p:nvSpPr>
          <p:cNvPr id="4" name="日期占位符 3"/>
          <p:cNvSpPr>
            <a:spLocks noGrp="1"/>
          </p:cNvSpPr>
          <p:nvPr>
            <p:ph type="dt" sz="half" idx="10"/>
          </p:nvPr>
        </p:nvSpPr>
        <p:spPr/>
        <p:txBody>
          <a:bodyPr/>
          <a:lstStyle/>
          <a:p>
            <a:fld id="{E1C68FA7-58D4-B64D-A671-4AA0982894C6}" type="datetime1">
              <a:rPr lang="en-US" smtClean="0"/>
            </a:fld>
            <a:endParaRPr lang="en-US"/>
          </a:p>
        </p:txBody>
      </p:sp>
      <p:sp>
        <p:nvSpPr>
          <p:cNvPr id="5" name="灯片编号占位符 4"/>
          <p:cNvSpPr>
            <a:spLocks noGrp="1"/>
          </p:cNvSpPr>
          <p:nvPr>
            <p:ph type="sldNum" sz="quarter" idx="12"/>
          </p:nvPr>
        </p:nvSpPr>
        <p:spPr/>
        <p:txBody>
          <a:bodyPr/>
          <a:lstStyle/>
          <a:p>
            <a:fld id="{CE878D80-AF11-6343-918A-0BF62098A907}" type="slidenum">
              <a:rPr lang="en-US" smtClean="0"/>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概率的统计定义</a:t>
            </a:r>
            <a:endParaRPr lang="zh-CN" altLang="en-US" dirty="0"/>
          </a:p>
        </p:txBody>
      </p:sp>
      <p:sp>
        <p:nvSpPr>
          <p:cNvPr id="3" name="内容占位符 2"/>
          <p:cNvSpPr>
            <a:spLocks noGrp="1"/>
          </p:cNvSpPr>
          <p:nvPr>
            <p:ph idx="1"/>
          </p:nvPr>
        </p:nvSpPr>
        <p:spPr/>
        <p:txBody>
          <a:bodyPr>
            <a:normAutofit/>
          </a:bodyPr>
          <a:lstStyle/>
          <a:p>
            <a:r>
              <a:rPr lang="zh-CN" altLang="en-US" dirty="0"/>
              <a:t>古典概型的限制：有限性与等可能性</a:t>
            </a:r>
            <a:endParaRPr lang="en-US" altLang="zh-CN" dirty="0"/>
          </a:p>
          <a:p>
            <a:r>
              <a:rPr lang="zh-CN" altLang="en-US" dirty="0"/>
              <a:t>去掉有限性，保留等可能性</a:t>
            </a:r>
            <a:r>
              <a:rPr lang="en-US" altLang="zh-CN" dirty="0"/>
              <a:t>——</a:t>
            </a:r>
            <a:r>
              <a:rPr lang="zh-CN" altLang="en-US" dirty="0"/>
              <a:t>几何概型</a:t>
            </a:r>
            <a:endParaRPr lang="en-US" altLang="zh-CN" dirty="0"/>
          </a:p>
          <a:p>
            <a:r>
              <a:rPr lang="zh-CN" altLang="en-US" dirty="0"/>
              <a:t>去掉等可能性，保留有限性呢？</a:t>
            </a:r>
            <a:endParaRPr lang="zh-CN" altLang="en-US" dirty="0"/>
          </a:p>
        </p:txBody>
      </p:sp>
      <p:sp>
        <p:nvSpPr>
          <p:cNvPr id="4" name="日期占位符 3"/>
          <p:cNvSpPr>
            <a:spLocks noGrp="1"/>
          </p:cNvSpPr>
          <p:nvPr>
            <p:ph type="dt" sz="half" idx="10"/>
          </p:nvPr>
        </p:nvSpPr>
        <p:spPr/>
        <p:txBody>
          <a:bodyPr/>
          <a:lstStyle/>
          <a:p>
            <a:fld id="{E1C68FA7-58D4-B64D-A671-4AA0982894C6}" type="datetime1">
              <a:rPr lang="en-US" smtClean="0"/>
            </a:fld>
            <a:endParaRPr lang="en-US"/>
          </a:p>
        </p:txBody>
      </p:sp>
      <p:sp>
        <p:nvSpPr>
          <p:cNvPr id="5" name="灯片编号占位符 4"/>
          <p:cNvSpPr>
            <a:spLocks noGrp="1"/>
          </p:cNvSpPr>
          <p:nvPr>
            <p:ph type="sldNum" sz="quarter" idx="12"/>
          </p:nvPr>
        </p:nvSpPr>
        <p:spPr/>
        <p:txBody>
          <a:bodyPr/>
          <a:lstStyle/>
          <a:p>
            <a:fld id="{CE878D80-AF11-6343-918A-0BF62098A907}" type="slidenum">
              <a:rPr lang="en-US" smtClean="0"/>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概率的统计定义</a:t>
            </a:r>
            <a:endParaRPr lang="zh-CN" altLang="en-US" dirty="0"/>
          </a:p>
        </p:txBody>
      </p:sp>
      <p:sp>
        <p:nvSpPr>
          <p:cNvPr id="3" name="内容占位符 2"/>
          <p:cNvSpPr>
            <a:spLocks noGrp="1"/>
          </p:cNvSpPr>
          <p:nvPr>
            <p:ph idx="1"/>
          </p:nvPr>
        </p:nvSpPr>
        <p:spPr/>
        <p:txBody>
          <a:bodyPr>
            <a:normAutofit/>
          </a:bodyPr>
          <a:lstStyle/>
          <a:p>
            <a:r>
              <a:rPr lang="zh-CN" altLang="en-US" dirty="0"/>
              <a:t>设事件 </a:t>
            </a:r>
            <a:r>
              <a:rPr lang="en-US" altLang="zh-CN" dirty="0"/>
              <a:t>A </a:t>
            </a:r>
            <a:r>
              <a:rPr lang="zh-CN" altLang="en-US" dirty="0"/>
              <a:t>发生的概率为 </a:t>
            </a:r>
            <a:r>
              <a:rPr lang="en-US" altLang="zh-CN" dirty="0"/>
              <a:t>p, </a:t>
            </a:r>
            <a:endParaRPr lang="en-US" altLang="zh-CN" dirty="0"/>
          </a:p>
          <a:p>
            <a:r>
              <a:rPr lang="zh-CN" altLang="en-US" dirty="0"/>
              <a:t>为了确定它</a:t>
            </a:r>
            <a:r>
              <a:rPr lang="en-US" altLang="zh-CN" dirty="0"/>
              <a:t>, </a:t>
            </a:r>
            <a:r>
              <a:rPr lang="zh-CN" altLang="en-US" dirty="0"/>
              <a:t>把该试验在相同的条件下独立重复做 </a:t>
            </a:r>
            <a:r>
              <a:rPr lang="en-US" altLang="zh-CN" dirty="0"/>
              <a:t>n </a:t>
            </a:r>
            <a:r>
              <a:rPr lang="zh-CN" altLang="en-US" dirty="0"/>
              <a:t>次</a:t>
            </a:r>
            <a:r>
              <a:rPr lang="en-US" altLang="zh-CN" dirty="0"/>
              <a:t>, </a:t>
            </a:r>
            <a:r>
              <a:rPr lang="zh-CN" altLang="en-US" dirty="0"/>
              <a:t>用</a:t>
            </a:r>
            <a:r>
              <a:rPr lang="en-US" altLang="zh-CN" dirty="0" err="1"/>
              <a:t>n</a:t>
            </a:r>
            <a:r>
              <a:rPr lang="en-US" altLang="zh-CN" baseline="-25000" dirty="0" err="1"/>
              <a:t>A</a:t>
            </a:r>
            <a:r>
              <a:rPr lang="en-US" altLang="zh-CN" dirty="0"/>
              <a:t> </a:t>
            </a:r>
            <a:r>
              <a:rPr lang="zh-CN" altLang="en-US" dirty="0"/>
              <a:t>表示事件 </a:t>
            </a:r>
            <a:r>
              <a:rPr lang="en-US" altLang="zh-CN" dirty="0"/>
              <a:t>A </a:t>
            </a:r>
            <a:r>
              <a:rPr lang="zh-CN" altLang="en-US" dirty="0"/>
              <a:t>出现的频数</a:t>
            </a:r>
            <a:r>
              <a:rPr lang="en-US" altLang="zh-CN" dirty="0"/>
              <a:t>, </a:t>
            </a:r>
            <a:r>
              <a:rPr lang="en-US" altLang="zh-CN" dirty="0" err="1"/>
              <a:t>n</a:t>
            </a:r>
            <a:r>
              <a:rPr lang="en-US" altLang="zh-CN" baseline="-25000" dirty="0" err="1"/>
              <a:t>A</a:t>
            </a:r>
            <a:r>
              <a:rPr lang="en-US" altLang="zh-CN" dirty="0"/>
              <a:t> /n </a:t>
            </a:r>
            <a:r>
              <a:rPr lang="zh-CN" altLang="en-US" dirty="0"/>
              <a:t>称为事件 </a:t>
            </a:r>
            <a:r>
              <a:rPr lang="en-US" altLang="zh-CN" dirty="0"/>
              <a:t>A </a:t>
            </a:r>
            <a:r>
              <a:rPr lang="zh-CN" altLang="en-US" dirty="0"/>
              <a:t>的频率</a:t>
            </a:r>
            <a:r>
              <a:rPr lang="en-US" altLang="zh-CN" dirty="0"/>
              <a:t>. </a:t>
            </a:r>
            <a:endParaRPr lang="en-US" altLang="zh-CN" dirty="0"/>
          </a:p>
          <a:p>
            <a:r>
              <a:rPr lang="zh-CN" altLang="en-US" dirty="0"/>
              <a:t>当 </a:t>
            </a:r>
            <a:r>
              <a:rPr lang="en-US" altLang="zh-CN" dirty="0"/>
              <a:t>n → ∞ </a:t>
            </a:r>
            <a:r>
              <a:rPr lang="zh-CN" altLang="en-US" dirty="0"/>
              <a:t>时</a:t>
            </a:r>
            <a:r>
              <a:rPr lang="en-US" altLang="zh-CN" dirty="0"/>
              <a:t>, </a:t>
            </a:r>
            <a:r>
              <a:rPr lang="zh-CN" altLang="en-US" dirty="0"/>
              <a:t>频率 </a:t>
            </a:r>
            <a:r>
              <a:rPr lang="en-US" altLang="zh-CN" dirty="0" err="1"/>
              <a:t>n</a:t>
            </a:r>
            <a:r>
              <a:rPr lang="en-US" altLang="zh-CN" baseline="-25000" dirty="0" err="1"/>
              <a:t>A</a:t>
            </a:r>
            <a:r>
              <a:rPr lang="en-US" altLang="zh-CN" dirty="0"/>
              <a:t> /n</a:t>
            </a:r>
            <a:r>
              <a:rPr lang="zh-CN" altLang="en-US" dirty="0"/>
              <a:t>会在某个数 </a:t>
            </a:r>
            <a:r>
              <a:rPr lang="en-US" altLang="zh-CN" dirty="0"/>
              <a:t>p </a:t>
            </a:r>
            <a:r>
              <a:rPr lang="zh-CN" altLang="en-US" dirty="0"/>
              <a:t>附近波动</a:t>
            </a:r>
            <a:r>
              <a:rPr lang="en-US" altLang="zh-CN" dirty="0"/>
              <a:t>, </a:t>
            </a:r>
            <a:r>
              <a:rPr lang="zh-CN" altLang="en-US" dirty="0"/>
              <a:t>且慢慢稳定下来</a:t>
            </a:r>
            <a:r>
              <a:rPr lang="en-US" altLang="zh-CN" dirty="0"/>
              <a:t>, </a:t>
            </a:r>
            <a:r>
              <a:rPr lang="zh-CN" altLang="en-US" dirty="0"/>
              <a:t>我们就称该数为事件 </a:t>
            </a:r>
            <a:r>
              <a:rPr lang="en-US" altLang="zh-CN" dirty="0"/>
              <a:t>A </a:t>
            </a:r>
            <a:r>
              <a:rPr lang="zh-CN" altLang="en-US" dirty="0"/>
              <a:t>发生的概率</a:t>
            </a:r>
            <a:r>
              <a:rPr lang="en-US" altLang="zh-CN" dirty="0"/>
              <a:t>, </a:t>
            </a:r>
            <a:r>
              <a:rPr lang="zh-CN" altLang="en-US" dirty="0"/>
              <a:t>记为</a:t>
            </a:r>
            <a:r>
              <a:rPr lang="en-US" altLang="zh-CN" dirty="0"/>
              <a:t>P(A) = p.</a:t>
            </a:r>
            <a:endParaRPr lang="en-US" altLang="zh-CN" dirty="0"/>
          </a:p>
        </p:txBody>
      </p:sp>
      <p:sp>
        <p:nvSpPr>
          <p:cNvPr id="4" name="日期占位符 3"/>
          <p:cNvSpPr>
            <a:spLocks noGrp="1"/>
          </p:cNvSpPr>
          <p:nvPr>
            <p:ph type="dt" sz="half" idx="10"/>
          </p:nvPr>
        </p:nvSpPr>
        <p:spPr/>
        <p:txBody>
          <a:bodyPr/>
          <a:lstStyle/>
          <a:p>
            <a:fld id="{E1C68FA7-58D4-B64D-A671-4AA0982894C6}" type="datetime1">
              <a:rPr lang="en-US" smtClean="0"/>
            </a:fld>
            <a:endParaRPr lang="en-US"/>
          </a:p>
        </p:txBody>
      </p:sp>
      <p:sp>
        <p:nvSpPr>
          <p:cNvPr id="5" name="灯片编号占位符 4"/>
          <p:cNvSpPr>
            <a:spLocks noGrp="1"/>
          </p:cNvSpPr>
          <p:nvPr>
            <p:ph type="sldNum" sz="quarter" idx="12"/>
          </p:nvPr>
        </p:nvSpPr>
        <p:spPr/>
        <p:txBody>
          <a:bodyPr/>
          <a:lstStyle/>
          <a:p>
            <a:fld id="{CE878D80-AF11-6343-918A-0BF62098A907}" type="slidenum">
              <a:rPr lang="en-US" smtClean="0"/>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概率的统计定义</a:t>
            </a:r>
            <a:endParaRPr lang="zh-CN" altLang="en-US" dirty="0"/>
          </a:p>
        </p:txBody>
      </p:sp>
      <p:sp>
        <p:nvSpPr>
          <p:cNvPr id="3" name="内容占位符 2"/>
          <p:cNvSpPr>
            <a:spLocks noGrp="1"/>
          </p:cNvSpPr>
          <p:nvPr>
            <p:ph idx="1"/>
          </p:nvPr>
        </p:nvSpPr>
        <p:spPr/>
        <p:txBody>
          <a:bodyPr>
            <a:normAutofit/>
          </a:bodyPr>
          <a:lstStyle/>
          <a:p>
            <a:r>
              <a:rPr lang="zh-CN" altLang="en-US" dirty="0"/>
              <a:t>概率的统计定义有着重要意义</a:t>
            </a:r>
            <a:r>
              <a:rPr lang="en-US" altLang="zh-CN" dirty="0"/>
              <a:t>: </a:t>
            </a:r>
            <a:endParaRPr lang="en-US" altLang="zh-CN" dirty="0"/>
          </a:p>
          <a:p>
            <a:r>
              <a:rPr lang="zh-CN" altLang="en-US" dirty="0"/>
              <a:t>一是提供了一种估计概率的方法</a:t>
            </a:r>
            <a:r>
              <a:rPr lang="en-US" altLang="zh-CN" dirty="0"/>
              <a:t>, </a:t>
            </a:r>
            <a:endParaRPr lang="en-US" altLang="zh-CN" dirty="0"/>
          </a:p>
          <a:p>
            <a:r>
              <a:rPr lang="zh-CN" altLang="en-US" dirty="0"/>
              <a:t>二是提供了理论是否正确的标准。</a:t>
            </a:r>
            <a:endParaRPr lang="en-US" altLang="zh-CN" dirty="0"/>
          </a:p>
          <a:p>
            <a:r>
              <a:rPr lang="zh-CN" altLang="en-US" dirty="0"/>
              <a:t>用投掷硬币验证了硬币的均匀性</a:t>
            </a:r>
            <a:endParaRPr lang="en-US" altLang="zh-CN" dirty="0"/>
          </a:p>
          <a:p>
            <a:r>
              <a:rPr lang="zh-CN" altLang="en-US" dirty="0"/>
              <a:t>破译密码</a:t>
            </a:r>
            <a:endParaRPr lang="zh-CN" altLang="en-US" dirty="0"/>
          </a:p>
        </p:txBody>
      </p:sp>
      <p:sp>
        <p:nvSpPr>
          <p:cNvPr id="4" name="日期占位符 3"/>
          <p:cNvSpPr>
            <a:spLocks noGrp="1"/>
          </p:cNvSpPr>
          <p:nvPr>
            <p:ph type="dt" sz="half" idx="10"/>
          </p:nvPr>
        </p:nvSpPr>
        <p:spPr/>
        <p:txBody>
          <a:bodyPr/>
          <a:lstStyle/>
          <a:p>
            <a:fld id="{E1C68FA7-58D4-B64D-A671-4AA0982894C6}" type="datetime1">
              <a:rPr lang="en-US" smtClean="0"/>
            </a:fld>
            <a:endParaRPr lang="en-US"/>
          </a:p>
        </p:txBody>
      </p:sp>
      <p:sp>
        <p:nvSpPr>
          <p:cNvPr id="5" name="灯片编号占位符 4"/>
          <p:cNvSpPr>
            <a:spLocks noGrp="1"/>
          </p:cNvSpPr>
          <p:nvPr>
            <p:ph type="sldNum" sz="quarter" idx="12"/>
          </p:nvPr>
        </p:nvSpPr>
        <p:spPr/>
        <p:txBody>
          <a:bodyPr/>
          <a:lstStyle/>
          <a:p>
            <a:fld id="{CE878D80-AF11-6343-918A-0BF62098A907}" type="slidenum">
              <a:rPr lang="en-US" smtClean="0"/>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主观概率</a:t>
            </a:r>
            <a:endParaRPr lang="zh-CN" altLang="en-US" dirty="0"/>
          </a:p>
        </p:txBody>
      </p:sp>
      <p:sp>
        <p:nvSpPr>
          <p:cNvPr id="3" name="内容占位符 2"/>
          <p:cNvSpPr>
            <a:spLocks noGrp="1"/>
          </p:cNvSpPr>
          <p:nvPr>
            <p:ph idx="1"/>
          </p:nvPr>
        </p:nvSpPr>
        <p:spPr/>
        <p:txBody>
          <a:bodyPr/>
          <a:lstStyle/>
          <a:p>
            <a:r>
              <a:rPr lang="zh-CN" altLang="en-US" dirty="0"/>
              <a:t>如果试验不能在相同的条件下独立重复很多次时该如何定义概率</a:t>
            </a:r>
            <a:r>
              <a:rPr lang="en-US" altLang="zh-CN" dirty="0"/>
              <a:t>?</a:t>
            </a:r>
            <a:endParaRPr lang="en-US" altLang="zh-CN" dirty="0"/>
          </a:p>
          <a:p>
            <a:r>
              <a:rPr lang="zh-CN" altLang="en-US" dirty="0"/>
              <a:t>主观概率：一个事件发生的概率规定为某人在主观上相信该事件会发生程度的数字衡量</a:t>
            </a:r>
            <a:r>
              <a:rPr lang="en-US" altLang="zh-CN" dirty="0"/>
              <a:t>.</a:t>
            </a:r>
            <a:endParaRPr lang="en-US" altLang="zh-CN" dirty="0"/>
          </a:p>
        </p:txBody>
      </p:sp>
      <p:sp>
        <p:nvSpPr>
          <p:cNvPr id="4" name="日期占位符 3"/>
          <p:cNvSpPr>
            <a:spLocks noGrp="1"/>
          </p:cNvSpPr>
          <p:nvPr>
            <p:ph type="dt" sz="half" idx="10"/>
          </p:nvPr>
        </p:nvSpPr>
        <p:spPr/>
        <p:txBody>
          <a:bodyPr/>
          <a:lstStyle/>
          <a:p>
            <a:fld id="{E1C68FA7-58D4-B64D-A671-4AA0982894C6}" type="datetime1">
              <a:rPr lang="en-US" smtClean="0"/>
            </a:fld>
            <a:endParaRPr lang="en-US"/>
          </a:p>
        </p:txBody>
      </p:sp>
      <p:sp>
        <p:nvSpPr>
          <p:cNvPr id="5" name="灯片编号占位符 4"/>
          <p:cNvSpPr>
            <a:spLocks noGrp="1"/>
          </p:cNvSpPr>
          <p:nvPr>
            <p:ph type="sldNum" sz="quarter" idx="12"/>
          </p:nvPr>
        </p:nvSpPr>
        <p:spPr/>
        <p:txBody>
          <a:bodyPr/>
          <a:lstStyle/>
          <a:p>
            <a:fld id="{CE878D80-AF11-6343-918A-0BF62098A907}" type="slidenum">
              <a:rPr lang="en-US" smtClean="0"/>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主观概率</a:t>
            </a:r>
            <a:endParaRPr lang="zh-CN" altLang="en-US" dirty="0"/>
          </a:p>
        </p:txBody>
      </p:sp>
      <p:sp>
        <p:nvSpPr>
          <p:cNvPr id="3" name="内容占位符 2"/>
          <p:cNvSpPr>
            <a:spLocks noGrp="1"/>
          </p:cNvSpPr>
          <p:nvPr>
            <p:ph idx="1"/>
          </p:nvPr>
        </p:nvSpPr>
        <p:spPr/>
        <p:txBody>
          <a:bodyPr/>
          <a:lstStyle/>
          <a:p>
            <a:r>
              <a:rPr lang="zh-CN" altLang="en-US" dirty="0"/>
              <a:t>主观概率在管理科学中起着重要作用</a:t>
            </a:r>
            <a:endParaRPr lang="en-US" altLang="zh-CN" dirty="0"/>
          </a:p>
          <a:p>
            <a:r>
              <a:rPr lang="zh-CN" altLang="en-US" dirty="0"/>
              <a:t>主观概率的另一个重要应用是在数据分析方面</a:t>
            </a:r>
            <a:r>
              <a:rPr lang="en-US" altLang="zh-CN" dirty="0"/>
              <a:t>, </a:t>
            </a:r>
            <a:r>
              <a:rPr lang="zh-CN" altLang="en-US" dirty="0"/>
              <a:t>特别在人工智能的算法中起着重要作用。贝叶斯方法。</a:t>
            </a:r>
            <a:endParaRPr lang="en-US" altLang="zh-CN" dirty="0"/>
          </a:p>
          <a:p>
            <a:r>
              <a:rPr lang="zh-CN" altLang="en-US" dirty="0"/>
              <a:t>基于概率的频率解释的统计学</a:t>
            </a:r>
            <a:r>
              <a:rPr lang="en-US" altLang="zh-CN" dirty="0"/>
              <a:t>, </a:t>
            </a:r>
            <a:r>
              <a:rPr lang="zh-CN" altLang="en-US" dirty="0"/>
              <a:t>仍占据着主导地位</a:t>
            </a:r>
            <a:endParaRPr lang="zh-CN" altLang="en-US" dirty="0"/>
          </a:p>
        </p:txBody>
      </p:sp>
      <p:sp>
        <p:nvSpPr>
          <p:cNvPr id="4" name="日期占位符 3"/>
          <p:cNvSpPr>
            <a:spLocks noGrp="1"/>
          </p:cNvSpPr>
          <p:nvPr>
            <p:ph type="dt" sz="half" idx="10"/>
          </p:nvPr>
        </p:nvSpPr>
        <p:spPr/>
        <p:txBody>
          <a:bodyPr/>
          <a:lstStyle/>
          <a:p>
            <a:fld id="{E1C68FA7-58D4-B64D-A671-4AA0982894C6}" type="datetime1">
              <a:rPr lang="en-US" smtClean="0"/>
            </a:fld>
            <a:endParaRPr lang="en-US"/>
          </a:p>
        </p:txBody>
      </p:sp>
      <p:sp>
        <p:nvSpPr>
          <p:cNvPr id="5" name="灯片编号占位符 4"/>
          <p:cNvSpPr>
            <a:spLocks noGrp="1"/>
          </p:cNvSpPr>
          <p:nvPr>
            <p:ph type="sldNum" sz="quarter" idx="12"/>
          </p:nvPr>
        </p:nvSpPr>
        <p:spPr/>
        <p:txBody>
          <a:bodyPr/>
          <a:lstStyle/>
          <a:p>
            <a:fld id="{CE878D80-AF11-6343-918A-0BF62098A907}" type="slidenum">
              <a:rPr lang="en-US" smtClean="0"/>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概率的公理化定义</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lstStyle/>
              <a:p>
                <a:r>
                  <a:rPr lang="zh-CN" altLang="en-US" dirty="0"/>
                  <a:t>设 </a:t>
                </a:r>
                <a:r>
                  <a:rPr lang="en-US" altLang="zh-CN" dirty="0"/>
                  <a:t>P(·) </a:t>
                </a:r>
                <a:r>
                  <a:rPr lang="zh-CN" altLang="en-US" dirty="0"/>
                  <a:t>是定义在样本空间 </a:t>
                </a:r>
                <a:r>
                  <a:rPr lang="en-US" altLang="zh-CN" dirty="0"/>
                  <a:t>Ω </a:t>
                </a:r>
                <a:r>
                  <a:rPr lang="zh-CN" altLang="en-US" dirty="0"/>
                  <a:t>中事件上的一个实函数</a:t>
                </a:r>
                <a:r>
                  <a:rPr lang="en-US" altLang="zh-CN" dirty="0"/>
                  <a:t>, </a:t>
                </a:r>
                <a:r>
                  <a:rPr lang="zh-CN" altLang="en-US" dirty="0"/>
                  <a:t>它取值在 </a:t>
                </a:r>
                <a:r>
                  <a:rPr lang="en-US" altLang="zh-CN" dirty="0"/>
                  <a:t>0 </a:t>
                </a:r>
                <a:r>
                  <a:rPr lang="zh-CN" altLang="en-US" dirty="0"/>
                  <a:t>和 </a:t>
                </a:r>
                <a:r>
                  <a:rPr lang="en-US" altLang="zh-CN" dirty="0"/>
                  <a:t>1 </a:t>
                </a:r>
                <a:r>
                  <a:rPr lang="zh-CN" altLang="en-US" dirty="0"/>
                  <a:t>之间</a:t>
                </a:r>
                <a:r>
                  <a:rPr lang="en-US" altLang="zh-CN" dirty="0"/>
                  <a:t>, </a:t>
                </a:r>
                <a:r>
                  <a:rPr lang="zh-CN" altLang="en-US" dirty="0"/>
                  <a:t>满足</a:t>
                </a:r>
                <a:r>
                  <a:rPr lang="en-US" altLang="zh-CN" dirty="0"/>
                  <a:t>:</a:t>
                </a:r>
                <a:r>
                  <a:rPr lang="zh-CN" altLang="en-US" dirty="0"/>
                  <a:t>若 </a:t>
                </a:r>
                <a:r>
                  <a:rPr lang="en-US" altLang="zh-CN" dirty="0"/>
                  <a:t>A </a:t>
                </a:r>
                <a:r>
                  <a:rPr lang="zh-CN" altLang="en-US" dirty="0"/>
                  <a:t>是样本空间上的一个事件</a:t>
                </a:r>
                <a:r>
                  <a:rPr lang="en-US" altLang="zh-CN" dirty="0"/>
                  <a:t>, </a:t>
                </a:r>
                <a:r>
                  <a:rPr lang="zh-CN" altLang="en-US" dirty="0"/>
                  <a:t>则</a:t>
                </a:r>
                <a:endParaRPr lang="en-US" altLang="zh-CN" dirty="0"/>
              </a:p>
              <a:p>
                <a:r>
                  <a:rPr lang="en-US" altLang="zh-CN" dirty="0"/>
                  <a:t>(1) (</a:t>
                </a:r>
                <a:r>
                  <a:rPr lang="zh-CN" altLang="en-US" dirty="0">
                    <a:solidFill>
                      <a:srgbClr val="C00000"/>
                    </a:solidFill>
                  </a:rPr>
                  <a:t>非负性</a:t>
                </a:r>
                <a:r>
                  <a:rPr lang="en-US" altLang="zh-CN" dirty="0"/>
                  <a:t>) 0 ≤P(A) ≤ 1;</a:t>
                </a:r>
                <a:endParaRPr lang="en-US" altLang="zh-CN" dirty="0"/>
              </a:p>
              <a:p>
                <a:r>
                  <a:rPr lang="en-US" altLang="zh-CN" dirty="0"/>
                  <a:t>(2) (</a:t>
                </a:r>
                <a:r>
                  <a:rPr lang="zh-CN" altLang="en-US" dirty="0">
                    <a:solidFill>
                      <a:srgbClr val="C00000"/>
                    </a:solidFill>
                  </a:rPr>
                  <a:t>规范性</a:t>
                </a:r>
                <a:r>
                  <a:rPr lang="en-US" altLang="zh-CN" dirty="0"/>
                  <a:t>) </a:t>
                </a:r>
                <a:r>
                  <a:rPr lang="zh-CN" altLang="en-US" dirty="0"/>
                  <a:t>设 </a:t>
                </a:r>
                <a:r>
                  <a:rPr lang="el-GR" altLang="zh-CN" dirty="0"/>
                  <a:t>Ω </a:t>
                </a:r>
                <a:r>
                  <a:rPr lang="zh-CN" altLang="en-US" dirty="0"/>
                  <a:t>为必然事件</a:t>
                </a:r>
                <a:r>
                  <a:rPr lang="en-US" altLang="zh-CN" dirty="0"/>
                  <a:t>, </a:t>
                </a:r>
                <a:r>
                  <a:rPr lang="zh-CN" altLang="en-US" dirty="0"/>
                  <a:t>则 </a:t>
                </a:r>
                <a:r>
                  <a:rPr lang="en-US" altLang="zh-CN" dirty="0"/>
                  <a:t>P(</a:t>
                </a:r>
                <a:r>
                  <a:rPr lang="el-GR" altLang="zh-CN" dirty="0"/>
                  <a:t>Ω) = 1;</a:t>
                </a:r>
                <a:endParaRPr lang="el-GR" altLang="zh-CN" dirty="0"/>
              </a:p>
              <a:p>
                <a:r>
                  <a:rPr lang="el-GR" altLang="zh-CN" dirty="0"/>
                  <a:t>(3) (</a:t>
                </a:r>
                <a:r>
                  <a:rPr lang="zh-CN" altLang="en-US" dirty="0">
                    <a:solidFill>
                      <a:srgbClr val="C00000"/>
                    </a:solidFill>
                  </a:rPr>
                  <a:t>可数可加性</a:t>
                </a:r>
                <a:r>
                  <a:rPr lang="en-US" altLang="zh-CN" dirty="0"/>
                  <a:t>) </a:t>
                </a:r>
                <a:r>
                  <a:rPr lang="zh-CN" altLang="en-US" dirty="0"/>
                  <a:t>对 </a:t>
                </a:r>
                <a:r>
                  <a:rPr lang="el-GR" altLang="zh-CN" dirty="0"/>
                  <a:t>Ω </a:t>
                </a:r>
                <a:r>
                  <a:rPr lang="zh-CN" altLang="en-US" dirty="0"/>
                  <a:t>中的两两不相容事件列 </a:t>
                </a:r>
                <a:r>
                  <a:rPr lang="en-US" altLang="zh-CN" dirty="0"/>
                  <a:t>A</a:t>
                </a:r>
                <a:r>
                  <a:rPr lang="en-US" altLang="zh-CN" baseline="-25000" dirty="0"/>
                  <a:t>1</a:t>
                </a:r>
                <a:r>
                  <a:rPr lang="en-US" altLang="zh-CN" dirty="0"/>
                  <a:t> , A</a:t>
                </a:r>
                <a:r>
                  <a:rPr lang="en-US" altLang="zh-CN" baseline="-25000" dirty="0"/>
                  <a:t>2</a:t>
                </a:r>
                <a:r>
                  <a:rPr lang="en-US" altLang="zh-CN" dirty="0"/>
                  <a:t> ,··· , </a:t>
                </a:r>
                <a:r>
                  <a:rPr lang="en-US" altLang="zh-CN" dirty="0" err="1"/>
                  <a:t>A</a:t>
                </a:r>
                <a:r>
                  <a:rPr lang="en-US" altLang="zh-CN" baseline="-25000" dirty="0" err="1"/>
                  <a:t>k</a:t>
                </a:r>
                <a:r>
                  <a:rPr lang="en-US" altLang="zh-CN" dirty="0"/>
                  <a:t> ,···, </a:t>
                </a:r>
                <a:r>
                  <a:rPr lang="zh-CN" altLang="en-US" dirty="0"/>
                  <a:t>即 </a:t>
                </a:r>
                <a:r>
                  <a:rPr lang="en-US" altLang="zh-CN" dirty="0"/>
                  <a:t>A</a:t>
                </a:r>
                <a:r>
                  <a:rPr lang="en-US" altLang="zh-CN" baseline="-25000" dirty="0"/>
                  <a:t>i</a:t>
                </a:r>
                <a:r>
                  <a:rPr lang="en-US" altLang="zh-CN" dirty="0"/>
                  <a:t> ∩ </a:t>
                </a:r>
                <a:r>
                  <a:rPr lang="en-US" altLang="zh-CN" dirty="0" err="1"/>
                  <a:t>A</a:t>
                </a:r>
                <a:r>
                  <a:rPr lang="en-US" altLang="zh-CN" baseline="-25000" dirty="0" err="1"/>
                  <a:t>j</a:t>
                </a:r>
                <a:r>
                  <a:rPr lang="en-US" altLang="zh-CN" dirty="0"/>
                  <a:t>=∅,∀</a:t>
                </a:r>
                <a:r>
                  <a:rPr lang="en-US" altLang="zh-CN" dirty="0" err="1"/>
                  <a:t>i</a:t>
                </a:r>
                <a:r>
                  <a:rPr lang="en-US" altLang="zh-CN" dirty="0"/>
                  <a:t> ≠</a:t>
                </a:r>
                <a:r>
                  <a:rPr lang="en-US" altLang="zh-CN" dirty="0" err="1"/>
                  <a:t>j,i,j</a:t>
                </a:r>
                <a:r>
                  <a:rPr lang="en-US" altLang="zh-CN" dirty="0"/>
                  <a:t> = 1,2,···, </a:t>
                </a:r>
                <a:r>
                  <a:rPr lang="zh-CN" altLang="en-US" dirty="0"/>
                  <a:t>有</a:t>
                </a:r>
                <a:endParaRPr lang="en-US" altLang="zh-CN" dirty="0"/>
              </a:p>
              <a:p>
                <a:pPr marL="0" indent="0">
                  <a:buNone/>
                </a:pPr>
                <a:r>
                  <a:rPr lang="en-US" altLang="zh-CN" dirty="0"/>
                  <a:t>     P(</a:t>
                </a:r>
                <a:r>
                  <a:rPr lang="zh-CN" altLang="en-US" dirty="0"/>
                  <a:t>∪</a:t>
                </a:r>
                <a:r>
                  <a:rPr lang="en-US" altLang="zh-CN" baseline="-25000" dirty="0"/>
                  <a:t>k</a:t>
                </a:r>
                <a:r>
                  <a:rPr lang="en-US" altLang="zh-CN" dirty="0"/>
                  <a:t> </a:t>
                </a:r>
                <a:r>
                  <a:rPr lang="en-US" altLang="zh-CN" dirty="0" err="1"/>
                  <a:t>A</a:t>
                </a:r>
                <a:r>
                  <a:rPr lang="en-US" altLang="zh-CN" baseline="-25000" dirty="0" err="1"/>
                  <a:t>k</a:t>
                </a:r>
                <a:r>
                  <a:rPr lang="en-US" altLang="zh-CN" dirty="0"/>
                  <a:t>)=∑</a:t>
                </a:r>
                <a:r>
                  <a:rPr lang="en-US" altLang="zh-CN" baseline="-25000" dirty="0"/>
                  <a:t>k</a:t>
                </a:r>
                <a14:m>
                  <m:oMath xmlns:m="http://schemas.openxmlformats.org/officeDocument/2006/math">
                    <m:r>
                      <m:rPr>
                        <m:nor/>
                      </m:rPr>
                      <a:rPr lang="en-US" altLang="zh-CN" dirty="0">
                        <a:latin typeface="Cambria Math" panose="02040503050406030204" pitchFamily="18" charset="0"/>
                      </a:rPr>
                      <m:t>P</m:t>
                    </m:r>
                    <m:r>
                      <m:rPr>
                        <m:nor/>
                      </m:rPr>
                      <a:rPr lang="en-US" altLang="zh-CN" dirty="0">
                        <a:latin typeface="Cambria Math" panose="02040503050406030204" pitchFamily="18" charset="0"/>
                      </a:rPr>
                      <m:t>(</m:t>
                    </m:r>
                    <m:r>
                      <m:rPr>
                        <m:nor/>
                      </m:rPr>
                      <a:rPr lang="en-US" altLang="zh-CN" dirty="0">
                        <a:latin typeface="Cambria Math" panose="02040503050406030204" pitchFamily="18" charset="0"/>
                      </a:rPr>
                      <m:t>Ak</m:t>
                    </m:r>
                    <m:r>
                      <m:rPr>
                        <m:nor/>
                      </m:rPr>
                      <a:rPr lang="en-US" altLang="zh-CN" dirty="0">
                        <a:latin typeface="Cambria Math" panose="02040503050406030204" pitchFamily="18" charset="0"/>
                      </a:rPr>
                      <m:t>),</m:t>
                    </m:r>
                  </m:oMath>
                </a14:m>
                <a:endParaRPr lang="en-US" altLang="zh-CN" b="0" dirty="0"/>
              </a:p>
              <a:p>
                <a:r>
                  <a:rPr lang="zh-CN" altLang="en-US" dirty="0"/>
                  <a:t>则 </a:t>
                </a:r>
                <a:r>
                  <a:rPr lang="en-US" altLang="zh-CN" dirty="0"/>
                  <a:t>P(·) </a:t>
                </a:r>
                <a:r>
                  <a:rPr lang="zh-CN" altLang="en-US" dirty="0"/>
                  <a:t>称为一个概率函数</a:t>
                </a:r>
                <a:r>
                  <a:rPr lang="en-US" altLang="zh-CN" dirty="0"/>
                  <a:t>, </a:t>
                </a:r>
                <a:r>
                  <a:rPr lang="zh-CN" altLang="en-US" dirty="0"/>
                  <a:t>简称概率</a:t>
                </a:r>
                <a:r>
                  <a:rPr lang="en-US" altLang="zh-CN" dirty="0"/>
                  <a:t>.</a:t>
                </a:r>
                <a:endParaRPr lang="zh-CN" altLang="en-US" dirty="0"/>
              </a:p>
              <a:p>
                <a:endParaRPr lang="zh-CN" altLang="en-US" dirty="0"/>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b="-6573"/>
                </a:stretch>
              </a:blipFill>
            </p:spPr>
            <p:txBody>
              <a:bodyPr/>
              <a:lstStyle/>
              <a:p>
                <a:r>
                  <a:rPr lang="zh-CN" altLang="en-US">
                    <a:noFill/>
                  </a:rPr>
                  <a:t> </a:t>
                </a:r>
              </a:p>
            </p:txBody>
          </p:sp>
        </mc:Fallback>
      </mc:AlternateContent>
      <p:sp>
        <p:nvSpPr>
          <p:cNvPr id="4" name="日期占位符 3"/>
          <p:cNvSpPr>
            <a:spLocks noGrp="1"/>
          </p:cNvSpPr>
          <p:nvPr>
            <p:ph type="dt" sz="half" idx="10"/>
          </p:nvPr>
        </p:nvSpPr>
        <p:spPr/>
        <p:txBody>
          <a:bodyPr/>
          <a:lstStyle/>
          <a:p>
            <a:fld id="{E1C68FA7-58D4-B64D-A671-4AA0982894C6}" type="datetime1">
              <a:rPr lang="en-US" smtClean="0"/>
            </a:fld>
            <a:endParaRPr lang="en-US"/>
          </a:p>
        </p:txBody>
      </p:sp>
      <p:sp>
        <p:nvSpPr>
          <p:cNvPr id="5" name="灯片编号占位符 4"/>
          <p:cNvSpPr>
            <a:spLocks noGrp="1"/>
          </p:cNvSpPr>
          <p:nvPr>
            <p:ph type="sldNum" sz="quarter" idx="12"/>
          </p:nvPr>
        </p:nvSpPr>
        <p:spPr/>
        <p:txBody>
          <a:bodyPr/>
          <a:lstStyle/>
          <a:p>
            <a:fld id="{CE878D80-AF11-6343-918A-0BF62098A907}" type="slidenum">
              <a:rPr lang="en-US" smtClean="0"/>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normAutofit/>
          </a:bodyPr>
          <a:lstStyle/>
          <a:p>
            <a:pPr algn="r"/>
            <a:r>
              <a:rPr lang="zh-CN" altLang="en-US" sz="3200" dirty="0"/>
              <a:t>概率的基本性质</a:t>
            </a:r>
            <a:endParaRPr lang="en-US" sz="3200" dirty="0"/>
          </a:p>
        </p:txBody>
      </p:sp>
      <p:sp>
        <p:nvSpPr>
          <p:cNvPr id="4" name="Date Placeholder 3"/>
          <p:cNvSpPr>
            <a:spLocks noGrp="1"/>
          </p:cNvSpPr>
          <p:nvPr>
            <p:ph type="dt" sz="half" idx="10"/>
          </p:nvPr>
        </p:nvSpPr>
        <p:spPr/>
        <p:txBody>
          <a:bodyPr/>
          <a:lstStyle/>
          <a:p>
            <a:fld id="{E1C68FA7-58D4-B64D-A671-4AA0982894C6}" type="datetime1">
              <a:rPr lang="en-US" smtClean="0"/>
            </a:fld>
            <a:endParaRPr lang="en-US"/>
          </a:p>
        </p:txBody>
      </p:sp>
      <p:sp>
        <p:nvSpPr>
          <p:cNvPr id="5" name="Slide Number Placeholder 4"/>
          <p:cNvSpPr>
            <a:spLocks noGrp="1"/>
          </p:cNvSpPr>
          <p:nvPr>
            <p:ph type="sldNum" sz="quarter" idx="12"/>
          </p:nvPr>
        </p:nvSpPr>
        <p:spPr/>
        <p:txBody>
          <a:bodyPr/>
          <a:lstStyle/>
          <a:p>
            <a:fld id="{CE878D80-AF11-6343-918A-0BF62098A907}" type="slidenum">
              <a:rPr lang="en-US" smtClean="0"/>
            </a:fld>
            <a:endParaRPr lang="en-US"/>
          </a:p>
        </p:txBody>
      </p:sp>
      <p:pic>
        <p:nvPicPr>
          <p:cNvPr id="7" name="Content Placeholder 5" descr="Screen Shot 2017-09-06 at 11.10.51 AM.png"/>
          <p:cNvPicPr>
            <a:picLocks noChangeAspect="1"/>
          </p:cNvPicPr>
          <p:nvPr/>
        </p:nvPicPr>
        <p:blipFill>
          <a:blip r:embed="rId1">
            <a:extLst>
              <a:ext uri="{28A0092B-C50C-407E-A947-70E740481C1C}">
                <a14:useLocalDpi xmlns:a14="http://schemas.microsoft.com/office/drawing/2010/main" val="0"/>
              </a:ext>
            </a:extLst>
          </a:blip>
          <a:srcRect l="-13714" r="-13714" b="32490"/>
          <a:stretch>
            <a:fillRect/>
          </a:stretch>
        </p:blipFill>
        <p:spPr>
          <a:xfrm>
            <a:off x="0" y="2045335"/>
            <a:ext cx="9168765" cy="3404235"/>
          </a:xfrm>
          <a:prstGeom prst="rect">
            <a:avLst/>
          </a:prstGeom>
        </p:spPr>
      </p:pic>
      <p:sp>
        <p:nvSpPr>
          <p:cNvPr id="10" name="TextBox 9"/>
          <p:cNvSpPr txBox="1"/>
          <p:nvPr/>
        </p:nvSpPr>
        <p:spPr>
          <a:xfrm>
            <a:off x="-1000125" y="3683000"/>
            <a:ext cx="184666" cy="369332"/>
          </a:xfrm>
          <a:prstGeom prst="rect">
            <a:avLst/>
          </a:prstGeom>
          <a:noFill/>
        </p:spPr>
        <p:txBody>
          <a:bodyPr wrap="none" rtlCol="0">
            <a:spAutoFit/>
          </a:bodyPr>
          <a:lstStyle/>
          <a:p>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概率的基本性质</a:t>
            </a:r>
            <a:endParaRPr lang="zh-CN" altLang="en-US" dirty="0"/>
          </a:p>
        </p:txBody>
      </p:sp>
      <p:sp>
        <p:nvSpPr>
          <p:cNvPr id="3" name="内容占位符 2"/>
          <p:cNvSpPr>
            <a:spLocks noGrp="1"/>
          </p:cNvSpPr>
          <p:nvPr>
            <p:ph idx="1"/>
          </p:nvPr>
        </p:nvSpPr>
        <p:spPr/>
        <p:txBody>
          <a:bodyPr/>
          <a:lstStyle/>
          <a:p>
            <a:r>
              <a:rPr lang="zh-CN" altLang="en-US" dirty="0"/>
              <a:t>加法定理</a:t>
            </a:r>
            <a:endParaRPr lang="en-US" altLang="zh-CN" dirty="0"/>
          </a:p>
          <a:p>
            <a:r>
              <a:rPr lang="zh-CN" altLang="en-US" dirty="0"/>
              <a:t>次可加性</a:t>
            </a:r>
            <a:endParaRPr lang="en-US" altLang="zh-CN" dirty="0"/>
          </a:p>
          <a:p>
            <a:r>
              <a:rPr lang="zh-CN" altLang="en-US" dirty="0"/>
              <a:t>下连续性</a:t>
            </a:r>
            <a:endParaRPr lang="en-US" altLang="zh-CN" dirty="0"/>
          </a:p>
          <a:p>
            <a:r>
              <a:rPr lang="zh-CN" altLang="en-US" dirty="0"/>
              <a:t>上连续性</a:t>
            </a:r>
            <a:endParaRPr lang="en-US" altLang="zh-CN" dirty="0"/>
          </a:p>
        </p:txBody>
      </p:sp>
      <p:sp>
        <p:nvSpPr>
          <p:cNvPr id="4" name="日期占位符 3"/>
          <p:cNvSpPr>
            <a:spLocks noGrp="1"/>
          </p:cNvSpPr>
          <p:nvPr>
            <p:ph type="dt" sz="half" idx="10"/>
          </p:nvPr>
        </p:nvSpPr>
        <p:spPr/>
        <p:txBody>
          <a:bodyPr/>
          <a:lstStyle/>
          <a:p>
            <a:fld id="{E1C68FA7-58D4-B64D-A671-4AA0982894C6}" type="datetime1">
              <a:rPr lang="en-US" smtClean="0"/>
            </a:fld>
            <a:endParaRPr lang="en-US"/>
          </a:p>
        </p:txBody>
      </p:sp>
      <p:sp>
        <p:nvSpPr>
          <p:cNvPr id="5" name="灯片编号占位符 4"/>
          <p:cNvSpPr>
            <a:spLocks noGrp="1"/>
          </p:cNvSpPr>
          <p:nvPr>
            <p:ph type="sldNum" sz="quarter" idx="12"/>
          </p:nvPr>
        </p:nvSpPr>
        <p:spPr/>
        <p:txBody>
          <a:bodyPr/>
          <a:lstStyle/>
          <a:p>
            <a:fld id="{CE878D80-AF11-6343-918A-0BF62098A907}" type="slidenum">
              <a:rPr lang="en-US" smtClean="0"/>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3751</Words>
  <Application>WPS 演示</Application>
  <PresentationFormat>全屏显示(4:3)</PresentationFormat>
  <Paragraphs>401</Paragraphs>
  <Slides>42</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42</vt:i4>
      </vt:variant>
    </vt:vector>
  </HeadingPairs>
  <TitlesOfParts>
    <vt:vector size="52" baseType="lpstr">
      <vt:lpstr>Arial</vt:lpstr>
      <vt:lpstr>宋体</vt:lpstr>
      <vt:lpstr>Wingdings</vt:lpstr>
      <vt:lpstr>Arial</vt:lpstr>
      <vt:lpstr>Tahoma</vt:lpstr>
      <vt:lpstr>Calibri</vt:lpstr>
      <vt:lpstr>微软雅黑</vt:lpstr>
      <vt:lpstr>Arial Unicode MS</vt:lpstr>
      <vt:lpstr>Cambria Math</vt:lpstr>
      <vt:lpstr>Office Theme</vt:lpstr>
      <vt:lpstr>概率论与数理统计 第一章</vt:lpstr>
      <vt:lpstr>大纲</vt:lpstr>
      <vt:lpstr>大纲</vt:lpstr>
      <vt:lpstr>随机试验</vt:lpstr>
      <vt:lpstr>样本空间与事件</vt:lpstr>
      <vt:lpstr>样本空间与事件</vt:lpstr>
      <vt:lpstr>伽利略与掷骰子</vt:lpstr>
      <vt:lpstr>事件的运算</vt:lpstr>
      <vt:lpstr>必然事件与不可能事件</vt:lpstr>
      <vt:lpstr>事件的运算</vt:lpstr>
      <vt:lpstr>事件的运算</vt:lpstr>
      <vt:lpstr>事件的运算</vt:lpstr>
      <vt:lpstr>事件的运算</vt:lpstr>
      <vt:lpstr>事件的运算</vt:lpstr>
      <vt:lpstr>事件的运算</vt:lpstr>
      <vt:lpstr>事件的运算法则</vt:lpstr>
      <vt:lpstr>例子</vt:lpstr>
      <vt:lpstr>概率</vt:lpstr>
      <vt:lpstr>古典概型</vt:lpstr>
      <vt:lpstr>计数原理</vt:lpstr>
      <vt:lpstr>计数原理</vt:lpstr>
      <vt:lpstr>计数原理</vt:lpstr>
      <vt:lpstr>盒子模型</vt:lpstr>
      <vt:lpstr>盒子模型</vt:lpstr>
      <vt:lpstr>多组组合</vt:lpstr>
      <vt:lpstr>不尽相异元素的排列</vt:lpstr>
      <vt:lpstr>生日相同问题</vt:lpstr>
      <vt:lpstr>绳子问题</vt:lpstr>
      <vt:lpstr>抽查论文</vt:lpstr>
      <vt:lpstr>抽查论文</vt:lpstr>
      <vt:lpstr>PowerPoint 演示文稿</vt:lpstr>
      <vt:lpstr>小概率原理</vt:lpstr>
      <vt:lpstr>小概率原理</vt:lpstr>
      <vt:lpstr>百年一遇</vt:lpstr>
      <vt:lpstr>概率的统计定义</vt:lpstr>
      <vt:lpstr>概率的统计定义</vt:lpstr>
      <vt:lpstr>概率的统计定义</vt:lpstr>
      <vt:lpstr>主观概率</vt:lpstr>
      <vt:lpstr>主观概率</vt:lpstr>
      <vt:lpstr>概率的公理化定义</vt:lpstr>
      <vt:lpstr>概率的基本性质</vt:lpstr>
      <vt:lpstr>概率的基本性质</vt:lpstr>
    </vt:vector>
  </TitlesOfParts>
  <Company>yale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统计学 ---透过数据看世界</dc:title>
  <dc:creator>Canhong Wen</dc:creator>
  <cp:lastModifiedBy>WPS_1649655829</cp:lastModifiedBy>
  <cp:revision>238</cp:revision>
  <cp:lastPrinted>2018-09-03T02:41:00Z</cp:lastPrinted>
  <dcterms:created xsi:type="dcterms:W3CDTF">2017-07-14T02:32:00Z</dcterms:created>
  <dcterms:modified xsi:type="dcterms:W3CDTF">2025-10-10T04:56:05Z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2052-12.1.0.22529</vt:lpwstr>
  </property>
  <property fmtid="{D5CDD505-2E9C-101B-9397-08002B2CF9AE}" pid="3" name="ICV">
    <vt:lpwstr>44B09CA7A1884C5F9B8BF74C7FED9BBE_13</vt:lpwstr>
  </property>
</Properties>
</file>